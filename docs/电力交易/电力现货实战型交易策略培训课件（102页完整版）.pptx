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sldSz cx="10692384" cy="756056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8.xml"/><Relationship Id="rId98" Type="http://schemas.openxmlformats.org/officeDocument/2006/relationships/slide" Target="slides/slide97.xml"/><Relationship Id="rId97" Type="http://schemas.openxmlformats.org/officeDocument/2006/relationships/slide" Target="slides/slide96.xml"/><Relationship Id="rId96" Type="http://schemas.openxmlformats.org/officeDocument/2006/relationships/slide" Target="slides/slide95.xml"/><Relationship Id="rId95" Type="http://schemas.openxmlformats.org/officeDocument/2006/relationships/slide" Target="slides/slide94.xml"/><Relationship Id="rId94" Type="http://schemas.openxmlformats.org/officeDocument/2006/relationships/slide" Target="slides/slide93.xml"/><Relationship Id="rId93" Type="http://schemas.openxmlformats.org/officeDocument/2006/relationships/slide" Target="slides/slide92.xml"/><Relationship Id="rId92" Type="http://schemas.openxmlformats.org/officeDocument/2006/relationships/slide" Target="slides/slide91.xml"/><Relationship Id="rId91" Type="http://schemas.openxmlformats.org/officeDocument/2006/relationships/slide" Target="slides/slide90.xml"/><Relationship Id="rId90" Type="http://schemas.openxmlformats.org/officeDocument/2006/relationships/slide" Target="slides/slide89.xml"/><Relationship Id="rId9" Type="http://schemas.openxmlformats.org/officeDocument/2006/relationships/slide" Target="slides/slide8.xml"/><Relationship Id="rId89" Type="http://schemas.openxmlformats.org/officeDocument/2006/relationships/slide" Target="slides/slide88.xml"/><Relationship Id="rId88" Type="http://schemas.openxmlformats.org/officeDocument/2006/relationships/slide" Target="slides/slide87.xml"/><Relationship Id="rId87" Type="http://schemas.openxmlformats.org/officeDocument/2006/relationships/slide" Target="slides/slide86.xml"/><Relationship Id="rId86" Type="http://schemas.openxmlformats.org/officeDocument/2006/relationships/slide" Target="slides/slide85.xml"/><Relationship Id="rId85" Type="http://schemas.openxmlformats.org/officeDocument/2006/relationships/slide" Target="slides/slide84.xml"/><Relationship Id="rId84" Type="http://schemas.openxmlformats.org/officeDocument/2006/relationships/slide" Target="slides/slide83.xml"/><Relationship Id="rId83" Type="http://schemas.openxmlformats.org/officeDocument/2006/relationships/slide" Target="slides/slide82.xml"/><Relationship Id="rId82" Type="http://schemas.openxmlformats.org/officeDocument/2006/relationships/slide" Target="slides/slide81.xml"/><Relationship Id="rId81" Type="http://schemas.openxmlformats.org/officeDocument/2006/relationships/slide" Target="slides/slide80.xml"/><Relationship Id="rId80" Type="http://schemas.openxmlformats.org/officeDocument/2006/relationships/slide" Target="slides/slide79.xml"/><Relationship Id="rId8" Type="http://schemas.openxmlformats.org/officeDocument/2006/relationships/slide" Target="slides/slide7.xml"/><Relationship Id="rId79" Type="http://schemas.openxmlformats.org/officeDocument/2006/relationships/slide" Target="slides/slide78.xml"/><Relationship Id="rId78" Type="http://schemas.openxmlformats.org/officeDocument/2006/relationships/slide" Target="slides/slide77.xml"/><Relationship Id="rId77" Type="http://schemas.openxmlformats.org/officeDocument/2006/relationships/slide" Target="slides/slide76.xml"/><Relationship Id="rId76" Type="http://schemas.openxmlformats.org/officeDocument/2006/relationships/slide" Target="slides/slide75.xml"/><Relationship Id="rId75" Type="http://schemas.openxmlformats.org/officeDocument/2006/relationships/slide" Target="slides/slide74.xml"/><Relationship Id="rId74" Type="http://schemas.openxmlformats.org/officeDocument/2006/relationships/slide" Target="slides/slide73.xml"/><Relationship Id="rId73" Type="http://schemas.openxmlformats.org/officeDocument/2006/relationships/slide" Target="slides/slide72.xml"/><Relationship Id="rId72" Type="http://schemas.openxmlformats.org/officeDocument/2006/relationships/slide" Target="slides/slide71.xml"/><Relationship Id="rId71" Type="http://schemas.openxmlformats.org/officeDocument/2006/relationships/slide" Target="slides/slide70.xml"/><Relationship Id="rId70" Type="http://schemas.openxmlformats.org/officeDocument/2006/relationships/slide" Target="slides/slide69.xml"/><Relationship Id="rId7" Type="http://schemas.openxmlformats.org/officeDocument/2006/relationships/slide" Target="slides/slide6.xml"/><Relationship Id="rId69" Type="http://schemas.openxmlformats.org/officeDocument/2006/relationships/slide" Target="slides/slide68.xml"/><Relationship Id="rId68" Type="http://schemas.openxmlformats.org/officeDocument/2006/relationships/slide" Target="slides/slide67.xml"/><Relationship Id="rId67" Type="http://schemas.openxmlformats.org/officeDocument/2006/relationships/slide" Target="slides/slide66.xml"/><Relationship Id="rId66" Type="http://schemas.openxmlformats.org/officeDocument/2006/relationships/slide" Target="slides/slide65.xml"/><Relationship Id="rId65" Type="http://schemas.openxmlformats.org/officeDocument/2006/relationships/slide" Target="slides/slide64.xml"/><Relationship Id="rId64" Type="http://schemas.openxmlformats.org/officeDocument/2006/relationships/slide" Target="slides/slide63.xml"/><Relationship Id="rId63" Type="http://schemas.openxmlformats.org/officeDocument/2006/relationships/slide" Target="slides/slide62.xml"/><Relationship Id="rId62" Type="http://schemas.openxmlformats.org/officeDocument/2006/relationships/slide" Target="slides/slide61.xml"/><Relationship Id="rId61" Type="http://schemas.openxmlformats.org/officeDocument/2006/relationships/slide" Target="slides/slide60.xml"/><Relationship Id="rId60" Type="http://schemas.openxmlformats.org/officeDocument/2006/relationships/slide" Target="slides/slide59.xml"/><Relationship Id="rId6" Type="http://schemas.openxmlformats.org/officeDocument/2006/relationships/slide" Target="slides/slide5.xml"/><Relationship Id="rId59" Type="http://schemas.openxmlformats.org/officeDocument/2006/relationships/slide" Target="slides/slide58.xml"/><Relationship Id="rId58" Type="http://schemas.openxmlformats.org/officeDocument/2006/relationships/slide" Target="slides/slide57.xml"/><Relationship Id="rId57" Type="http://schemas.openxmlformats.org/officeDocument/2006/relationships/slide" Target="slides/slide56.xml"/><Relationship Id="rId56" Type="http://schemas.openxmlformats.org/officeDocument/2006/relationships/slide" Target="slides/slide55.xml"/><Relationship Id="rId55" Type="http://schemas.openxmlformats.org/officeDocument/2006/relationships/slide" Target="slides/slide54.xml"/><Relationship Id="rId54" Type="http://schemas.openxmlformats.org/officeDocument/2006/relationships/slide" Target="slides/slide53.xml"/><Relationship Id="rId53" Type="http://schemas.openxmlformats.org/officeDocument/2006/relationships/slide" Target="slides/slide52.xml"/><Relationship Id="rId52" Type="http://schemas.openxmlformats.org/officeDocument/2006/relationships/slide" Target="slides/slide51.xml"/><Relationship Id="rId51" Type="http://schemas.openxmlformats.org/officeDocument/2006/relationships/slide" Target="slides/slide50.xml"/><Relationship Id="rId50" Type="http://schemas.openxmlformats.org/officeDocument/2006/relationships/slide" Target="slides/slide49.xml"/><Relationship Id="rId5" Type="http://schemas.openxmlformats.org/officeDocument/2006/relationships/slide" Target="slides/slide4.xml"/><Relationship Id="rId49" Type="http://schemas.openxmlformats.org/officeDocument/2006/relationships/slide" Target="slides/slide48.xml"/><Relationship Id="rId48" Type="http://schemas.openxmlformats.org/officeDocument/2006/relationships/slide" Target="slides/slide47.xml"/><Relationship Id="rId47" Type="http://schemas.openxmlformats.org/officeDocument/2006/relationships/slide" Target="slides/slide46.xml"/><Relationship Id="rId46" Type="http://schemas.openxmlformats.org/officeDocument/2006/relationships/slide" Target="slides/slide45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6" Type="http://schemas.openxmlformats.org/officeDocument/2006/relationships/viewProps" Target="viewProps.xml"/><Relationship Id="rId105" Type="http://schemas.openxmlformats.org/officeDocument/2006/relationships/tableStyles" Target="tableStyles.xml"/><Relationship Id="rId104" Type="http://schemas.openxmlformats.org/officeDocument/2006/relationships/presProps" Target="presProps.xml"/><Relationship Id="rId103" Type="http://schemas.openxmlformats.org/officeDocument/2006/relationships/slide" Target="slides/slide102.xml"/><Relationship Id="rId102" Type="http://schemas.openxmlformats.org/officeDocument/2006/relationships/slide" Target="slides/slide101.xml"/><Relationship Id="rId101" Type="http://schemas.openxmlformats.org/officeDocument/2006/relationships/slide" Target="slides/slide100.xml"/><Relationship Id="rId100" Type="http://schemas.openxmlformats.org/officeDocument/2006/relationships/slide" Target="slides/slide99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jpe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3" Type="http://schemas.openxmlformats.org/officeDocument/2006/relationships/image" Target="../media/image35.png"/><Relationship Id="rId12" Type="http://schemas.openxmlformats.org/officeDocument/2006/relationships/image" Target="../media/image34.png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1" Type="http://schemas.openxmlformats.org/officeDocument/2006/relationships/image" Target="../media/image87.png"/><Relationship Id="rId40" Type="http://schemas.openxmlformats.org/officeDocument/2006/relationships/image" Target="../media/image86.png"/><Relationship Id="rId4" Type="http://schemas.openxmlformats.org/officeDocument/2006/relationships/image" Target="../media/image50.png"/><Relationship Id="rId39" Type="http://schemas.openxmlformats.org/officeDocument/2006/relationships/image" Target="../media/image85.png"/><Relationship Id="rId38" Type="http://schemas.openxmlformats.org/officeDocument/2006/relationships/image" Target="../media/image84.png"/><Relationship Id="rId37" Type="http://schemas.openxmlformats.org/officeDocument/2006/relationships/image" Target="../media/image83.png"/><Relationship Id="rId36" Type="http://schemas.openxmlformats.org/officeDocument/2006/relationships/image" Target="../media/image82.png"/><Relationship Id="rId35" Type="http://schemas.openxmlformats.org/officeDocument/2006/relationships/image" Target="../media/image81.png"/><Relationship Id="rId34" Type="http://schemas.openxmlformats.org/officeDocument/2006/relationships/image" Target="../media/image80.png"/><Relationship Id="rId33" Type="http://schemas.openxmlformats.org/officeDocument/2006/relationships/image" Target="../media/image79.png"/><Relationship Id="rId32" Type="http://schemas.openxmlformats.org/officeDocument/2006/relationships/image" Target="../media/image78.png"/><Relationship Id="rId31" Type="http://schemas.openxmlformats.org/officeDocument/2006/relationships/image" Target="../media/image77.png"/><Relationship Id="rId30" Type="http://schemas.openxmlformats.org/officeDocument/2006/relationships/image" Target="../media/image76.png"/><Relationship Id="rId3" Type="http://schemas.openxmlformats.org/officeDocument/2006/relationships/image" Target="../media/image49.png"/><Relationship Id="rId29" Type="http://schemas.openxmlformats.org/officeDocument/2006/relationships/image" Target="../media/image75.png"/><Relationship Id="rId28" Type="http://schemas.openxmlformats.org/officeDocument/2006/relationships/image" Target="../media/image74.png"/><Relationship Id="rId27" Type="http://schemas.openxmlformats.org/officeDocument/2006/relationships/image" Target="../media/image73.png"/><Relationship Id="rId26" Type="http://schemas.openxmlformats.org/officeDocument/2006/relationships/image" Target="../media/image72.png"/><Relationship Id="rId25" Type="http://schemas.openxmlformats.org/officeDocument/2006/relationships/image" Target="../media/image71.png"/><Relationship Id="rId24" Type="http://schemas.openxmlformats.org/officeDocument/2006/relationships/image" Target="../media/image70.png"/><Relationship Id="rId23" Type="http://schemas.openxmlformats.org/officeDocument/2006/relationships/image" Target="../media/image69.png"/><Relationship Id="rId22" Type="http://schemas.openxmlformats.org/officeDocument/2006/relationships/image" Target="../media/image68.png"/><Relationship Id="rId21" Type="http://schemas.openxmlformats.org/officeDocument/2006/relationships/image" Target="../media/image67.png"/><Relationship Id="rId20" Type="http://schemas.openxmlformats.org/officeDocument/2006/relationships/image" Target="../media/image66.png"/><Relationship Id="rId2" Type="http://schemas.openxmlformats.org/officeDocument/2006/relationships/image" Target="../media/image48.png"/><Relationship Id="rId19" Type="http://schemas.openxmlformats.org/officeDocument/2006/relationships/image" Target="../media/image65.png"/><Relationship Id="rId18" Type="http://schemas.openxmlformats.org/officeDocument/2006/relationships/image" Target="../media/image64.png"/><Relationship Id="rId17" Type="http://schemas.openxmlformats.org/officeDocument/2006/relationships/image" Target="../media/image63.png"/><Relationship Id="rId16" Type="http://schemas.openxmlformats.org/officeDocument/2006/relationships/image" Target="../media/image62.png"/><Relationship Id="rId15" Type="http://schemas.openxmlformats.org/officeDocument/2006/relationships/image" Target="../media/image61.png"/><Relationship Id="rId14" Type="http://schemas.openxmlformats.org/officeDocument/2006/relationships/image" Target="../media/image60.png"/><Relationship Id="rId13" Type="http://schemas.openxmlformats.org/officeDocument/2006/relationships/image" Target="../media/image59.png"/><Relationship Id="rId12" Type="http://schemas.openxmlformats.org/officeDocument/2006/relationships/image" Target="../media/image58.png"/><Relationship Id="rId11" Type="http://schemas.openxmlformats.org/officeDocument/2006/relationships/image" Target="../media/image57.png"/><Relationship Id="rId10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png"/><Relationship Id="rId8" Type="http://schemas.openxmlformats.org/officeDocument/2006/relationships/image" Target="../media/image94.png"/><Relationship Id="rId7" Type="http://schemas.openxmlformats.org/officeDocument/2006/relationships/image" Target="../media/image93.png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9" Type="http://schemas.openxmlformats.org/officeDocument/2006/relationships/image" Target="../media/image115.png"/><Relationship Id="rId28" Type="http://schemas.openxmlformats.org/officeDocument/2006/relationships/image" Target="../media/image114.png"/><Relationship Id="rId27" Type="http://schemas.openxmlformats.org/officeDocument/2006/relationships/image" Target="../media/image113.png"/><Relationship Id="rId26" Type="http://schemas.openxmlformats.org/officeDocument/2006/relationships/image" Target="../media/image112.png"/><Relationship Id="rId25" Type="http://schemas.openxmlformats.org/officeDocument/2006/relationships/image" Target="../media/image111.png"/><Relationship Id="rId24" Type="http://schemas.openxmlformats.org/officeDocument/2006/relationships/image" Target="../media/image110.png"/><Relationship Id="rId23" Type="http://schemas.openxmlformats.org/officeDocument/2006/relationships/image" Target="../media/image109.png"/><Relationship Id="rId22" Type="http://schemas.openxmlformats.org/officeDocument/2006/relationships/image" Target="../media/image108.png"/><Relationship Id="rId21" Type="http://schemas.openxmlformats.org/officeDocument/2006/relationships/image" Target="../media/image107.png"/><Relationship Id="rId20" Type="http://schemas.openxmlformats.org/officeDocument/2006/relationships/image" Target="../media/image106.png"/><Relationship Id="rId2" Type="http://schemas.openxmlformats.org/officeDocument/2006/relationships/image" Target="../media/image88.png"/><Relationship Id="rId19" Type="http://schemas.openxmlformats.org/officeDocument/2006/relationships/image" Target="../media/image105.png"/><Relationship Id="rId18" Type="http://schemas.openxmlformats.org/officeDocument/2006/relationships/image" Target="../media/image104.png"/><Relationship Id="rId17" Type="http://schemas.openxmlformats.org/officeDocument/2006/relationships/image" Target="../media/image103.png"/><Relationship Id="rId16" Type="http://schemas.openxmlformats.org/officeDocument/2006/relationships/image" Target="../media/image102.png"/><Relationship Id="rId15" Type="http://schemas.openxmlformats.org/officeDocument/2006/relationships/image" Target="../media/image101.png"/><Relationship Id="rId14" Type="http://schemas.openxmlformats.org/officeDocument/2006/relationships/image" Target="../media/image100.png"/><Relationship Id="rId13" Type="http://schemas.openxmlformats.org/officeDocument/2006/relationships/image" Target="../media/image99.png"/><Relationship Id="rId12" Type="http://schemas.openxmlformats.org/officeDocument/2006/relationships/image" Target="../media/image98.png"/><Relationship Id="rId11" Type="http://schemas.openxmlformats.org/officeDocument/2006/relationships/image" Target="../media/image97.png"/><Relationship Id="rId10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png"/><Relationship Id="rId8" Type="http://schemas.openxmlformats.org/officeDocument/2006/relationships/image" Target="../media/image127.png"/><Relationship Id="rId7" Type="http://schemas.openxmlformats.org/officeDocument/2006/relationships/image" Target="../media/image126.png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Relationship Id="rId3" Type="http://schemas.openxmlformats.org/officeDocument/2006/relationships/image" Target="../media/image122.png"/><Relationship Id="rId20" Type="http://schemas.openxmlformats.org/officeDocument/2006/relationships/image" Target="../media/image139.png"/><Relationship Id="rId2" Type="http://schemas.openxmlformats.org/officeDocument/2006/relationships/image" Target="../media/image121.png"/><Relationship Id="rId19" Type="http://schemas.openxmlformats.org/officeDocument/2006/relationships/image" Target="../media/image138.png"/><Relationship Id="rId18" Type="http://schemas.openxmlformats.org/officeDocument/2006/relationships/image" Target="../media/image137.png"/><Relationship Id="rId17" Type="http://schemas.openxmlformats.org/officeDocument/2006/relationships/image" Target="../media/image136.png"/><Relationship Id="rId16" Type="http://schemas.openxmlformats.org/officeDocument/2006/relationships/image" Target="../media/image135.png"/><Relationship Id="rId15" Type="http://schemas.openxmlformats.org/officeDocument/2006/relationships/image" Target="../media/image134.png"/><Relationship Id="rId14" Type="http://schemas.openxmlformats.org/officeDocument/2006/relationships/image" Target="../media/image133.png"/><Relationship Id="rId13" Type="http://schemas.openxmlformats.org/officeDocument/2006/relationships/image" Target="../media/image132.png"/><Relationship Id="rId12" Type="http://schemas.openxmlformats.org/officeDocument/2006/relationships/image" Target="../media/image131.png"/><Relationship Id="rId11" Type="http://schemas.openxmlformats.org/officeDocument/2006/relationships/image" Target="../media/image130.png"/><Relationship Id="rId10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png"/><Relationship Id="rId8" Type="http://schemas.openxmlformats.org/officeDocument/2006/relationships/image" Target="../media/image146.png"/><Relationship Id="rId7" Type="http://schemas.openxmlformats.org/officeDocument/2006/relationships/image" Target="../media/image145.png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6" Type="http://schemas.openxmlformats.org/officeDocument/2006/relationships/image" Target="../media/image154.png"/><Relationship Id="rId15" Type="http://schemas.openxmlformats.org/officeDocument/2006/relationships/image" Target="../media/image153.png"/><Relationship Id="rId14" Type="http://schemas.openxmlformats.org/officeDocument/2006/relationships/image" Target="../media/image152.png"/><Relationship Id="rId13" Type="http://schemas.openxmlformats.org/officeDocument/2006/relationships/image" Target="../media/image151.png"/><Relationship Id="rId12" Type="http://schemas.openxmlformats.org/officeDocument/2006/relationships/image" Target="../media/image150.png"/><Relationship Id="rId11" Type="http://schemas.openxmlformats.org/officeDocument/2006/relationships/image" Target="../media/image149.png"/><Relationship Id="rId10" Type="http://schemas.openxmlformats.org/officeDocument/2006/relationships/image" Target="../media/image14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2.png"/><Relationship Id="rId8" Type="http://schemas.openxmlformats.org/officeDocument/2006/relationships/image" Target="../media/image161.png"/><Relationship Id="rId7" Type="http://schemas.openxmlformats.org/officeDocument/2006/relationships/image" Target="../media/image160.png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0.png"/><Relationship Id="rId8" Type="http://schemas.openxmlformats.org/officeDocument/2006/relationships/image" Target="../media/image169.png"/><Relationship Id="rId7" Type="http://schemas.openxmlformats.org/officeDocument/2006/relationships/image" Target="../media/image168.png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3" Type="http://schemas.openxmlformats.org/officeDocument/2006/relationships/image" Target="../media/image174.png"/><Relationship Id="rId12" Type="http://schemas.openxmlformats.org/officeDocument/2006/relationships/image" Target="../media/image173.png"/><Relationship Id="rId11" Type="http://schemas.openxmlformats.org/officeDocument/2006/relationships/image" Target="../media/image172.png"/><Relationship Id="rId10" Type="http://schemas.openxmlformats.org/officeDocument/2006/relationships/image" Target="../media/image17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2.png"/><Relationship Id="rId8" Type="http://schemas.openxmlformats.org/officeDocument/2006/relationships/image" Target="../media/image181.png"/><Relationship Id="rId7" Type="http://schemas.openxmlformats.org/officeDocument/2006/relationships/image" Target="../media/image180.png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Relationship Id="rId3" Type="http://schemas.openxmlformats.org/officeDocument/2006/relationships/image" Target="../media/image176.png"/><Relationship Id="rId24" Type="http://schemas.openxmlformats.org/officeDocument/2006/relationships/image" Target="../media/image197.png"/><Relationship Id="rId23" Type="http://schemas.openxmlformats.org/officeDocument/2006/relationships/image" Target="../media/image196.png"/><Relationship Id="rId22" Type="http://schemas.openxmlformats.org/officeDocument/2006/relationships/image" Target="../media/image195.png"/><Relationship Id="rId21" Type="http://schemas.openxmlformats.org/officeDocument/2006/relationships/image" Target="../media/image194.png"/><Relationship Id="rId20" Type="http://schemas.openxmlformats.org/officeDocument/2006/relationships/image" Target="../media/image193.png"/><Relationship Id="rId2" Type="http://schemas.openxmlformats.org/officeDocument/2006/relationships/image" Target="../media/image175.png"/><Relationship Id="rId19" Type="http://schemas.openxmlformats.org/officeDocument/2006/relationships/image" Target="../media/image192.png"/><Relationship Id="rId18" Type="http://schemas.openxmlformats.org/officeDocument/2006/relationships/image" Target="../media/image191.png"/><Relationship Id="rId17" Type="http://schemas.openxmlformats.org/officeDocument/2006/relationships/image" Target="../media/image190.png"/><Relationship Id="rId16" Type="http://schemas.openxmlformats.org/officeDocument/2006/relationships/image" Target="../media/image189.png"/><Relationship Id="rId15" Type="http://schemas.openxmlformats.org/officeDocument/2006/relationships/image" Target="../media/image188.png"/><Relationship Id="rId14" Type="http://schemas.openxmlformats.org/officeDocument/2006/relationships/image" Target="../media/image187.png"/><Relationship Id="rId13" Type="http://schemas.openxmlformats.org/officeDocument/2006/relationships/image" Target="../media/image186.png"/><Relationship Id="rId12" Type="http://schemas.openxmlformats.org/officeDocument/2006/relationships/image" Target="../media/image185.png"/><Relationship Id="rId11" Type="http://schemas.openxmlformats.org/officeDocument/2006/relationships/image" Target="../media/image184.png"/><Relationship Id="rId10" Type="http://schemas.openxmlformats.org/officeDocument/2006/relationships/image" Target="../media/image18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5.png"/><Relationship Id="rId8" Type="http://schemas.openxmlformats.org/officeDocument/2006/relationships/image" Target="../media/image204.png"/><Relationship Id="rId7" Type="http://schemas.openxmlformats.org/officeDocument/2006/relationships/image" Target="../media/image203.png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9" Type="http://schemas.openxmlformats.org/officeDocument/2006/relationships/image" Target="../media/image215.png"/><Relationship Id="rId18" Type="http://schemas.openxmlformats.org/officeDocument/2006/relationships/image" Target="../media/image214.png"/><Relationship Id="rId17" Type="http://schemas.openxmlformats.org/officeDocument/2006/relationships/image" Target="../media/image213.png"/><Relationship Id="rId16" Type="http://schemas.openxmlformats.org/officeDocument/2006/relationships/image" Target="../media/image212.png"/><Relationship Id="rId15" Type="http://schemas.openxmlformats.org/officeDocument/2006/relationships/image" Target="../media/image211.png"/><Relationship Id="rId14" Type="http://schemas.openxmlformats.org/officeDocument/2006/relationships/image" Target="../media/image210.png"/><Relationship Id="rId13" Type="http://schemas.openxmlformats.org/officeDocument/2006/relationships/image" Target="../media/image209.png"/><Relationship Id="rId12" Type="http://schemas.openxmlformats.org/officeDocument/2006/relationships/image" Target="../media/image208.png"/><Relationship Id="rId11" Type="http://schemas.openxmlformats.org/officeDocument/2006/relationships/image" Target="../media/image207.png"/><Relationship Id="rId10" Type="http://schemas.openxmlformats.org/officeDocument/2006/relationships/image" Target="../media/image20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3.png"/><Relationship Id="rId8" Type="http://schemas.openxmlformats.org/officeDocument/2006/relationships/image" Target="../media/image222.png"/><Relationship Id="rId7" Type="http://schemas.openxmlformats.org/officeDocument/2006/relationships/image" Target="../media/image221.png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218.png"/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9" Type="http://schemas.openxmlformats.org/officeDocument/2006/relationships/image" Target="../media/image233.png"/><Relationship Id="rId18" Type="http://schemas.openxmlformats.org/officeDocument/2006/relationships/image" Target="../media/image232.png"/><Relationship Id="rId17" Type="http://schemas.openxmlformats.org/officeDocument/2006/relationships/image" Target="../media/image231.png"/><Relationship Id="rId16" Type="http://schemas.openxmlformats.org/officeDocument/2006/relationships/image" Target="../media/image230.png"/><Relationship Id="rId15" Type="http://schemas.openxmlformats.org/officeDocument/2006/relationships/image" Target="../media/image229.png"/><Relationship Id="rId14" Type="http://schemas.openxmlformats.org/officeDocument/2006/relationships/image" Target="../media/image228.png"/><Relationship Id="rId13" Type="http://schemas.openxmlformats.org/officeDocument/2006/relationships/image" Target="../media/image227.png"/><Relationship Id="rId12" Type="http://schemas.openxmlformats.org/officeDocument/2006/relationships/image" Target="../media/image226.png"/><Relationship Id="rId11" Type="http://schemas.openxmlformats.org/officeDocument/2006/relationships/image" Target="../media/image225.png"/><Relationship Id="rId10" Type="http://schemas.openxmlformats.org/officeDocument/2006/relationships/image" Target="../media/image2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36.png"/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39.png"/><Relationship Id="rId3" Type="http://schemas.openxmlformats.org/officeDocument/2006/relationships/image" Target="../media/image238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45.png"/><Relationship Id="rId3" Type="http://schemas.openxmlformats.org/officeDocument/2006/relationships/image" Target="../media/image244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image" Target="../media/image251.png"/><Relationship Id="rId5" Type="http://schemas.openxmlformats.org/officeDocument/2006/relationships/image" Target="../media/image250.png"/><Relationship Id="rId4" Type="http://schemas.openxmlformats.org/officeDocument/2006/relationships/image" Target="../media/image249.png"/><Relationship Id="rId3" Type="http://schemas.openxmlformats.org/officeDocument/2006/relationships/image" Target="../media/image248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54.png"/><Relationship Id="rId3" Type="http://schemas.openxmlformats.org/officeDocument/2006/relationships/image" Target="../media/image253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258.png"/><Relationship Id="rId4" Type="http://schemas.openxmlformats.org/officeDocument/2006/relationships/image" Target="../media/image257.png"/><Relationship Id="rId3" Type="http://schemas.openxmlformats.org/officeDocument/2006/relationships/image" Target="../media/image256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61.png"/><Relationship Id="rId3" Type="http://schemas.openxmlformats.org/officeDocument/2006/relationships/image" Target="../media/image260.png"/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65.png"/><Relationship Id="rId4" Type="http://schemas.openxmlformats.org/officeDocument/2006/relationships/image" Target="../media/image264.png"/><Relationship Id="rId3" Type="http://schemas.openxmlformats.org/officeDocument/2006/relationships/image" Target="../media/image263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3.png"/><Relationship Id="rId8" Type="http://schemas.openxmlformats.org/officeDocument/2006/relationships/image" Target="../media/image272.png"/><Relationship Id="rId7" Type="http://schemas.openxmlformats.org/officeDocument/2006/relationships/image" Target="../media/image271.png"/><Relationship Id="rId6" Type="http://schemas.openxmlformats.org/officeDocument/2006/relationships/image" Target="../media/image270.png"/><Relationship Id="rId5" Type="http://schemas.openxmlformats.org/officeDocument/2006/relationships/image" Target="../media/image269.png"/><Relationship Id="rId4" Type="http://schemas.openxmlformats.org/officeDocument/2006/relationships/image" Target="../media/image268.png"/><Relationship Id="rId3" Type="http://schemas.openxmlformats.org/officeDocument/2006/relationships/image" Target="../media/image267.png"/><Relationship Id="rId2" Type="http://schemas.openxmlformats.org/officeDocument/2006/relationships/image" Target="../media/image266.jpeg"/><Relationship Id="rId12" Type="http://schemas.openxmlformats.org/officeDocument/2006/relationships/image" Target="../media/image276.png"/><Relationship Id="rId11" Type="http://schemas.openxmlformats.org/officeDocument/2006/relationships/image" Target="../media/image275.png"/><Relationship Id="rId10" Type="http://schemas.openxmlformats.org/officeDocument/2006/relationships/image" Target="../media/image27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image" Target="../media/image282.png"/><Relationship Id="rId6" Type="http://schemas.openxmlformats.org/officeDocument/2006/relationships/image" Target="../media/image281.png"/><Relationship Id="rId5" Type="http://schemas.openxmlformats.org/officeDocument/2006/relationships/image" Target="../media/image280.png"/><Relationship Id="rId4" Type="http://schemas.openxmlformats.org/officeDocument/2006/relationships/image" Target="../media/image279.png"/><Relationship Id="rId3" Type="http://schemas.openxmlformats.org/officeDocument/2006/relationships/image" Target="../media/image278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5.png"/><Relationship Id="rId3" Type="http://schemas.openxmlformats.org/officeDocument/2006/relationships/image" Target="../media/image284.png"/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3.png"/><Relationship Id="rId8" Type="http://schemas.openxmlformats.org/officeDocument/2006/relationships/image" Target="../media/image292.png"/><Relationship Id="rId7" Type="http://schemas.openxmlformats.org/officeDocument/2006/relationships/image" Target="../media/image291.png"/><Relationship Id="rId6" Type="http://schemas.openxmlformats.org/officeDocument/2006/relationships/image" Target="../media/image290.png"/><Relationship Id="rId5" Type="http://schemas.openxmlformats.org/officeDocument/2006/relationships/image" Target="../media/image289.png"/><Relationship Id="rId4" Type="http://schemas.openxmlformats.org/officeDocument/2006/relationships/image" Target="../media/image288.png"/><Relationship Id="rId3" Type="http://schemas.openxmlformats.org/officeDocument/2006/relationships/image" Target="../media/image287.png"/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1.png"/><Relationship Id="rId8" Type="http://schemas.openxmlformats.org/officeDocument/2006/relationships/image" Target="../media/image300.png"/><Relationship Id="rId7" Type="http://schemas.openxmlformats.org/officeDocument/2006/relationships/image" Target="../media/image299.png"/><Relationship Id="rId6" Type="http://schemas.openxmlformats.org/officeDocument/2006/relationships/image" Target="../media/image298.png"/><Relationship Id="rId5" Type="http://schemas.openxmlformats.org/officeDocument/2006/relationships/image" Target="../media/image297.png"/><Relationship Id="rId4" Type="http://schemas.openxmlformats.org/officeDocument/2006/relationships/image" Target="../media/image296.png"/><Relationship Id="rId3" Type="http://schemas.openxmlformats.org/officeDocument/2006/relationships/image" Target="../media/image295.png"/><Relationship Id="rId2" Type="http://schemas.openxmlformats.org/officeDocument/2006/relationships/image" Target="../media/image294.png"/><Relationship Id="rId14" Type="http://schemas.openxmlformats.org/officeDocument/2006/relationships/image" Target="../media/image306.png"/><Relationship Id="rId13" Type="http://schemas.openxmlformats.org/officeDocument/2006/relationships/image" Target="../media/image305.png"/><Relationship Id="rId12" Type="http://schemas.openxmlformats.org/officeDocument/2006/relationships/image" Target="../media/image304.png"/><Relationship Id="rId11" Type="http://schemas.openxmlformats.org/officeDocument/2006/relationships/image" Target="../media/image303.png"/><Relationship Id="rId10" Type="http://schemas.openxmlformats.org/officeDocument/2006/relationships/image" Target="../media/image30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image" Target="../media/image312.png"/><Relationship Id="rId6" Type="http://schemas.openxmlformats.org/officeDocument/2006/relationships/image" Target="../media/image311.png"/><Relationship Id="rId5" Type="http://schemas.openxmlformats.org/officeDocument/2006/relationships/image" Target="../media/image310.png"/><Relationship Id="rId4" Type="http://schemas.openxmlformats.org/officeDocument/2006/relationships/image" Target="../media/image309.png"/><Relationship Id="rId3" Type="http://schemas.openxmlformats.org/officeDocument/2006/relationships/image" Target="../media/image308.png"/><Relationship Id="rId2" Type="http://schemas.openxmlformats.org/officeDocument/2006/relationships/image" Target="../media/image30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image" Target="../media/image318.png"/><Relationship Id="rId6" Type="http://schemas.openxmlformats.org/officeDocument/2006/relationships/image" Target="../media/image317.jpeg"/><Relationship Id="rId5" Type="http://schemas.openxmlformats.org/officeDocument/2006/relationships/image" Target="../media/image316.png"/><Relationship Id="rId4" Type="http://schemas.openxmlformats.org/officeDocument/2006/relationships/image" Target="../media/image315.png"/><Relationship Id="rId3" Type="http://schemas.openxmlformats.org/officeDocument/2006/relationships/image" Target="../media/image314.png"/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6.png"/><Relationship Id="rId8" Type="http://schemas.openxmlformats.org/officeDocument/2006/relationships/image" Target="../media/image325.png"/><Relationship Id="rId7" Type="http://schemas.openxmlformats.org/officeDocument/2006/relationships/image" Target="../media/image324.png"/><Relationship Id="rId6" Type="http://schemas.openxmlformats.org/officeDocument/2006/relationships/image" Target="../media/image323.png"/><Relationship Id="rId5" Type="http://schemas.openxmlformats.org/officeDocument/2006/relationships/image" Target="../media/image322.png"/><Relationship Id="rId4" Type="http://schemas.openxmlformats.org/officeDocument/2006/relationships/image" Target="../media/image321.jpeg"/><Relationship Id="rId3" Type="http://schemas.openxmlformats.org/officeDocument/2006/relationships/image" Target="../media/image320.png"/><Relationship Id="rId2" Type="http://schemas.openxmlformats.org/officeDocument/2006/relationships/image" Target="../media/image319.png"/><Relationship Id="rId10" Type="http://schemas.openxmlformats.org/officeDocument/2006/relationships/image" Target="../media/image32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image" Target="../media/image332.png"/><Relationship Id="rId5" Type="http://schemas.openxmlformats.org/officeDocument/2006/relationships/image" Target="../media/image331.png"/><Relationship Id="rId4" Type="http://schemas.openxmlformats.org/officeDocument/2006/relationships/image" Target="../media/image330.png"/><Relationship Id="rId3" Type="http://schemas.openxmlformats.org/officeDocument/2006/relationships/image" Target="../media/image329.png"/><Relationship Id="rId2" Type="http://schemas.openxmlformats.org/officeDocument/2006/relationships/image" Target="../media/image32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35.png"/><Relationship Id="rId3" Type="http://schemas.openxmlformats.org/officeDocument/2006/relationships/image" Target="../media/image334.png"/><Relationship Id="rId2" Type="http://schemas.openxmlformats.org/officeDocument/2006/relationships/image" Target="../media/image33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image" Target="../media/image342.png"/><Relationship Id="rId6" Type="http://schemas.openxmlformats.org/officeDocument/2006/relationships/image" Target="../media/image341.jpeg"/><Relationship Id="rId5" Type="http://schemas.openxmlformats.org/officeDocument/2006/relationships/image" Target="../media/image340.png"/><Relationship Id="rId4" Type="http://schemas.openxmlformats.org/officeDocument/2006/relationships/image" Target="../media/image339.png"/><Relationship Id="rId3" Type="http://schemas.openxmlformats.org/officeDocument/2006/relationships/image" Target="../media/image338.png"/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image" Target="../media/image347.png"/><Relationship Id="rId5" Type="http://schemas.openxmlformats.org/officeDocument/2006/relationships/image" Target="../media/image346.png"/><Relationship Id="rId4" Type="http://schemas.openxmlformats.org/officeDocument/2006/relationships/image" Target="../media/image345.png"/><Relationship Id="rId3" Type="http://schemas.openxmlformats.org/officeDocument/2006/relationships/image" Target="../media/image344.jpeg"/><Relationship Id="rId2" Type="http://schemas.openxmlformats.org/officeDocument/2006/relationships/image" Target="../media/image343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50.png"/><Relationship Id="rId3" Type="http://schemas.openxmlformats.org/officeDocument/2006/relationships/image" Target="../media/image349.pn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8.png"/><Relationship Id="rId8" Type="http://schemas.openxmlformats.org/officeDocument/2006/relationships/image" Target="../media/image357.png"/><Relationship Id="rId7" Type="http://schemas.openxmlformats.org/officeDocument/2006/relationships/image" Target="../media/image356.png"/><Relationship Id="rId6" Type="http://schemas.openxmlformats.org/officeDocument/2006/relationships/image" Target="../media/image355.png"/><Relationship Id="rId5" Type="http://schemas.openxmlformats.org/officeDocument/2006/relationships/image" Target="../media/image354.png"/><Relationship Id="rId4" Type="http://schemas.openxmlformats.org/officeDocument/2006/relationships/image" Target="../media/image353.png"/><Relationship Id="rId3" Type="http://schemas.openxmlformats.org/officeDocument/2006/relationships/image" Target="../media/image352.png"/><Relationship Id="rId22" Type="http://schemas.openxmlformats.org/officeDocument/2006/relationships/image" Target="../media/image371.png"/><Relationship Id="rId21" Type="http://schemas.openxmlformats.org/officeDocument/2006/relationships/image" Target="../media/image370.png"/><Relationship Id="rId20" Type="http://schemas.openxmlformats.org/officeDocument/2006/relationships/image" Target="../media/image369.png"/><Relationship Id="rId2" Type="http://schemas.openxmlformats.org/officeDocument/2006/relationships/image" Target="../media/image351.png"/><Relationship Id="rId19" Type="http://schemas.openxmlformats.org/officeDocument/2006/relationships/image" Target="../media/image368.png"/><Relationship Id="rId18" Type="http://schemas.openxmlformats.org/officeDocument/2006/relationships/image" Target="../media/image367.png"/><Relationship Id="rId17" Type="http://schemas.openxmlformats.org/officeDocument/2006/relationships/image" Target="../media/image366.png"/><Relationship Id="rId16" Type="http://schemas.openxmlformats.org/officeDocument/2006/relationships/image" Target="../media/image365.png"/><Relationship Id="rId15" Type="http://schemas.openxmlformats.org/officeDocument/2006/relationships/image" Target="../media/image364.png"/><Relationship Id="rId14" Type="http://schemas.openxmlformats.org/officeDocument/2006/relationships/image" Target="../media/image363.png"/><Relationship Id="rId13" Type="http://schemas.openxmlformats.org/officeDocument/2006/relationships/image" Target="../media/image362.png"/><Relationship Id="rId12" Type="http://schemas.openxmlformats.org/officeDocument/2006/relationships/image" Target="../media/image361.png"/><Relationship Id="rId11" Type="http://schemas.openxmlformats.org/officeDocument/2006/relationships/image" Target="../media/image360.png"/><Relationship Id="rId10" Type="http://schemas.openxmlformats.org/officeDocument/2006/relationships/image" Target="../media/image35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image" Target="../media/image375.png"/><Relationship Id="rId4" Type="http://schemas.openxmlformats.org/officeDocument/2006/relationships/image" Target="../media/image374.png"/><Relationship Id="rId3" Type="http://schemas.openxmlformats.org/officeDocument/2006/relationships/image" Target="../media/image373.png"/><Relationship Id="rId2" Type="http://schemas.openxmlformats.org/officeDocument/2006/relationships/image" Target="../media/image37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image" Target="../media/image380.png"/><Relationship Id="rId5" Type="http://schemas.openxmlformats.org/officeDocument/2006/relationships/image" Target="../media/image379.jpeg"/><Relationship Id="rId4" Type="http://schemas.openxmlformats.org/officeDocument/2006/relationships/image" Target="../media/image378.png"/><Relationship Id="rId3" Type="http://schemas.openxmlformats.org/officeDocument/2006/relationships/image" Target="../media/image377.png"/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83.png"/><Relationship Id="rId3" Type="http://schemas.openxmlformats.org/officeDocument/2006/relationships/image" Target="../media/image382.jpeg"/><Relationship Id="rId2" Type="http://schemas.openxmlformats.org/officeDocument/2006/relationships/image" Target="../media/image381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2.png"/><Relationship Id="rId8" Type="http://schemas.openxmlformats.org/officeDocument/2006/relationships/image" Target="../media/image391.png"/><Relationship Id="rId7" Type="http://schemas.openxmlformats.org/officeDocument/2006/relationships/image" Target="../media/image390.png"/><Relationship Id="rId6" Type="http://schemas.openxmlformats.org/officeDocument/2006/relationships/image" Target="../media/image389.png"/><Relationship Id="rId5" Type="http://schemas.openxmlformats.org/officeDocument/2006/relationships/image" Target="../media/image388.png"/><Relationship Id="rId4" Type="http://schemas.openxmlformats.org/officeDocument/2006/relationships/image" Target="../media/image387.png"/><Relationship Id="rId3" Type="http://schemas.openxmlformats.org/officeDocument/2006/relationships/image" Target="../media/image386.png"/><Relationship Id="rId2" Type="http://schemas.openxmlformats.org/officeDocument/2006/relationships/image" Target="../media/image385.png"/><Relationship Id="rId12" Type="http://schemas.openxmlformats.org/officeDocument/2006/relationships/image" Target="../media/image395.png"/><Relationship Id="rId11" Type="http://schemas.openxmlformats.org/officeDocument/2006/relationships/image" Target="../media/image394.png"/><Relationship Id="rId10" Type="http://schemas.openxmlformats.org/officeDocument/2006/relationships/image" Target="../media/image39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4.png"/><Relationship Id="rId8" Type="http://schemas.openxmlformats.org/officeDocument/2006/relationships/image" Target="../media/image403.png"/><Relationship Id="rId7" Type="http://schemas.openxmlformats.org/officeDocument/2006/relationships/image" Target="../media/image402.png"/><Relationship Id="rId6" Type="http://schemas.openxmlformats.org/officeDocument/2006/relationships/image" Target="../media/image401.png"/><Relationship Id="rId5" Type="http://schemas.openxmlformats.org/officeDocument/2006/relationships/image" Target="../media/image400.png"/><Relationship Id="rId4" Type="http://schemas.openxmlformats.org/officeDocument/2006/relationships/image" Target="../media/image399.png"/><Relationship Id="rId3" Type="http://schemas.openxmlformats.org/officeDocument/2006/relationships/image" Target="../media/image398.png"/><Relationship Id="rId20" Type="http://schemas.openxmlformats.org/officeDocument/2006/relationships/image" Target="../media/image415.png"/><Relationship Id="rId2" Type="http://schemas.openxmlformats.org/officeDocument/2006/relationships/image" Target="../media/image397.png"/><Relationship Id="rId19" Type="http://schemas.openxmlformats.org/officeDocument/2006/relationships/image" Target="../media/image414.png"/><Relationship Id="rId18" Type="http://schemas.openxmlformats.org/officeDocument/2006/relationships/image" Target="../media/image413.png"/><Relationship Id="rId17" Type="http://schemas.openxmlformats.org/officeDocument/2006/relationships/image" Target="../media/image412.png"/><Relationship Id="rId16" Type="http://schemas.openxmlformats.org/officeDocument/2006/relationships/image" Target="../media/image411.png"/><Relationship Id="rId15" Type="http://schemas.openxmlformats.org/officeDocument/2006/relationships/image" Target="../media/image410.png"/><Relationship Id="rId14" Type="http://schemas.openxmlformats.org/officeDocument/2006/relationships/image" Target="../media/image409.png"/><Relationship Id="rId13" Type="http://schemas.openxmlformats.org/officeDocument/2006/relationships/image" Target="../media/image408.png"/><Relationship Id="rId12" Type="http://schemas.openxmlformats.org/officeDocument/2006/relationships/image" Target="../media/image407.png"/><Relationship Id="rId11" Type="http://schemas.openxmlformats.org/officeDocument/2006/relationships/image" Target="../media/image406.png"/><Relationship Id="rId10" Type="http://schemas.openxmlformats.org/officeDocument/2006/relationships/image" Target="../media/image405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6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4.png"/><Relationship Id="rId8" Type="http://schemas.openxmlformats.org/officeDocument/2006/relationships/image" Target="../media/image423.png"/><Relationship Id="rId7" Type="http://schemas.openxmlformats.org/officeDocument/2006/relationships/image" Target="../media/image422.png"/><Relationship Id="rId6" Type="http://schemas.openxmlformats.org/officeDocument/2006/relationships/image" Target="../media/image421.png"/><Relationship Id="rId5" Type="http://schemas.openxmlformats.org/officeDocument/2006/relationships/image" Target="../media/image420.png"/><Relationship Id="rId4" Type="http://schemas.openxmlformats.org/officeDocument/2006/relationships/image" Target="../media/image419.png"/><Relationship Id="rId3" Type="http://schemas.openxmlformats.org/officeDocument/2006/relationships/image" Target="../media/image418.png"/><Relationship Id="rId2" Type="http://schemas.openxmlformats.org/officeDocument/2006/relationships/image" Target="../media/image417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6.png"/><Relationship Id="rId2" Type="http://schemas.openxmlformats.org/officeDocument/2006/relationships/image" Target="../media/image425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4.png"/><Relationship Id="rId8" Type="http://schemas.openxmlformats.org/officeDocument/2006/relationships/image" Target="../media/image433.png"/><Relationship Id="rId7" Type="http://schemas.openxmlformats.org/officeDocument/2006/relationships/image" Target="../media/image432.png"/><Relationship Id="rId6" Type="http://schemas.openxmlformats.org/officeDocument/2006/relationships/image" Target="../media/image431.png"/><Relationship Id="rId5" Type="http://schemas.openxmlformats.org/officeDocument/2006/relationships/image" Target="../media/image430.png"/><Relationship Id="rId4" Type="http://schemas.openxmlformats.org/officeDocument/2006/relationships/image" Target="../media/image429.png"/><Relationship Id="rId3" Type="http://schemas.openxmlformats.org/officeDocument/2006/relationships/image" Target="../media/image428.png"/><Relationship Id="rId2" Type="http://schemas.openxmlformats.org/officeDocument/2006/relationships/image" Target="../media/image427.png"/><Relationship Id="rId10" Type="http://schemas.openxmlformats.org/officeDocument/2006/relationships/image" Target="../media/image435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7.png"/><Relationship Id="rId2" Type="http://schemas.openxmlformats.org/officeDocument/2006/relationships/image" Target="../media/image436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9.png"/><Relationship Id="rId2" Type="http://schemas.openxmlformats.org/officeDocument/2006/relationships/image" Target="../media/image438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42.png"/><Relationship Id="rId3" Type="http://schemas.openxmlformats.org/officeDocument/2006/relationships/image" Target="../media/image441.jpe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0.png"/><Relationship Id="rId8" Type="http://schemas.openxmlformats.org/officeDocument/2006/relationships/image" Target="../media/image449.png"/><Relationship Id="rId7" Type="http://schemas.openxmlformats.org/officeDocument/2006/relationships/image" Target="../media/image448.png"/><Relationship Id="rId6" Type="http://schemas.openxmlformats.org/officeDocument/2006/relationships/image" Target="../media/image447.png"/><Relationship Id="rId5" Type="http://schemas.openxmlformats.org/officeDocument/2006/relationships/image" Target="../media/image446.png"/><Relationship Id="rId4" Type="http://schemas.openxmlformats.org/officeDocument/2006/relationships/image" Target="../media/image445.png"/><Relationship Id="rId3" Type="http://schemas.openxmlformats.org/officeDocument/2006/relationships/image" Target="../media/image444.png"/><Relationship Id="rId22" Type="http://schemas.openxmlformats.org/officeDocument/2006/relationships/image" Target="../media/image463.png"/><Relationship Id="rId21" Type="http://schemas.openxmlformats.org/officeDocument/2006/relationships/image" Target="../media/image462.png"/><Relationship Id="rId20" Type="http://schemas.openxmlformats.org/officeDocument/2006/relationships/image" Target="../media/image461.png"/><Relationship Id="rId2" Type="http://schemas.openxmlformats.org/officeDocument/2006/relationships/image" Target="../media/image443.png"/><Relationship Id="rId19" Type="http://schemas.openxmlformats.org/officeDocument/2006/relationships/image" Target="../media/image460.png"/><Relationship Id="rId18" Type="http://schemas.openxmlformats.org/officeDocument/2006/relationships/image" Target="../media/image459.png"/><Relationship Id="rId17" Type="http://schemas.openxmlformats.org/officeDocument/2006/relationships/image" Target="../media/image458.png"/><Relationship Id="rId16" Type="http://schemas.openxmlformats.org/officeDocument/2006/relationships/image" Target="../media/image457.png"/><Relationship Id="rId15" Type="http://schemas.openxmlformats.org/officeDocument/2006/relationships/image" Target="../media/image456.png"/><Relationship Id="rId14" Type="http://schemas.openxmlformats.org/officeDocument/2006/relationships/image" Target="../media/image455.png"/><Relationship Id="rId13" Type="http://schemas.openxmlformats.org/officeDocument/2006/relationships/image" Target="../media/image454.png"/><Relationship Id="rId12" Type="http://schemas.openxmlformats.org/officeDocument/2006/relationships/image" Target="../media/image453.png"/><Relationship Id="rId11" Type="http://schemas.openxmlformats.org/officeDocument/2006/relationships/image" Target="../media/image452.png"/><Relationship Id="rId10" Type="http://schemas.openxmlformats.org/officeDocument/2006/relationships/image" Target="../media/image45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5.png"/><Relationship Id="rId2" Type="http://schemas.openxmlformats.org/officeDocument/2006/relationships/image" Target="../media/image464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7.png"/><Relationship Id="rId2" Type="http://schemas.openxmlformats.org/officeDocument/2006/relationships/image" Target="../media/image466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5.png"/><Relationship Id="rId8" Type="http://schemas.openxmlformats.org/officeDocument/2006/relationships/image" Target="../media/image474.png"/><Relationship Id="rId7" Type="http://schemas.openxmlformats.org/officeDocument/2006/relationships/image" Target="../media/image473.png"/><Relationship Id="rId6" Type="http://schemas.openxmlformats.org/officeDocument/2006/relationships/image" Target="../media/image472.png"/><Relationship Id="rId5" Type="http://schemas.openxmlformats.org/officeDocument/2006/relationships/image" Target="../media/image471.png"/><Relationship Id="rId4" Type="http://schemas.openxmlformats.org/officeDocument/2006/relationships/image" Target="../media/image470.png"/><Relationship Id="rId3" Type="http://schemas.openxmlformats.org/officeDocument/2006/relationships/image" Target="../media/image469.png"/><Relationship Id="rId2" Type="http://schemas.openxmlformats.org/officeDocument/2006/relationships/image" Target="../media/image468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3.png"/><Relationship Id="rId8" Type="http://schemas.openxmlformats.org/officeDocument/2006/relationships/image" Target="../media/image482.png"/><Relationship Id="rId7" Type="http://schemas.openxmlformats.org/officeDocument/2006/relationships/image" Target="../media/image481.png"/><Relationship Id="rId6" Type="http://schemas.openxmlformats.org/officeDocument/2006/relationships/image" Target="../media/image480.png"/><Relationship Id="rId5" Type="http://schemas.openxmlformats.org/officeDocument/2006/relationships/image" Target="../media/image479.png"/><Relationship Id="rId4" Type="http://schemas.openxmlformats.org/officeDocument/2006/relationships/image" Target="../media/image478.png"/><Relationship Id="rId3" Type="http://schemas.openxmlformats.org/officeDocument/2006/relationships/image" Target="../media/image477.png"/><Relationship Id="rId2" Type="http://schemas.openxmlformats.org/officeDocument/2006/relationships/image" Target="../media/image476.png"/><Relationship Id="rId15" Type="http://schemas.openxmlformats.org/officeDocument/2006/relationships/image" Target="../media/image489.png"/><Relationship Id="rId14" Type="http://schemas.openxmlformats.org/officeDocument/2006/relationships/image" Target="../media/image488.png"/><Relationship Id="rId13" Type="http://schemas.openxmlformats.org/officeDocument/2006/relationships/image" Target="../media/image487.png"/><Relationship Id="rId12" Type="http://schemas.openxmlformats.org/officeDocument/2006/relationships/image" Target="../media/image486.png"/><Relationship Id="rId11" Type="http://schemas.openxmlformats.org/officeDocument/2006/relationships/image" Target="../media/image485.png"/><Relationship Id="rId10" Type="http://schemas.openxmlformats.org/officeDocument/2006/relationships/image" Target="../media/image484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image" Target="../media/image494.png"/><Relationship Id="rId5" Type="http://schemas.openxmlformats.org/officeDocument/2006/relationships/image" Target="../media/image493.png"/><Relationship Id="rId4" Type="http://schemas.openxmlformats.org/officeDocument/2006/relationships/image" Target="../media/image492.png"/><Relationship Id="rId3" Type="http://schemas.openxmlformats.org/officeDocument/2006/relationships/image" Target="../media/image491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1.png"/><Relationship Id="rId7" Type="http://schemas.openxmlformats.org/officeDocument/2006/relationships/image" Target="../media/image500.png"/><Relationship Id="rId6" Type="http://schemas.openxmlformats.org/officeDocument/2006/relationships/image" Target="../media/image499.png"/><Relationship Id="rId5" Type="http://schemas.openxmlformats.org/officeDocument/2006/relationships/image" Target="../media/image498.png"/><Relationship Id="rId4" Type="http://schemas.openxmlformats.org/officeDocument/2006/relationships/image" Target="../media/image497.jpeg"/><Relationship Id="rId3" Type="http://schemas.openxmlformats.org/officeDocument/2006/relationships/image" Target="../media/image496.png"/><Relationship Id="rId2" Type="http://schemas.openxmlformats.org/officeDocument/2006/relationships/image" Target="../media/image495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3.png"/><Relationship Id="rId2" Type="http://schemas.openxmlformats.org/officeDocument/2006/relationships/image" Target="../media/image502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1.png"/><Relationship Id="rId8" Type="http://schemas.openxmlformats.org/officeDocument/2006/relationships/image" Target="../media/image510.png"/><Relationship Id="rId7" Type="http://schemas.openxmlformats.org/officeDocument/2006/relationships/image" Target="../media/image509.png"/><Relationship Id="rId6" Type="http://schemas.openxmlformats.org/officeDocument/2006/relationships/image" Target="../media/image508.png"/><Relationship Id="rId5" Type="http://schemas.openxmlformats.org/officeDocument/2006/relationships/image" Target="../media/image507.png"/><Relationship Id="rId4" Type="http://schemas.openxmlformats.org/officeDocument/2006/relationships/image" Target="../media/image506.png"/><Relationship Id="rId3" Type="http://schemas.openxmlformats.org/officeDocument/2006/relationships/image" Target="../media/image505.png"/><Relationship Id="rId2" Type="http://schemas.openxmlformats.org/officeDocument/2006/relationships/image" Target="../media/image504.png"/><Relationship Id="rId15" Type="http://schemas.openxmlformats.org/officeDocument/2006/relationships/image" Target="../media/image517.png"/><Relationship Id="rId14" Type="http://schemas.openxmlformats.org/officeDocument/2006/relationships/image" Target="../media/image516.png"/><Relationship Id="rId13" Type="http://schemas.openxmlformats.org/officeDocument/2006/relationships/image" Target="../media/image515.png"/><Relationship Id="rId12" Type="http://schemas.openxmlformats.org/officeDocument/2006/relationships/image" Target="../media/image514.png"/><Relationship Id="rId11" Type="http://schemas.openxmlformats.org/officeDocument/2006/relationships/image" Target="../media/image513.png"/><Relationship Id="rId10" Type="http://schemas.openxmlformats.org/officeDocument/2006/relationships/image" Target="../media/image512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9.png"/><Relationship Id="rId2" Type="http://schemas.openxmlformats.org/officeDocument/2006/relationships/image" Target="../media/image518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image" Target="../media/image523.png"/><Relationship Id="rId4" Type="http://schemas.openxmlformats.org/officeDocument/2006/relationships/image" Target="../media/image522.png"/><Relationship Id="rId3" Type="http://schemas.openxmlformats.org/officeDocument/2006/relationships/image" Target="../media/image521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image" Target="../media/image526.png"/><Relationship Id="rId3" Type="http://schemas.openxmlformats.org/officeDocument/2006/relationships/image" Target="../media/image525.png"/><Relationship Id="rId2" Type="http://schemas.openxmlformats.org/officeDocument/2006/relationships/image" Target="../media/image524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4.png"/><Relationship Id="rId8" Type="http://schemas.openxmlformats.org/officeDocument/2006/relationships/image" Target="../media/image533.png"/><Relationship Id="rId7" Type="http://schemas.openxmlformats.org/officeDocument/2006/relationships/image" Target="../media/image532.png"/><Relationship Id="rId6" Type="http://schemas.openxmlformats.org/officeDocument/2006/relationships/image" Target="../media/image531.png"/><Relationship Id="rId5" Type="http://schemas.openxmlformats.org/officeDocument/2006/relationships/image" Target="../media/image530.png"/><Relationship Id="rId4" Type="http://schemas.openxmlformats.org/officeDocument/2006/relationships/image" Target="../media/image529.png"/><Relationship Id="rId3" Type="http://schemas.openxmlformats.org/officeDocument/2006/relationships/image" Target="../media/image528.png"/><Relationship Id="rId2" Type="http://schemas.openxmlformats.org/officeDocument/2006/relationships/image" Target="../media/image527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2.png"/><Relationship Id="rId8" Type="http://schemas.openxmlformats.org/officeDocument/2006/relationships/image" Target="../media/image541.png"/><Relationship Id="rId7" Type="http://schemas.openxmlformats.org/officeDocument/2006/relationships/image" Target="../media/image540.png"/><Relationship Id="rId6" Type="http://schemas.openxmlformats.org/officeDocument/2006/relationships/image" Target="../media/image539.png"/><Relationship Id="rId5" Type="http://schemas.openxmlformats.org/officeDocument/2006/relationships/image" Target="../media/image538.png"/><Relationship Id="rId4" Type="http://schemas.openxmlformats.org/officeDocument/2006/relationships/image" Target="../media/image537.png"/><Relationship Id="rId3" Type="http://schemas.openxmlformats.org/officeDocument/2006/relationships/image" Target="../media/image536.png"/><Relationship Id="rId2" Type="http://schemas.openxmlformats.org/officeDocument/2006/relationships/image" Target="../media/image535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0.png"/><Relationship Id="rId8" Type="http://schemas.openxmlformats.org/officeDocument/2006/relationships/image" Target="../media/image549.png"/><Relationship Id="rId7" Type="http://schemas.openxmlformats.org/officeDocument/2006/relationships/image" Target="../media/image548.png"/><Relationship Id="rId6" Type="http://schemas.openxmlformats.org/officeDocument/2006/relationships/image" Target="../media/image547.png"/><Relationship Id="rId5" Type="http://schemas.openxmlformats.org/officeDocument/2006/relationships/image" Target="../media/image546.png"/><Relationship Id="rId4" Type="http://schemas.openxmlformats.org/officeDocument/2006/relationships/image" Target="../media/image545.png"/><Relationship Id="rId3" Type="http://schemas.openxmlformats.org/officeDocument/2006/relationships/image" Target="../media/image544.png"/><Relationship Id="rId2" Type="http://schemas.openxmlformats.org/officeDocument/2006/relationships/image" Target="../media/image543.png"/><Relationship Id="rId11" Type="http://schemas.openxmlformats.org/officeDocument/2006/relationships/image" Target="../media/image552.jpeg"/><Relationship Id="rId10" Type="http://schemas.openxmlformats.org/officeDocument/2006/relationships/image" Target="../media/image551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4.png"/><Relationship Id="rId2" Type="http://schemas.openxmlformats.org/officeDocument/2006/relationships/image" Target="../media/image553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5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7.png"/><Relationship Id="rId2" Type="http://schemas.openxmlformats.org/officeDocument/2006/relationships/image" Target="../media/image556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9.png"/><Relationship Id="rId2" Type="http://schemas.openxmlformats.org/officeDocument/2006/relationships/image" Target="../media/image558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2.png"/><Relationship Id="rId2" Type="http://schemas.openxmlformats.org/officeDocument/2006/relationships/image" Target="../media/image561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0.png"/><Relationship Id="rId8" Type="http://schemas.openxmlformats.org/officeDocument/2006/relationships/image" Target="../media/image569.png"/><Relationship Id="rId7" Type="http://schemas.openxmlformats.org/officeDocument/2006/relationships/image" Target="../media/image568.png"/><Relationship Id="rId6" Type="http://schemas.openxmlformats.org/officeDocument/2006/relationships/image" Target="../media/image567.png"/><Relationship Id="rId5" Type="http://schemas.openxmlformats.org/officeDocument/2006/relationships/image" Target="../media/image566.png"/><Relationship Id="rId4" Type="http://schemas.openxmlformats.org/officeDocument/2006/relationships/image" Target="../media/image565.png"/><Relationship Id="rId3" Type="http://schemas.openxmlformats.org/officeDocument/2006/relationships/image" Target="../media/image564.png"/><Relationship Id="rId2" Type="http://schemas.openxmlformats.org/officeDocument/2006/relationships/image" Target="../media/image563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8.png"/><Relationship Id="rId8" Type="http://schemas.openxmlformats.org/officeDocument/2006/relationships/image" Target="../media/image577.png"/><Relationship Id="rId7" Type="http://schemas.openxmlformats.org/officeDocument/2006/relationships/image" Target="../media/image576.png"/><Relationship Id="rId6" Type="http://schemas.openxmlformats.org/officeDocument/2006/relationships/image" Target="../media/image575.png"/><Relationship Id="rId5" Type="http://schemas.openxmlformats.org/officeDocument/2006/relationships/image" Target="../media/image574.png"/><Relationship Id="rId4" Type="http://schemas.openxmlformats.org/officeDocument/2006/relationships/image" Target="../media/image573.png"/><Relationship Id="rId3" Type="http://schemas.openxmlformats.org/officeDocument/2006/relationships/image" Target="../media/image572.png"/><Relationship Id="rId2" Type="http://schemas.openxmlformats.org/officeDocument/2006/relationships/image" Target="../media/image571.png"/><Relationship Id="rId10" Type="http://schemas.openxmlformats.org/officeDocument/2006/relationships/image" Target="../media/image579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1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5" Type="http://schemas.openxmlformats.org/officeDocument/2006/relationships/image" Target="../media/image585.png"/><Relationship Id="rId4" Type="http://schemas.openxmlformats.org/officeDocument/2006/relationships/image" Target="../media/image584.png"/><Relationship Id="rId3" Type="http://schemas.openxmlformats.org/officeDocument/2006/relationships/image" Target="../media/image583.png"/><Relationship Id="rId2" Type="http://schemas.openxmlformats.org/officeDocument/2006/relationships/image" Target="../media/image582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3.png"/><Relationship Id="rId8" Type="http://schemas.openxmlformats.org/officeDocument/2006/relationships/image" Target="../media/image592.png"/><Relationship Id="rId7" Type="http://schemas.openxmlformats.org/officeDocument/2006/relationships/image" Target="../media/image591.png"/><Relationship Id="rId6" Type="http://schemas.openxmlformats.org/officeDocument/2006/relationships/image" Target="../media/image590.png"/><Relationship Id="rId5" Type="http://schemas.openxmlformats.org/officeDocument/2006/relationships/image" Target="../media/image589.png"/><Relationship Id="rId4" Type="http://schemas.openxmlformats.org/officeDocument/2006/relationships/image" Target="../media/image588.png"/><Relationship Id="rId3" Type="http://schemas.openxmlformats.org/officeDocument/2006/relationships/image" Target="../media/image587.png"/><Relationship Id="rId2" Type="http://schemas.openxmlformats.org/officeDocument/2006/relationships/image" Target="../media/image586.png"/><Relationship Id="rId14" Type="http://schemas.openxmlformats.org/officeDocument/2006/relationships/image" Target="../media/image598.png"/><Relationship Id="rId13" Type="http://schemas.openxmlformats.org/officeDocument/2006/relationships/image" Target="../media/image597.png"/><Relationship Id="rId12" Type="http://schemas.openxmlformats.org/officeDocument/2006/relationships/image" Target="../media/image596.png"/><Relationship Id="rId11" Type="http://schemas.openxmlformats.org/officeDocument/2006/relationships/image" Target="../media/image595.png"/><Relationship Id="rId10" Type="http://schemas.openxmlformats.org/officeDocument/2006/relationships/image" Target="../media/image594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image" Target="../media/image601.png"/><Relationship Id="rId3" Type="http://schemas.openxmlformats.org/officeDocument/2006/relationships/image" Target="../media/image600.png"/><Relationship Id="rId2" Type="http://schemas.openxmlformats.org/officeDocument/2006/relationships/image" Target="../media/image599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image" Target="../media/image604.png"/><Relationship Id="rId3" Type="http://schemas.openxmlformats.org/officeDocument/2006/relationships/image" Target="../media/image603.png"/><Relationship Id="rId2" Type="http://schemas.openxmlformats.org/officeDocument/2006/relationships/image" Target="../media/image602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2.png"/><Relationship Id="rId8" Type="http://schemas.openxmlformats.org/officeDocument/2006/relationships/image" Target="../media/image611.png"/><Relationship Id="rId7" Type="http://schemas.openxmlformats.org/officeDocument/2006/relationships/image" Target="../media/image610.png"/><Relationship Id="rId6" Type="http://schemas.openxmlformats.org/officeDocument/2006/relationships/image" Target="../media/image609.png"/><Relationship Id="rId5" Type="http://schemas.openxmlformats.org/officeDocument/2006/relationships/image" Target="../media/image608.png"/><Relationship Id="rId4" Type="http://schemas.openxmlformats.org/officeDocument/2006/relationships/image" Target="../media/image607.png"/><Relationship Id="rId3" Type="http://schemas.openxmlformats.org/officeDocument/2006/relationships/image" Target="../media/image606.png"/><Relationship Id="rId22" Type="http://schemas.openxmlformats.org/officeDocument/2006/relationships/image" Target="../media/image625.png"/><Relationship Id="rId21" Type="http://schemas.openxmlformats.org/officeDocument/2006/relationships/image" Target="../media/image624.png"/><Relationship Id="rId20" Type="http://schemas.openxmlformats.org/officeDocument/2006/relationships/image" Target="../media/image623.png"/><Relationship Id="rId2" Type="http://schemas.openxmlformats.org/officeDocument/2006/relationships/image" Target="../media/image605.png"/><Relationship Id="rId19" Type="http://schemas.openxmlformats.org/officeDocument/2006/relationships/image" Target="../media/image622.png"/><Relationship Id="rId18" Type="http://schemas.openxmlformats.org/officeDocument/2006/relationships/image" Target="../media/image621.png"/><Relationship Id="rId17" Type="http://schemas.openxmlformats.org/officeDocument/2006/relationships/image" Target="../media/image620.png"/><Relationship Id="rId16" Type="http://schemas.openxmlformats.org/officeDocument/2006/relationships/image" Target="../media/image619.png"/><Relationship Id="rId15" Type="http://schemas.openxmlformats.org/officeDocument/2006/relationships/image" Target="../media/image618.png"/><Relationship Id="rId14" Type="http://schemas.openxmlformats.org/officeDocument/2006/relationships/image" Target="../media/image617.png"/><Relationship Id="rId13" Type="http://schemas.openxmlformats.org/officeDocument/2006/relationships/image" Target="../media/image616.png"/><Relationship Id="rId12" Type="http://schemas.openxmlformats.org/officeDocument/2006/relationships/image" Target="../media/image615.png"/><Relationship Id="rId11" Type="http://schemas.openxmlformats.org/officeDocument/2006/relationships/image" Target="../media/image614.png"/><Relationship Id="rId10" Type="http://schemas.openxmlformats.org/officeDocument/2006/relationships/image" Target="../media/image613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3.png"/><Relationship Id="rId8" Type="http://schemas.openxmlformats.org/officeDocument/2006/relationships/image" Target="../media/image632.png"/><Relationship Id="rId7" Type="http://schemas.openxmlformats.org/officeDocument/2006/relationships/image" Target="../media/image631.png"/><Relationship Id="rId6" Type="http://schemas.openxmlformats.org/officeDocument/2006/relationships/image" Target="../media/image630.png"/><Relationship Id="rId5" Type="http://schemas.openxmlformats.org/officeDocument/2006/relationships/image" Target="../media/image629.png"/><Relationship Id="rId4" Type="http://schemas.openxmlformats.org/officeDocument/2006/relationships/image" Target="../media/image628.png"/><Relationship Id="rId3" Type="http://schemas.openxmlformats.org/officeDocument/2006/relationships/image" Target="../media/image627.png"/><Relationship Id="rId2" Type="http://schemas.openxmlformats.org/officeDocument/2006/relationships/image" Target="../media/image626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5.png"/><Relationship Id="rId2" Type="http://schemas.openxmlformats.org/officeDocument/2006/relationships/image" Target="../media/image634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7.png"/><Relationship Id="rId2" Type="http://schemas.openxmlformats.org/officeDocument/2006/relationships/image" Target="../media/image636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40.png"/><Relationship Id="rId3" Type="http://schemas.openxmlformats.org/officeDocument/2006/relationships/image" Target="../media/image639.png"/><Relationship Id="rId2" Type="http://schemas.openxmlformats.org/officeDocument/2006/relationships/image" Target="../media/image638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2.png"/><Relationship Id="rId2" Type="http://schemas.openxmlformats.org/officeDocument/2006/relationships/image" Target="../media/image641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4.png"/><Relationship Id="rId2" Type="http://schemas.openxmlformats.org/officeDocument/2006/relationships/image" Target="../media/image643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6.png"/><Relationship Id="rId2" Type="http://schemas.openxmlformats.org/officeDocument/2006/relationships/image" Target="../media/image645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4.png"/><Relationship Id="rId8" Type="http://schemas.openxmlformats.org/officeDocument/2006/relationships/image" Target="../media/image653.png"/><Relationship Id="rId7" Type="http://schemas.openxmlformats.org/officeDocument/2006/relationships/image" Target="../media/image652.png"/><Relationship Id="rId6" Type="http://schemas.openxmlformats.org/officeDocument/2006/relationships/image" Target="../media/image651.png"/><Relationship Id="rId5" Type="http://schemas.openxmlformats.org/officeDocument/2006/relationships/image" Target="../media/image650.png"/><Relationship Id="rId4" Type="http://schemas.openxmlformats.org/officeDocument/2006/relationships/image" Target="../media/image649.png"/><Relationship Id="rId3" Type="http://schemas.openxmlformats.org/officeDocument/2006/relationships/image" Target="../media/image648.png"/><Relationship Id="rId2" Type="http://schemas.openxmlformats.org/officeDocument/2006/relationships/image" Target="../media/image647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6.png"/><Relationship Id="rId2" Type="http://schemas.openxmlformats.org/officeDocument/2006/relationships/image" Target="../media/image655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7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8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6.png"/><Relationship Id="rId8" Type="http://schemas.openxmlformats.org/officeDocument/2006/relationships/image" Target="../media/image665.png"/><Relationship Id="rId7" Type="http://schemas.openxmlformats.org/officeDocument/2006/relationships/image" Target="../media/image664.png"/><Relationship Id="rId6" Type="http://schemas.openxmlformats.org/officeDocument/2006/relationships/image" Target="../media/image663.png"/><Relationship Id="rId5" Type="http://schemas.openxmlformats.org/officeDocument/2006/relationships/image" Target="../media/image662.png"/><Relationship Id="rId4" Type="http://schemas.openxmlformats.org/officeDocument/2006/relationships/image" Target="../media/image661.jpeg"/><Relationship Id="rId3" Type="http://schemas.openxmlformats.org/officeDocument/2006/relationships/image" Target="../media/image660.png"/><Relationship Id="rId2" Type="http://schemas.openxmlformats.org/officeDocument/2006/relationships/image" Target="../media/image659.png"/><Relationship Id="rId17" Type="http://schemas.openxmlformats.org/officeDocument/2006/relationships/image" Target="../media/image674.png"/><Relationship Id="rId16" Type="http://schemas.openxmlformats.org/officeDocument/2006/relationships/image" Target="../media/image673.png"/><Relationship Id="rId15" Type="http://schemas.openxmlformats.org/officeDocument/2006/relationships/image" Target="../media/image672.png"/><Relationship Id="rId14" Type="http://schemas.openxmlformats.org/officeDocument/2006/relationships/image" Target="../media/image671.png"/><Relationship Id="rId13" Type="http://schemas.openxmlformats.org/officeDocument/2006/relationships/image" Target="../media/image670.png"/><Relationship Id="rId12" Type="http://schemas.openxmlformats.org/officeDocument/2006/relationships/image" Target="../media/image669.png"/><Relationship Id="rId11" Type="http://schemas.openxmlformats.org/officeDocument/2006/relationships/image" Target="../media/image668.png"/><Relationship Id="rId10" Type="http://schemas.openxmlformats.org/officeDocument/2006/relationships/image" Target="../media/image667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2176271"/>
            <a:ext cx="4207764" cy="1755647"/>
          </a:xfrm>
          <a:prstGeom prst="rect">
            <a:avLst/>
          </a:prstGeom>
          <a:solidFill>
            <a:srgbClr val="17324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264152" y="2176271"/>
            <a:ext cx="2164079" cy="175564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627364" y="2176271"/>
            <a:ext cx="2065020" cy="1755647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01383" y="2176272"/>
            <a:ext cx="2052827" cy="1755647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4846402" y="4614533"/>
            <a:ext cx="5389245" cy="530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8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800" b="1" kern="0" spc="40" dirty="0">
                <a:solidFill>
                  <a:srgbClr val="17324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电力现货实战型交易</a:t>
            </a:r>
            <a:r>
              <a:rPr sz="3800" b="1" kern="0" spc="30" dirty="0">
                <a:solidFill>
                  <a:srgbClr val="17324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策略</a:t>
            </a:r>
            <a:endParaRPr sz="38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0" y="4101083"/>
            <a:ext cx="10692384" cy="106680"/>
            <a:chOff x="0" y="0"/>
            <a:chExt cx="10692384" cy="106680"/>
          </a:xfrm>
        </p:grpSpPr>
        <p:sp>
          <p:nvSpPr>
            <p:cNvPr id="12" name="path 12"/>
            <p:cNvSpPr/>
            <p:nvPr/>
          </p:nvSpPr>
          <p:spPr>
            <a:xfrm>
              <a:off x="0" y="0"/>
              <a:ext cx="6580632" cy="106680"/>
            </a:xfrm>
            <a:custGeom>
              <a:avLst/>
              <a:gdLst/>
              <a:ahLst/>
              <a:cxnLst/>
              <a:rect l="0" t="0" r="0" b="0"/>
              <a:pathLst>
                <a:path w="10363" h="168">
                  <a:moveTo>
                    <a:pt x="0" y="0"/>
                  </a:moveTo>
                  <a:lnTo>
                    <a:pt x="10303" y="9"/>
                  </a:lnTo>
                  <a:lnTo>
                    <a:pt x="10363" y="168"/>
                  </a:lnTo>
                  <a:lnTo>
                    <a:pt x="0" y="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42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" name="path 14"/>
            <p:cNvSpPr/>
            <p:nvPr/>
          </p:nvSpPr>
          <p:spPr>
            <a:xfrm>
              <a:off x="6591300" y="0"/>
              <a:ext cx="4101084" cy="106680"/>
            </a:xfrm>
            <a:custGeom>
              <a:avLst/>
              <a:gdLst/>
              <a:ahLst/>
              <a:cxnLst/>
              <a:rect l="0" t="0" r="0" b="0"/>
              <a:pathLst>
                <a:path w="6458" h="168">
                  <a:moveTo>
                    <a:pt x="0" y="0"/>
                  </a:moveTo>
                  <a:lnTo>
                    <a:pt x="6458" y="0"/>
                  </a:lnTo>
                  <a:lnTo>
                    <a:pt x="6458" y="168"/>
                  </a:lnTo>
                  <a:lnTo>
                    <a:pt x="79" y="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324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/>
          <p:nvPr/>
        </p:nvSpPr>
        <p:spPr>
          <a:xfrm>
            <a:off x="880300" y="3175277"/>
            <a:ext cx="3000375" cy="1357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18210" algn="l" rtl="0" eaLnBrk="0">
              <a:lnSpc>
                <a:spcPct val="83000"/>
              </a:lnSpc>
              <a:tabLst/>
            </a:pP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</a:t>
            </a:r>
            <a:r>
              <a:rPr sz="4200" b="1" kern="0" spc="8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 sz="4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1"/>
              </a:spcBef>
              <a:tabLst/>
            </a:pPr>
            <a:r>
              <a:rPr sz="4200" b="1" kern="0" spc="-2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 sz="4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4762500" y="900683"/>
            <a:ext cx="4724400" cy="559308"/>
            <a:chOff x="0" y="0"/>
            <a:chExt cx="4724400" cy="559308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9254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307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集中式现货市场的典型设计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2" name="path 22"/>
            <p:cNvSpPr/>
            <p:nvPr/>
          </p:nvSpPr>
          <p:spPr>
            <a:xfrm>
              <a:off x="897775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9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4762500" y="3128771"/>
            <a:ext cx="4724400" cy="559308"/>
            <a:chOff x="0" y="0"/>
            <a:chExt cx="4724400" cy="559308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68934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40" baseline="3586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发电企业现货市场交易策略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8" name="path 28"/>
            <p:cNvSpPr/>
            <p:nvPr/>
          </p:nvSpPr>
          <p:spPr>
            <a:xfrm>
              <a:off x="878776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6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4762500" y="1642871"/>
            <a:ext cx="4724400" cy="559308"/>
            <a:chOff x="0" y="0"/>
            <a:chExt cx="4724400" cy="559308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8459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典型省份电力现货市场设计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4" name="path 34"/>
            <p:cNvSpPr/>
            <p:nvPr/>
          </p:nvSpPr>
          <p:spPr>
            <a:xfrm>
              <a:off x="887107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4762500" y="3870959"/>
            <a:ext cx="4724400" cy="559308"/>
            <a:chOff x="0" y="0"/>
            <a:chExt cx="4724400" cy="559308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671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4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售电公司现货市场交易策略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0" name="path 40"/>
            <p:cNvSpPr/>
            <p:nvPr/>
          </p:nvSpPr>
          <p:spPr>
            <a:xfrm>
              <a:off x="895641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4762500" y="6099047"/>
            <a:ext cx="4724400" cy="559307"/>
            <a:chOff x="0" y="0"/>
            <a:chExt cx="4724400" cy="559307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592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40" baseline="3345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量化交易在电力现货的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实践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6" name="path 46"/>
            <p:cNvSpPr/>
            <p:nvPr/>
          </p:nvSpPr>
          <p:spPr>
            <a:xfrm>
              <a:off x="885710" y="192023"/>
              <a:ext cx="185928" cy="175260"/>
            </a:xfrm>
            <a:custGeom>
              <a:avLst/>
              <a:gdLst/>
              <a:ahLst/>
              <a:cxnLst/>
              <a:rect l="0" t="0" r="0" b="0"/>
              <a:pathLst>
                <a:path w="292" h="276">
                  <a:moveTo>
                    <a:pt x="0" y="0"/>
                  </a:moveTo>
                  <a:lnTo>
                    <a:pt x="292" y="139"/>
                  </a:lnTo>
                  <a:lnTo>
                    <a:pt x="0" y="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4762500" y="5356860"/>
            <a:ext cx="4724400" cy="559307"/>
            <a:chOff x="0" y="0"/>
            <a:chExt cx="4724400" cy="559307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719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20" baseline="450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试结算案例分析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2" name="path 52"/>
            <p:cNvSpPr/>
            <p:nvPr/>
          </p:nvSpPr>
          <p:spPr>
            <a:xfrm>
              <a:off x="884504" y="192023"/>
              <a:ext cx="185928" cy="173736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4762500" y="4614671"/>
            <a:ext cx="4724400" cy="557783"/>
            <a:chOff x="0" y="0"/>
            <a:chExt cx="4724400" cy="557783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7909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20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中长期合约交易策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8" name="path 58"/>
            <p:cNvSpPr/>
            <p:nvPr/>
          </p:nvSpPr>
          <p:spPr>
            <a:xfrm>
              <a:off x="881290" y="192024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4762500" y="2386584"/>
            <a:ext cx="4724400" cy="557783"/>
            <a:chOff x="0" y="0"/>
            <a:chExt cx="4724400" cy="557783"/>
          </a:xfrm>
        </p:grpSpPr>
        <p:pic>
          <p:nvPicPr>
            <p:cNvPr id="60" name="picture 6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62" name="textbox 62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84809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2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  <a:r>
                <a:rPr sz="20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电力市场的经济学原理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4" name="path 64"/>
            <p:cNvSpPr/>
            <p:nvPr/>
          </p:nvSpPr>
          <p:spPr>
            <a:xfrm>
              <a:off x="892505" y="192023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6" name="path 66"/>
          <p:cNvSpPr/>
          <p:nvPr/>
        </p:nvSpPr>
        <p:spPr>
          <a:xfrm>
            <a:off x="4271771" y="835152"/>
            <a:ext cx="6096" cy="5890259"/>
          </a:xfrm>
          <a:custGeom>
            <a:avLst/>
            <a:gdLst/>
            <a:ahLst/>
            <a:cxnLst/>
            <a:rect l="0" t="0" r="0" b="0"/>
            <a:pathLst>
              <a:path w="9" h="9275">
                <a:moveTo>
                  <a:pt x="4" y="0"/>
                </a:moveTo>
                <a:lnTo>
                  <a:pt x="4" y="9275"/>
                </a:ln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 68"/>
          <p:cNvSpPr/>
          <p:nvPr/>
        </p:nvSpPr>
        <p:spPr>
          <a:xfrm>
            <a:off x="6041135" y="1824228"/>
            <a:ext cx="4238242" cy="3800855"/>
          </a:xfrm>
          <a:prstGeom prst="rect">
            <a:avLst/>
          </a:pr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70" name="table 70"/>
          <p:cNvGraphicFramePr>
            <a:graphicFrameLocks noGrp="1"/>
          </p:cNvGraphicFramePr>
          <p:nvPr/>
        </p:nvGraphicFramePr>
        <p:xfrm>
          <a:off x="3528059" y="2186940"/>
          <a:ext cx="2717165" cy="3233420"/>
        </p:xfrm>
        <a:graphic>
          <a:graphicData uri="http://schemas.openxmlformats.org/drawingml/2006/table">
            <a:tbl>
              <a:tblPr/>
              <a:tblGrid>
                <a:gridCol w="2717165"/>
              </a:tblGrid>
              <a:tr h="32111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50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电力系统的特点：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23215" algn="l" rtl="0" eaLnBrk="0">
                        <a:lnSpc>
                          <a:spcPct val="83000"/>
                        </a:lnSpc>
                        <a:spcBef>
                          <a:spcPts val="1169"/>
                        </a:spcBef>
                        <a:tabLst/>
                      </a:pPr>
                      <a:r>
                        <a:rPr sz="14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电能无法低成本、大规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13690" algn="l" rtl="0" eaLnBrk="0">
                        <a:lnSpc>
                          <a:spcPts val="2521"/>
                        </a:lnSpc>
                        <a:tabLst/>
                      </a:pPr>
                      <a:r>
                        <a:rPr sz="1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模储存，</a:t>
                      </a:r>
                      <a:r>
                        <a:rPr sz="14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因此发、输、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17500" algn="l" rtl="0" eaLnBrk="0">
                        <a:lnSpc>
                          <a:spcPts val="2522"/>
                        </a:lnSpc>
                        <a:tabLst/>
                      </a:pPr>
                      <a:r>
                        <a:rPr sz="14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配、用须同时完成，</a:t>
                      </a:r>
                      <a:r>
                        <a:rPr sz="1400" b="1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且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15595" algn="l" rtl="0" eaLnBrk="0">
                        <a:lnSpc>
                          <a:spcPts val="2532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必须保证发用实时平衡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399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因此交易之后无法立刻交割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6423660" y="3329177"/>
          <a:ext cx="3578225" cy="1558925"/>
        </p:xfrm>
        <a:graphic>
          <a:graphicData uri="http://schemas.openxmlformats.org/drawingml/2006/table">
            <a:tbl>
              <a:tblPr/>
              <a:tblGrid>
                <a:gridCol w="3578225"/>
              </a:tblGrid>
              <a:tr h="779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日内市场：对上述条件进行滚动微调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实时市场+辅助服务市场：保证发用实时平衡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" name="path 74"/>
          <p:cNvSpPr/>
          <p:nvPr/>
        </p:nvSpPr>
        <p:spPr>
          <a:xfrm>
            <a:off x="143255" y="4383023"/>
            <a:ext cx="3342132" cy="751331"/>
          </a:xfrm>
          <a:custGeom>
            <a:avLst/>
            <a:gdLst/>
            <a:ahLst/>
            <a:cxnLst/>
            <a:rect l="0" t="0" r="0" b="0"/>
            <a:pathLst>
              <a:path w="5263" h="1183">
                <a:moveTo>
                  <a:pt x="0" y="295"/>
                </a:moveTo>
                <a:lnTo>
                  <a:pt x="4672" y="295"/>
                </a:lnTo>
                <a:lnTo>
                  <a:pt x="4672" y="0"/>
                </a:lnTo>
                <a:lnTo>
                  <a:pt x="5263" y="590"/>
                </a:lnTo>
                <a:lnTo>
                  <a:pt x="4672" y="1183"/>
                </a:lnTo>
                <a:lnTo>
                  <a:pt x="4672" y="887"/>
                </a:lnTo>
                <a:lnTo>
                  <a:pt x="0" y="887"/>
                </a:lnTo>
                <a:lnTo>
                  <a:pt x="0" y="295"/>
                </a:lnTo>
                <a:close/>
              </a:path>
            </a:pathLst>
          </a:cu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6396538" y="2617016"/>
            <a:ext cx="3589654" cy="521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83000"/>
              </a:lnSpc>
              <a:tabLst/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日前市场：基本确定运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行日的负荷需求、开机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517"/>
              </a:lnSpc>
              <a:tabLst/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机组出力水平、电网运行边界条件等交割条件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537160" y="1111986"/>
            <a:ext cx="4811395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7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电力现货市场与一般现货市场的区别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304450" y="3933750"/>
            <a:ext cx="2834639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6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一手交钱，</a:t>
            </a:r>
            <a:r>
              <a:rPr sz="1500" b="1" kern="0" spc="-30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6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一手交货，</a:t>
            </a:r>
            <a:r>
              <a:rPr sz="1500" b="1" kern="0" spc="-34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6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实物交割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271940" y="2981020"/>
            <a:ext cx="1621789" cy="292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000" b="1" kern="0" spc="9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一般现货市场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path 84"/>
          <p:cNvSpPr/>
          <p:nvPr/>
        </p:nvSpPr>
        <p:spPr>
          <a:xfrm>
            <a:off x="9797796" y="6208776"/>
            <a:ext cx="347471" cy="348995"/>
          </a:xfrm>
          <a:custGeom>
            <a:avLst/>
            <a:gdLst/>
            <a:ahLst/>
            <a:cxnLst/>
            <a:rect l="0" t="0" r="0" b="0"/>
            <a:pathLst>
              <a:path w="547" h="549">
                <a:moveTo>
                  <a:pt x="542" y="203"/>
                </a:moveTo>
                <a:cubicBezTo>
                  <a:pt x="537" y="189"/>
                  <a:pt x="523" y="175"/>
                  <a:pt x="504" y="170"/>
                </a:cubicBezTo>
                <a:cubicBezTo>
                  <a:pt x="374" y="148"/>
                  <a:pt x="374" y="148"/>
                  <a:pt x="374" y="148"/>
                </a:cubicBezTo>
                <a:cubicBezTo>
                  <a:pt x="316" y="28"/>
                  <a:pt x="316" y="28"/>
                  <a:pt x="316" y="28"/>
                </a:cubicBezTo>
                <a:cubicBezTo>
                  <a:pt x="316" y="26"/>
                  <a:pt x="316" y="26"/>
                  <a:pt x="316" y="26"/>
                </a:cubicBezTo>
                <a:cubicBezTo>
                  <a:pt x="304" y="9"/>
                  <a:pt x="290" y="0"/>
                  <a:pt x="271" y="0"/>
                </a:cubicBezTo>
                <a:cubicBezTo>
                  <a:pt x="254" y="0"/>
                  <a:pt x="240" y="7"/>
                  <a:pt x="228" y="26"/>
                </a:cubicBezTo>
                <a:cubicBezTo>
                  <a:pt x="160" y="148"/>
                  <a:pt x="160" y="148"/>
                  <a:pt x="160" y="148"/>
                </a:cubicBezTo>
                <a:cubicBezTo>
                  <a:pt x="43" y="167"/>
                  <a:pt x="43" y="167"/>
                  <a:pt x="43" y="167"/>
                </a:cubicBezTo>
                <a:cubicBezTo>
                  <a:pt x="43" y="170"/>
                  <a:pt x="43" y="170"/>
                  <a:pt x="43" y="170"/>
                </a:cubicBezTo>
                <a:cubicBezTo>
                  <a:pt x="24" y="175"/>
                  <a:pt x="9" y="187"/>
                  <a:pt x="4" y="203"/>
                </a:cubicBezTo>
                <a:cubicBezTo>
                  <a:pt x="0" y="223"/>
                  <a:pt x="2" y="242"/>
                  <a:pt x="14" y="256"/>
                </a:cubicBezTo>
                <a:cubicBezTo>
                  <a:pt x="103" y="352"/>
                  <a:pt x="103" y="352"/>
                  <a:pt x="103" y="352"/>
                </a:cubicBezTo>
                <a:cubicBezTo>
                  <a:pt x="86" y="487"/>
                  <a:pt x="86" y="487"/>
                  <a:pt x="86" y="487"/>
                </a:cubicBezTo>
                <a:cubicBezTo>
                  <a:pt x="86" y="489"/>
                  <a:pt x="86" y="489"/>
                  <a:pt x="86" y="489"/>
                </a:cubicBezTo>
                <a:cubicBezTo>
                  <a:pt x="86" y="506"/>
                  <a:pt x="91" y="520"/>
                  <a:pt x="100" y="530"/>
                </a:cubicBezTo>
                <a:cubicBezTo>
                  <a:pt x="112" y="544"/>
                  <a:pt x="136" y="549"/>
                  <a:pt x="158" y="537"/>
                </a:cubicBezTo>
                <a:cubicBezTo>
                  <a:pt x="273" y="470"/>
                  <a:pt x="273" y="470"/>
                  <a:pt x="273" y="470"/>
                </a:cubicBezTo>
                <a:cubicBezTo>
                  <a:pt x="388" y="537"/>
                  <a:pt x="388" y="537"/>
                  <a:pt x="388" y="537"/>
                </a:cubicBezTo>
                <a:cubicBezTo>
                  <a:pt x="388" y="537"/>
                  <a:pt x="388" y="537"/>
                  <a:pt x="388" y="537"/>
                </a:cubicBezTo>
                <a:cubicBezTo>
                  <a:pt x="398" y="542"/>
                  <a:pt x="408" y="544"/>
                  <a:pt x="415" y="544"/>
                </a:cubicBezTo>
                <a:cubicBezTo>
                  <a:pt x="427" y="544"/>
                  <a:pt x="439" y="540"/>
                  <a:pt x="446" y="530"/>
                </a:cubicBezTo>
                <a:cubicBezTo>
                  <a:pt x="455" y="520"/>
                  <a:pt x="460" y="506"/>
                  <a:pt x="460" y="489"/>
                </a:cubicBezTo>
                <a:cubicBezTo>
                  <a:pt x="444" y="352"/>
                  <a:pt x="444" y="352"/>
                  <a:pt x="444" y="352"/>
                </a:cubicBezTo>
                <a:cubicBezTo>
                  <a:pt x="530" y="259"/>
                  <a:pt x="530" y="259"/>
                  <a:pt x="530" y="259"/>
                </a:cubicBezTo>
                <a:cubicBezTo>
                  <a:pt x="532" y="256"/>
                  <a:pt x="532" y="256"/>
                  <a:pt x="532" y="256"/>
                </a:cubicBezTo>
                <a:cubicBezTo>
                  <a:pt x="544" y="242"/>
                  <a:pt x="547" y="223"/>
                  <a:pt x="542" y="203"/>
                </a:cubicBezTo>
                <a:moveTo>
                  <a:pt x="175" y="247"/>
                </a:moveTo>
                <a:cubicBezTo>
                  <a:pt x="175" y="235"/>
                  <a:pt x="184" y="223"/>
                  <a:pt x="196" y="223"/>
                </a:cubicBezTo>
                <a:cubicBezTo>
                  <a:pt x="208" y="223"/>
                  <a:pt x="218" y="235"/>
                  <a:pt x="218" y="247"/>
                </a:cubicBezTo>
                <a:cubicBezTo>
                  <a:pt x="218" y="261"/>
                  <a:pt x="208" y="271"/>
                  <a:pt x="196" y="271"/>
                </a:cubicBezTo>
                <a:cubicBezTo>
                  <a:pt x="184" y="271"/>
                  <a:pt x="175" y="261"/>
                  <a:pt x="175" y="247"/>
                </a:cubicBezTo>
                <a:moveTo>
                  <a:pt x="362" y="343"/>
                </a:moveTo>
                <a:cubicBezTo>
                  <a:pt x="348" y="374"/>
                  <a:pt x="311" y="395"/>
                  <a:pt x="273" y="395"/>
                </a:cubicBezTo>
                <a:cubicBezTo>
                  <a:pt x="235" y="395"/>
                  <a:pt x="201" y="374"/>
                  <a:pt x="187" y="343"/>
                </a:cubicBezTo>
                <a:cubicBezTo>
                  <a:pt x="184" y="338"/>
                  <a:pt x="187" y="331"/>
                  <a:pt x="191" y="328"/>
                </a:cubicBezTo>
                <a:cubicBezTo>
                  <a:pt x="194" y="328"/>
                  <a:pt x="196" y="328"/>
                  <a:pt x="196" y="328"/>
                </a:cubicBezTo>
                <a:cubicBezTo>
                  <a:pt x="201" y="328"/>
                  <a:pt x="206" y="331"/>
                  <a:pt x="208" y="335"/>
                </a:cubicBezTo>
                <a:cubicBezTo>
                  <a:pt x="218" y="360"/>
                  <a:pt x="244" y="374"/>
                  <a:pt x="273" y="374"/>
                </a:cubicBezTo>
                <a:cubicBezTo>
                  <a:pt x="304" y="374"/>
                  <a:pt x="331" y="360"/>
                  <a:pt x="340" y="335"/>
                </a:cubicBezTo>
                <a:cubicBezTo>
                  <a:pt x="343" y="331"/>
                  <a:pt x="350" y="328"/>
                  <a:pt x="355" y="328"/>
                </a:cubicBezTo>
                <a:cubicBezTo>
                  <a:pt x="362" y="333"/>
                  <a:pt x="364" y="338"/>
                  <a:pt x="362" y="343"/>
                </a:cubicBezTo>
                <a:moveTo>
                  <a:pt x="352" y="271"/>
                </a:moveTo>
                <a:cubicBezTo>
                  <a:pt x="340" y="271"/>
                  <a:pt x="331" y="261"/>
                  <a:pt x="331" y="247"/>
                </a:cubicBezTo>
                <a:cubicBezTo>
                  <a:pt x="331" y="235"/>
                  <a:pt x="340" y="223"/>
                  <a:pt x="352" y="223"/>
                </a:cubicBezTo>
                <a:cubicBezTo>
                  <a:pt x="364" y="223"/>
                  <a:pt x="374" y="235"/>
                  <a:pt x="374" y="247"/>
                </a:cubicBezTo>
                <a:cubicBezTo>
                  <a:pt x="374" y="261"/>
                  <a:pt x="364" y="271"/>
                  <a:pt x="352" y="271"/>
                </a:cubicBezTo>
              </a:path>
            </a:pathLst>
          </a:cu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" name="path 86"/>
          <p:cNvSpPr/>
          <p:nvPr/>
        </p:nvSpPr>
        <p:spPr>
          <a:xfrm>
            <a:off x="7491983" y="6216395"/>
            <a:ext cx="333755" cy="332232"/>
          </a:xfrm>
          <a:custGeom>
            <a:avLst/>
            <a:gdLst/>
            <a:ahLst/>
            <a:cxnLst/>
            <a:rect l="0" t="0" r="0" b="0"/>
            <a:pathLst>
              <a:path w="525" h="523">
                <a:moveTo>
                  <a:pt x="487" y="300"/>
                </a:moveTo>
                <a:cubicBezTo>
                  <a:pt x="484" y="300"/>
                  <a:pt x="484" y="300"/>
                  <a:pt x="484" y="300"/>
                </a:cubicBezTo>
                <a:cubicBezTo>
                  <a:pt x="467" y="393"/>
                  <a:pt x="393" y="468"/>
                  <a:pt x="300" y="482"/>
                </a:cubicBezTo>
                <a:cubicBezTo>
                  <a:pt x="300" y="487"/>
                  <a:pt x="300" y="487"/>
                  <a:pt x="300" y="487"/>
                </a:cubicBezTo>
                <a:cubicBezTo>
                  <a:pt x="300" y="506"/>
                  <a:pt x="283" y="523"/>
                  <a:pt x="261" y="523"/>
                </a:cubicBezTo>
                <a:cubicBezTo>
                  <a:pt x="242" y="523"/>
                  <a:pt x="225" y="506"/>
                  <a:pt x="225" y="487"/>
                </a:cubicBezTo>
                <a:cubicBezTo>
                  <a:pt x="225" y="482"/>
                  <a:pt x="225" y="482"/>
                  <a:pt x="225" y="482"/>
                </a:cubicBezTo>
                <a:cubicBezTo>
                  <a:pt x="131" y="468"/>
                  <a:pt x="57" y="393"/>
                  <a:pt x="40" y="300"/>
                </a:cubicBezTo>
                <a:cubicBezTo>
                  <a:pt x="38" y="300"/>
                  <a:pt x="38" y="300"/>
                  <a:pt x="38" y="300"/>
                </a:cubicBezTo>
                <a:cubicBezTo>
                  <a:pt x="16" y="300"/>
                  <a:pt x="0" y="283"/>
                  <a:pt x="0" y="261"/>
                </a:cubicBezTo>
                <a:cubicBezTo>
                  <a:pt x="0" y="240"/>
                  <a:pt x="16" y="225"/>
                  <a:pt x="38" y="225"/>
                </a:cubicBezTo>
                <a:cubicBezTo>
                  <a:pt x="40" y="225"/>
                  <a:pt x="40" y="225"/>
                  <a:pt x="40" y="225"/>
                </a:cubicBezTo>
                <a:cubicBezTo>
                  <a:pt x="57" y="129"/>
                  <a:pt x="131" y="57"/>
                  <a:pt x="225" y="40"/>
                </a:cubicBezTo>
                <a:cubicBezTo>
                  <a:pt x="225" y="36"/>
                  <a:pt x="225" y="36"/>
                  <a:pt x="225" y="36"/>
                </a:cubicBezTo>
                <a:cubicBezTo>
                  <a:pt x="225" y="16"/>
                  <a:pt x="242" y="0"/>
                  <a:pt x="261" y="0"/>
                </a:cubicBezTo>
                <a:cubicBezTo>
                  <a:pt x="283" y="0"/>
                  <a:pt x="300" y="16"/>
                  <a:pt x="300" y="36"/>
                </a:cubicBezTo>
                <a:cubicBezTo>
                  <a:pt x="300" y="40"/>
                  <a:pt x="300" y="40"/>
                  <a:pt x="300" y="40"/>
                </a:cubicBezTo>
                <a:cubicBezTo>
                  <a:pt x="393" y="57"/>
                  <a:pt x="467" y="129"/>
                  <a:pt x="484" y="225"/>
                </a:cubicBezTo>
                <a:cubicBezTo>
                  <a:pt x="487" y="225"/>
                  <a:pt x="487" y="225"/>
                  <a:pt x="487" y="225"/>
                </a:cubicBezTo>
                <a:cubicBezTo>
                  <a:pt x="508" y="225"/>
                  <a:pt x="525" y="240"/>
                  <a:pt x="525" y="261"/>
                </a:cubicBezTo>
                <a:cubicBezTo>
                  <a:pt x="525" y="283"/>
                  <a:pt x="508" y="300"/>
                  <a:pt x="487" y="300"/>
                </a:cubicBezTo>
                <a:moveTo>
                  <a:pt x="261" y="148"/>
                </a:moveTo>
                <a:cubicBezTo>
                  <a:pt x="199" y="148"/>
                  <a:pt x="151" y="199"/>
                  <a:pt x="151" y="261"/>
                </a:cubicBezTo>
                <a:cubicBezTo>
                  <a:pt x="151" y="323"/>
                  <a:pt x="199" y="374"/>
                  <a:pt x="261" y="374"/>
                </a:cubicBezTo>
                <a:cubicBezTo>
                  <a:pt x="324" y="374"/>
                  <a:pt x="374" y="323"/>
                  <a:pt x="374" y="261"/>
                </a:cubicBezTo>
                <a:cubicBezTo>
                  <a:pt x="374" y="199"/>
                  <a:pt x="324" y="148"/>
                  <a:pt x="261" y="148"/>
                </a:cubicBezTo>
                <a:cubicBezTo>
                  <a:pt x="261" y="148"/>
                  <a:pt x="261" y="148"/>
                  <a:pt x="261" y="148"/>
                </a:cubicBezTo>
                <a:moveTo>
                  <a:pt x="261" y="336"/>
                </a:moveTo>
                <a:cubicBezTo>
                  <a:pt x="220" y="336"/>
                  <a:pt x="187" y="302"/>
                  <a:pt x="187" y="261"/>
                </a:cubicBezTo>
                <a:cubicBezTo>
                  <a:pt x="187" y="220"/>
                  <a:pt x="220" y="187"/>
                  <a:pt x="261" y="187"/>
                </a:cubicBezTo>
                <a:cubicBezTo>
                  <a:pt x="304" y="187"/>
                  <a:pt x="338" y="220"/>
                  <a:pt x="338" y="261"/>
                </a:cubicBezTo>
                <a:cubicBezTo>
                  <a:pt x="338" y="261"/>
                  <a:pt x="338" y="261"/>
                  <a:pt x="338" y="261"/>
                </a:cubicBezTo>
                <a:cubicBezTo>
                  <a:pt x="338" y="302"/>
                  <a:pt x="304" y="336"/>
                  <a:pt x="261" y="336"/>
                </a:cubicBezTo>
                <a:cubicBezTo>
                  <a:pt x="261" y="336"/>
                  <a:pt x="261" y="336"/>
                  <a:pt x="261" y="336"/>
                </a:cubicBezTo>
              </a:path>
            </a:pathLst>
          </a:cu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" name="path 88"/>
          <p:cNvSpPr/>
          <p:nvPr/>
        </p:nvSpPr>
        <p:spPr>
          <a:xfrm>
            <a:off x="559307" y="6217919"/>
            <a:ext cx="335279" cy="303275"/>
          </a:xfrm>
          <a:custGeom>
            <a:avLst/>
            <a:gdLst/>
            <a:ahLst/>
            <a:cxnLst/>
            <a:rect l="0" t="0" r="0" b="0"/>
            <a:pathLst>
              <a:path w="527" h="477">
                <a:moveTo>
                  <a:pt x="264" y="0"/>
                </a:moveTo>
                <a:cubicBezTo>
                  <a:pt x="264" y="0"/>
                  <a:pt x="100" y="141"/>
                  <a:pt x="9" y="218"/>
                </a:cubicBezTo>
                <a:cubicBezTo>
                  <a:pt x="4" y="223"/>
                  <a:pt x="0" y="230"/>
                  <a:pt x="0" y="240"/>
                </a:cubicBezTo>
                <a:cubicBezTo>
                  <a:pt x="0" y="254"/>
                  <a:pt x="11" y="266"/>
                  <a:pt x="26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451"/>
                  <a:pt x="79" y="451"/>
                  <a:pt x="79" y="451"/>
                </a:cubicBezTo>
                <a:cubicBezTo>
                  <a:pt x="79" y="465"/>
                  <a:pt x="91" y="477"/>
                  <a:pt x="105" y="477"/>
                </a:cubicBezTo>
                <a:cubicBezTo>
                  <a:pt x="184" y="477"/>
                  <a:pt x="184" y="477"/>
                  <a:pt x="184" y="477"/>
                </a:cubicBezTo>
                <a:cubicBezTo>
                  <a:pt x="199" y="477"/>
                  <a:pt x="211" y="465"/>
                  <a:pt x="211" y="451"/>
                </a:cubicBezTo>
                <a:cubicBezTo>
                  <a:pt x="211" y="345"/>
                  <a:pt x="211" y="345"/>
                  <a:pt x="211" y="345"/>
                </a:cubicBezTo>
                <a:cubicBezTo>
                  <a:pt x="316" y="345"/>
                  <a:pt x="316" y="345"/>
                  <a:pt x="316" y="345"/>
                </a:cubicBezTo>
                <a:cubicBezTo>
                  <a:pt x="316" y="451"/>
                  <a:pt x="316" y="451"/>
                  <a:pt x="316" y="451"/>
                </a:cubicBezTo>
                <a:cubicBezTo>
                  <a:pt x="316" y="465"/>
                  <a:pt x="328" y="477"/>
                  <a:pt x="343" y="477"/>
                </a:cubicBezTo>
                <a:cubicBezTo>
                  <a:pt x="422" y="477"/>
                  <a:pt x="422" y="477"/>
                  <a:pt x="422" y="477"/>
                </a:cubicBezTo>
                <a:cubicBezTo>
                  <a:pt x="436" y="477"/>
                  <a:pt x="448" y="465"/>
                  <a:pt x="448" y="451"/>
                </a:cubicBezTo>
                <a:cubicBezTo>
                  <a:pt x="448" y="266"/>
                  <a:pt x="448" y="266"/>
                  <a:pt x="448" y="266"/>
                </a:cubicBezTo>
                <a:cubicBezTo>
                  <a:pt x="501" y="266"/>
                  <a:pt x="501" y="266"/>
                  <a:pt x="501" y="266"/>
                </a:cubicBezTo>
                <a:cubicBezTo>
                  <a:pt x="515" y="266"/>
                  <a:pt x="527" y="254"/>
                  <a:pt x="527" y="240"/>
                </a:cubicBezTo>
                <a:cubicBezTo>
                  <a:pt x="527" y="230"/>
                  <a:pt x="523" y="223"/>
                  <a:pt x="518" y="218"/>
                </a:cubicBezTo>
                <a:cubicBezTo>
                  <a:pt x="427" y="141"/>
                  <a:pt x="264" y="0"/>
                  <a:pt x="264" y="0"/>
                </a:cubicBezTo>
                <a:cubicBezTo>
                  <a:pt x="264" y="0"/>
                  <a:pt x="264" y="0"/>
                  <a:pt x="264" y="0"/>
                </a:cubicBezTo>
              </a:path>
            </a:pathLst>
          </a:cu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" name="path 90"/>
          <p:cNvSpPr/>
          <p:nvPr/>
        </p:nvSpPr>
        <p:spPr>
          <a:xfrm>
            <a:off x="8653271" y="6236207"/>
            <a:ext cx="323088" cy="304800"/>
          </a:xfrm>
          <a:custGeom>
            <a:avLst/>
            <a:gdLst/>
            <a:ahLst/>
            <a:cxnLst/>
            <a:rect l="0" t="0" r="0" b="0"/>
            <a:pathLst>
              <a:path w="508" h="480">
                <a:moveTo>
                  <a:pt x="504" y="189"/>
                </a:moveTo>
                <a:cubicBezTo>
                  <a:pt x="499" y="175"/>
                  <a:pt x="492" y="165"/>
                  <a:pt x="480" y="165"/>
                </a:cubicBezTo>
                <a:cubicBezTo>
                  <a:pt x="480" y="165"/>
                  <a:pt x="480" y="165"/>
                  <a:pt x="480" y="165"/>
                </a:cubicBezTo>
                <a:cubicBezTo>
                  <a:pt x="441" y="165"/>
                  <a:pt x="412" y="136"/>
                  <a:pt x="412" y="100"/>
                </a:cubicBezTo>
                <a:cubicBezTo>
                  <a:pt x="412" y="88"/>
                  <a:pt x="417" y="74"/>
                  <a:pt x="417" y="74"/>
                </a:cubicBezTo>
                <a:cubicBezTo>
                  <a:pt x="424" y="62"/>
                  <a:pt x="420" y="48"/>
                  <a:pt x="408" y="38"/>
                </a:cubicBezTo>
                <a:cubicBezTo>
                  <a:pt x="408" y="38"/>
                  <a:pt x="408" y="38"/>
                  <a:pt x="408" y="38"/>
                </a:cubicBezTo>
                <a:cubicBezTo>
                  <a:pt x="345" y="2"/>
                  <a:pt x="345" y="2"/>
                  <a:pt x="345" y="2"/>
                </a:cubicBezTo>
                <a:cubicBezTo>
                  <a:pt x="343" y="2"/>
                  <a:pt x="343" y="2"/>
                  <a:pt x="343" y="2"/>
                </a:cubicBezTo>
                <a:cubicBezTo>
                  <a:pt x="340" y="2"/>
                  <a:pt x="335" y="0"/>
                  <a:pt x="331" y="0"/>
                </a:cubicBezTo>
                <a:cubicBezTo>
                  <a:pt x="321" y="0"/>
                  <a:pt x="314" y="4"/>
                  <a:pt x="307" y="9"/>
                </a:cubicBezTo>
                <a:cubicBezTo>
                  <a:pt x="300" y="19"/>
                  <a:pt x="275" y="38"/>
                  <a:pt x="256" y="38"/>
                </a:cubicBezTo>
                <a:cubicBezTo>
                  <a:pt x="235" y="38"/>
                  <a:pt x="211" y="16"/>
                  <a:pt x="204" y="9"/>
                </a:cubicBezTo>
                <a:cubicBezTo>
                  <a:pt x="199" y="2"/>
                  <a:pt x="189" y="0"/>
                  <a:pt x="180" y="0"/>
                </a:cubicBezTo>
                <a:cubicBezTo>
                  <a:pt x="175" y="0"/>
                  <a:pt x="170" y="0"/>
                  <a:pt x="168" y="2"/>
                </a:cubicBezTo>
                <a:cubicBezTo>
                  <a:pt x="168" y="2"/>
                  <a:pt x="168" y="2"/>
                  <a:pt x="168" y="2"/>
                </a:cubicBezTo>
                <a:cubicBezTo>
                  <a:pt x="100" y="38"/>
                  <a:pt x="100" y="38"/>
                  <a:pt x="100" y="38"/>
                </a:cubicBezTo>
                <a:cubicBezTo>
                  <a:pt x="100" y="38"/>
                  <a:pt x="100" y="38"/>
                  <a:pt x="100" y="38"/>
                </a:cubicBezTo>
                <a:cubicBezTo>
                  <a:pt x="88" y="48"/>
                  <a:pt x="84" y="62"/>
                  <a:pt x="91" y="74"/>
                </a:cubicBezTo>
                <a:cubicBezTo>
                  <a:pt x="91" y="74"/>
                  <a:pt x="95" y="88"/>
                  <a:pt x="95" y="100"/>
                </a:cubicBezTo>
                <a:cubicBezTo>
                  <a:pt x="95" y="136"/>
                  <a:pt x="67" y="165"/>
                  <a:pt x="31" y="165"/>
                </a:cubicBezTo>
                <a:cubicBezTo>
                  <a:pt x="28" y="165"/>
                  <a:pt x="28" y="165"/>
                  <a:pt x="28" y="165"/>
                </a:cubicBezTo>
                <a:cubicBezTo>
                  <a:pt x="16" y="165"/>
                  <a:pt x="9" y="175"/>
                  <a:pt x="7" y="189"/>
                </a:cubicBezTo>
                <a:cubicBezTo>
                  <a:pt x="7" y="192"/>
                  <a:pt x="0" y="218"/>
                  <a:pt x="0" y="240"/>
                </a:cubicBezTo>
                <a:cubicBezTo>
                  <a:pt x="0" y="261"/>
                  <a:pt x="7" y="288"/>
                  <a:pt x="7" y="290"/>
                </a:cubicBezTo>
                <a:cubicBezTo>
                  <a:pt x="9" y="304"/>
                  <a:pt x="16" y="314"/>
                  <a:pt x="26" y="314"/>
                </a:cubicBezTo>
                <a:cubicBezTo>
                  <a:pt x="26" y="314"/>
                  <a:pt x="28" y="314"/>
                  <a:pt x="28" y="314"/>
                </a:cubicBezTo>
                <a:cubicBezTo>
                  <a:pt x="31" y="314"/>
                  <a:pt x="31" y="314"/>
                  <a:pt x="31" y="314"/>
                </a:cubicBezTo>
                <a:cubicBezTo>
                  <a:pt x="67" y="314"/>
                  <a:pt x="95" y="343"/>
                  <a:pt x="95" y="379"/>
                </a:cubicBezTo>
                <a:cubicBezTo>
                  <a:pt x="95" y="391"/>
                  <a:pt x="91" y="405"/>
                  <a:pt x="91" y="405"/>
                </a:cubicBezTo>
                <a:cubicBezTo>
                  <a:pt x="84" y="417"/>
                  <a:pt x="88" y="432"/>
                  <a:pt x="100" y="441"/>
                </a:cubicBezTo>
                <a:cubicBezTo>
                  <a:pt x="100" y="441"/>
                  <a:pt x="100" y="441"/>
                  <a:pt x="100" y="441"/>
                </a:cubicBezTo>
                <a:cubicBezTo>
                  <a:pt x="163" y="477"/>
                  <a:pt x="163" y="477"/>
                  <a:pt x="163" y="477"/>
                </a:cubicBezTo>
                <a:cubicBezTo>
                  <a:pt x="163" y="477"/>
                  <a:pt x="163" y="477"/>
                  <a:pt x="163" y="477"/>
                </a:cubicBezTo>
                <a:cubicBezTo>
                  <a:pt x="168" y="477"/>
                  <a:pt x="172" y="480"/>
                  <a:pt x="175" y="480"/>
                </a:cubicBezTo>
                <a:cubicBezTo>
                  <a:pt x="184" y="480"/>
                  <a:pt x="194" y="475"/>
                  <a:pt x="199" y="470"/>
                </a:cubicBezTo>
                <a:cubicBezTo>
                  <a:pt x="206" y="460"/>
                  <a:pt x="232" y="439"/>
                  <a:pt x="252" y="439"/>
                </a:cubicBezTo>
                <a:cubicBezTo>
                  <a:pt x="273" y="439"/>
                  <a:pt x="297" y="460"/>
                  <a:pt x="307" y="470"/>
                </a:cubicBezTo>
                <a:cubicBezTo>
                  <a:pt x="312" y="477"/>
                  <a:pt x="321" y="480"/>
                  <a:pt x="331" y="480"/>
                </a:cubicBezTo>
                <a:cubicBezTo>
                  <a:pt x="331" y="480"/>
                  <a:pt x="331" y="480"/>
                  <a:pt x="331" y="480"/>
                </a:cubicBezTo>
                <a:cubicBezTo>
                  <a:pt x="331" y="480"/>
                  <a:pt x="331" y="480"/>
                  <a:pt x="331" y="480"/>
                </a:cubicBezTo>
                <a:cubicBezTo>
                  <a:pt x="335" y="480"/>
                  <a:pt x="338" y="480"/>
                  <a:pt x="343" y="477"/>
                </a:cubicBezTo>
                <a:cubicBezTo>
                  <a:pt x="343" y="477"/>
                  <a:pt x="343" y="477"/>
                  <a:pt x="343" y="477"/>
                </a:cubicBezTo>
                <a:cubicBezTo>
                  <a:pt x="408" y="441"/>
                  <a:pt x="408" y="441"/>
                  <a:pt x="408" y="441"/>
                </a:cubicBezTo>
                <a:cubicBezTo>
                  <a:pt x="408" y="441"/>
                  <a:pt x="408" y="441"/>
                  <a:pt x="408" y="441"/>
                </a:cubicBezTo>
                <a:cubicBezTo>
                  <a:pt x="420" y="432"/>
                  <a:pt x="424" y="417"/>
                  <a:pt x="417" y="405"/>
                </a:cubicBezTo>
                <a:cubicBezTo>
                  <a:pt x="417" y="405"/>
                  <a:pt x="412" y="391"/>
                  <a:pt x="412" y="379"/>
                </a:cubicBezTo>
                <a:cubicBezTo>
                  <a:pt x="412" y="343"/>
                  <a:pt x="441" y="314"/>
                  <a:pt x="480" y="314"/>
                </a:cubicBezTo>
                <a:cubicBezTo>
                  <a:pt x="480" y="314"/>
                  <a:pt x="480" y="314"/>
                  <a:pt x="480" y="314"/>
                </a:cubicBezTo>
                <a:cubicBezTo>
                  <a:pt x="492" y="314"/>
                  <a:pt x="499" y="304"/>
                  <a:pt x="504" y="290"/>
                </a:cubicBezTo>
                <a:cubicBezTo>
                  <a:pt x="504" y="288"/>
                  <a:pt x="508" y="261"/>
                  <a:pt x="508" y="240"/>
                </a:cubicBezTo>
                <a:cubicBezTo>
                  <a:pt x="508" y="218"/>
                  <a:pt x="504" y="192"/>
                  <a:pt x="504" y="189"/>
                </a:cubicBezTo>
                <a:moveTo>
                  <a:pt x="252" y="328"/>
                </a:moveTo>
                <a:cubicBezTo>
                  <a:pt x="204" y="328"/>
                  <a:pt x="165" y="288"/>
                  <a:pt x="165" y="240"/>
                </a:cubicBezTo>
                <a:cubicBezTo>
                  <a:pt x="165" y="192"/>
                  <a:pt x="204" y="151"/>
                  <a:pt x="252" y="151"/>
                </a:cubicBezTo>
                <a:cubicBezTo>
                  <a:pt x="302" y="151"/>
                  <a:pt x="340" y="192"/>
                  <a:pt x="340" y="240"/>
                </a:cubicBezTo>
                <a:cubicBezTo>
                  <a:pt x="340" y="288"/>
                  <a:pt x="302" y="328"/>
                  <a:pt x="252" y="328"/>
                </a:cubicBezTo>
              </a:path>
            </a:pathLst>
          </a:cu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1732788" y="6233160"/>
            <a:ext cx="298704" cy="298703"/>
            <a:chOff x="0" y="0"/>
            <a:chExt cx="298704" cy="298703"/>
          </a:xfrm>
        </p:grpSpPr>
        <p:sp>
          <p:nvSpPr>
            <p:cNvPr id="92" name="path 92"/>
            <p:cNvSpPr/>
            <p:nvPr/>
          </p:nvSpPr>
          <p:spPr>
            <a:xfrm>
              <a:off x="0" y="0"/>
              <a:ext cx="298704" cy="298703"/>
            </a:xfrm>
            <a:custGeom>
              <a:avLst/>
              <a:gdLst/>
              <a:ahLst/>
              <a:cxnLst/>
              <a:rect l="0" t="0" r="0" b="0"/>
              <a:pathLst>
                <a:path w="470" h="470">
                  <a:moveTo>
                    <a:pt x="0" y="50"/>
                  </a:moveTo>
                  <a:moveTo>
                    <a:pt x="0" y="50"/>
                  </a:moveTo>
                  <a:cubicBezTo>
                    <a:pt x="0" y="21"/>
                    <a:pt x="21" y="0"/>
                    <a:pt x="50" y="0"/>
                  </a:cubicBezTo>
                  <a:lnTo>
                    <a:pt x="420" y="0"/>
                  </a:lnTo>
                  <a:cubicBezTo>
                    <a:pt x="448" y="0"/>
                    <a:pt x="470" y="21"/>
                    <a:pt x="470" y="50"/>
                  </a:cubicBezTo>
                  <a:lnTo>
                    <a:pt x="470" y="420"/>
                  </a:lnTo>
                  <a:cubicBezTo>
                    <a:pt x="470" y="448"/>
                    <a:pt x="448" y="470"/>
                    <a:pt x="420" y="470"/>
                  </a:cubicBezTo>
                  <a:lnTo>
                    <a:pt x="50" y="470"/>
                  </a:lnTo>
                  <a:cubicBezTo>
                    <a:pt x="21" y="470"/>
                    <a:pt x="0" y="448"/>
                    <a:pt x="0" y="420"/>
                  </a:cubicBezTo>
                  <a:lnTo>
                    <a:pt x="0" y="50"/>
                  </a:lnTo>
                  <a:close/>
                </a:path>
              </a:pathLst>
            </a:custGeom>
            <a:solidFill>
              <a:srgbClr val="ECECE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" name="path 94"/>
            <p:cNvSpPr/>
            <p:nvPr/>
          </p:nvSpPr>
          <p:spPr>
            <a:xfrm>
              <a:off x="50291" y="48768"/>
              <a:ext cx="198120" cy="192024"/>
            </a:xfrm>
            <a:custGeom>
              <a:avLst/>
              <a:gdLst/>
              <a:ahLst/>
              <a:cxnLst/>
              <a:rect l="0" t="0" r="0" b="0"/>
              <a:pathLst>
                <a:path w="312" h="302">
                  <a:moveTo>
                    <a:pt x="12" y="52"/>
                  </a:moveTo>
                  <a:cubicBezTo>
                    <a:pt x="117" y="52"/>
                    <a:pt x="117" y="52"/>
                    <a:pt x="117" y="52"/>
                  </a:cubicBezTo>
                  <a:cubicBezTo>
                    <a:pt x="124" y="52"/>
                    <a:pt x="129" y="57"/>
                    <a:pt x="129" y="67"/>
                  </a:cubicBezTo>
                  <a:cubicBezTo>
                    <a:pt x="129" y="74"/>
                    <a:pt x="124" y="79"/>
                    <a:pt x="117" y="79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4" y="79"/>
                    <a:pt x="0" y="74"/>
                    <a:pt x="0" y="67"/>
                  </a:cubicBezTo>
                  <a:cubicBezTo>
                    <a:pt x="0" y="57"/>
                    <a:pt x="4" y="52"/>
                    <a:pt x="12" y="52"/>
                  </a:cubicBezTo>
                </a:path>
                <a:path w="312" h="302">
                  <a:moveTo>
                    <a:pt x="64" y="0"/>
                  </a:moveTo>
                  <a:cubicBezTo>
                    <a:pt x="72" y="0"/>
                    <a:pt x="76" y="7"/>
                    <a:pt x="76" y="14"/>
                  </a:cubicBezTo>
                  <a:cubicBezTo>
                    <a:pt x="76" y="117"/>
                    <a:pt x="76" y="117"/>
                    <a:pt x="76" y="117"/>
                  </a:cubicBezTo>
                  <a:cubicBezTo>
                    <a:pt x="76" y="127"/>
                    <a:pt x="72" y="131"/>
                    <a:pt x="64" y="131"/>
                  </a:cubicBezTo>
                  <a:cubicBezTo>
                    <a:pt x="57" y="131"/>
                    <a:pt x="50" y="127"/>
                    <a:pt x="50" y="117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7"/>
                    <a:pt x="57" y="0"/>
                    <a:pt x="64" y="0"/>
                  </a:cubicBezTo>
                  <a:moveTo>
                    <a:pt x="36" y="203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7" y="283"/>
                    <a:pt x="117" y="290"/>
                    <a:pt x="112" y="297"/>
                  </a:cubicBezTo>
                  <a:cubicBezTo>
                    <a:pt x="105" y="302"/>
                    <a:pt x="98" y="302"/>
                    <a:pt x="93" y="297"/>
                  </a:cubicBezTo>
                  <a:cubicBezTo>
                    <a:pt x="19" y="223"/>
                    <a:pt x="19" y="223"/>
                    <a:pt x="19" y="223"/>
                  </a:cubicBezTo>
                  <a:cubicBezTo>
                    <a:pt x="14" y="216"/>
                    <a:pt x="14" y="208"/>
                    <a:pt x="19" y="203"/>
                  </a:cubicBezTo>
                  <a:cubicBezTo>
                    <a:pt x="24" y="199"/>
                    <a:pt x="31" y="199"/>
                    <a:pt x="36" y="203"/>
                  </a:cubicBezTo>
                </a:path>
                <a:path w="312" h="302">
                  <a:moveTo>
                    <a:pt x="110" y="203"/>
                  </a:moveTo>
                  <a:cubicBezTo>
                    <a:pt x="115" y="208"/>
                    <a:pt x="115" y="218"/>
                    <a:pt x="110" y="223"/>
                  </a:cubicBezTo>
                  <a:cubicBezTo>
                    <a:pt x="36" y="297"/>
                    <a:pt x="36" y="297"/>
                    <a:pt x="36" y="297"/>
                  </a:cubicBezTo>
                  <a:cubicBezTo>
                    <a:pt x="28" y="302"/>
                    <a:pt x="21" y="302"/>
                    <a:pt x="16" y="297"/>
                  </a:cubicBezTo>
                  <a:cubicBezTo>
                    <a:pt x="12" y="292"/>
                    <a:pt x="12" y="283"/>
                    <a:pt x="16" y="278"/>
                  </a:cubicBezTo>
                  <a:cubicBezTo>
                    <a:pt x="91" y="203"/>
                    <a:pt x="91" y="203"/>
                    <a:pt x="91" y="203"/>
                  </a:cubicBezTo>
                  <a:cubicBezTo>
                    <a:pt x="96" y="199"/>
                    <a:pt x="105" y="199"/>
                    <a:pt x="110" y="203"/>
                  </a:cubicBezTo>
                  <a:moveTo>
                    <a:pt x="194" y="52"/>
                  </a:moveTo>
                  <a:cubicBezTo>
                    <a:pt x="300" y="52"/>
                    <a:pt x="300" y="52"/>
                    <a:pt x="300" y="52"/>
                  </a:cubicBezTo>
                  <a:cubicBezTo>
                    <a:pt x="307" y="52"/>
                    <a:pt x="312" y="57"/>
                    <a:pt x="312" y="67"/>
                  </a:cubicBezTo>
                  <a:cubicBezTo>
                    <a:pt x="312" y="74"/>
                    <a:pt x="307" y="79"/>
                    <a:pt x="300" y="79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87" y="79"/>
                    <a:pt x="182" y="74"/>
                    <a:pt x="182" y="67"/>
                  </a:cubicBezTo>
                  <a:cubicBezTo>
                    <a:pt x="182" y="57"/>
                    <a:pt x="187" y="52"/>
                    <a:pt x="194" y="52"/>
                  </a:cubicBezTo>
                  <a:moveTo>
                    <a:pt x="194" y="196"/>
                  </a:moveTo>
                  <a:cubicBezTo>
                    <a:pt x="300" y="196"/>
                    <a:pt x="300" y="196"/>
                    <a:pt x="300" y="196"/>
                  </a:cubicBezTo>
                  <a:cubicBezTo>
                    <a:pt x="307" y="196"/>
                    <a:pt x="312" y="203"/>
                    <a:pt x="312" y="211"/>
                  </a:cubicBezTo>
                  <a:cubicBezTo>
                    <a:pt x="312" y="218"/>
                    <a:pt x="307" y="223"/>
                    <a:pt x="300" y="223"/>
                  </a:cubicBezTo>
                  <a:cubicBezTo>
                    <a:pt x="194" y="223"/>
                    <a:pt x="194" y="223"/>
                    <a:pt x="194" y="223"/>
                  </a:cubicBezTo>
                  <a:cubicBezTo>
                    <a:pt x="187" y="223"/>
                    <a:pt x="182" y="218"/>
                    <a:pt x="182" y="211"/>
                  </a:cubicBezTo>
                  <a:cubicBezTo>
                    <a:pt x="182" y="203"/>
                    <a:pt x="187" y="196"/>
                    <a:pt x="194" y="196"/>
                  </a:cubicBezTo>
                  <a:moveTo>
                    <a:pt x="194" y="263"/>
                  </a:moveTo>
                  <a:cubicBezTo>
                    <a:pt x="300" y="263"/>
                    <a:pt x="300" y="263"/>
                    <a:pt x="300" y="263"/>
                  </a:cubicBezTo>
                  <a:cubicBezTo>
                    <a:pt x="307" y="263"/>
                    <a:pt x="312" y="268"/>
                    <a:pt x="312" y="275"/>
                  </a:cubicBezTo>
                  <a:cubicBezTo>
                    <a:pt x="312" y="283"/>
                    <a:pt x="307" y="290"/>
                    <a:pt x="300" y="290"/>
                  </a:cubicBezTo>
                  <a:cubicBezTo>
                    <a:pt x="194" y="290"/>
                    <a:pt x="194" y="290"/>
                    <a:pt x="194" y="290"/>
                  </a:cubicBezTo>
                  <a:cubicBezTo>
                    <a:pt x="187" y="290"/>
                    <a:pt x="182" y="283"/>
                    <a:pt x="182" y="275"/>
                  </a:cubicBezTo>
                  <a:cubicBezTo>
                    <a:pt x="182" y="268"/>
                    <a:pt x="187" y="263"/>
                    <a:pt x="194" y="263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6" name="path 96"/>
          <p:cNvSpPr/>
          <p:nvPr/>
        </p:nvSpPr>
        <p:spPr>
          <a:xfrm>
            <a:off x="5198363" y="6233159"/>
            <a:ext cx="294322" cy="298704"/>
          </a:xfrm>
          <a:custGeom>
            <a:avLst/>
            <a:gdLst/>
            <a:ahLst/>
            <a:cxnLst/>
            <a:rect l="0" t="0" r="0" b="0"/>
            <a:pathLst>
              <a:path w="463" h="470">
                <a:moveTo>
                  <a:pt x="57" y="273"/>
                </a:moveTo>
                <a:cubicBezTo>
                  <a:pt x="50" y="280"/>
                  <a:pt x="47" y="290"/>
                  <a:pt x="47" y="302"/>
                </a:cubicBezTo>
                <a:cubicBezTo>
                  <a:pt x="12" y="410"/>
                  <a:pt x="12" y="410"/>
                  <a:pt x="12" y="410"/>
                </a:cubicBezTo>
                <a:cubicBezTo>
                  <a:pt x="0" y="424"/>
                  <a:pt x="0" y="444"/>
                  <a:pt x="12" y="456"/>
                </a:cubicBezTo>
                <a:cubicBezTo>
                  <a:pt x="24" y="470"/>
                  <a:pt x="45" y="470"/>
                  <a:pt x="57" y="456"/>
                </a:cubicBezTo>
                <a:cubicBezTo>
                  <a:pt x="167" y="420"/>
                  <a:pt x="167" y="420"/>
                  <a:pt x="167" y="420"/>
                </a:cubicBezTo>
                <a:cubicBezTo>
                  <a:pt x="177" y="422"/>
                  <a:pt x="187" y="417"/>
                  <a:pt x="194" y="410"/>
                </a:cubicBezTo>
                <a:cubicBezTo>
                  <a:pt x="206" y="398"/>
                  <a:pt x="206" y="398"/>
                  <a:pt x="206" y="398"/>
                </a:cubicBezTo>
                <a:cubicBezTo>
                  <a:pt x="69" y="261"/>
                  <a:pt x="69" y="261"/>
                  <a:pt x="69" y="261"/>
                </a:cubicBezTo>
                <a:lnTo>
                  <a:pt x="57" y="273"/>
                </a:lnTo>
                <a:close/>
                <a:moveTo>
                  <a:pt x="456" y="103"/>
                </a:moveTo>
                <a:cubicBezTo>
                  <a:pt x="364" y="11"/>
                  <a:pt x="364" y="11"/>
                  <a:pt x="364" y="11"/>
                </a:cubicBezTo>
                <a:cubicBezTo>
                  <a:pt x="350" y="0"/>
                  <a:pt x="331" y="0"/>
                  <a:pt x="319" y="11"/>
                </a:cubicBezTo>
                <a:cubicBezTo>
                  <a:pt x="254" y="76"/>
                  <a:pt x="254" y="76"/>
                  <a:pt x="254" y="76"/>
                </a:cubicBezTo>
                <a:cubicBezTo>
                  <a:pt x="391" y="213"/>
                  <a:pt x="391" y="213"/>
                  <a:pt x="391" y="213"/>
                </a:cubicBezTo>
                <a:cubicBezTo>
                  <a:pt x="456" y="148"/>
                  <a:pt x="456" y="148"/>
                  <a:pt x="456" y="148"/>
                </a:cubicBezTo>
                <a:cubicBezTo>
                  <a:pt x="467" y="136"/>
                  <a:pt x="467" y="117"/>
                  <a:pt x="456" y="103"/>
                </a:cubicBezTo>
                <a:moveTo>
                  <a:pt x="141" y="23"/>
                </a:moveTo>
                <a:cubicBezTo>
                  <a:pt x="132" y="11"/>
                  <a:pt x="112" y="11"/>
                  <a:pt x="100" y="23"/>
                </a:cubicBezTo>
                <a:cubicBezTo>
                  <a:pt x="16" y="108"/>
                  <a:pt x="16" y="108"/>
                  <a:pt x="16" y="108"/>
                </a:cubicBezTo>
                <a:cubicBezTo>
                  <a:pt x="4" y="120"/>
                  <a:pt x="4" y="136"/>
                  <a:pt x="16" y="148"/>
                </a:cubicBezTo>
                <a:cubicBezTo>
                  <a:pt x="72" y="206"/>
                  <a:pt x="72" y="206"/>
                  <a:pt x="72" y="206"/>
                </a:cubicBezTo>
                <a:cubicBezTo>
                  <a:pt x="144" y="134"/>
                  <a:pt x="144" y="134"/>
                  <a:pt x="144" y="134"/>
                </a:cubicBezTo>
                <a:cubicBezTo>
                  <a:pt x="148" y="131"/>
                  <a:pt x="153" y="131"/>
                  <a:pt x="158" y="134"/>
                </a:cubicBezTo>
                <a:cubicBezTo>
                  <a:pt x="172" y="148"/>
                  <a:pt x="172" y="148"/>
                  <a:pt x="172" y="148"/>
                </a:cubicBezTo>
                <a:cubicBezTo>
                  <a:pt x="175" y="153"/>
                  <a:pt x="175" y="160"/>
                  <a:pt x="172" y="163"/>
                </a:cubicBezTo>
                <a:cubicBezTo>
                  <a:pt x="100" y="235"/>
                  <a:pt x="100" y="235"/>
                  <a:pt x="100" y="235"/>
                </a:cubicBezTo>
                <a:cubicBezTo>
                  <a:pt x="153" y="288"/>
                  <a:pt x="153" y="288"/>
                  <a:pt x="153" y="288"/>
                </a:cubicBezTo>
                <a:cubicBezTo>
                  <a:pt x="225" y="216"/>
                  <a:pt x="225" y="216"/>
                  <a:pt x="225" y="216"/>
                </a:cubicBezTo>
                <a:cubicBezTo>
                  <a:pt x="227" y="213"/>
                  <a:pt x="235" y="213"/>
                  <a:pt x="237" y="216"/>
                </a:cubicBezTo>
                <a:cubicBezTo>
                  <a:pt x="252" y="230"/>
                  <a:pt x="252" y="230"/>
                  <a:pt x="252" y="230"/>
                </a:cubicBezTo>
                <a:cubicBezTo>
                  <a:pt x="256" y="235"/>
                  <a:pt x="256" y="240"/>
                  <a:pt x="252" y="244"/>
                </a:cubicBezTo>
                <a:cubicBezTo>
                  <a:pt x="182" y="316"/>
                  <a:pt x="182" y="316"/>
                  <a:pt x="182" y="316"/>
                </a:cubicBezTo>
                <a:cubicBezTo>
                  <a:pt x="235" y="369"/>
                  <a:pt x="235" y="369"/>
                  <a:pt x="235" y="369"/>
                </a:cubicBezTo>
                <a:cubicBezTo>
                  <a:pt x="304" y="297"/>
                  <a:pt x="304" y="297"/>
                  <a:pt x="304" y="297"/>
                </a:cubicBezTo>
                <a:cubicBezTo>
                  <a:pt x="309" y="292"/>
                  <a:pt x="314" y="292"/>
                  <a:pt x="319" y="297"/>
                </a:cubicBezTo>
                <a:cubicBezTo>
                  <a:pt x="333" y="311"/>
                  <a:pt x="333" y="311"/>
                  <a:pt x="333" y="311"/>
                </a:cubicBezTo>
                <a:cubicBezTo>
                  <a:pt x="338" y="314"/>
                  <a:pt x="338" y="321"/>
                  <a:pt x="333" y="326"/>
                </a:cubicBezTo>
                <a:cubicBezTo>
                  <a:pt x="264" y="398"/>
                  <a:pt x="264" y="398"/>
                  <a:pt x="264" y="398"/>
                </a:cubicBezTo>
                <a:cubicBezTo>
                  <a:pt x="309" y="446"/>
                  <a:pt x="309" y="446"/>
                  <a:pt x="309" y="446"/>
                </a:cubicBezTo>
                <a:cubicBezTo>
                  <a:pt x="321" y="456"/>
                  <a:pt x="340" y="456"/>
                  <a:pt x="352" y="446"/>
                </a:cubicBezTo>
                <a:cubicBezTo>
                  <a:pt x="436" y="360"/>
                  <a:pt x="436" y="360"/>
                  <a:pt x="436" y="360"/>
                </a:cubicBezTo>
                <a:cubicBezTo>
                  <a:pt x="448" y="350"/>
                  <a:pt x="448" y="331"/>
                  <a:pt x="436" y="319"/>
                </a:cubicBezTo>
                <a:lnTo>
                  <a:pt x="141" y="23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" name="path 98"/>
          <p:cNvSpPr/>
          <p:nvPr/>
        </p:nvSpPr>
        <p:spPr>
          <a:xfrm>
            <a:off x="2904743" y="6217920"/>
            <a:ext cx="259079" cy="329183"/>
          </a:xfrm>
          <a:custGeom>
            <a:avLst/>
            <a:gdLst/>
            <a:ahLst/>
            <a:cxnLst/>
            <a:rect l="0" t="0" r="0" b="0"/>
            <a:pathLst>
              <a:path w="407" h="518">
                <a:moveTo>
                  <a:pt x="134" y="108"/>
                </a:moveTo>
                <a:lnTo>
                  <a:pt x="268" y="108"/>
                </a:lnTo>
                <a:lnTo>
                  <a:pt x="343" y="16"/>
                </a:lnTo>
                <a:lnTo>
                  <a:pt x="266" y="16"/>
                </a:lnTo>
                <a:lnTo>
                  <a:pt x="266" y="0"/>
                </a:lnTo>
                <a:lnTo>
                  <a:pt x="216" y="0"/>
                </a:lnTo>
                <a:lnTo>
                  <a:pt x="216" y="14"/>
                </a:lnTo>
                <a:lnTo>
                  <a:pt x="177" y="14"/>
                </a:lnTo>
                <a:lnTo>
                  <a:pt x="177" y="0"/>
                </a:lnTo>
                <a:lnTo>
                  <a:pt x="127" y="0"/>
                </a:lnTo>
                <a:lnTo>
                  <a:pt x="127" y="14"/>
                </a:lnTo>
                <a:lnTo>
                  <a:pt x="64" y="14"/>
                </a:lnTo>
                <a:lnTo>
                  <a:pt x="134" y="108"/>
                </a:lnTo>
                <a:close/>
              </a:path>
              <a:path w="407" h="518">
                <a:moveTo>
                  <a:pt x="398" y="261"/>
                </a:moveTo>
                <a:cubicBezTo>
                  <a:pt x="364" y="196"/>
                  <a:pt x="273" y="124"/>
                  <a:pt x="273" y="124"/>
                </a:cubicBezTo>
                <a:cubicBezTo>
                  <a:pt x="122" y="124"/>
                  <a:pt x="122" y="124"/>
                  <a:pt x="122" y="124"/>
                </a:cubicBezTo>
                <a:cubicBezTo>
                  <a:pt x="122" y="124"/>
                  <a:pt x="21" y="215"/>
                  <a:pt x="7" y="271"/>
                </a:cubicBezTo>
                <a:cubicBezTo>
                  <a:pt x="2" y="285"/>
                  <a:pt x="0" y="302"/>
                  <a:pt x="0" y="314"/>
                </a:cubicBezTo>
                <a:cubicBezTo>
                  <a:pt x="0" y="427"/>
                  <a:pt x="91" y="518"/>
                  <a:pt x="203" y="518"/>
                </a:cubicBezTo>
                <a:cubicBezTo>
                  <a:pt x="314" y="518"/>
                  <a:pt x="407" y="434"/>
                  <a:pt x="407" y="321"/>
                </a:cubicBezTo>
                <a:cubicBezTo>
                  <a:pt x="407" y="319"/>
                  <a:pt x="405" y="280"/>
                  <a:pt x="398" y="261"/>
                </a:cubicBezTo>
                <a:moveTo>
                  <a:pt x="259" y="343"/>
                </a:moveTo>
                <a:cubicBezTo>
                  <a:pt x="259" y="343"/>
                  <a:pt x="259" y="343"/>
                  <a:pt x="259" y="343"/>
                </a:cubicBezTo>
                <a:cubicBezTo>
                  <a:pt x="268" y="343"/>
                  <a:pt x="276" y="350"/>
                  <a:pt x="276" y="359"/>
                </a:cubicBezTo>
                <a:cubicBezTo>
                  <a:pt x="276" y="369"/>
                  <a:pt x="268" y="376"/>
                  <a:pt x="259" y="376"/>
                </a:cubicBezTo>
                <a:cubicBezTo>
                  <a:pt x="225" y="376"/>
                  <a:pt x="225" y="376"/>
                  <a:pt x="225" y="376"/>
                </a:cubicBezTo>
                <a:cubicBezTo>
                  <a:pt x="225" y="393"/>
                  <a:pt x="225" y="393"/>
                  <a:pt x="225" y="393"/>
                </a:cubicBezTo>
                <a:cubicBezTo>
                  <a:pt x="225" y="393"/>
                  <a:pt x="225" y="393"/>
                  <a:pt x="225" y="393"/>
                </a:cubicBezTo>
                <a:cubicBezTo>
                  <a:pt x="225" y="393"/>
                  <a:pt x="225" y="395"/>
                  <a:pt x="225" y="395"/>
                </a:cubicBezTo>
                <a:cubicBezTo>
                  <a:pt x="225" y="407"/>
                  <a:pt x="216" y="417"/>
                  <a:pt x="203" y="417"/>
                </a:cubicBezTo>
                <a:cubicBezTo>
                  <a:pt x="191" y="417"/>
                  <a:pt x="182" y="407"/>
                  <a:pt x="182" y="395"/>
                </a:cubicBezTo>
                <a:cubicBezTo>
                  <a:pt x="182" y="395"/>
                  <a:pt x="182" y="393"/>
                  <a:pt x="184" y="393"/>
                </a:cubicBezTo>
                <a:cubicBezTo>
                  <a:pt x="182" y="393"/>
                  <a:pt x="182" y="393"/>
                  <a:pt x="182" y="393"/>
                </a:cubicBezTo>
                <a:cubicBezTo>
                  <a:pt x="182" y="376"/>
                  <a:pt x="182" y="376"/>
                  <a:pt x="182" y="376"/>
                </a:cubicBezTo>
                <a:cubicBezTo>
                  <a:pt x="151" y="376"/>
                  <a:pt x="151" y="376"/>
                  <a:pt x="151" y="376"/>
                </a:cubicBezTo>
                <a:cubicBezTo>
                  <a:pt x="151" y="376"/>
                  <a:pt x="151" y="376"/>
                  <a:pt x="151" y="376"/>
                </a:cubicBezTo>
                <a:cubicBezTo>
                  <a:pt x="151" y="376"/>
                  <a:pt x="151" y="376"/>
                  <a:pt x="151" y="376"/>
                </a:cubicBezTo>
                <a:cubicBezTo>
                  <a:pt x="141" y="376"/>
                  <a:pt x="134" y="369"/>
                  <a:pt x="134" y="359"/>
                </a:cubicBezTo>
                <a:cubicBezTo>
                  <a:pt x="134" y="350"/>
                  <a:pt x="141" y="343"/>
                  <a:pt x="151" y="343"/>
                </a:cubicBezTo>
                <a:cubicBezTo>
                  <a:pt x="151" y="343"/>
                  <a:pt x="151" y="343"/>
                  <a:pt x="151" y="343"/>
                </a:cubicBezTo>
                <a:cubicBezTo>
                  <a:pt x="151" y="343"/>
                  <a:pt x="151" y="343"/>
                  <a:pt x="151" y="343"/>
                </a:cubicBezTo>
                <a:cubicBezTo>
                  <a:pt x="182" y="343"/>
                  <a:pt x="182" y="343"/>
                  <a:pt x="182" y="343"/>
                </a:cubicBezTo>
                <a:cubicBezTo>
                  <a:pt x="182" y="326"/>
                  <a:pt x="182" y="326"/>
                  <a:pt x="182" y="326"/>
                </a:cubicBezTo>
                <a:cubicBezTo>
                  <a:pt x="151" y="326"/>
                  <a:pt x="151" y="326"/>
                  <a:pt x="151" y="326"/>
                </a:cubicBezTo>
                <a:cubicBezTo>
                  <a:pt x="151" y="326"/>
                  <a:pt x="151" y="326"/>
                  <a:pt x="151" y="326"/>
                </a:cubicBezTo>
                <a:cubicBezTo>
                  <a:pt x="151" y="326"/>
                  <a:pt x="151" y="326"/>
                  <a:pt x="151" y="326"/>
                </a:cubicBezTo>
                <a:cubicBezTo>
                  <a:pt x="141" y="326"/>
                  <a:pt x="134" y="319"/>
                  <a:pt x="134" y="309"/>
                </a:cubicBezTo>
                <a:cubicBezTo>
                  <a:pt x="134" y="299"/>
                  <a:pt x="141" y="292"/>
                  <a:pt x="151" y="292"/>
                </a:cubicBezTo>
                <a:cubicBezTo>
                  <a:pt x="151" y="292"/>
                  <a:pt x="151" y="292"/>
                  <a:pt x="151" y="292"/>
                </a:cubicBezTo>
                <a:cubicBezTo>
                  <a:pt x="151" y="292"/>
                  <a:pt x="151" y="292"/>
                  <a:pt x="151" y="292"/>
                </a:cubicBezTo>
                <a:cubicBezTo>
                  <a:pt x="180" y="292"/>
                  <a:pt x="180" y="292"/>
                  <a:pt x="180" y="292"/>
                </a:cubicBezTo>
                <a:cubicBezTo>
                  <a:pt x="182" y="290"/>
                  <a:pt x="182" y="290"/>
                  <a:pt x="182" y="290"/>
                </a:cubicBezTo>
                <a:cubicBezTo>
                  <a:pt x="143" y="251"/>
                  <a:pt x="143" y="251"/>
                  <a:pt x="143" y="251"/>
                </a:cubicBezTo>
                <a:cubicBezTo>
                  <a:pt x="141" y="247"/>
                  <a:pt x="141" y="237"/>
                  <a:pt x="148" y="232"/>
                </a:cubicBezTo>
                <a:cubicBezTo>
                  <a:pt x="153" y="225"/>
                  <a:pt x="163" y="223"/>
                  <a:pt x="167" y="227"/>
                </a:cubicBezTo>
                <a:cubicBezTo>
                  <a:pt x="203" y="263"/>
                  <a:pt x="203" y="263"/>
                  <a:pt x="203" y="263"/>
                </a:cubicBezTo>
                <a:cubicBezTo>
                  <a:pt x="240" y="227"/>
                  <a:pt x="240" y="227"/>
                  <a:pt x="240" y="227"/>
                </a:cubicBezTo>
                <a:cubicBezTo>
                  <a:pt x="244" y="223"/>
                  <a:pt x="254" y="225"/>
                  <a:pt x="261" y="230"/>
                </a:cubicBezTo>
                <a:cubicBezTo>
                  <a:pt x="268" y="237"/>
                  <a:pt x="271" y="242"/>
                  <a:pt x="263" y="251"/>
                </a:cubicBezTo>
                <a:cubicBezTo>
                  <a:pt x="225" y="290"/>
                  <a:pt x="225" y="290"/>
                  <a:pt x="225" y="290"/>
                </a:cubicBezTo>
                <a:cubicBezTo>
                  <a:pt x="225" y="292"/>
                  <a:pt x="225" y="292"/>
                  <a:pt x="225" y="292"/>
                </a:cubicBezTo>
                <a:cubicBezTo>
                  <a:pt x="259" y="292"/>
                  <a:pt x="259" y="292"/>
                  <a:pt x="259" y="292"/>
                </a:cubicBezTo>
                <a:cubicBezTo>
                  <a:pt x="259" y="292"/>
                  <a:pt x="259" y="292"/>
                  <a:pt x="259" y="292"/>
                </a:cubicBezTo>
                <a:cubicBezTo>
                  <a:pt x="268" y="292"/>
                  <a:pt x="276" y="299"/>
                  <a:pt x="276" y="309"/>
                </a:cubicBezTo>
                <a:cubicBezTo>
                  <a:pt x="276" y="319"/>
                  <a:pt x="268" y="326"/>
                  <a:pt x="259" y="326"/>
                </a:cubicBezTo>
                <a:cubicBezTo>
                  <a:pt x="259" y="326"/>
                  <a:pt x="259" y="326"/>
                  <a:pt x="259" y="326"/>
                </a:cubicBezTo>
                <a:cubicBezTo>
                  <a:pt x="225" y="326"/>
                  <a:pt x="225" y="326"/>
                  <a:pt x="225" y="326"/>
                </a:cubicBezTo>
                <a:cubicBezTo>
                  <a:pt x="225" y="343"/>
                  <a:pt x="225" y="343"/>
                  <a:pt x="225" y="343"/>
                </a:cubicBezTo>
                <a:lnTo>
                  <a:pt x="259" y="343"/>
                </a:lnTo>
                <a:close/>
              </a:path>
            </a:pathLst>
          </a:cu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" name="path 100"/>
          <p:cNvSpPr/>
          <p:nvPr/>
        </p:nvSpPr>
        <p:spPr>
          <a:xfrm>
            <a:off x="4064508" y="6213347"/>
            <a:ext cx="251459" cy="338327"/>
          </a:xfrm>
          <a:custGeom>
            <a:avLst/>
            <a:gdLst/>
            <a:ahLst/>
            <a:cxnLst/>
            <a:rect l="0" t="0" r="0" b="0"/>
            <a:pathLst>
              <a:path w="395" h="532">
                <a:moveTo>
                  <a:pt x="0" y="199"/>
                </a:moveTo>
                <a:cubicBezTo>
                  <a:pt x="0" y="143"/>
                  <a:pt x="19" y="95"/>
                  <a:pt x="57" y="57"/>
                </a:cubicBezTo>
                <a:cubicBezTo>
                  <a:pt x="95" y="19"/>
                  <a:pt x="144" y="0"/>
                  <a:pt x="196" y="0"/>
                </a:cubicBezTo>
                <a:cubicBezTo>
                  <a:pt x="252" y="0"/>
                  <a:pt x="300" y="19"/>
                  <a:pt x="338" y="57"/>
                </a:cubicBezTo>
                <a:cubicBezTo>
                  <a:pt x="376" y="95"/>
                  <a:pt x="395" y="143"/>
                  <a:pt x="395" y="199"/>
                </a:cubicBezTo>
                <a:cubicBezTo>
                  <a:pt x="395" y="206"/>
                  <a:pt x="395" y="213"/>
                  <a:pt x="395" y="220"/>
                </a:cubicBezTo>
                <a:cubicBezTo>
                  <a:pt x="393" y="223"/>
                  <a:pt x="393" y="225"/>
                  <a:pt x="393" y="228"/>
                </a:cubicBezTo>
                <a:cubicBezTo>
                  <a:pt x="391" y="244"/>
                  <a:pt x="391" y="244"/>
                  <a:pt x="391" y="244"/>
                </a:cubicBezTo>
                <a:cubicBezTo>
                  <a:pt x="391" y="244"/>
                  <a:pt x="391" y="247"/>
                  <a:pt x="391" y="249"/>
                </a:cubicBezTo>
                <a:cubicBezTo>
                  <a:pt x="388" y="254"/>
                  <a:pt x="386" y="261"/>
                  <a:pt x="384" y="266"/>
                </a:cubicBezTo>
                <a:cubicBezTo>
                  <a:pt x="384" y="266"/>
                  <a:pt x="384" y="268"/>
                  <a:pt x="384" y="268"/>
                </a:cubicBezTo>
                <a:cubicBezTo>
                  <a:pt x="384" y="268"/>
                  <a:pt x="384" y="268"/>
                  <a:pt x="384" y="268"/>
                </a:cubicBezTo>
                <a:cubicBezTo>
                  <a:pt x="381" y="275"/>
                  <a:pt x="379" y="283"/>
                  <a:pt x="374" y="290"/>
                </a:cubicBezTo>
                <a:cubicBezTo>
                  <a:pt x="374" y="290"/>
                  <a:pt x="374" y="290"/>
                  <a:pt x="374" y="290"/>
                </a:cubicBezTo>
                <a:cubicBezTo>
                  <a:pt x="372" y="297"/>
                  <a:pt x="367" y="304"/>
                  <a:pt x="362" y="309"/>
                </a:cubicBezTo>
                <a:cubicBezTo>
                  <a:pt x="357" y="316"/>
                  <a:pt x="355" y="321"/>
                  <a:pt x="350" y="328"/>
                </a:cubicBezTo>
                <a:cubicBezTo>
                  <a:pt x="350" y="328"/>
                  <a:pt x="350" y="328"/>
                  <a:pt x="350" y="328"/>
                </a:cubicBezTo>
                <a:cubicBezTo>
                  <a:pt x="347" y="328"/>
                  <a:pt x="347" y="328"/>
                  <a:pt x="347" y="328"/>
                </a:cubicBezTo>
                <a:cubicBezTo>
                  <a:pt x="343" y="333"/>
                  <a:pt x="338" y="340"/>
                  <a:pt x="333" y="345"/>
                </a:cubicBezTo>
                <a:cubicBezTo>
                  <a:pt x="333" y="345"/>
                  <a:pt x="333" y="345"/>
                  <a:pt x="333" y="345"/>
                </a:cubicBezTo>
                <a:cubicBezTo>
                  <a:pt x="328" y="348"/>
                  <a:pt x="328" y="348"/>
                  <a:pt x="326" y="352"/>
                </a:cubicBezTo>
                <a:cubicBezTo>
                  <a:pt x="326" y="352"/>
                  <a:pt x="324" y="352"/>
                  <a:pt x="324" y="352"/>
                </a:cubicBezTo>
                <a:cubicBezTo>
                  <a:pt x="314" y="362"/>
                  <a:pt x="314" y="362"/>
                  <a:pt x="314" y="362"/>
                </a:cubicBezTo>
                <a:cubicBezTo>
                  <a:pt x="312" y="362"/>
                  <a:pt x="312" y="362"/>
                  <a:pt x="312" y="362"/>
                </a:cubicBezTo>
                <a:cubicBezTo>
                  <a:pt x="309" y="364"/>
                  <a:pt x="309" y="364"/>
                  <a:pt x="309" y="364"/>
                </a:cubicBezTo>
                <a:cubicBezTo>
                  <a:pt x="304" y="369"/>
                  <a:pt x="300" y="374"/>
                  <a:pt x="297" y="381"/>
                </a:cubicBezTo>
                <a:cubicBezTo>
                  <a:pt x="292" y="386"/>
                  <a:pt x="292" y="391"/>
                  <a:pt x="287" y="393"/>
                </a:cubicBezTo>
                <a:cubicBezTo>
                  <a:pt x="285" y="396"/>
                  <a:pt x="280" y="398"/>
                  <a:pt x="273" y="398"/>
                </a:cubicBezTo>
                <a:cubicBezTo>
                  <a:pt x="124" y="398"/>
                  <a:pt x="124" y="398"/>
                  <a:pt x="124" y="398"/>
                </a:cubicBezTo>
                <a:cubicBezTo>
                  <a:pt x="117" y="398"/>
                  <a:pt x="110" y="396"/>
                  <a:pt x="107" y="393"/>
                </a:cubicBezTo>
                <a:cubicBezTo>
                  <a:pt x="105" y="391"/>
                  <a:pt x="103" y="386"/>
                  <a:pt x="100" y="381"/>
                </a:cubicBezTo>
                <a:cubicBezTo>
                  <a:pt x="95" y="374"/>
                  <a:pt x="93" y="369"/>
                  <a:pt x="86" y="364"/>
                </a:cubicBezTo>
                <a:cubicBezTo>
                  <a:pt x="86" y="364"/>
                  <a:pt x="86" y="362"/>
                  <a:pt x="84" y="362"/>
                </a:cubicBezTo>
                <a:cubicBezTo>
                  <a:pt x="84" y="362"/>
                  <a:pt x="84" y="362"/>
                  <a:pt x="84" y="362"/>
                </a:cubicBezTo>
                <a:cubicBezTo>
                  <a:pt x="74" y="352"/>
                  <a:pt x="74" y="352"/>
                  <a:pt x="74" y="352"/>
                </a:cubicBezTo>
                <a:cubicBezTo>
                  <a:pt x="69" y="352"/>
                  <a:pt x="69" y="352"/>
                  <a:pt x="69" y="352"/>
                </a:cubicBezTo>
                <a:cubicBezTo>
                  <a:pt x="64" y="348"/>
                  <a:pt x="64" y="348"/>
                  <a:pt x="64" y="348"/>
                </a:cubicBezTo>
                <a:cubicBezTo>
                  <a:pt x="64" y="348"/>
                  <a:pt x="64" y="345"/>
                  <a:pt x="62" y="345"/>
                </a:cubicBezTo>
                <a:cubicBezTo>
                  <a:pt x="47" y="328"/>
                  <a:pt x="47" y="328"/>
                  <a:pt x="47" y="328"/>
                </a:cubicBezTo>
                <a:cubicBezTo>
                  <a:pt x="47" y="328"/>
                  <a:pt x="47" y="328"/>
                  <a:pt x="47" y="328"/>
                </a:cubicBezTo>
                <a:cubicBezTo>
                  <a:pt x="47" y="328"/>
                  <a:pt x="47" y="328"/>
                  <a:pt x="47" y="328"/>
                </a:cubicBezTo>
                <a:cubicBezTo>
                  <a:pt x="38" y="316"/>
                  <a:pt x="28" y="304"/>
                  <a:pt x="21" y="290"/>
                </a:cubicBezTo>
                <a:cubicBezTo>
                  <a:pt x="21" y="290"/>
                  <a:pt x="21" y="290"/>
                  <a:pt x="21" y="290"/>
                </a:cubicBezTo>
                <a:cubicBezTo>
                  <a:pt x="19" y="283"/>
                  <a:pt x="16" y="275"/>
                  <a:pt x="14" y="268"/>
                </a:cubicBezTo>
                <a:cubicBezTo>
                  <a:pt x="12" y="268"/>
                  <a:pt x="12" y="268"/>
                  <a:pt x="12" y="268"/>
                </a:cubicBezTo>
                <a:cubicBezTo>
                  <a:pt x="12" y="268"/>
                  <a:pt x="12" y="268"/>
                  <a:pt x="12" y="266"/>
                </a:cubicBezTo>
                <a:cubicBezTo>
                  <a:pt x="9" y="261"/>
                  <a:pt x="7" y="254"/>
                  <a:pt x="7" y="249"/>
                </a:cubicBezTo>
                <a:cubicBezTo>
                  <a:pt x="7" y="249"/>
                  <a:pt x="7" y="247"/>
                  <a:pt x="7" y="247"/>
                </a:cubicBezTo>
                <a:cubicBezTo>
                  <a:pt x="4" y="244"/>
                  <a:pt x="4" y="244"/>
                  <a:pt x="4" y="244"/>
                </a:cubicBezTo>
                <a:cubicBezTo>
                  <a:pt x="4" y="240"/>
                  <a:pt x="2" y="232"/>
                  <a:pt x="2" y="228"/>
                </a:cubicBezTo>
                <a:cubicBezTo>
                  <a:pt x="2" y="225"/>
                  <a:pt x="0" y="223"/>
                  <a:pt x="0" y="220"/>
                </a:cubicBezTo>
                <a:cubicBezTo>
                  <a:pt x="0" y="213"/>
                  <a:pt x="0" y="206"/>
                  <a:pt x="0" y="199"/>
                </a:cubicBezTo>
                <a:cubicBezTo>
                  <a:pt x="0" y="199"/>
                  <a:pt x="0" y="199"/>
                  <a:pt x="0" y="199"/>
                </a:cubicBezTo>
                <a:moveTo>
                  <a:pt x="117" y="431"/>
                </a:moveTo>
                <a:cubicBezTo>
                  <a:pt x="283" y="431"/>
                  <a:pt x="283" y="431"/>
                  <a:pt x="283" y="431"/>
                </a:cubicBezTo>
                <a:cubicBezTo>
                  <a:pt x="292" y="431"/>
                  <a:pt x="300" y="439"/>
                  <a:pt x="300" y="448"/>
                </a:cubicBezTo>
                <a:cubicBezTo>
                  <a:pt x="300" y="458"/>
                  <a:pt x="292" y="465"/>
                  <a:pt x="283" y="465"/>
                </a:cubicBezTo>
                <a:cubicBezTo>
                  <a:pt x="117" y="465"/>
                  <a:pt x="117" y="465"/>
                  <a:pt x="117" y="465"/>
                </a:cubicBezTo>
                <a:cubicBezTo>
                  <a:pt x="107" y="465"/>
                  <a:pt x="100" y="458"/>
                  <a:pt x="100" y="448"/>
                </a:cubicBezTo>
                <a:cubicBezTo>
                  <a:pt x="100" y="439"/>
                  <a:pt x="107" y="431"/>
                  <a:pt x="117" y="431"/>
                </a:cubicBezTo>
                <a:moveTo>
                  <a:pt x="124" y="499"/>
                </a:moveTo>
                <a:cubicBezTo>
                  <a:pt x="273" y="499"/>
                  <a:pt x="273" y="499"/>
                  <a:pt x="273" y="499"/>
                </a:cubicBezTo>
                <a:cubicBezTo>
                  <a:pt x="213" y="530"/>
                  <a:pt x="213" y="530"/>
                  <a:pt x="213" y="530"/>
                </a:cubicBezTo>
                <a:cubicBezTo>
                  <a:pt x="204" y="532"/>
                  <a:pt x="192" y="532"/>
                  <a:pt x="182" y="530"/>
                </a:cubicBezTo>
                <a:cubicBezTo>
                  <a:pt x="124" y="499"/>
                  <a:pt x="124" y="499"/>
                  <a:pt x="124" y="499"/>
                </a:cubicBezTo>
                <a:moveTo>
                  <a:pt x="215" y="98"/>
                </a:moveTo>
                <a:cubicBezTo>
                  <a:pt x="235" y="98"/>
                  <a:pt x="254" y="105"/>
                  <a:pt x="273" y="122"/>
                </a:cubicBezTo>
                <a:cubicBezTo>
                  <a:pt x="290" y="139"/>
                  <a:pt x="300" y="160"/>
                  <a:pt x="300" y="184"/>
                </a:cubicBezTo>
                <a:cubicBezTo>
                  <a:pt x="300" y="191"/>
                  <a:pt x="307" y="201"/>
                  <a:pt x="314" y="201"/>
                </a:cubicBezTo>
                <a:cubicBezTo>
                  <a:pt x="324" y="201"/>
                  <a:pt x="331" y="191"/>
                  <a:pt x="331" y="184"/>
                </a:cubicBezTo>
                <a:cubicBezTo>
                  <a:pt x="331" y="148"/>
                  <a:pt x="321" y="120"/>
                  <a:pt x="297" y="98"/>
                </a:cubicBezTo>
                <a:cubicBezTo>
                  <a:pt x="273" y="76"/>
                  <a:pt x="247" y="64"/>
                  <a:pt x="215" y="64"/>
                </a:cubicBezTo>
                <a:cubicBezTo>
                  <a:pt x="206" y="64"/>
                  <a:pt x="199" y="71"/>
                  <a:pt x="199" y="81"/>
                </a:cubicBezTo>
                <a:cubicBezTo>
                  <a:pt x="199" y="91"/>
                  <a:pt x="206" y="98"/>
                  <a:pt x="215" y="98"/>
                </a:cubicBezTo>
              </a:path>
            </a:pathLst>
          </a:cu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path 102"/>
          <p:cNvSpPr/>
          <p:nvPr/>
        </p:nvSpPr>
        <p:spPr>
          <a:xfrm>
            <a:off x="6364223" y="6243828"/>
            <a:ext cx="277367" cy="277368"/>
          </a:xfrm>
          <a:custGeom>
            <a:avLst/>
            <a:gdLst/>
            <a:ahLst/>
            <a:cxnLst/>
            <a:rect l="0" t="0" r="0" b="0"/>
            <a:pathLst>
              <a:path w="436" h="436">
                <a:moveTo>
                  <a:pt x="364" y="0"/>
                </a:moveTo>
                <a:cubicBezTo>
                  <a:pt x="71" y="0"/>
                  <a:pt x="71" y="0"/>
                  <a:pt x="71" y="0"/>
                </a:cubicBezTo>
                <a:cubicBezTo>
                  <a:pt x="31" y="0"/>
                  <a:pt x="0" y="31"/>
                  <a:pt x="0" y="71"/>
                </a:cubicBezTo>
                <a:cubicBezTo>
                  <a:pt x="0" y="364"/>
                  <a:pt x="0" y="364"/>
                  <a:pt x="0" y="364"/>
                </a:cubicBezTo>
                <a:cubicBezTo>
                  <a:pt x="0" y="405"/>
                  <a:pt x="31" y="436"/>
                  <a:pt x="71" y="436"/>
                </a:cubicBezTo>
                <a:cubicBezTo>
                  <a:pt x="364" y="436"/>
                  <a:pt x="364" y="436"/>
                  <a:pt x="364" y="436"/>
                </a:cubicBezTo>
                <a:cubicBezTo>
                  <a:pt x="405" y="436"/>
                  <a:pt x="436" y="405"/>
                  <a:pt x="436" y="364"/>
                </a:cubicBezTo>
                <a:cubicBezTo>
                  <a:pt x="436" y="71"/>
                  <a:pt x="436" y="71"/>
                  <a:pt x="436" y="71"/>
                </a:cubicBezTo>
                <a:cubicBezTo>
                  <a:pt x="436" y="31"/>
                  <a:pt x="405" y="0"/>
                  <a:pt x="364" y="0"/>
                </a:cubicBezTo>
                <a:moveTo>
                  <a:pt x="355" y="184"/>
                </a:moveTo>
                <a:cubicBezTo>
                  <a:pt x="206" y="307"/>
                  <a:pt x="206" y="307"/>
                  <a:pt x="206" y="307"/>
                </a:cubicBezTo>
                <a:cubicBezTo>
                  <a:pt x="191" y="316"/>
                  <a:pt x="170" y="316"/>
                  <a:pt x="158" y="304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67" y="232"/>
                  <a:pt x="64" y="211"/>
                  <a:pt x="76" y="196"/>
                </a:cubicBezTo>
                <a:cubicBezTo>
                  <a:pt x="88" y="180"/>
                  <a:pt x="112" y="177"/>
                  <a:pt x="127" y="189"/>
                </a:cubicBezTo>
                <a:cubicBezTo>
                  <a:pt x="182" y="232"/>
                  <a:pt x="182" y="232"/>
                  <a:pt x="182" y="232"/>
                </a:cubicBezTo>
                <a:cubicBezTo>
                  <a:pt x="309" y="129"/>
                  <a:pt x="309" y="129"/>
                  <a:pt x="309" y="129"/>
                </a:cubicBezTo>
                <a:cubicBezTo>
                  <a:pt x="324" y="117"/>
                  <a:pt x="347" y="120"/>
                  <a:pt x="360" y="136"/>
                </a:cubicBezTo>
                <a:cubicBezTo>
                  <a:pt x="371" y="151"/>
                  <a:pt x="369" y="172"/>
                  <a:pt x="355" y="184"/>
                </a:cubicBezTo>
              </a:path>
            </a:pathLst>
          </a:cu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106" name="path 106"/>
          <p:cNvSpPr/>
          <p:nvPr/>
        </p:nvSpPr>
        <p:spPr>
          <a:xfrm>
            <a:off x="324612" y="3445764"/>
            <a:ext cx="676655" cy="24383"/>
          </a:xfrm>
          <a:custGeom>
            <a:avLst/>
            <a:gdLst/>
            <a:ahLst/>
            <a:cxnLst/>
            <a:rect l="0" t="0" r="0" b="0"/>
            <a:pathLst>
              <a:path w="1065" h="38">
                <a:moveTo>
                  <a:pt x="0" y="19"/>
                </a:moveTo>
                <a:lnTo>
                  <a:pt x="1065" y="19"/>
                </a:lnTo>
              </a:path>
            </a:pathLst>
          </a:custGeom>
          <a:noFill/>
          <a:ln w="24383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ath 108"/>
          <p:cNvSpPr/>
          <p:nvPr/>
        </p:nvSpPr>
        <p:spPr>
          <a:xfrm>
            <a:off x="6591300" y="3064764"/>
            <a:ext cx="409956" cy="393191"/>
          </a:xfrm>
          <a:custGeom>
            <a:avLst/>
            <a:gdLst/>
            <a:ahLst/>
            <a:cxnLst/>
            <a:rect l="0" t="0" r="0" b="0"/>
            <a:pathLst>
              <a:path w="645" h="619">
                <a:moveTo>
                  <a:pt x="300" y="619"/>
                </a:moveTo>
                <a:lnTo>
                  <a:pt x="300" y="619"/>
                </a:lnTo>
                <a:lnTo>
                  <a:pt x="300" y="619"/>
                </a:lnTo>
                <a:lnTo>
                  <a:pt x="300" y="619"/>
                </a:lnTo>
                <a:lnTo>
                  <a:pt x="249" y="607"/>
                </a:lnTo>
                <a:lnTo>
                  <a:pt x="204" y="590"/>
                </a:lnTo>
                <a:lnTo>
                  <a:pt x="196" y="590"/>
                </a:lnTo>
                <a:lnTo>
                  <a:pt x="196" y="590"/>
                </a:lnTo>
                <a:lnTo>
                  <a:pt x="196" y="590"/>
                </a:lnTo>
                <a:lnTo>
                  <a:pt x="144" y="556"/>
                </a:lnTo>
                <a:lnTo>
                  <a:pt x="95" y="503"/>
                </a:lnTo>
                <a:lnTo>
                  <a:pt x="95" y="503"/>
                </a:lnTo>
                <a:lnTo>
                  <a:pt x="64" y="443"/>
                </a:lnTo>
                <a:lnTo>
                  <a:pt x="43" y="381"/>
                </a:lnTo>
                <a:lnTo>
                  <a:pt x="43" y="381"/>
                </a:lnTo>
                <a:lnTo>
                  <a:pt x="43" y="381"/>
                </a:lnTo>
                <a:lnTo>
                  <a:pt x="43" y="381"/>
                </a:lnTo>
                <a:lnTo>
                  <a:pt x="35" y="352"/>
                </a:lnTo>
                <a:lnTo>
                  <a:pt x="35" y="321"/>
                </a:lnTo>
                <a:lnTo>
                  <a:pt x="35" y="321"/>
                </a:lnTo>
                <a:lnTo>
                  <a:pt x="43" y="285"/>
                </a:lnTo>
                <a:lnTo>
                  <a:pt x="55" y="249"/>
                </a:lnTo>
                <a:lnTo>
                  <a:pt x="55" y="249"/>
                </a:lnTo>
                <a:lnTo>
                  <a:pt x="71" y="225"/>
                </a:lnTo>
                <a:lnTo>
                  <a:pt x="95" y="206"/>
                </a:lnTo>
                <a:lnTo>
                  <a:pt x="124" y="196"/>
                </a:lnTo>
                <a:lnTo>
                  <a:pt x="151" y="182"/>
                </a:lnTo>
                <a:lnTo>
                  <a:pt x="144" y="213"/>
                </a:lnTo>
                <a:lnTo>
                  <a:pt x="144" y="213"/>
                </a:lnTo>
                <a:lnTo>
                  <a:pt x="108" y="225"/>
                </a:lnTo>
                <a:lnTo>
                  <a:pt x="108" y="225"/>
                </a:lnTo>
                <a:lnTo>
                  <a:pt x="100" y="256"/>
                </a:lnTo>
                <a:lnTo>
                  <a:pt x="100" y="256"/>
                </a:lnTo>
                <a:lnTo>
                  <a:pt x="95" y="292"/>
                </a:lnTo>
                <a:lnTo>
                  <a:pt x="95" y="292"/>
                </a:lnTo>
                <a:lnTo>
                  <a:pt x="95" y="292"/>
                </a:lnTo>
                <a:lnTo>
                  <a:pt x="151" y="292"/>
                </a:lnTo>
                <a:lnTo>
                  <a:pt x="151" y="292"/>
                </a:lnTo>
                <a:lnTo>
                  <a:pt x="160" y="232"/>
                </a:lnTo>
                <a:lnTo>
                  <a:pt x="204" y="218"/>
                </a:lnTo>
                <a:lnTo>
                  <a:pt x="204" y="218"/>
                </a:lnTo>
                <a:lnTo>
                  <a:pt x="196" y="292"/>
                </a:lnTo>
                <a:lnTo>
                  <a:pt x="316" y="292"/>
                </a:lnTo>
                <a:lnTo>
                  <a:pt x="316" y="189"/>
                </a:lnTo>
                <a:lnTo>
                  <a:pt x="441" y="153"/>
                </a:lnTo>
                <a:lnTo>
                  <a:pt x="434" y="139"/>
                </a:lnTo>
                <a:lnTo>
                  <a:pt x="316" y="14"/>
                </a:lnTo>
                <a:lnTo>
                  <a:pt x="316" y="14"/>
                </a:lnTo>
                <a:lnTo>
                  <a:pt x="374" y="23"/>
                </a:lnTo>
                <a:lnTo>
                  <a:pt x="381" y="23"/>
                </a:lnTo>
                <a:lnTo>
                  <a:pt x="381" y="23"/>
                </a:lnTo>
                <a:lnTo>
                  <a:pt x="381" y="23"/>
                </a:lnTo>
                <a:lnTo>
                  <a:pt x="424" y="31"/>
                </a:lnTo>
                <a:lnTo>
                  <a:pt x="477" y="50"/>
                </a:lnTo>
                <a:lnTo>
                  <a:pt x="513" y="74"/>
                </a:lnTo>
                <a:lnTo>
                  <a:pt x="549" y="103"/>
                </a:lnTo>
                <a:lnTo>
                  <a:pt x="549" y="103"/>
                </a:lnTo>
                <a:lnTo>
                  <a:pt x="583" y="139"/>
                </a:lnTo>
                <a:lnTo>
                  <a:pt x="609" y="175"/>
                </a:lnTo>
                <a:lnTo>
                  <a:pt x="626" y="213"/>
                </a:lnTo>
                <a:lnTo>
                  <a:pt x="638" y="256"/>
                </a:lnTo>
                <a:lnTo>
                  <a:pt x="638" y="261"/>
                </a:lnTo>
                <a:lnTo>
                  <a:pt x="638" y="261"/>
                </a:lnTo>
                <a:lnTo>
                  <a:pt x="645" y="309"/>
                </a:lnTo>
                <a:lnTo>
                  <a:pt x="638" y="357"/>
                </a:lnTo>
                <a:lnTo>
                  <a:pt x="638" y="357"/>
                </a:lnTo>
                <a:lnTo>
                  <a:pt x="638" y="357"/>
                </a:lnTo>
                <a:lnTo>
                  <a:pt x="638" y="357"/>
                </a:lnTo>
                <a:lnTo>
                  <a:pt x="633" y="407"/>
                </a:lnTo>
                <a:lnTo>
                  <a:pt x="609" y="451"/>
                </a:lnTo>
                <a:lnTo>
                  <a:pt x="609" y="451"/>
                </a:lnTo>
                <a:lnTo>
                  <a:pt x="609" y="460"/>
                </a:lnTo>
                <a:lnTo>
                  <a:pt x="609" y="460"/>
                </a:lnTo>
                <a:lnTo>
                  <a:pt x="573" y="511"/>
                </a:lnTo>
                <a:lnTo>
                  <a:pt x="520" y="563"/>
                </a:lnTo>
                <a:lnTo>
                  <a:pt x="520" y="563"/>
                </a:lnTo>
                <a:lnTo>
                  <a:pt x="470" y="590"/>
                </a:lnTo>
                <a:lnTo>
                  <a:pt x="405" y="614"/>
                </a:lnTo>
                <a:lnTo>
                  <a:pt x="405" y="614"/>
                </a:lnTo>
                <a:lnTo>
                  <a:pt x="398" y="614"/>
                </a:lnTo>
                <a:lnTo>
                  <a:pt x="405" y="614"/>
                </a:lnTo>
                <a:lnTo>
                  <a:pt x="398" y="614"/>
                </a:lnTo>
                <a:lnTo>
                  <a:pt x="398" y="614"/>
                </a:lnTo>
                <a:lnTo>
                  <a:pt x="352" y="619"/>
                </a:lnTo>
                <a:lnTo>
                  <a:pt x="300" y="619"/>
                </a:lnTo>
                <a:lnTo>
                  <a:pt x="300" y="619"/>
                </a:lnTo>
                <a:close/>
                <a:moveTo>
                  <a:pt x="362" y="139"/>
                </a:moveTo>
                <a:lnTo>
                  <a:pt x="232" y="0"/>
                </a:lnTo>
                <a:lnTo>
                  <a:pt x="220" y="43"/>
                </a:lnTo>
                <a:lnTo>
                  <a:pt x="220" y="43"/>
                </a:lnTo>
                <a:lnTo>
                  <a:pt x="175" y="50"/>
                </a:lnTo>
                <a:lnTo>
                  <a:pt x="131" y="67"/>
                </a:lnTo>
                <a:lnTo>
                  <a:pt x="88" y="86"/>
                </a:lnTo>
                <a:lnTo>
                  <a:pt x="55" y="127"/>
                </a:lnTo>
                <a:lnTo>
                  <a:pt x="35" y="163"/>
                </a:lnTo>
                <a:lnTo>
                  <a:pt x="11" y="213"/>
                </a:lnTo>
                <a:lnTo>
                  <a:pt x="0" y="261"/>
                </a:lnTo>
                <a:lnTo>
                  <a:pt x="0" y="321"/>
                </a:lnTo>
                <a:lnTo>
                  <a:pt x="0" y="321"/>
                </a:lnTo>
                <a:lnTo>
                  <a:pt x="7" y="278"/>
                </a:lnTo>
                <a:lnTo>
                  <a:pt x="19" y="242"/>
                </a:lnTo>
                <a:lnTo>
                  <a:pt x="35" y="206"/>
                </a:lnTo>
                <a:lnTo>
                  <a:pt x="64" y="182"/>
                </a:lnTo>
                <a:lnTo>
                  <a:pt x="95" y="163"/>
                </a:lnTo>
                <a:lnTo>
                  <a:pt x="124" y="146"/>
                </a:lnTo>
                <a:lnTo>
                  <a:pt x="160" y="146"/>
                </a:lnTo>
                <a:lnTo>
                  <a:pt x="196" y="139"/>
                </a:lnTo>
                <a:lnTo>
                  <a:pt x="189" y="182"/>
                </a:lnTo>
                <a:lnTo>
                  <a:pt x="362" y="139"/>
                </a:lnTo>
                <a:lnTo>
                  <a:pt x="362" y="139"/>
                </a:lnTo>
                <a:close/>
                <a:moveTo>
                  <a:pt x="95" y="335"/>
                </a:moveTo>
                <a:lnTo>
                  <a:pt x="95" y="335"/>
                </a:lnTo>
                <a:lnTo>
                  <a:pt x="100" y="372"/>
                </a:lnTo>
                <a:lnTo>
                  <a:pt x="100" y="372"/>
                </a:lnTo>
                <a:lnTo>
                  <a:pt x="100" y="372"/>
                </a:lnTo>
                <a:lnTo>
                  <a:pt x="100" y="372"/>
                </a:lnTo>
                <a:lnTo>
                  <a:pt x="108" y="400"/>
                </a:lnTo>
                <a:lnTo>
                  <a:pt x="108" y="400"/>
                </a:lnTo>
                <a:lnTo>
                  <a:pt x="160" y="424"/>
                </a:lnTo>
                <a:lnTo>
                  <a:pt x="160" y="424"/>
                </a:lnTo>
                <a:lnTo>
                  <a:pt x="151" y="335"/>
                </a:lnTo>
                <a:lnTo>
                  <a:pt x="95" y="335"/>
                </a:lnTo>
                <a:lnTo>
                  <a:pt x="95" y="335"/>
                </a:lnTo>
                <a:close/>
                <a:moveTo>
                  <a:pt x="139" y="460"/>
                </a:moveTo>
                <a:lnTo>
                  <a:pt x="139" y="460"/>
                </a:lnTo>
                <a:lnTo>
                  <a:pt x="144" y="467"/>
                </a:lnTo>
                <a:lnTo>
                  <a:pt x="144" y="467"/>
                </a:lnTo>
                <a:lnTo>
                  <a:pt x="168" y="487"/>
                </a:lnTo>
                <a:lnTo>
                  <a:pt x="168" y="487"/>
                </a:lnTo>
                <a:lnTo>
                  <a:pt x="184" y="503"/>
                </a:lnTo>
                <a:lnTo>
                  <a:pt x="184" y="503"/>
                </a:lnTo>
                <a:lnTo>
                  <a:pt x="168" y="467"/>
                </a:lnTo>
                <a:lnTo>
                  <a:pt x="168" y="467"/>
                </a:lnTo>
                <a:lnTo>
                  <a:pt x="139" y="460"/>
                </a:lnTo>
                <a:lnTo>
                  <a:pt x="139" y="460"/>
                </a:lnTo>
                <a:close/>
                <a:moveTo>
                  <a:pt x="240" y="540"/>
                </a:moveTo>
                <a:lnTo>
                  <a:pt x="240" y="540"/>
                </a:lnTo>
                <a:lnTo>
                  <a:pt x="273" y="556"/>
                </a:lnTo>
                <a:lnTo>
                  <a:pt x="273" y="556"/>
                </a:lnTo>
                <a:lnTo>
                  <a:pt x="309" y="563"/>
                </a:lnTo>
                <a:lnTo>
                  <a:pt x="309" y="563"/>
                </a:lnTo>
                <a:lnTo>
                  <a:pt x="309" y="563"/>
                </a:lnTo>
                <a:lnTo>
                  <a:pt x="316" y="563"/>
                </a:lnTo>
                <a:lnTo>
                  <a:pt x="316" y="487"/>
                </a:lnTo>
                <a:lnTo>
                  <a:pt x="316" y="487"/>
                </a:lnTo>
                <a:lnTo>
                  <a:pt x="220" y="484"/>
                </a:lnTo>
                <a:lnTo>
                  <a:pt x="220" y="484"/>
                </a:lnTo>
                <a:lnTo>
                  <a:pt x="240" y="540"/>
                </a:lnTo>
                <a:lnTo>
                  <a:pt x="240" y="540"/>
                </a:lnTo>
                <a:close/>
                <a:moveTo>
                  <a:pt x="362" y="563"/>
                </a:moveTo>
                <a:lnTo>
                  <a:pt x="362" y="563"/>
                </a:lnTo>
                <a:lnTo>
                  <a:pt x="388" y="556"/>
                </a:lnTo>
                <a:lnTo>
                  <a:pt x="388" y="556"/>
                </a:lnTo>
                <a:lnTo>
                  <a:pt x="388" y="556"/>
                </a:lnTo>
                <a:lnTo>
                  <a:pt x="388" y="556"/>
                </a:lnTo>
                <a:lnTo>
                  <a:pt x="417" y="547"/>
                </a:lnTo>
                <a:lnTo>
                  <a:pt x="417" y="547"/>
                </a:lnTo>
                <a:lnTo>
                  <a:pt x="441" y="484"/>
                </a:lnTo>
                <a:lnTo>
                  <a:pt x="441" y="484"/>
                </a:lnTo>
                <a:lnTo>
                  <a:pt x="362" y="487"/>
                </a:lnTo>
                <a:lnTo>
                  <a:pt x="362" y="563"/>
                </a:lnTo>
                <a:lnTo>
                  <a:pt x="362" y="563"/>
                </a:lnTo>
                <a:close/>
                <a:moveTo>
                  <a:pt x="477" y="520"/>
                </a:moveTo>
                <a:lnTo>
                  <a:pt x="477" y="520"/>
                </a:lnTo>
                <a:lnTo>
                  <a:pt x="484" y="511"/>
                </a:lnTo>
                <a:lnTo>
                  <a:pt x="484" y="511"/>
                </a:lnTo>
                <a:lnTo>
                  <a:pt x="513" y="487"/>
                </a:lnTo>
                <a:lnTo>
                  <a:pt x="513" y="487"/>
                </a:lnTo>
                <a:lnTo>
                  <a:pt x="537" y="460"/>
                </a:lnTo>
                <a:lnTo>
                  <a:pt x="537" y="460"/>
                </a:lnTo>
                <a:lnTo>
                  <a:pt x="494" y="475"/>
                </a:lnTo>
                <a:lnTo>
                  <a:pt x="494" y="475"/>
                </a:lnTo>
                <a:lnTo>
                  <a:pt x="477" y="520"/>
                </a:lnTo>
                <a:lnTo>
                  <a:pt x="477" y="520"/>
                </a:lnTo>
                <a:close/>
                <a:moveTo>
                  <a:pt x="566" y="400"/>
                </a:moveTo>
                <a:lnTo>
                  <a:pt x="566" y="400"/>
                </a:lnTo>
                <a:lnTo>
                  <a:pt x="573" y="381"/>
                </a:lnTo>
                <a:lnTo>
                  <a:pt x="573" y="381"/>
                </a:lnTo>
                <a:lnTo>
                  <a:pt x="583" y="352"/>
                </a:lnTo>
                <a:lnTo>
                  <a:pt x="583" y="352"/>
                </a:lnTo>
                <a:lnTo>
                  <a:pt x="583" y="352"/>
                </a:lnTo>
                <a:lnTo>
                  <a:pt x="583" y="345"/>
                </a:lnTo>
                <a:lnTo>
                  <a:pt x="583" y="335"/>
                </a:lnTo>
                <a:lnTo>
                  <a:pt x="583" y="335"/>
                </a:lnTo>
                <a:lnTo>
                  <a:pt x="583" y="335"/>
                </a:lnTo>
                <a:lnTo>
                  <a:pt x="506" y="335"/>
                </a:lnTo>
                <a:lnTo>
                  <a:pt x="506" y="335"/>
                </a:lnTo>
                <a:lnTo>
                  <a:pt x="501" y="424"/>
                </a:lnTo>
                <a:lnTo>
                  <a:pt x="501" y="424"/>
                </a:lnTo>
                <a:lnTo>
                  <a:pt x="566" y="400"/>
                </a:lnTo>
                <a:lnTo>
                  <a:pt x="566" y="400"/>
                </a:lnTo>
                <a:close/>
                <a:moveTo>
                  <a:pt x="583" y="292"/>
                </a:moveTo>
                <a:lnTo>
                  <a:pt x="583" y="292"/>
                </a:lnTo>
                <a:lnTo>
                  <a:pt x="573" y="261"/>
                </a:lnTo>
                <a:lnTo>
                  <a:pt x="566" y="225"/>
                </a:lnTo>
                <a:lnTo>
                  <a:pt x="566" y="225"/>
                </a:lnTo>
                <a:lnTo>
                  <a:pt x="494" y="206"/>
                </a:lnTo>
                <a:lnTo>
                  <a:pt x="494" y="206"/>
                </a:lnTo>
                <a:lnTo>
                  <a:pt x="506" y="292"/>
                </a:lnTo>
                <a:lnTo>
                  <a:pt x="583" y="292"/>
                </a:lnTo>
                <a:lnTo>
                  <a:pt x="583" y="292"/>
                </a:lnTo>
                <a:close/>
                <a:moveTo>
                  <a:pt x="530" y="170"/>
                </a:moveTo>
                <a:lnTo>
                  <a:pt x="530" y="170"/>
                </a:lnTo>
                <a:lnTo>
                  <a:pt x="513" y="146"/>
                </a:lnTo>
                <a:lnTo>
                  <a:pt x="513" y="146"/>
                </a:lnTo>
                <a:lnTo>
                  <a:pt x="470" y="117"/>
                </a:lnTo>
                <a:lnTo>
                  <a:pt x="470" y="117"/>
                </a:lnTo>
                <a:lnTo>
                  <a:pt x="484" y="153"/>
                </a:lnTo>
                <a:lnTo>
                  <a:pt x="484" y="153"/>
                </a:lnTo>
                <a:lnTo>
                  <a:pt x="530" y="170"/>
                </a:lnTo>
                <a:lnTo>
                  <a:pt x="530" y="170"/>
                </a:lnTo>
                <a:close/>
                <a:moveTo>
                  <a:pt x="362" y="182"/>
                </a:moveTo>
                <a:lnTo>
                  <a:pt x="362" y="292"/>
                </a:lnTo>
                <a:lnTo>
                  <a:pt x="460" y="292"/>
                </a:lnTo>
                <a:lnTo>
                  <a:pt x="460" y="292"/>
                </a:lnTo>
                <a:lnTo>
                  <a:pt x="448" y="189"/>
                </a:lnTo>
                <a:lnTo>
                  <a:pt x="448" y="189"/>
                </a:lnTo>
                <a:lnTo>
                  <a:pt x="362" y="182"/>
                </a:lnTo>
                <a:lnTo>
                  <a:pt x="362" y="182"/>
                </a:lnTo>
                <a:close/>
                <a:moveTo>
                  <a:pt x="316" y="443"/>
                </a:moveTo>
                <a:lnTo>
                  <a:pt x="316" y="335"/>
                </a:lnTo>
                <a:lnTo>
                  <a:pt x="196" y="335"/>
                </a:lnTo>
                <a:lnTo>
                  <a:pt x="196" y="335"/>
                </a:lnTo>
                <a:lnTo>
                  <a:pt x="196" y="388"/>
                </a:lnTo>
                <a:lnTo>
                  <a:pt x="204" y="432"/>
                </a:lnTo>
                <a:lnTo>
                  <a:pt x="204" y="432"/>
                </a:lnTo>
                <a:lnTo>
                  <a:pt x="264" y="443"/>
                </a:lnTo>
                <a:lnTo>
                  <a:pt x="316" y="443"/>
                </a:lnTo>
                <a:lnTo>
                  <a:pt x="316" y="443"/>
                </a:lnTo>
                <a:close/>
                <a:moveTo>
                  <a:pt x="458" y="439"/>
                </a:moveTo>
                <a:lnTo>
                  <a:pt x="458" y="439"/>
                </a:lnTo>
                <a:lnTo>
                  <a:pt x="460" y="388"/>
                </a:lnTo>
                <a:lnTo>
                  <a:pt x="460" y="335"/>
                </a:lnTo>
                <a:lnTo>
                  <a:pt x="362" y="335"/>
                </a:lnTo>
                <a:lnTo>
                  <a:pt x="362" y="451"/>
                </a:lnTo>
                <a:lnTo>
                  <a:pt x="362" y="451"/>
                </a:lnTo>
                <a:lnTo>
                  <a:pt x="405" y="443"/>
                </a:lnTo>
                <a:lnTo>
                  <a:pt x="458" y="439"/>
                </a:lnTo>
                <a:lnTo>
                  <a:pt x="458" y="439"/>
                </a:lnTo>
                <a:close/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" name="path 110"/>
          <p:cNvSpPr/>
          <p:nvPr/>
        </p:nvSpPr>
        <p:spPr>
          <a:xfrm>
            <a:off x="8141207" y="3127247"/>
            <a:ext cx="249935" cy="12191"/>
          </a:xfrm>
          <a:custGeom>
            <a:avLst/>
            <a:gdLst/>
            <a:ahLst/>
            <a:cxnLst/>
            <a:rect l="0" t="0" r="0" b="0"/>
            <a:pathLst>
              <a:path w="393" h="19">
                <a:moveTo>
                  <a:pt x="384" y="0"/>
                </a:moveTo>
                <a:cubicBezTo>
                  <a:pt x="9" y="0"/>
                  <a:pt x="9" y="0"/>
                  <a:pt x="9" y="0"/>
                </a:cubicBezTo>
                <a:cubicBezTo>
                  <a:pt x="7" y="0"/>
                  <a:pt x="4" y="0"/>
                  <a:pt x="2" y="2"/>
                </a:cubicBezTo>
                <a:cubicBezTo>
                  <a:pt x="0" y="2"/>
                  <a:pt x="0" y="7"/>
                  <a:pt x="0" y="9"/>
                </a:cubicBezTo>
                <a:cubicBezTo>
                  <a:pt x="0" y="14"/>
                  <a:pt x="4" y="19"/>
                  <a:pt x="9" y="19"/>
                </a:cubicBezTo>
                <a:cubicBezTo>
                  <a:pt x="384" y="19"/>
                  <a:pt x="384" y="19"/>
                  <a:pt x="384" y="19"/>
                </a:cubicBezTo>
                <a:cubicBezTo>
                  <a:pt x="388" y="19"/>
                  <a:pt x="393" y="14"/>
                  <a:pt x="393" y="9"/>
                </a:cubicBezTo>
                <a:cubicBezTo>
                  <a:pt x="393" y="2"/>
                  <a:pt x="388" y="0"/>
                  <a:pt x="384" y="0"/>
                </a:cubicBezTo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path 112"/>
          <p:cNvSpPr/>
          <p:nvPr/>
        </p:nvSpPr>
        <p:spPr>
          <a:xfrm>
            <a:off x="8253983" y="3220211"/>
            <a:ext cx="70105" cy="79247"/>
          </a:xfrm>
          <a:custGeom>
            <a:avLst/>
            <a:gdLst/>
            <a:ahLst/>
            <a:cxnLst/>
            <a:rect l="0" t="0" r="0" b="0"/>
            <a:pathLst>
              <a:path w="110" h="124">
                <a:moveTo>
                  <a:pt x="84" y="11"/>
                </a:moveTo>
                <a:lnTo>
                  <a:pt x="110" y="11"/>
                </a:lnTo>
                <a:lnTo>
                  <a:pt x="110" y="124"/>
                </a:lnTo>
                <a:lnTo>
                  <a:pt x="84" y="124"/>
                </a:lnTo>
                <a:lnTo>
                  <a:pt x="84" y="11"/>
                </a:lnTo>
                <a:close/>
                <a:moveTo>
                  <a:pt x="43" y="40"/>
                </a:moveTo>
                <a:lnTo>
                  <a:pt x="69" y="40"/>
                </a:lnTo>
                <a:lnTo>
                  <a:pt x="69" y="120"/>
                </a:lnTo>
                <a:lnTo>
                  <a:pt x="43" y="120"/>
                </a:lnTo>
                <a:lnTo>
                  <a:pt x="43" y="40"/>
                </a:lnTo>
                <a:close/>
                <a:moveTo>
                  <a:pt x="0" y="0"/>
                </a:moveTo>
                <a:lnTo>
                  <a:pt x="24" y="0"/>
                </a:lnTo>
                <a:lnTo>
                  <a:pt x="24" y="120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" name="path 114"/>
          <p:cNvSpPr/>
          <p:nvPr/>
        </p:nvSpPr>
        <p:spPr>
          <a:xfrm>
            <a:off x="7978139" y="3118103"/>
            <a:ext cx="394716" cy="277368"/>
          </a:xfrm>
          <a:custGeom>
            <a:avLst/>
            <a:gdLst/>
            <a:ahLst/>
            <a:cxnLst/>
            <a:rect l="0" t="0" r="0" b="0"/>
            <a:pathLst>
              <a:path w="621" h="436">
                <a:moveTo>
                  <a:pt x="388" y="201"/>
                </a:moveTo>
                <a:lnTo>
                  <a:pt x="415" y="201"/>
                </a:lnTo>
                <a:lnTo>
                  <a:pt x="415" y="280"/>
                </a:lnTo>
                <a:lnTo>
                  <a:pt x="388" y="280"/>
                </a:lnTo>
                <a:lnTo>
                  <a:pt x="388" y="201"/>
                </a:lnTo>
                <a:close/>
                <a:moveTo>
                  <a:pt x="343" y="232"/>
                </a:moveTo>
                <a:lnTo>
                  <a:pt x="369" y="232"/>
                </a:lnTo>
                <a:lnTo>
                  <a:pt x="369" y="280"/>
                </a:lnTo>
                <a:lnTo>
                  <a:pt x="343" y="280"/>
                </a:lnTo>
                <a:lnTo>
                  <a:pt x="343" y="232"/>
                </a:lnTo>
                <a:close/>
              </a:path>
              <a:path w="621" h="436">
                <a:moveTo>
                  <a:pt x="285" y="369"/>
                </a:moveTo>
                <a:lnTo>
                  <a:pt x="621" y="369"/>
                </a:lnTo>
                <a:lnTo>
                  <a:pt x="621" y="52"/>
                </a:lnTo>
                <a:lnTo>
                  <a:pt x="285" y="52"/>
                </a:lnTo>
                <a:lnTo>
                  <a:pt x="285" y="369"/>
                </a:lnTo>
                <a:close/>
                <a:moveTo>
                  <a:pt x="302" y="69"/>
                </a:moveTo>
                <a:lnTo>
                  <a:pt x="604" y="69"/>
                </a:lnTo>
                <a:lnTo>
                  <a:pt x="604" y="345"/>
                </a:lnTo>
                <a:lnTo>
                  <a:pt x="302" y="345"/>
                </a:lnTo>
                <a:lnTo>
                  <a:pt x="302" y="69"/>
                </a:lnTo>
                <a:close/>
              </a:path>
              <a:path w="621" h="436">
                <a:moveTo>
                  <a:pt x="240" y="208"/>
                </a:moveTo>
                <a:cubicBezTo>
                  <a:pt x="220" y="194"/>
                  <a:pt x="196" y="184"/>
                  <a:pt x="177" y="177"/>
                </a:cubicBezTo>
                <a:cubicBezTo>
                  <a:pt x="136" y="196"/>
                  <a:pt x="136" y="196"/>
                  <a:pt x="136" y="196"/>
                </a:cubicBezTo>
                <a:cubicBezTo>
                  <a:pt x="170" y="319"/>
                  <a:pt x="170" y="319"/>
                  <a:pt x="170" y="319"/>
                </a:cubicBezTo>
                <a:cubicBezTo>
                  <a:pt x="136" y="369"/>
                  <a:pt x="136" y="369"/>
                  <a:pt x="136" y="369"/>
                </a:cubicBezTo>
                <a:cubicBezTo>
                  <a:pt x="103" y="319"/>
                  <a:pt x="103" y="319"/>
                  <a:pt x="103" y="319"/>
                </a:cubicBezTo>
                <a:cubicBezTo>
                  <a:pt x="136" y="196"/>
                  <a:pt x="136" y="196"/>
                  <a:pt x="136" y="196"/>
                </a:cubicBezTo>
                <a:cubicBezTo>
                  <a:pt x="95" y="177"/>
                  <a:pt x="95" y="177"/>
                  <a:pt x="95" y="177"/>
                </a:cubicBezTo>
                <a:cubicBezTo>
                  <a:pt x="60" y="189"/>
                  <a:pt x="0" y="216"/>
                  <a:pt x="0" y="280"/>
                </a:cubicBezTo>
                <a:cubicBezTo>
                  <a:pt x="0" y="372"/>
                  <a:pt x="0" y="388"/>
                  <a:pt x="0" y="388"/>
                </a:cubicBezTo>
                <a:cubicBezTo>
                  <a:pt x="0" y="388"/>
                  <a:pt x="4" y="436"/>
                  <a:pt x="124" y="436"/>
                </a:cubicBezTo>
                <a:cubicBezTo>
                  <a:pt x="148" y="436"/>
                  <a:pt x="148" y="436"/>
                  <a:pt x="148" y="436"/>
                </a:cubicBezTo>
                <a:cubicBezTo>
                  <a:pt x="271" y="436"/>
                  <a:pt x="273" y="388"/>
                  <a:pt x="273" y="388"/>
                </a:cubicBezTo>
                <a:cubicBezTo>
                  <a:pt x="273" y="388"/>
                  <a:pt x="273" y="372"/>
                  <a:pt x="273" y="280"/>
                </a:cubicBezTo>
                <a:cubicBezTo>
                  <a:pt x="273" y="247"/>
                  <a:pt x="259" y="225"/>
                  <a:pt x="240" y="208"/>
                </a:cubicBezTo>
              </a:path>
              <a:path w="621" h="436">
                <a:moveTo>
                  <a:pt x="69" y="84"/>
                </a:moveTo>
                <a:cubicBezTo>
                  <a:pt x="69" y="36"/>
                  <a:pt x="98" y="0"/>
                  <a:pt x="136" y="0"/>
                </a:cubicBezTo>
                <a:cubicBezTo>
                  <a:pt x="175" y="0"/>
                  <a:pt x="204" y="36"/>
                  <a:pt x="204" y="84"/>
                </a:cubicBezTo>
                <a:cubicBezTo>
                  <a:pt x="204" y="129"/>
                  <a:pt x="175" y="165"/>
                  <a:pt x="136" y="165"/>
                </a:cubicBezTo>
                <a:cubicBezTo>
                  <a:pt x="98" y="165"/>
                  <a:pt x="69" y="129"/>
                  <a:pt x="69" y="84"/>
                </a:cubicBezTo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35139" y="2691383"/>
            <a:ext cx="1373123" cy="464820"/>
          </a:xfrm>
          <a:prstGeom prst="rect">
            <a:avLst/>
          </a:prstGeom>
        </p:spPr>
      </p:pic>
      <p:sp>
        <p:nvSpPr>
          <p:cNvPr id="118" name="path 118"/>
          <p:cNvSpPr/>
          <p:nvPr/>
        </p:nvSpPr>
        <p:spPr>
          <a:xfrm>
            <a:off x="9319259" y="2205228"/>
            <a:ext cx="364235" cy="329183"/>
          </a:xfrm>
          <a:custGeom>
            <a:avLst/>
            <a:gdLst/>
            <a:ahLst/>
            <a:cxnLst/>
            <a:rect l="0" t="0" r="0" b="0"/>
            <a:pathLst>
              <a:path w="573" h="518">
                <a:moveTo>
                  <a:pt x="561" y="136"/>
                </a:moveTo>
                <a:cubicBezTo>
                  <a:pt x="472" y="93"/>
                  <a:pt x="472" y="93"/>
                  <a:pt x="472" y="93"/>
                </a:cubicBezTo>
                <a:cubicBezTo>
                  <a:pt x="307" y="7"/>
                  <a:pt x="307" y="7"/>
                  <a:pt x="307" y="7"/>
                </a:cubicBezTo>
                <a:cubicBezTo>
                  <a:pt x="295" y="2"/>
                  <a:pt x="295" y="2"/>
                  <a:pt x="295" y="2"/>
                </a:cubicBezTo>
                <a:cubicBezTo>
                  <a:pt x="292" y="0"/>
                  <a:pt x="288" y="0"/>
                  <a:pt x="288" y="0"/>
                </a:cubicBezTo>
                <a:cubicBezTo>
                  <a:pt x="283" y="0"/>
                  <a:pt x="280" y="0"/>
                  <a:pt x="275" y="2"/>
                </a:cubicBezTo>
                <a:cubicBezTo>
                  <a:pt x="266" y="7"/>
                  <a:pt x="266" y="7"/>
                  <a:pt x="266" y="7"/>
                </a:cubicBezTo>
                <a:cubicBezTo>
                  <a:pt x="98" y="93"/>
                  <a:pt x="98" y="93"/>
                  <a:pt x="98" y="93"/>
                </a:cubicBezTo>
                <a:cubicBezTo>
                  <a:pt x="12" y="136"/>
                  <a:pt x="12" y="136"/>
                  <a:pt x="12" y="136"/>
                </a:cubicBezTo>
                <a:cubicBezTo>
                  <a:pt x="2" y="143"/>
                  <a:pt x="0" y="151"/>
                  <a:pt x="0" y="160"/>
                </a:cubicBezTo>
                <a:cubicBezTo>
                  <a:pt x="0" y="163"/>
                  <a:pt x="0" y="167"/>
                  <a:pt x="0" y="170"/>
                </a:cubicBezTo>
                <a:cubicBezTo>
                  <a:pt x="7" y="182"/>
                  <a:pt x="21" y="184"/>
                  <a:pt x="33" y="180"/>
                </a:cubicBezTo>
                <a:cubicBezTo>
                  <a:pt x="84" y="153"/>
                  <a:pt x="84" y="153"/>
                  <a:pt x="84" y="153"/>
                </a:cubicBezTo>
                <a:cubicBezTo>
                  <a:pt x="84" y="199"/>
                  <a:pt x="84" y="199"/>
                  <a:pt x="84" y="199"/>
                </a:cubicBezTo>
                <a:cubicBezTo>
                  <a:pt x="84" y="268"/>
                  <a:pt x="84" y="268"/>
                  <a:pt x="84" y="268"/>
                </a:cubicBezTo>
                <a:cubicBezTo>
                  <a:pt x="93" y="271"/>
                  <a:pt x="103" y="278"/>
                  <a:pt x="110" y="283"/>
                </a:cubicBezTo>
                <a:cubicBezTo>
                  <a:pt x="110" y="199"/>
                  <a:pt x="110" y="199"/>
                  <a:pt x="110" y="199"/>
                </a:cubicBezTo>
                <a:cubicBezTo>
                  <a:pt x="110" y="160"/>
                  <a:pt x="110" y="160"/>
                  <a:pt x="110" y="160"/>
                </a:cubicBezTo>
                <a:cubicBezTo>
                  <a:pt x="110" y="148"/>
                  <a:pt x="117" y="139"/>
                  <a:pt x="127" y="134"/>
                </a:cubicBezTo>
                <a:cubicBezTo>
                  <a:pt x="127" y="132"/>
                  <a:pt x="127" y="132"/>
                  <a:pt x="127" y="132"/>
                </a:cubicBezTo>
                <a:cubicBezTo>
                  <a:pt x="201" y="93"/>
                  <a:pt x="201" y="93"/>
                  <a:pt x="201" y="93"/>
                </a:cubicBezTo>
                <a:cubicBezTo>
                  <a:pt x="288" y="50"/>
                  <a:pt x="288" y="50"/>
                  <a:pt x="288" y="50"/>
                </a:cubicBezTo>
                <a:cubicBezTo>
                  <a:pt x="372" y="93"/>
                  <a:pt x="372" y="93"/>
                  <a:pt x="372" y="93"/>
                </a:cubicBezTo>
                <a:cubicBezTo>
                  <a:pt x="448" y="132"/>
                  <a:pt x="448" y="132"/>
                  <a:pt x="448" y="132"/>
                </a:cubicBezTo>
                <a:cubicBezTo>
                  <a:pt x="448" y="134"/>
                  <a:pt x="448" y="134"/>
                  <a:pt x="448" y="134"/>
                </a:cubicBezTo>
                <a:cubicBezTo>
                  <a:pt x="458" y="139"/>
                  <a:pt x="465" y="148"/>
                  <a:pt x="465" y="160"/>
                </a:cubicBezTo>
                <a:cubicBezTo>
                  <a:pt x="465" y="199"/>
                  <a:pt x="465" y="199"/>
                  <a:pt x="465" y="199"/>
                </a:cubicBezTo>
                <a:cubicBezTo>
                  <a:pt x="465" y="453"/>
                  <a:pt x="465" y="453"/>
                  <a:pt x="465" y="453"/>
                </a:cubicBezTo>
                <a:cubicBezTo>
                  <a:pt x="465" y="467"/>
                  <a:pt x="451" y="482"/>
                  <a:pt x="434" y="482"/>
                </a:cubicBezTo>
                <a:cubicBezTo>
                  <a:pt x="343" y="482"/>
                  <a:pt x="343" y="482"/>
                  <a:pt x="343" y="482"/>
                </a:cubicBezTo>
                <a:cubicBezTo>
                  <a:pt x="343" y="345"/>
                  <a:pt x="343" y="345"/>
                  <a:pt x="343" y="345"/>
                </a:cubicBezTo>
                <a:cubicBezTo>
                  <a:pt x="223" y="345"/>
                  <a:pt x="223" y="345"/>
                  <a:pt x="223" y="345"/>
                </a:cubicBezTo>
                <a:cubicBezTo>
                  <a:pt x="223" y="482"/>
                  <a:pt x="223" y="482"/>
                  <a:pt x="223" y="482"/>
                </a:cubicBezTo>
                <a:cubicBezTo>
                  <a:pt x="175" y="482"/>
                  <a:pt x="175" y="482"/>
                  <a:pt x="175" y="482"/>
                </a:cubicBezTo>
                <a:cubicBezTo>
                  <a:pt x="168" y="496"/>
                  <a:pt x="158" y="508"/>
                  <a:pt x="151" y="518"/>
                </a:cubicBezTo>
                <a:cubicBezTo>
                  <a:pt x="455" y="518"/>
                  <a:pt x="455" y="518"/>
                  <a:pt x="455" y="518"/>
                </a:cubicBezTo>
                <a:cubicBezTo>
                  <a:pt x="475" y="518"/>
                  <a:pt x="489" y="503"/>
                  <a:pt x="489" y="484"/>
                </a:cubicBezTo>
                <a:cubicBezTo>
                  <a:pt x="489" y="199"/>
                  <a:pt x="489" y="199"/>
                  <a:pt x="489" y="199"/>
                </a:cubicBezTo>
                <a:cubicBezTo>
                  <a:pt x="489" y="155"/>
                  <a:pt x="489" y="155"/>
                  <a:pt x="489" y="155"/>
                </a:cubicBezTo>
                <a:cubicBezTo>
                  <a:pt x="542" y="180"/>
                  <a:pt x="542" y="180"/>
                  <a:pt x="542" y="180"/>
                </a:cubicBezTo>
                <a:cubicBezTo>
                  <a:pt x="552" y="184"/>
                  <a:pt x="566" y="182"/>
                  <a:pt x="571" y="170"/>
                </a:cubicBezTo>
                <a:cubicBezTo>
                  <a:pt x="573" y="167"/>
                  <a:pt x="573" y="163"/>
                  <a:pt x="573" y="160"/>
                </a:cubicBezTo>
                <a:cubicBezTo>
                  <a:pt x="573" y="151"/>
                  <a:pt x="571" y="143"/>
                  <a:pt x="561" y="136"/>
                </a:cubicBezTo>
              </a:path>
              <a:path w="573" h="518">
                <a:moveTo>
                  <a:pt x="283" y="170"/>
                </a:moveTo>
                <a:cubicBezTo>
                  <a:pt x="307" y="170"/>
                  <a:pt x="326" y="153"/>
                  <a:pt x="328" y="129"/>
                </a:cubicBezTo>
                <a:cubicBezTo>
                  <a:pt x="328" y="129"/>
                  <a:pt x="328" y="127"/>
                  <a:pt x="328" y="124"/>
                </a:cubicBezTo>
                <a:cubicBezTo>
                  <a:pt x="328" y="112"/>
                  <a:pt x="324" y="100"/>
                  <a:pt x="316" y="93"/>
                </a:cubicBezTo>
                <a:cubicBezTo>
                  <a:pt x="309" y="83"/>
                  <a:pt x="297" y="79"/>
                  <a:pt x="283" y="79"/>
                </a:cubicBezTo>
                <a:cubicBezTo>
                  <a:pt x="271" y="79"/>
                  <a:pt x="259" y="83"/>
                  <a:pt x="249" y="93"/>
                </a:cubicBezTo>
                <a:cubicBezTo>
                  <a:pt x="242" y="100"/>
                  <a:pt x="237" y="112"/>
                  <a:pt x="237" y="124"/>
                </a:cubicBezTo>
                <a:cubicBezTo>
                  <a:pt x="237" y="127"/>
                  <a:pt x="237" y="129"/>
                  <a:pt x="237" y="129"/>
                </a:cubicBezTo>
                <a:cubicBezTo>
                  <a:pt x="242" y="153"/>
                  <a:pt x="259" y="170"/>
                  <a:pt x="283" y="170"/>
                </a:cubicBezTo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path 120"/>
          <p:cNvSpPr/>
          <p:nvPr/>
        </p:nvSpPr>
        <p:spPr>
          <a:xfrm>
            <a:off x="9262871" y="2392679"/>
            <a:ext cx="153923" cy="156972"/>
          </a:xfrm>
          <a:custGeom>
            <a:avLst/>
            <a:gdLst/>
            <a:ahLst/>
            <a:cxnLst/>
            <a:rect l="0" t="0" r="0" b="0"/>
            <a:pathLst>
              <a:path w="242" h="247">
                <a:moveTo>
                  <a:pt x="199" y="28"/>
                </a:moveTo>
                <a:cubicBezTo>
                  <a:pt x="192" y="21"/>
                  <a:pt x="182" y="14"/>
                  <a:pt x="172" y="12"/>
                </a:cubicBezTo>
                <a:cubicBezTo>
                  <a:pt x="158" y="2"/>
                  <a:pt x="141" y="0"/>
                  <a:pt x="122" y="0"/>
                </a:cubicBezTo>
                <a:cubicBezTo>
                  <a:pt x="52" y="0"/>
                  <a:pt x="0" y="55"/>
                  <a:pt x="0" y="122"/>
                </a:cubicBezTo>
                <a:cubicBezTo>
                  <a:pt x="0" y="192"/>
                  <a:pt x="52" y="247"/>
                  <a:pt x="122" y="247"/>
                </a:cubicBezTo>
                <a:cubicBezTo>
                  <a:pt x="148" y="247"/>
                  <a:pt x="172" y="235"/>
                  <a:pt x="194" y="220"/>
                </a:cubicBezTo>
                <a:cubicBezTo>
                  <a:pt x="206" y="211"/>
                  <a:pt x="218" y="199"/>
                  <a:pt x="223" y="187"/>
                </a:cubicBezTo>
                <a:cubicBezTo>
                  <a:pt x="235" y="167"/>
                  <a:pt x="242" y="146"/>
                  <a:pt x="242" y="122"/>
                </a:cubicBezTo>
                <a:cubicBezTo>
                  <a:pt x="242" y="84"/>
                  <a:pt x="225" y="50"/>
                  <a:pt x="199" y="28"/>
                </a:cubicBezTo>
                <a:moveTo>
                  <a:pt x="172" y="187"/>
                </a:moveTo>
                <a:cubicBezTo>
                  <a:pt x="158" y="196"/>
                  <a:pt x="141" y="206"/>
                  <a:pt x="122" y="206"/>
                </a:cubicBezTo>
                <a:cubicBezTo>
                  <a:pt x="76" y="206"/>
                  <a:pt x="40" y="167"/>
                  <a:pt x="40" y="122"/>
                </a:cubicBezTo>
                <a:cubicBezTo>
                  <a:pt x="40" y="76"/>
                  <a:pt x="76" y="40"/>
                  <a:pt x="122" y="40"/>
                </a:cubicBezTo>
                <a:cubicBezTo>
                  <a:pt x="141" y="40"/>
                  <a:pt x="158" y="47"/>
                  <a:pt x="172" y="60"/>
                </a:cubicBezTo>
                <a:cubicBezTo>
                  <a:pt x="187" y="69"/>
                  <a:pt x="196" y="86"/>
                  <a:pt x="199" y="103"/>
                </a:cubicBezTo>
                <a:cubicBezTo>
                  <a:pt x="201" y="110"/>
                  <a:pt x="201" y="115"/>
                  <a:pt x="201" y="122"/>
                </a:cubicBezTo>
                <a:cubicBezTo>
                  <a:pt x="201" y="129"/>
                  <a:pt x="201" y="134"/>
                  <a:pt x="199" y="141"/>
                </a:cubicBezTo>
                <a:cubicBezTo>
                  <a:pt x="196" y="158"/>
                  <a:pt x="187" y="175"/>
                  <a:pt x="172" y="187"/>
                </a:cubicBezTo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96300" y="2761488"/>
            <a:ext cx="1024128" cy="588264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5738939" y="1927415"/>
            <a:ext cx="4525645" cy="2675889"/>
          </a:xfrm>
          <a:prstGeom prst="roundRect">
            <a:avLst>
              <a:gd name="adj" fmla="val 16872"/>
            </a:avLst>
          </a:prstGeom>
          <a:noFill/>
          <a:ln w="3175" cap="flat">
            <a:solidFill>
              <a:srgbClr val="7F7F7F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9253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900" b="1" kern="0" spc="3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负荷调整                      </a:t>
            </a:r>
            <a:r>
              <a:rPr sz="900" b="1" kern="0" spc="2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需求上报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449320" algn="l" rtl="0" eaLnBrk="0">
              <a:lnSpc>
                <a:spcPts val="504"/>
              </a:lnSpc>
              <a:spcBef>
                <a:spcPts val="132"/>
              </a:spcBef>
              <a:tabLst/>
            </a:pPr>
            <a:r>
              <a:rPr sz="700" kern="0" spc="-20" dirty="0">
                <a:solidFill>
                  <a:srgbClr val="6A6F77">
                    <a:alpha val="100000"/>
                  </a:srgbClr>
                </a:solidFill>
                <a:latin typeface="Arial"/>
                <a:ea typeface="Arial"/>
                <a:cs typeface="Arial"/>
              </a:rPr>
              <a:t>$</a:t>
            </a:r>
            <a:endParaRPr sz="700" dirty="0">
              <a:latin typeface="Arial"/>
              <a:ea typeface="Arial"/>
              <a:cs typeface="Arial"/>
            </a:endParaRPr>
          </a:p>
          <a:p>
            <a:pPr marL="204470" algn="l" rtl="0" eaLnBrk="0">
              <a:lnSpc>
                <a:spcPct val="90000"/>
              </a:lnSpc>
              <a:spcBef>
                <a:spcPts val="580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分布式电源及储能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电力用户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29689" algn="l" rtl="0" eaLnBrk="0">
              <a:lnSpc>
                <a:spcPct val="88000"/>
              </a:lnSpc>
              <a:spcBef>
                <a:spcPts val="279"/>
              </a:spcBef>
              <a:tabLst/>
            </a:pPr>
            <a:r>
              <a:rPr sz="900" b="1" kern="0" spc="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需求侧响应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2840354" algn="l" rtl="0" eaLnBrk="0">
              <a:lnSpc>
                <a:spcPct val="88000"/>
              </a:lnSpc>
              <a:spcBef>
                <a:spcPts val="468"/>
              </a:spcBef>
              <a:tabLst/>
            </a:pPr>
            <a:r>
              <a:rPr sz="900" b="1" kern="0" spc="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需求侧上报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54684" algn="l" rtl="0" eaLnBrk="0">
              <a:lnSpc>
                <a:spcPct val="98000"/>
              </a:lnSpc>
              <a:spcBef>
                <a:spcPts val="355"/>
              </a:spcBef>
              <a:tabLst/>
            </a:pPr>
            <a:r>
              <a:rPr sz="1800" b="1" kern="0" spc="20" baseline="289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电网企业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</a:t>
            </a:r>
            <a:r>
              <a:rPr sz="1800" b="1" kern="0" spc="20" baseline="-289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</a:t>
            </a:r>
            <a:r>
              <a:rPr sz="1800" b="1" kern="0" spc="10" baseline="-289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中心</a:t>
            </a:r>
            <a:endParaRPr sz="1800" baseline="-2893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11350" algn="l" rtl="0" eaLnBrk="0">
              <a:lnSpc>
                <a:spcPct val="88000"/>
              </a:lnSpc>
              <a:spcBef>
                <a:spcPts val="271"/>
              </a:spcBef>
              <a:tabLst/>
            </a:pPr>
            <a:r>
              <a:rPr sz="900" b="1" kern="0" spc="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现货价格大幅波动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776729" algn="l" rtl="0" eaLnBrk="0">
              <a:lnSpc>
                <a:spcPct val="79000"/>
              </a:lnSpc>
              <a:spcBef>
                <a:spcPts val="214"/>
              </a:spcBef>
              <a:tabLst/>
            </a:pPr>
            <a:r>
              <a:rPr sz="900" b="1" kern="0" spc="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要求用电侧用能精细化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216910" algn="l" rtl="0" eaLnBrk="0">
              <a:lnSpc>
                <a:spcPct val="85000"/>
              </a:lnSpc>
              <a:spcBef>
                <a:spcPts val="12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调峰调频电厂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6" name="picture 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720340" y="2383535"/>
            <a:ext cx="749808" cy="1591055"/>
          </a:xfrm>
          <a:prstGeom prst="rect">
            <a:avLst/>
          </a:prstGeom>
        </p:spPr>
      </p:pic>
      <p:graphicFrame>
        <p:nvGraphicFramePr>
          <p:cNvPr id="128" name="table 128"/>
          <p:cNvGraphicFramePr>
            <a:graphicFrameLocks noGrp="1"/>
          </p:cNvGraphicFramePr>
          <p:nvPr/>
        </p:nvGraphicFramePr>
        <p:xfrm>
          <a:off x="449579" y="1943100"/>
          <a:ext cx="4501515" cy="2626995"/>
        </p:xfrm>
        <a:graphic>
          <a:graphicData uri="http://schemas.openxmlformats.org/drawingml/2006/table">
            <a:tbl>
              <a:tblPr/>
              <a:tblGrid>
                <a:gridCol w="716280"/>
                <a:gridCol w="744219"/>
                <a:gridCol w="719455"/>
                <a:gridCol w="859155"/>
                <a:gridCol w="1462405"/>
              </a:tblGrid>
              <a:tr h="26269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电力用户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5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源随荷动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23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电网企业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5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预测用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0800" algn="l" rtl="0" eaLnBrk="0">
                        <a:lnSpc>
                          <a:spcPct val="86000"/>
                        </a:lnSpc>
                        <a:spcBef>
                          <a:spcPts val="225"/>
                        </a:spcBef>
                        <a:tabLst/>
                      </a:pPr>
                      <a:r>
                        <a:rPr sz="900" b="1" kern="0" spc="2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13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调峰调频电厂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5400" algn="l" rtl="0" eaLnBrk="0">
                        <a:lnSpc>
                          <a:spcPct val="88000"/>
                        </a:lnSpc>
                        <a:spcBef>
                          <a:spcPts val="1022"/>
                        </a:spcBef>
                        <a:tabLst/>
                      </a:pPr>
                      <a:r>
                        <a:rPr sz="900" b="1" kern="0" spc="5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电量偏差调整，成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9050" algn="l" rtl="0" eaLnBrk="0">
                        <a:lnSpc>
                          <a:spcPts val="1161"/>
                        </a:lnSpc>
                        <a:tabLst/>
                      </a:pPr>
                      <a:r>
                        <a:rPr sz="900" b="1" kern="0" spc="5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本由发电企业分担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发电厂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0" name="textbox 130"/>
          <p:cNvSpPr/>
          <p:nvPr/>
        </p:nvSpPr>
        <p:spPr>
          <a:xfrm>
            <a:off x="456516" y="5410471"/>
            <a:ext cx="10084434" cy="990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ct val="87000"/>
              </a:lnSpc>
              <a:tabLst/>
            </a:pPr>
            <a:r>
              <a:rPr sz="1300" b="1" kern="0" spc="-1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日前市场：</a:t>
            </a:r>
            <a:r>
              <a:rPr sz="1300" b="1" kern="0" spc="-24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12：00前交易第二天的电力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44450" algn="l" rtl="0" eaLnBrk="0">
              <a:lnSpc>
                <a:spcPct val="88000"/>
              </a:lnSpc>
              <a:spcBef>
                <a:spcPts val="1527"/>
              </a:spcBef>
              <a:tabLst/>
            </a:pPr>
            <a:r>
              <a:rPr sz="1300" b="1" kern="0" spc="1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日内市场：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交易当天的电力，实际交割前1-2小时关闸        </a:t>
            </a:r>
            <a:r>
              <a:rPr sz="1300" b="1" kern="0" spc="1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辅助服务市场：</a:t>
            </a:r>
            <a:r>
              <a:rPr sz="13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出现发用电量不平衡时，</a:t>
            </a:r>
            <a:r>
              <a:rPr sz="1300" b="1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向市场主体购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买调频和容量备用服务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300" b="1" kern="0" spc="1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实时市场：</a:t>
            </a:r>
            <a:r>
              <a:rPr sz="1300" b="1" kern="0" spc="-24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申报以5分钟为频率的负荷曲线和价格，交割前1小时关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闸，</a:t>
            </a:r>
            <a:r>
              <a:rPr sz="13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中标结果为需要执行的发电计划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371347" y="4809070"/>
            <a:ext cx="10094594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56845" algn="l"/>
                <a:tab pos="10081259" algn="l"/>
              </a:tabLst>
            </a:pPr>
            <a:r>
              <a:rPr sz="17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1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1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6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1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4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6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4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6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现货市场</a:t>
            </a:r>
            <a:r>
              <a:rPr sz="1700" b="1" kern="0" spc="1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1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1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6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6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7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1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4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6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4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6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4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6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4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537160" y="1114352"/>
            <a:ext cx="4811395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电力现货交易给调度模式带来的转变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031735" y="3666743"/>
            <a:ext cx="2519171" cy="32766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5097780" y="2535935"/>
            <a:ext cx="505967" cy="1432560"/>
            <a:chOff x="0" y="0"/>
            <a:chExt cx="505967" cy="1432560"/>
          </a:xfrm>
        </p:grpSpPr>
        <p:sp>
          <p:nvSpPr>
            <p:cNvPr id="138" name="path 138"/>
            <p:cNvSpPr/>
            <p:nvPr/>
          </p:nvSpPr>
          <p:spPr>
            <a:xfrm>
              <a:off x="0" y="0"/>
              <a:ext cx="505967" cy="1432560"/>
            </a:xfrm>
            <a:custGeom>
              <a:avLst/>
              <a:gdLst/>
              <a:ahLst/>
              <a:cxnLst/>
              <a:rect l="0" t="0" r="0" b="0"/>
              <a:pathLst>
                <a:path w="796" h="2256">
                  <a:moveTo>
                    <a:pt x="0" y="563"/>
                  </a:moveTo>
                  <a:lnTo>
                    <a:pt x="398" y="563"/>
                  </a:lnTo>
                  <a:lnTo>
                    <a:pt x="398" y="0"/>
                  </a:lnTo>
                  <a:lnTo>
                    <a:pt x="796" y="1128"/>
                  </a:lnTo>
                  <a:lnTo>
                    <a:pt x="398" y="2256"/>
                  </a:lnTo>
                  <a:lnTo>
                    <a:pt x="398" y="1692"/>
                  </a:lnTo>
                  <a:lnTo>
                    <a:pt x="0" y="1692"/>
                  </a:lnTo>
                  <a:lnTo>
                    <a:pt x="0" y="563"/>
                  </a:lnTo>
                  <a:close/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0" name="textbox 140"/>
            <p:cNvSpPr/>
            <p:nvPr/>
          </p:nvSpPr>
          <p:spPr>
            <a:xfrm>
              <a:off x="-12700" y="-12700"/>
              <a:ext cx="531494" cy="14598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57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4775" algn="l" rtl="0" eaLnBrk="0">
                <a:lnSpc>
                  <a:spcPct val="87000"/>
                </a:lnSpc>
                <a:tabLst/>
              </a:pPr>
              <a:r>
                <a:rPr sz="15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转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06045" algn="l" rtl="0" eaLnBrk="0">
                <a:lnSpc>
                  <a:spcPct val="87000"/>
                </a:lnSpc>
                <a:spcBef>
                  <a:spcPts val="327"/>
                </a:spcBef>
                <a:tabLst/>
              </a:pPr>
              <a:r>
                <a:rPr sz="15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变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42" name="textbox 142"/>
          <p:cNvSpPr/>
          <p:nvPr/>
        </p:nvSpPr>
        <p:spPr>
          <a:xfrm>
            <a:off x="7510271" y="1758696"/>
            <a:ext cx="1397635" cy="32512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1500" b="1" kern="0" spc="7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现货市场模式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2107692" y="1766315"/>
            <a:ext cx="970914" cy="32321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03504" algn="l" rtl="0" eaLnBrk="0">
              <a:lnSpc>
                <a:spcPct val="88000"/>
              </a:lnSpc>
              <a:tabLst/>
            </a:pPr>
            <a:r>
              <a:rPr sz="1500" b="1" kern="0" spc="3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目前模式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6" name="picture 1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662171" y="3616452"/>
            <a:ext cx="644652" cy="315467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742176" y="3970019"/>
            <a:ext cx="644652" cy="281940"/>
          </a:xfrm>
          <a:prstGeom prst="rect">
            <a:avLst/>
          </a:prstGeom>
        </p:spPr>
      </p:pic>
      <p:sp>
        <p:nvSpPr>
          <p:cNvPr id="150" name="path 150"/>
          <p:cNvSpPr/>
          <p:nvPr/>
        </p:nvSpPr>
        <p:spPr>
          <a:xfrm>
            <a:off x="2036064" y="2816352"/>
            <a:ext cx="411479" cy="376428"/>
          </a:xfrm>
          <a:custGeom>
            <a:avLst/>
            <a:gdLst/>
            <a:ahLst/>
            <a:cxnLst/>
            <a:rect l="0" t="0" r="0" b="0"/>
            <a:pathLst>
              <a:path w="647" h="592">
                <a:moveTo>
                  <a:pt x="302" y="592"/>
                </a:moveTo>
                <a:lnTo>
                  <a:pt x="302" y="592"/>
                </a:lnTo>
                <a:lnTo>
                  <a:pt x="302" y="592"/>
                </a:lnTo>
                <a:lnTo>
                  <a:pt x="302" y="592"/>
                </a:lnTo>
                <a:lnTo>
                  <a:pt x="249" y="583"/>
                </a:lnTo>
                <a:lnTo>
                  <a:pt x="206" y="566"/>
                </a:lnTo>
                <a:lnTo>
                  <a:pt x="196" y="566"/>
                </a:lnTo>
                <a:lnTo>
                  <a:pt x="196" y="566"/>
                </a:lnTo>
                <a:lnTo>
                  <a:pt x="196" y="566"/>
                </a:lnTo>
                <a:lnTo>
                  <a:pt x="146" y="532"/>
                </a:lnTo>
                <a:lnTo>
                  <a:pt x="95" y="482"/>
                </a:lnTo>
                <a:lnTo>
                  <a:pt x="95" y="482"/>
                </a:lnTo>
                <a:lnTo>
                  <a:pt x="64" y="427"/>
                </a:lnTo>
                <a:lnTo>
                  <a:pt x="45" y="364"/>
                </a:lnTo>
                <a:lnTo>
                  <a:pt x="45" y="364"/>
                </a:lnTo>
                <a:lnTo>
                  <a:pt x="45" y="364"/>
                </a:lnTo>
                <a:lnTo>
                  <a:pt x="45" y="364"/>
                </a:lnTo>
                <a:lnTo>
                  <a:pt x="35" y="338"/>
                </a:lnTo>
                <a:lnTo>
                  <a:pt x="35" y="307"/>
                </a:lnTo>
                <a:lnTo>
                  <a:pt x="35" y="307"/>
                </a:lnTo>
                <a:lnTo>
                  <a:pt x="45" y="273"/>
                </a:lnTo>
                <a:lnTo>
                  <a:pt x="57" y="240"/>
                </a:lnTo>
                <a:lnTo>
                  <a:pt x="57" y="240"/>
                </a:lnTo>
                <a:lnTo>
                  <a:pt x="71" y="216"/>
                </a:lnTo>
                <a:lnTo>
                  <a:pt x="95" y="196"/>
                </a:lnTo>
                <a:lnTo>
                  <a:pt x="124" y="189"/>
                </a:lnTo>
                <a:lnTo>
                  <a:pt x="153" y="175"/>
                </a:lnTo>
                <a:lnTo>
                  <a:pt x="146" y="204"/>
                </a:lnTo>
                <a:lnTo>
                  <a:pt x="146" y="204"/>
                </a:lnTo>
                <a:lnTo>
                  <a:pt x="107" y="216"/>
                </a:lnTo>
                <a:lnTo>
                  <a:pt x="107" y="216"/>
                </a:lnTo>
                <a:lnTo>
                  <a:pt x="100" y="247"/>
                </a:lnTo>
                <a:lnTo>
                  <a:pt x="100" y="247"/>
                </a:lnTo>
                <a:lnTo>
                  <a:pt x="95" y="280"/>
                </a:lnTo>
                <a:lnTo>
                  <a:pt x="95" y="280"/>
                </a:lnTo>
                <a:lnTo>
                  <a:pt x="95" y="280"/>
                </a:lnTo>
                <a:lnTo>
                  <a:pt x="153" y="280"/>
                </a:lnTo>
                <a:lnTo>
                  <a:pt x="153" y="280"/>
                </a:lnTo>
                <a:lnTo>
                  <a:pt x="160" y="223"/>
                </a:lnTo>
                <a:lnTo>
                  <a:pt x="206" y="208"/>
                </a:lnTo>
                <a:lnTo>
                  <a:pt x="206" y="208"/>
                </a:lnTo>
                <a:lnTo>
                  <a:pt x="196" y="280"/>
                </a:lnTo>
                <a:lnTo>
                  <a:pt x="319" y="280"/>
                </a:lnTo>
                <a:lnTo>
                  <a:pt x="319" y="182"/>
                </a:lnTo>
                <a:lnTo>
                  <a:pt x="441" y="148"/>
                </a:lnTo>
                <a:lnTo>
                  <a:pt x="434" y="132"/>
                </a:lnTo>
                <a:lnTo>
                  <a:pt x="319" y="14"/>
                </a:lnTo>
                <a:lnTo>
                  <a:pt x="319" y="14"/>
                </a:lnTo>
                <a:lnTo>
                  <a:pt x="374" y="21"/>
                </a:lnTo>
                <a:lnTo>
                  <a:pt x="381" y="21"/>
                </a:lnTo>
                <a:lnTo>
                  <a:pt x="381" y="21"/>
                </a:lnTo>
                <a:lnTo>
                  <a:pt x="381" y="21"/>
                </a:lnTo>
                <a:lnTo>
                  <a:pt x="427" y="28"/>
                </a:lnTo>
                <a:lnTo>
                  <a:pt x="480" y="48"/>
                </a:lnTo>
                <a:lnTo>
                  <a:pt x="515" y="72"/>
                </a:lnTo>
                <a:lnTo>
                  <a:pt x="551" y="98"/>
                </a:lnTo>
                <a:lnTo>
                  <a:pt x="551" y="98"/>
                </a:lnTo>
                <a:lnTo>
                  <a:pt x="583" y="132"/>
                </a:lnTo>
                <a:lnTo>
                  <a:pt x="611" y="165"/>
                </a:lnTo>
                <a:lnTo>
                  <a:pt x="626" y="204"/>
                </a:lnTo>
                <a:lnTo>
                  <a:pt x="640" y="247"/>
                </a:lnTo>
                <a:lnTo>
                  <a:pt x="640" y="249"/>
                </a:lnTo>
                <a:lnTo>
                  <a:pt x="640" y="249"/>
                </a:lnTo>
                <a:lnTo>
                  <a:pt x="647" y="295"/>
                </a:lnTo>
                <a:lnTo>
                  <a:pt x="640" y="343"/>
                </a:lnTo>
                <a:lnTo>
                  <a:pt x="640" y="343"/>
                </a:lnTo>
                <a:lnTo>
                  <a:pt x="640" y="343"/>
                </a:lnTo>
                <a:lnTo>
                  <a:pt x="640" y="343"/>
                </a:lnTo>
                <a:lnTo>
                  <a:pt x="636" y="391"/>
                </a:lnTo>
                <a:lnTo>
                  <a:pt x="611" y="434"/>
                </a:lnTo>
                <a:lnTo>
                  <a:pt x="611" y="434"/>
                </a:lnTo>
                <a:lnTo>
                  <a:pt x="611" y="441"/>
                </a:lnTo>
                <a:lnTo>
                  <a:pt x="611" y="441"/>
                </a:lnTo>
                <a:lnTo>
                  <a:pt x="576" y="492"/>
                </a:lnTo>
                <a:lnTo>
                  <a:pt x="523" y="540"/>
                </a:lnTo>
                <a:lnTo>
                  <a:pt x="523" y="540"/>
                </a:lnTo>
                <a:lnTo>
                  <a:pt x="470" y="566"/>
                </a:lnTo>
                <a:lnTo>
                  <a:pt x="405" y="590"/>
                </a:lnTo>
                <a:lnTo>
                  <a:pt x="405" y="590"/>
                </a:lnTo>
                <a:lnTo>
                  <a:pt x="398" y="590"/>
                </a:lnTo>
                <a:lnTo>
                  <a:pt x="405" y="590"/>
                </a:lnTo>
                <a:lnTo>
                  <a:pt x="398" y="590"/>
                </a:lnTo>
                <a:lnTo>
                  <a:pt x="398" y="590"/>
                </a:lnTo>
                <a:lnTo>
                  <a:pt x="355" y="592"/>
                </a:lnTo>
                <a:lnTo>
                  <a:pt x="302" y="592"/>
                </a:lnTo>
                <a:lnTo>
                  <a:pt x="302" y="592"/>
                </a:lnTo>
                <a:close/>
                <a:moveTo>
                  <a:pt x="362" y="132"/>
                </a:moveTo>
                <a:lnTo>
                  <a:pt x="232" y="0"/>
                </a:lnTo>
                <a:lnTo>
                  <a:pt x="220" y="40"/>
                </a:lnTo>
                <a:lnTo>
                  <a:pt x="220" y="40"/>
                </a:lnTo>
                <a:lnTo>
                  <a:pt x="177" y="48"/>
                </a:lnTo>
                <a:lnTo>
                  <a:pt x="134" y="64"/>
                </a:lnTo>
                <a:lnTo>
                  <a:pt x="88" y="81"/>
                </a:lnTo>
                <a:lnTo>
                  <a:pt x="57" y="120"/>
                </a:lnTo>
                <a:lnTo>
                  <a:pt x="35" y="156"/>
                </a:lnTo>
                <a:lnTo>
                  <a:pt x="11" y="204"/>
                </a:lnTo>
                <a:lnTo>
                  <a:pt x="0" y="249"/>
                </a:lnTo>
                <a:lnTo>
                  <a:pt x="0" y="307"/>
                </a:lnTo>
                <a:lnTo>
                  <a:pt x="0" y="307"/>
                </a:lnTo>
                <a:lnTo>
                  <a:pt x="9" y="266"/>
                </a:lnTo>
                <a:lnTo>
                  <a:pt x="21" y="230"/>
                </a:lnTo>
                <a:lnTo>
                  <a:pt x="35" y="196"/>
                </a:lnTo>
                <a:lnTo>
                  <a:pt x="64" y="175"/>
                </a:lnTo>
                <a:lnTo>
                  <a:pt x="95" y="156"/>
                </a:lnTo>
                <a:lnTo>
                  <a:pt x="124" y="139"/>
                </a:lnTo>
                <a:lnTo>
                  <a:pt x="160" y="139"/>
                </a:lnTo>
                <a:lnTo>
                  <a:pt x="196" y="132"/>
                </a:lnTo>
                <a:lnTo>
                  <a:pt x="189" y="175"/>
                </a:lnTo>
                <a:lnTo>
                  <a:pt x="362" y="132"/>
                </a:lnTo>
                <a:lnTo>
                  <a:pt x="362" y="132"/>
                </a:lnTo>
                <a:close/>
                <a:moveTo>
                  <a:pt x="95" y="324"/>
                </a:moveTo>
                <a:lnTo>
                  <a:pt x="95" y="324"/>
                </a:lnTo>
                <a:lnTo>
                  <a:pt x="100" y="357"/>
                </a:lnTo>
                <a:lnTo>
                  <a:pt x="100" y="357"/>
                </a:lnTo>
                <a:lnTo>
                  <a:pt x="100" y="357"/>
                </a:lnTo>
                <a:lnTo>
                  <a:pt x="100" y="357"/>
                </a:lnTo>
                <a:lnTo>
                  <a:pt x="107" y="384"/>
                </a:lnTo>
                <a:lnTo>
                  <a:pt x="107" y="384"/>
                </a:lnTo>
                <a:lnTo>
                  <a:pt x="160" y="408"/>
                </a:lnTo>
                <a:lnTo>
                  <a:pt x="160" y="408"/>
                </a:lnTo>
                <a:lnTo>
                  <a:pt x="153" y="324"/>
                </a:lnTo>
                <a:lnTo>
                  <a:pt x="95" y="324"/>
                </a:lnTo>
                <a:lnTo>
                  <a:pt x="95" y="324"/>
                </a:lnTo>
                <a:close/>
                <a:moveTo>
                  <a:pt x="141" y="441"/>
                </a:moveTo>
                <a:lnTo>
                  <a:pt x="141" y="441"/>
                </a:lnTo>
                <a:lnTo>
                  <a:pt x="146" y="448"/>
                </a:lnTo>
                <a:lnTo>
                  <a:pt x="146" y="448"/>
                </a:lnTo>
                <a:lnTo>
                  <a:pt x="170" y="468"/>
                </a:lnTo>
                <a:lnTo>
                  <a:pt x="170" y="468"/>
                </a:lnTo>
                <a:lnTo>
                  <a:pt x="184" y="482"/>
                </a:lnTo>
                <a:lnTo>
                  <a:pt x="184" y="482"/>
                </a:lnTo>
                <a:lnTo>
                  <a:pt x="170" y="448"/>
                </a:lnTo>
                <a:lnTo>
                  <a:pt x="170" y="448"/>
                </a:lnTo>
                <a:lnTo>
                  <a:pt x="141" y="441"/>
                </a:lnTo>
                <a:lnTo>
                  <a:pt x="141" y="441"/>
                </a:lnTo>
                <a:close/>
                <a:moveTo>
                  <a:pt x="242" y="518"/>
                </a:moveTo>
                <a:lnTo>
                  <a:pt x="242" y="518"/>
                </a:lnTo>
                <a:lnTo>
                  <a:pt x="273" y="532"/>
                </a:lnTo>
                <a:lnTo>
                  <a:pt x="273" y="532"/>
                </a:lnTo>
                <a:lnTo>
                  <a:pt x="309" y="540"/>
                </a:lnTo>
                <a:lnTo>
                  <a:pt x="309" y="540"/>
                </a:lnTo>
                <a:lnTo>
                  <a:pt x="309" y="540"/>
                </a:lnTo>
                <a:lnTo>
                  <a:pt x="319" y="540"/>
                </a:lnTo>
                <a:lnTo>
                  <a:pt x="319" y="468"/>
                </a:lnTo>
                <a:lnTo>
                  <a:pt x="319" y="468"/>
                </a:lnTo>
                <a:lnTo>
                  <a:pt x="220" y="463"/>
                </a:lnTo>
                <a:lnTo>
                  <a:pt x="220" y="463"/>
                </a:lnTo>
                <a:lnTo>
                  <a:pt x="242" y="518"/>
                </a:lnTo>
                <a:lnTo>
                  <a:pt x="242" y="518"/>
                </a:lnTo>
                <a:close/>
                <a:moveTo>
                  <a:pt x="362" y="540"/>
                </a:moveTo>
                <a:lnTo>
                  <a:pt x="362" y="540"/>
                </a:lnTo>
                <a:lnTo>
                  <a:pt x="391" y="532"/>
                </a:lnTo>
                <a:lnTo>
                  <a:pt x="391" y="532"/>
                </a:lnTo>
                <a:lnTo>
                  <a:pt x="391" y="532"/>
                </a:lnTo>
                <a:lnTo>
                  <a:pt x="391" y="532"/>
                </a:lnTo>
                <a:lnTo>
                  <a:pt x="417" y="525"/>
                </a:lnTo>
                <a:lnTo>
                  <a:pt x="417" y="525"/>
                </a:lnTo>
                <a:lnTo>
                  <a:pt x="441" y="463"/>
                </a:lnTo>
                <a:lnTo>
                  <a:pt x="441" y="463"/>
                </a:lnTo>
                <a:lnTo>
                  <a:pt x="362" y="468"/>
                </a:lnTo>
                <a:lnTo>
                  <a:pt x="362" y="540"/>
                </a:lnTo>
                <a:lnTo>
                  <a:pt x="362" y="540"/>
                </a:lnTo>
                <a:close/>
                <a:moveTo>
                  <a:pt x="480" y="499"/>
                </a:moveTo>
                <a:lnTo>
                  <a:pt x="480" y="499"/>
                </a:lnTo>
                <a:lnTo>
                  <a:pt x="487" y="492"/>
                </a:lnTo>
                <a:lnTo>
                  <a:pt x="487" y="492"/>
                </a:lnTo>
                <a:lnTo>
                  <a:pt x="515" y="468"/>
                </a:lnTo>
                <a:lnTo>
                  <a:pt x="515" y="468"/>
                </a:lnTo>
                <a:lnTo>
                  <a:pt x="540" y="441"/>
                </a:lnTo>
                <a:lnTo>
                  <a:pt x="540" y="441"/>
                </a:lnTo>
                <a:lnTo>
                  <a:pt x="494" y="456"/>
                </a:lnTo>
                <a:lnTo>
                  <a:pt x="494" y="456"/>
                </a:lnTo>
                <a:lnTo>
                  <a:pt x="480" y="499"/>
                </a:lnTo>
                <a:lnTo>
                  <a:pt x="480" y="499"/>
                </a:lnTo>
                <a:close/>
                <a:moveTo>
                  <a:pt x="566" y="384"/>
                </a:moveTo>
                <a:lnTo>
                  <a:pt x="566" y="384"/>
                </a:lnTo>
                <a:lnTo>
                  <a:pt x="576" y="364"/>
                </a:lnTo>
                <a:lnTo>
                  <a:pt x="576" y="364"/>
                </a:lnTo>
                <a:lnTo>
                  <a:pt x="583" y="338"/>
                </a:lnTo>
                <a:lnTo>
                  <a:pt x="583" y="338"/>
                </a:lnTo>
                <a:lnTo>
                  <a:pt x="583" y="338"/>
                </a:lnTo>
                <a:lnTo>
                  <a:pt x="583" y="331"/>
                </a:lnTo>
                <a:lnTo>
                  <a:pt x="583" y="324"/>
                </a:lnTo>
                <a:lnTo>
                  <a:pt x="583" y="324"/>
                </a:lnTo>
                <a:lnTo>
                  <a:pt x="583" y="324"/>
                </a:lnTo>
                <a:lnTo>
                  <a:pt x="506" y="324"/>
                </a:lnTo>
                <a:lnTo>
                  <a:pt x="506" y="324"/>
                </a:lnTo>
                <a:lnTo>
                  <a:pt x="503" y="408"/>
                </a:lnTo>
                <a:lnTo>
                  <a:pt x="503" y="408"/>
                </a:lnTo>
                <a:lnTo>
                  <a:pt x="566" y="384"/>
                </a:lnTo>
                <a:lnTo>
                  <a:pt x="566" y="384"/>
                </a:lnTo>
                <a:close/>
                <a:moveTo>
                  <a:pt x="583" y="280"/>
                </a:moveTo>
                <a:lnTo>
                  <a:pt x="583" y="280"/>
                </a:lnTo>
                <a:lnTo>
                  <a:pt x="576" y="249"/>
                </a:lnTo>
                <a:lnTo>
                  <a:pt x="566" y="216"/>
                </a:lnTo>
                <a:lnTo>
                  <a:pt x="566" y="216"/>
                </a:lnTo>
                <a:lnTo>
                  <a:pt x="494" y="196"/>
                </a:lnTo>
                <a:lnTo>
                  <a:pt x="494" y="196"/>
                </a:lnTo>
                <a:lnTo>
                  <a:pt x="506" y="280"/>
                </a:lnTo>
                <a:lnTo>
                  <a:pt x="583" y="280"/>
                </a:lnTo>
                <a:lnTo>
                  <a:pt x="583" y="280"/>
                </a:lnTo>
                <a:close/>
                <a:moveTo>
                  <a:pt x="530" y="163"/>
                </a:moveTo>
                <a:lnTo>
                  <a:pt x="530" y="163"/>
                </a:lnTo>
                <a:lnTo>
                  <a:pt x="515" y="139"/>
                </a:lnTo>
                <a:lnTo>
                  <a:pt x="515" y="139"/>
                </a:lnTo>
                <a:lnTo>
                  <a:pt x="470" y="112"/>
                </a:lnTo>
                <a:lnTo>
                  <a:pt x="470" y="112"/>
                </a:lnTo>
                <a:lnTo>
                  <a:pt x="487" y="148"/>
                </a:lnTo>
                <a:lnTo>
                  <a:pt x="487" y="148"/>
                </a:lnTo>
                <a:lnTo>
                  <a:pt x="530" y="163"/>
                </a:lnTo>
                <a:lnTo>
                  <a:pt x="530" y="163"/>
                </a:lnTo>
                <a:close/>
                <a:moveTo>
                  <a:pt x="362" y="175"/>
                </a:moveTo>
                <a:lnTo>
                  <a:pt x="362" y="280"/>
                </a:lnTo>
                <a:lnTo>
                  <a:pt x="463" y="280"/>
                </a:lnTo>
                <a:lnTo>
                  <a:pt x="463" y="280"/>
                </a:lnTo>
                <a:lnTo>
                  <a:pt x="451" y="182"/>
                </a:lnTo>
                <a:lnTo>
                  <a:pt x="451" y="182"/>
                </a:lnTo>
                <a:lnTo>
                  <a:pt x="362" y="175"/>
                </a:lnTo>
                <a:lnTo>
                  <a:pt x="362" y="175"/>
                </a:lnTo>
                <a:close/>
                <a:moveTo>
                  <a:pt x="319" y="427"/>
                </a:moveTo>
                <a:lnTo>
                  <a:pt x="319" y="324"/>
                </a:lnTo>
                <a:lnTo>
                  <a:pt x="196" y="324"/>
                </a:lnTo>
                <a:lnTo>
                  <a:pt x="196" y="324"/>
                </a:lnTo>
                <a:lnTo>
                  <a:pt x="196" y="372"/>
                </a:lnTo>
                <a:lnTo>
                  <a:pt x="206" y="415"/>
                </a:lnTo>
                <a:lnTo>
                  <a:pt x="206" y="415"/>
                </a:lnTo>
                <a:lnTo>
                  <a:pt x="266" y="427"/>
                </a:lnTo>
                <a:lnTo>
                  <a:pt x="319" y="427"/>
                </a:lnTo>
                <a:lnTo>
                  <a:pt x="319" y="427"/>
                </a:lnTo>
                <a:close/>
                <a:moveTo>
                  <a:pt x="458" y="422"/>
                </a:moveTo>
                <a:lnTo>
                  <a:pt x="458" y="422"/>
                </a:lnTo>
                <a:lnTo>
                  <a:pt x="463" y="372"/>
                </a:lnTo>
                <a:lnTo>
                  <a:pt x="463" y="324"/>
                </a:lnTo>
                <a:lnTo>
                  <a:pt x="362" y="324"/>
                </a:lnTo>
                <a:lnTo>
                  <a:pt x="362" y="434"/>
                </a:lnTo>
                <a:lnTo>
                  <a:pt x="362" y="434"/>
                </a:lnTo>
                <a:lnTo>
                  <a:pt x="405" y="427"/>
                </a:lnTo>
                <a:lnTo>
                  <a:pt x="458" y="422"/>
                </a:lnTo>
                <a:lnTo>
                  <a:pt x="458" y="422"/>
                </a:lnTo>
                <a:close/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" name="path 152"/>
          <p:cNvSpPr/>
          <p:nvPr/>
        </p:nvSpPr>
        <p:spPr>
          <a:xfrm>
            <a:off x="7920228" y="2246376"/>
            <a:ext cx="539494" cy="280415"/>
          </a:xfrm>
          <a:custGeom>
            <a:avLst/>
            <a:gdLst/>
            <a:ahLst/>
            <a:cxnLst/>
            <a:rect l="0" t="0" r="0" b="0"/>
            <a:pathLst>
              <a:path w="849" h="441">
                <a:moveTo>
                  <a:pt x="0" y="441"/>
                </a:moveTo>
                <a:lnTo>
                  <a:pt x="91" y="441"/>
                </a:lnTo>
                <a:lnTo>
                  <a:pt x="403" y="441"/>
                </a:lnTo>
                <a:lnTo>
                  <a:pt x="439" y="441"/>
                </a:lnTo>
                <a:lnTo>
                  <a:pt x="775" y="441"/>
                </a:lnTo>
                <a:lnTo>
                  <a:pt x="849" y="441"/>
                </a:lnTo>
                <a:lnTo>
                  <a:pt x="849" y="407"/>
                </a:lnTo>
                <a:lnTo>
                  <a:pt x="775" y="407"/>
                </a:lnTo>
                <a:lnTo>
                  <a:pt x="775" y="146"/>
                </a:lnTo>
                <a:lnTo>
                  <a:pt x="439" y="146"/>
                </a:lnTo>
                <a:lnTo>
                  <a:pt x="439" y="0"/>
                </a:lnTo>
                <a:lnTo>
                  <a:pt x="91" y="0"/>
                </a:lnTo>
                <a:lnTo>
                  <a:pt x="91" y="407"/>
                </a:lnTo>
                <a:lnTo>
                  <a:pt x="0" y="407"/>
                </a:lnTo>
                <a:lnTo>
                  <a:pt x="0" y="441"/>
                </a:lnTo>
                <a:lnTo>
                  <a:pt x="0" y="441"/>
                </a:lnTo>
                <a:close/>
                <a:moveTo>
                  <a:pt x="470" y="218"/>
                </a:moveTo>
                <a:lnTo>
                  <a:pt x="470" y="218"/>
                </a:lnTo>
                <a:lnTo>
                  <a:pt x="715" y="218"/>
                </a:lnTo>
                <a:lnTo>
                  <a:pt x="715" y="218"/>
                </a:lnTo>
                <a:lnTo>
                  <a:pt x="715" y="240"/>
                </a:lnTo>
                <a:lnTo>
                  <a:pt x="715" y="240"/>
                </a:lnTo>
                <a:lnTo>
                  <a:pt x="470" y="240"/>
                </a:lnTo>
                <a:lnTo>
                  <a:pt x="470" y="240"/>
                </a:lnTo>
                <a:lnTo>
                  <a:pt x="470" y="218"/>
                </a:lnTo>
                <a:lnTo>
                  <a:pt x="470" y="218"/>
                </a:lnTo>
                <a:close/>
                <a:moveTo>
                  <a:pt x="201" y="347"/>
                </a:moveTo>
                <a:lnTo>
                  <a:pt x="201" y="347"/>
                </a:lnTo>
                <a:lnTo>
                  <a:pt x="225" y="347"/>
                </a:lnTo>
                <a:lnTo>
                  <a:pt x="225" y="347"/>
                </a:lnTo>
                <a:lnTo>
                  <a:pt x="225" y="369"/>
                </a:lnTo>
                <a:lnTo>
                  <a:pt x="225" y="369"/>
                </a:lnTo>
                <a:lnTo>
                  <a:pt x="201" y="369"/>
                </a:lnTo>
                <a:lnTo>
                  <a:pt x="201" y="369"/>
                </a:lnTo>
                <a:lnTo>
                  <a:pt x="201" y="347"/>
                </a:lnTo>
                <a:lnTo>
                  <a:pt x="201" y="347"/>
                </a:lnTo>
                <a:close/>
                <a:moveTo>
                  <a:pt x="146" y="347"/>
                </a:moveTo>
                <a:lnTo>
                  <a:pt x="177" y="347"/>
                </a:lnTo>
                <a:lnTo>
                  <a:pt x="177" y="369"/>
                </a:lnTo>
                <a:lnTo>
                  <a:pt x="146" y="369"/>
                </a:lnTo>
                <a:lnTo>
                  <a:pt x="146" y="347"/>
                </a:lnTo>
                <a:lnTo>
                  <a:pt x="146" y="347"/>
                </a:lnTo>
                <a:close/>
                <a:moveTo>
                  <a:pt x="244" y="347"/>
                </a:moveTo>
                <a:lnTo>
                  <a:pt x="244" y="347"/>
                </a:lnTo>
                <a:lnTo>
                  <a:pt x="280" y="347"/>
                </a:lnTo>
                <a:lnTo>
                  <a:pt x="280" y="347"/>
                </a:lnTo>
                <a:lnTo>
                  <a:pt x="280" y="369"/>
                </a:lnTo>
                <a:lnTo>
                  <a:pt x="280" y="369"/>
                </a:lnTo>
                <a:lnTo>
                  <a:pt x="244" y="369"/>
                </a:lnTo>
                <a:lnTo>
                  <a:pt x="244" y="369"/>
                </a:lnTo>
                <a:lnTo>
                  <a:pt x="244" y="347"/>
                </a:lnTo>
                <a:lnTo>
                  <a:pt x="244" y="347"/>
                </a:lnTo>
                <a:close/>
                <a:moveTo>
                  <a:pt x="304" y="347"/>
                </a:moveTo>
                <a:lnTo>
                  <a:pt x="304" y="347"/>
                </a:lnTo>
                <a:lnTo>
                  <a:pt x="323" y="347"/>
                </a:lnTo>
                <a:lnTo>
                  <a:pt x="323" y="347"/>
                </a:lnTo>
                <a:lnTo>
                  <a:pt x="323" y="369"/>
                </a:lnTo>
                <a:lnTo>
                  <a:pt x="323" y="369"/>
                </a:lnTo>
                <a:lnTo>
                  <a:pt x="304" y="369"/>
                </a:lnTo>
                <a:lnTo>
                  <a:pt x="304" y="369"/>
                </a:lnTo>
                <a:lnTo>
                  <a:pt x="304" y="347"/>
                </a:lnTo>
                <a:lnTo>
                  <a:pt x="304" y="347"/>
                </a:lnTo>
                <a:close/>
                <a:moveTo>
                  <a:pt x="347" y="347"/>
                </a:moveTo>
                <a:lnTo>
                  <a:pt x="371" y="347"/>
                </a:lnTo>
                <a:lnTo>
                  <a:pt x="371" y="369"/>
                </a:lnTo>
                <a:lnTo>
                  <a:pt x="347" y="369"/>
                </a:lnTo>
                <a:lnTo>
                  <a:pt x="347" y="347"/>
                </a:lnTo>
                <a:lnTo>
                  <a:pt x="347" y="347"/>
                </a:lnTo>
                <a:close/>
                <a:moveTo>
                  <a:pt x="201" y="88"/>
                </a:moveTo>
                <a:lnTo>
                  <a:pt x="201" y="88"/>
                </a:lnTo>
                <a:lnTo>
                  <a:pt x="225" y="88"/>
                </a:lnTo>
                <a:lnTo>
                  <a:pt x="225" y="88"/>
                </a:lnTo>
                <a:lnTo>
                  <a:pt x="225" y="105"/>
                </a:lnTo>
                <a:lnTo>
                  <a:pt x="225" y="105"/>
                </a:lnTo>
                <a:lnTo>
                  <a:pt x="201" y="105"/>
                </a:lnTo>
                <a:lnTo>
                  <a:pt x="201" y="105"/>
                </a:lnTo>
                <a:lnTo>
                  <a:pt x="201" y="88"/>
                </a:lnTo>
                <a:lnTo>
                  <a:pt x="201" y="88"/>
                </a:lnTo>
                <a:close/>
                <a:moveTo>
                  <a:pt x="146" y="88"/>
                </a:moveTo>
                <a:lnTo>
                  <a:pt x="146" y="88"/>
                </a:lnTo>
                <a:lnTo>
                  <a:pt x="177" y="88"/>
                </a:lnTo>
                <a:lnTo>
                  <a:pt x="177" y="88"/>
                </a:lnTo>
                <a:lnTo>
                  <a:pt x="177" y="105"/>
                </a:lnTo>
                <a:lnTo>
                  <a:pt x="177" y="105"/>
                </a:lnTo>
                <a:lnTo>
                  <a:pt x="146" y="105"/>
                </a:lnTo>
                <a:lnTo>
                  <a:pt x="146" y="105"/>
                </a:lnTo>
                <a:lnTo>
                  <a:pt x="146" y="88"/>
                </a:lnTo>
                <a:lnTo>
                  <a:pt x="146" y="88"/>
                </a:lnTo>
                <a:close/>
                <a:moveTo>
                  <a:pt x="244" y="88"/>
                </a:moveTo>
                <a:lnTo>
                  <a:pt x="244" y="88"/>
                </a:lnTo>
                <a:lnTo>
                  <a:pt x="280" y="88"/>
                </a:lnTo>
                <a:lnTo>
                  <a:pt x="280" y="88"/>
                </a:lnTo>
                <a:lnTo>
                  <a:pt x="280" y="105"/>
                </a:lnTo>
                <a:lnTo>
                  <a:pt x="280" y="105"/>
                </a:lnTo>
                <a:lnTo>
                  <a:pt x="244" y="105"/>
                </a:lnTo>
                <a:lnTo>
                  <a:pt x="244" y="105"/>
                </a:lnTo>
                <a:lnTo>
                  <a:pt x="244" y="88"/>
                </a:lnTo>
                <a:lnTo>
                  <a:pt x="244" y="88"/>
                </a:lnTo>
                <a:close/>
                <a:moveTo>
                  <a:pt x="304" y="88"/>
                </a:moveTo>
                <a:lnTo>
                  <a:pt x="304" y="88"/>
                </a:lnTo>
                <a:lnTo>
                  <a:pt x="323" y="88"/>
                </a:lnTo>
                <a:lnTo>
                  <a:pt x="323" y="88"/>
                </a:lnTo>
                <a:lnTo>
                  <a:pt x="323" y="105"/>
                </a:lnTo>
                <a:lnTo>
                  <a:pt x="323" y="105"/>
                </a:lnTo>
                <a:lnTo>
                  <a:pt x="304" y="105"/>
                </a:lnTo>
                <a:lnTo>
                  <a:pt x="304" y="105"/>
                </a:lnTo>
                <a:lnTo>
                  <a:pt x="304" y="88"/>
                </a:lnTo>
                <a:lnTo>
                  <a:pt x="304" y="88"/>
                </a:lnTo>
                <a:close/>
                <a:moveTo>
                  <a:pt x="347" y="88"/>
                </a:moveTo>
                <a:lnTo>
                  <a:pt x="347" y="88"/>
                </a:lnTo>
                <a:lnTo>
                  <a:pt x="371" y="88"/>
                </a:lnTo>
                <a:lnTo>
                  <a:pt x="371" y="88"/>
                </a:lnTo>
                <a:lnTo>
                  <a:pt x="371" y="105"/>
                </a:lnTo>
                <a:lnTo>
                  <a:pt x="371" y="105"/>
                </a:lnTo>
                <a:lnTo>
                  <a:pt x="347" y="105"/>
                </a:lnTo>
                <a:lnTo>
                  <a:pt x="347" y="105"/>
                </a:lnTo>
                <a:lnTo>
                  <a:pt x="347" y="88"/>
                </a:lnTo>
                <a:lnTo>
                  <a:pt x="347" y="88"/>
                </a:lnTo>
                <a:close/>
                <a:moveTo>
                  <a:pt x="201" y="139"/>
                </a:moveTo>
                <a:lnTo>
                  <a:pt x="201" y="139"/>
                </a:lnTo>
                <a:lnTo>
                  <a:pt x="225" y="139"/>
                </a:lnTo>
                <a:lnTo>
                  <a:pt x="225" y="139"/>
                </a:lnTo>
                <a:lnTo>
                  <a:pt x="225" y="160"/>
                </a:lnTo>
                <a:lnTo>
                  <a:pt x="225" y="160"/>
                </a:lnTo>
                <a:lnTo>
                  <a:pt x="201" y="160"/>
                </a:lnTo>
                <a:lnTo>
                  <a:pt x="201" y="160"/>
                </a:lnTo>
                <a:lnTo>
                  <a:pt x="201" y="139"/>
                </a:lnTo>
                <a:lnTo>
                  <a:pt x="201" y="139"/>
                </a:lnTo>
                <a:close/>
                <a:moveTo>
                  <a:pt x="146" y="139"/>
                </a:moveTo>
                <a:lnTo>
                  <a:pt x="146" y="139"/>
                </a:lnTo>
                <a:lnTo>
                  <a:pt x="177" y="139"/>
                </a:lnTo>
                <a:lnTo>
                  <a:pt x="177" y="139"/>
                </a:lnTo>
                <a:lnTo>
                  <a:pt x="177" y="160"/>
                </a:lnTo>
                <a:lnTo>
                  <a:pt x="177" y="160"/>
                </a:lnTo>
                <a:lnTo>
                  <a:pt x="146" y="160"/>
                </a:lnTo>
                <a:lnTo>
                  <a:pt x="146" y="160"/>
                </a:lnTo>
                <a:lnTo>
                  <a:pt x="146" y="139"/>
                </a:lnTo>
                <a:lnTo>
                  <a:pt x="146" y="139"/>
                </a:lnTo>
                <a:close/>
                <a:moveTo>
                  <a:pt x="244" y="139"/>
                </a:moveTo>
                <a:lnTo>
                  <a:pt x="244" y="139"/>
                </a:lnTo>
                <a:lnTo>
                  <a:pt x="280" y="139"/>
                </a:lnTo>
                <a:lnTo>
                  <a:pt x="280" y="139"/>
                </a:lnTo>
                <a:lnTo>
                  <a:pt x="280" y="160"/>
                </a:lnTo>
                <a:lnTo>
                  <a:pt x="280" y="160"/>
                </a:lnTo>
                <a:lnTo>
                  <a:pt x="244" y="160"/>
                </a:lnTo>
                <a:lnTo>
                  <a:pt x="244" y="160"/>
                </a:lnTo>
                <a:lnTo>
                  <a:pt x="244" y="139"/>
                </a:lnTo>
                <a:lnTo>
                  <a:pt x="244" y="139"/>
                </a:lnTo>
                <a:close/>
                <a:moveTo>
                  <a:pt x="304" y="139"/>
                </a:moveTo>
                <a:lnTo>
                  <a:pt x="304" y="139"/>
                </a:lnTo>
                <a:lnTo>
                  <a:pt x="323" y="139"/>
                </a:lnTo>
                <a:lnTo>
                  <a:pt x="323" y="139"/>
                </a:lnTo>
                <a:lnTo>
                  <a:pt x="323" y="160"/>
                </a:lnTo>
                <a:lnTo>
                  <a:pt x="323" y="160"/>
                </a:lnTo>
                <a:lnTo>
                  <a:pt x="304" y="160"/>
                </a:lnTo>
                <a:lnTo>
                  <a:pt x="304" y="160"/>
                </a:lnTo>
                <a:lnTo>
                  <a:pt x="304" y="139"/>
                </a:lnTo>
                <a:lnTo>
                  <a:pt x="304" y="139"/>
                </a:lnTo>
                <a:close/>
                <a:moveTo>
                  <a:pt x="347" y="139"/>
                </a:moveTo>
                <a:lnTo>
                  <a:pt x="347" y="139"/>
                </a:lnTo>
                <a:lnTo>
                  <a:pt x="371" y="139"/>
                </a:lnTo>
                <a:lnTo>
                  <a:pt x="371" y="139"/>
                </a:lnTo>
                <a:lnTo>
                  <a:pt x="371" y="160"/>
                </a:lnTo>
                <a:lnTo>
                  <a:pt x="371" y="160"/>
                </a:lnTo>
                <a:lnTo>
                  <a:pt x="347" y="160"/>
                </a:lnTo>
                <a:lnTo>
                  <a:pt x="347" y="160"/>
                </a:lnTo>
                <a:lnTo>
                  <a:pt x="347" y="139"/>
                </a:lnTo>
                <a:lnTo>
                  <a:pt x="347" y="139"/>
                </a:lnTo>
                <a:close/>
                <a:moveTo>
                  <a:pt x="201" y="187"/>
                </a:moveTo>
                <a:lnTo>
                  <a:pt x="201" y="187"/>
                </a:lnTo>
                <a:lnTo>
                  <a:pt x="225" y="187"/>
                </a:lnTo>
                <a:lnTo>
                  <a:pt x="225" y="187"/>
                </a:lnTo>
                <a:lnTo>
                  <a:pt x="225" y="211"/>
                </a:lnTo>
                <a:lnTo>
                  <a:pt x="225" y="211"/>
                </a:lnTo>
                <a:lnTo>
                  <a:pt x="201" y="211"/>
                </a:lnTo>
                <a:lnTo>
                  <a:pt x="201" y="211"/>
                </a:lnTo>
                <a:lnTo>
                  <a:pt x="201" y="187"/>
                </a:lnTo>
                <a:lnTo>
                  <a:pt x="201" y="187"/>
                </a:lnTo>
                <a:close/>
                <a:moveTo>
                  <a:pt x="146" y="187"/>
                </a:moveTo>
                <a:lnTo>
                  <a:pt x="146" y="187"/>
                </a:lnTo>
                <a:lnTo>
                  <a:pt x="177" y="187"/>
                </a:lnTo>
                <a:lnTo>
                  <a:pt x="177" y="187"/>
                </a:lnTo>
                <a:lnTo>
                  <a:pt x="177" y="211"/>
                </a:lnTo>
                <a:lnTo>
                  <a:pt x="177" y="211"/>
                </a:lnTo>
                <a:lnTo>
                  <a:pt x="146" y="211"/>
                </a:lnTo>
                <a:lnTo>
                  <a:pt x="146" y="211"/>
                </a:lnTo>
                <a:lnTo>
                  <a:pt x="146" y="187"/>
                </a:lnTo>
                <a:lnTo>
                  <a:pt x="146" y="187"/>
                </a:lnTo>
                <a:close/>
                <a:moveTo>
                  <a:pt x="244" y="187"/>
                </a:moveTo>
                <a:lnTo>
                  <a:pt x="244" y="187"/>
                </a:lnTo>
                <a:lnTo>
                  <a:pt x="280" y="187"/>
                </a:lnTo>
                <a:lnTo>
                  <a:pt x="280" y="187"/>
                </a:lnTo>
                <a:lnTo>
                  <a:pt x="280" y="211"/>
                </a:lnTo>
                <a:lnTo>
                  <a:pt x="280" y="211"/>
                </a:lnTo>
                <a:lnTo>
                  <a:pt x="244" y="211"/>
                </a:lnTo>
                <a:lnTo>
                  <a:pt x="244" y="211"/>
                </a:lnTo>
                <a:lnTo>
                  <a:pt x="244" y="187"/>
                </a:lnTo>
                <a:lnTo>
                  <a:pt x="244" y="187"/>
                </a:lnTo>
                <a:close/>
                <a:moveTo>
                  <a:pt x="304" y="187"/>
                </a:moveTo>
                <a:lnTo>
                  <a:pt x="304" y="187"/>
                </a:lnTo>
                <a:lnTo>
                  <a:pt x="323" y="187"/>
                </a:lnTo>
                <a:lnTo>
                  <a:pt x="323" y="187"/>
                </a:lnTo>
                <a:lnTo>
                  <a:pt x="323" y="211"/>
                </a:lnTo>
                <a:lnTo>
                  <a:pt x="323" y="211"/>
                </a:lnTo>
                <a:lnTo>
                  <a:pt x="304" y="211"/>
                </a:lnTo>
                <a:lnTo>
                  <a:pt x="304" y="211"/>
                </a:lnTo>
                <a:lnTo>
                  <a:pt x="304" y="187"/>
                </a:lnTo>
                <a:lnTo>
                  <a:pt x="304" y="187"/>
                </a:lnTo>
                <a:close/>
                <a:moveTo>
                  <a:pt x="347" y="187"/>
                </a:moveTo>
                <a:lnTo>
                  <a:pt x="347" y="187"/>
                </a:lnTo>
                <a:lnTo>
                  <a:pt x="371" y="187"/>
                </a:lnTo>
                <a:lnTo>
                  <a:pt x="371" y="187"/>
                </a:lnTo>
                <a:lnTo>
                  <a:pt x="371" y="211"/>
                </a:lnTo>
                <a:lnTo>
                  <a:pt x="371" y="211"/>
                </a:lnTo>
                <a:lnTo>
                  <a:pt x="347" y="211"/>
                </a:lnTo>
                <a:lnTo>
                  <a:pt x="347" y="211"/>
                </a:lnTo>
                <a:lnTo>
                  <a:pt x="347" y="187"/>
                </a:lnTo>
                <a:lnTo>
                  <a:pt x="347" y="187"/>
                </a:lnTo>
                <a:close/>
                <a:moveTo>
                  <a:pt x="201" y="240"/>
                </a:moveTo>
                <a:lnTo>
                  <a:pt x="201" y="240"/>
                </a:lnTo>
                <a:lnTo>
                  <a:pt x="225" y="240"/>
                </a:lnTo>
                <a:lnTo>
                  <a:pt x="225" y="240"/>
                </a:lnTo>
                <a:lnTo>
                  <a:pt x="225" y="259"/>
                </a:lnTo>
                <a:lnTo>
                  <a:pt x="225" y="259"/>
                </a:lnTo>
                <a:lnTo>
                  <a:pt x="201" y="259"/>
                </a:lnTo>
                <a:lnTo>
                  <a:pt x="201" y="259"/>
                </a:lnTo>
                <a:lnTo>
                  <a:pt x="201" y="240"/>
                </a:lnTo>
                <a:lnTo>
                  <a:pt x="201" y="240"/>
                </a:lnTo>
                <a:close/>
                <a:moveTo>
                  <a:pt x="146" y="240"/>
                </a:moveTo>
                <a:lnTo>
                  <a:pt x="146" y="240"/>
                </a:lnTo>
                <a:lnTo>
                  <a:pt x="177" y="240"/>
                </a:lnTo>
                <a:lnTo>
                  <a:pt x="177" y="240"/>
                </a:lnTo>
                <a:lnTo>
                  <a:pt x="177" y="259"/>
                </a:lnTo>
                <a:lnTo>
                  <a:pt x="177" y="259"/>
                </a:lnTo>
                <a:lnTo>
                  <a:pt x="146" y="259"/>
                </a:lnTo>
                <a:lnTo>
                  <a:pt x="146" y="259"/>
                </a:lnTo>
                <a:lnTo>
                  <a:pt x="146" y="240"/>
                </a:lnTo>
                <a:lnTo>
                  <a:pt x="146" y="240"/>
                </a:lnTo>
                <a:close/>
                <a:moveTo>
                  <a:pt x="244" y="240"/>
                </a:moveTo>
                <a:lnTo>
                  <a:pt x="244" y="240"/>
                </a:lnTo>
                <a:lnTo>
                  <a:pt x="280" y="240"/>
                </a:lnTo>
                <a:lnTo>
                  <a:pt x="280" y="240"/>
                </a:lnTo>
                <a:lnTo>
                  <a:pt x="280" y="259"/>
                </a:lnTo>
                <a:lnTo>
                  <a:pt x="280" y="259"/>
                </a:lnTo>
                <a:lnTo>
                  <a:pt x="244" y="259"/>
                </a:lnTo>
                <a:lnTo>
                  <a:pt x="244" y="259"/>
                </a:lnTo>
                <a:lnTo>
                  <a:pt x="244" y="240"/>
                </a:lnTo>
                <a:lnTo>
                  <a:pt x="244" y="240"/>
                </a:lnTo>
                <a:close/>
                <a:moveTo>
                  <a:pt x="304" y="240"/>
                </a:moveTo>
                <a:lnTo>
                  <a:pt x="304" y="240"/>
                </a:lnTo>
                <a:lnTo>
                  <a:pt x="323" y="240"/>
                </a:lnTo>
                <a:lnTo>
                  <a:pt x="323" y="240"/>
                </a:lnTo>
                <a:lnTo>
                  <a:pt x="323" y="259"/>
                </a:lnTo>
                <a:lnTo>
                  <a:pt x="323" y="259"/>
                </a:lnTo>
                <a:lnTo>
                  <a:pt x="304" y="259"/>
                </a:lnTo>
                <a:lnTo>
                  <a:pt x="304" y="259"/>
                </a:lnTo>
                <a:lnTo>
                  <a:pt x="304" y="240"/>
                </a:lnTo>
                <a:lnTo>
                  <a:pt x="304" y="240"/>
                </a:lnTo>
                <a:close/>
                <a:moveTo>
                  <a:pt x="347" y="240"/>
                </a:moveTo>
                <a:lnTo>
                  <a:pt x="347" y="240"/>
                </a:lnTo>
                <a:lnTo>
                  <a:pt x="371" y="240"/>
                </a:lnTo>
                <a:lnTo>
                  <a:pt x="371" y="240"/>
                </a:lnTo>
                <a:lnTo>
                  <a:pt x="371" y="259"/>
                </a:lnTo>
                <a:lnTo>
                  <a:pt x="371" y="259"/>
                </a:lnTo>
                <a:lnTo>
                  <a:pt x="347" y="259"/>
                </a:lnTo>
                <a:lnTo>
                  <a:pt x="347" y="259"/>
                </a:lnTo>
                <a:lnTo>
                  <a:pt x="347" y="240"/>
                </a:lnTo>
                <a:lnTo>
                  <a:pt x="347" y="240"/>
                </a:lnTo>
                <a:close/>
                <a:moveTo>
                  <a:pt x="201" y="292"/>
                </a:moveTo>
                <a:lnTo>
                  <a:pt x="201" y="292"/>
                </a:lnTo>
                <a:lnTo>
                  <a:pt x="225" y="292"/>
                </a:lnTo>
                <a:lnTo>
                  <a:pt x="225" y="292"/>
                </a:lnTo>
                <a:lnTo>
                  <a:pt x="225" y="314"/>
                </a:lnTo>
                <a:lnTo>
                  <a:pt x="225" y="314"/>
                </a:lnTo>
                <a:lnTo>
                  <a:pt x="201" y="314"/>
                </a:lnTo>
                <a:lnTo>
                  <a:pt x="201" y="314"/>
                </a:lnTo>
                <a:lnTo>
                  <a:pt x="201" y="292"/>
                </a:lnTo>
                <a:lnTo>
                  <a:pt x="201" y="292"/>
                </a:lnTo>
                <a:close/>
                <a:moveTo>
                  <a:pt x="146" y="292"/>
                </a:moveTo>
                <a:lnTo>
                  <a:pt x="146" y="292"/>
                </a:lnTo>
                <a:lnTo>
                  <a:pt x="177" y="292"/>
                </a:lnTo>
                <a:lnTo>
                  <a:pt x="177" y="292"/>
                </a:lnTo>
                <a:lnTo>
                  <a:pt x="177" y="314"/>
                </a:lnTo>
                <a:lnTo>
                  <a:pt x="177" y="314"/>
                </a:lnTo>
                <a:lnTo>
                  <a:pt x="146" y="314"/>
                </a:lnTo>
                <a:lnTo>
                  <a:pt x="146" y="314"/>
                </a:lnTo>
                <a:lnTo>
                  <a:pt x="146" y="292"/>
                </a:lnTo>
                <a:lnTo>
                  <a:pt x="146" y="292"/>
                </a:lnTo>
                <a:close/>
                <a:moveTo>
                  <a:pt x="244" y="292"/>
                </a:moveTo>
                <a:lnTo>
                  <a:pt x="244" y="292"/>
                </a:lnTo>
                <a:lnTo>
                  <a:pt x="280" y="292"/>
                </a:lnTo>
                <a:lnTo>
                  <a:pt x="280" y="292"/>
                </a:lnTo>
                <a:lnTo>
                  <a:pt x="280" y="314"/>
                </a:lnTo>
                <a:lnTo>
                  <a:pt x="280" y="314"/>
                </a:lnTo>
                <a:lnTo>
                  <a:pt x="244" y="314"/>
                </a:lnTo>
                <a:lnTo>
                  <a:pt x="244" y="314"/>
                </a:lnTo>
                <a:lnTo>
                  <a:pt x="244" y="292"/>
                </a:lnTo>
                <a:lnTo>
                  <a:pt x="244" y="292"/>
                </a:lnTo>
                <a:close/>
                <a:moveTo>
                  <a:pt x="304" y="292"/>
                </a:moveTo>
                <a:lnTo>
                  <a:pt x="304" y="292"/>
                </a:lnTo>
                <a:lnTo>
                  <a:pt x="323" y="292"/>
                </a:lnTo>
                <a:lnTo>
                  <a:pt x="323" y="292"/>
                </a:lnTo>
                <a:lnTo>
                  <a:pt x="323" y="314"/>
                </a:lnTo>
                <a:lnTo>
                  <a:pt x="323" y="314"/>
                </a:lnTo>
                <a:lnTo>
                  <a:pt x="304" y="314"/>
                </a:lnTo>
                <a:lnTo>
                  <a:pt x="304" y="314"/>
                </a:lnTo>
                <a:lnTo>
                  <a:pt x="304" y="292"/>
                </a:lnTo>
                <a:lnTo>
                  <a:pt x="304" y="292"/>
                </a:lnTo>
                <a:close/>
                <a:moveTo>
                  <a:pt x="347" y="292"/>
                </a:moveTo>
                <a:lnTo>
                  <a:pt x="347" y="292"/>
                </a:lnTo>
                <a:lnTo>
                  <a:pt x="371" y="292"/>
                </a:lnTo>
                <a:lnTo>
                  <a:pt x="371" y="292"/>
                </a:lnTo>
                <a:lnTo>
                  <a:pt x="371" y="314"/>
                </a:lnTo>
                <a:lnTo>
                  <a:pt x="371" y="314"/>
                </a:lnTo>
                <a:lnTo>
                  <a:pt x="347" y="314"/>
                </a:lnTo>
                <a:lnTo>
                  <a:pt x="347" y="314"/>
                </a:lnTo>
                <a:lnTo>
                  <a:pt x="347" y="292"/>
                </a:lnTo>
                <a:lnTo>
                  <a:pt x="347" y="292"/>
                </a:lnTo>
                <a:close/>
                <a:moveTo>
                  <a:pt x="201" y="33"/>
                </a:moveTo>
                <a:lnTo>
                  <a:pt x="201" y="33"/>
                </a:lnTo>
                <a:lnTo>
                  <a:pt x="225" y="33"/>
                </a:lnTo>
                <a:lnTo>
                  <a:pt x="225" y="33"/>
                </a:lnTo>
                <a:lnTo>
                  <a:pt x="225" y="50"/>
                </a:lnTo>
                <a:lnTo>
                  <a:pt x="225" y="50"/>
                </a:lnTo>
                <a:lnTo>
                  <a:pt x="201" y="50"/>
                </a:lnTo>
                <a:lnTo>
                  <a:pt x="201" y="50"/>
                </a:lnTo>
                <a:lnTo>
                  <a:pt x="201" y="33"/>
                </a:lnTo>
                <a:lnTo>
                  <a:pt x="201" y="33"/>
                </a:lnTo>
                <a:close/>
                <a:moveTo>
                  <a:pt x="146" y="33"/>
                </a:moveTo>
                <a:lnTo>
                  <a:pt x="177" y="33"/>
                </a:lnTo>
                <a:lnTo>
                  <a:pt x="177" y="50"/>
                </a:lnTo>
                <a:lnTo>
                  <a:pt x="146" y="50"/>
                </a:lnTo>
                <a:lnTo>
                  <a:pt x="146" y="33"/>
                </a:lnTo>
                <a:lnTo>
                  <a:pt x="146" y="33"/>
                </a:lnTo>
                <a:close/>
                <a:moveTo>
                  <a:pt x="244" y="33"/>
                </a:moveTo>
                <a:lnTo>
                  <a:pt x="244" y="33"/>
                </a:lnTo>
                <a:lnTo>
                  <a:pt x="280" y="33"/>
                </a:lnTo>
                <a:lnTo>
                  <a:pt x="280" y="33"/>
                </a:lnTo>
                <a:lnTo>
                  <a:pt x="280" y="50"/>
                </a:lnTo>
                <a:lnTo>
                  <a:pt x="280" y="50"/>
                </a:lnTo>
                <a:lnTo>
                  <a:pt x="244" y="50"/>
                </a:lnTo>
                <a:lnTo>
                  <a:pt x="244" y="50"/>
                </a:lnTo>
                <a:lnTo>
                  <a:pt x="244" y="33"/>
                </a:lnTo>
                <a:lnTo>
                  <a:pt x="244" y="33"/>
                </a:lnTo>
                <a:close/>
                <a:moveTo>
                  <a:pt x="304" y="33"/>
                </a:moveTo>
                <a:lnTo>
                  <a:pt x="304" y="33"/>
                </a:lnTo>
                <a:lnTo>
                  <a:pt x="323" y="33"/>
                </a:lnTo>
                <a:lnTo>
                  <a:pt x="323" y="33"/>
                </a:lnTo>
                <a:lnTo>
                  <a:pt x="323" y="50"/>
                </a:lnTo>
                <a:lnTo>
                  <a:pt x="323" y="50"/>
                </a:lnTo>
                <a:lnTo>
                  <a:pt x="304" y="50"/>
                </a:lnTo>
                <a:lnTo>
                  <a:pt x="304" y="50"/>
                </a:lnTo>
                <a:lnTo>
                  <a:pt x="304" y="33"/>
                </a:lnTo>
                <a:lnTo>
                  <a:pt x="304" y="33"/>
                </a:lnTo>
                <a:close/>
                <a:moveTo>
                  <a:pt x="347" y="33"/>
                </a:moveTo>
                <a:lnTo>
                  <a:pt x="371" y="33"/>
                </a:lnTo>
                <a:lnTo>
                  <a:pt x="371" y="50"/>
                </a:lnTo>
                <a:lnTo>
                  <a:pt x="347" y="50"/>
                </a:lnTo>
                <a:lnTo>
                  <a:pt x="347" y="33"/>
                </a:lnTo>
                <a:lnTo>
                  <a:pt x="347" y="33"/>
                </a:lnTo>
                <a:close/>
                <a:moveTo>
                  <a:pt x="470" y="180"/>
                </a:moveTo>
                <a:lnTo>
                  <a:pt x="715" y="180"/>
                </a:lnTo>
                <a:lnTo>
                  <a:pt x="715" y="201"/>
                </a:lnTo>
                <a:lnTo>
                  <a:pt x="470" y="201"/>
                </a:lnTo>
                <a:lnTo>
                  <a:pt x="470" y="180"/>
                </a:lnTo>
                <a:lnTo>
                  <a:pt x="470" y="180"/>
                </a:lnTo>
                <a:close/>
                <a:moveTo>
                  <a:pt x="470" y="259"/>
                </a:moveTo>
                <a:lnTo>
                  <a:pt x="470" y="259"/>
                </a:lnTo>
                <a:lnTo>
                  <a:pt x="715" y="259"/>
                </a:lnTo>
                <a:lnTo>
                  <a:pt x="715" y="259"/>
                </a:lnTo>
                <a:lnTo>
                  <a:pt x="715" y="280"/>
                </a:lnTo>
                <a:lnTo>
                  <a:pt x="715" y="280"/>
                </a:lnTo>
                <a:lnTo>
                  <a:pt x="470" y="280"/>
                </a:lnTo>
                <a:lnTo>
                  <a:pt x="470" y="280"/>
                </a:lnTo>
                <a:lnTo>
                  <a:pt x="470" y="259"/>
                </a:lnTo>
                <a:lnTo>
                  <a:pt x="470" y="259"/>
                </a:lnTo>
                <a:close/>
                <a:moveTo>
                  <a:pt x="470" y="307"/>
                </a:moveTo>
                <a:lnTo>
                  <a:pt x="470" y="307"/>
                </a:lnTo>
                <a:lnTo>
                  <a:pt x="715" y="307"/>
                </a:lnTo>
                <a:lnTo>
                  <a:pt x="715" y="307"/>
                </a:lnTo>
                <a:lnTo>
                  <a:pt x="715" y="328"/>
                </a:lnTo>
                <a:lnTo>
                  <a:pt x="715" y="328"/>
                </a:lnTo>
                <a:lnTo>
                  <a:pt x="470" y="328"/>
                </a:lnTo>
                <a:lnTo>
                  <a:pt x="470" y="328"/>
                </a:lnTo>
                <a:lnTo>
                  <a:pt x="470" y="307"/>
                </a:lnTo>
                <a:lnTo>
                  <a:pt x="470" y="307"/>
                </a:lnTo>
                <a:close/>
                <a:moveTo>
                  <a:pt x="470" y="347"/>
                </a:moveTo>
                <a:lnTo>
                  <a:pt x="715" y="347"/>
                </a:lnTo>
                <a:lnTo>
                  <a:pt x="715" y="369"/>
                </a:lnTo>
                <a:lnTo>
                  <a:pt x="470" y="369"/>
                </a:lnTo>
                <a:lnTo>
                  <a:pt x="470" y="347"/>
                </a:lnTo>
                <a:close/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" name="path 154"/>
          <p:cNvSpPr/>
          <p:nvPr/>
        </p:nvSpPr>
        <p:spPr>
          <a:xfrm>
            <a:off x="556260" y="2855975"/>
            <a:ext cx="539495" cy="272796"/>
          </a:xfrm>
          <a:custGeom>
            <a:avLst/>
            <a:gdLst/>
            <a:ahLst/>
            <a:cxnLst/>
            <a:rect l="0" t="0" r="0" b="0"/>
            <a:pathLst>
              <a:path w="849" h="429">
                <a:moveTo>
                  <a:pt x="0" y="429"/>
                </a:moveTo>
                <a:lnTo>
                  <a:pt x="91" y="429"/>
                </a:lnTo>
                <a:lnTo>
                  <a:pt x="403" y="429"/>
                </a:lnTo>
                <a:lnTo>
                  <a:pt x="439" y="429"/>
                </a:lnTo>
                <a:lnTo>
                  <a:pt x="775" y="429"/>
                </a:lnTo>
                <a:lnTo>
                  <a:pt x="849" y="429"/>
                </a:lnTo>
                <a:lnTo>
                  <a:pt x="849" y="398"/>
                </a:lnTo>
                <a:lnTo>
                  <a:pt x="775" y="398"/>
                </a:lnTo>
                <a:lnTo>
                  <a:pt x="775" y="141"/>
                </a:lnTo>
                <a:lnTo>
                  <a:pt x="439" y="141"/>
                </a:lnTo>
                <a:lnTo>
                  <a:pt x="439" y="0"/>
                </a:lnTo>
                <a:lnTo>
                  <a:pt x="91" y="0"/>
                </a:lnTo>
                <a:lnTo>
                  <a:pt x="91" y="398"/>
                </a:lnTo>
                <a:lnTo>
                  <a:pt x="0" y="398"/>
                </a:lnTo>
                <a:lnTo>
                  <a:pt x="0" y="429"/>
                </a:lnTo>
                <a:lnTo>
                  <a:pt x="0" y="429"/>
                </a:lnTo>
                <a:close/>
                <a:moveTo>
                  <a:pt x="470" y="213"/>
                </a:moveTo>
                <a:lnTo>
                  <a:pt x="470" y="213"/>
                </a:lnTo>
                <a:lnTo>
                  <a:pt x="715" y="213"/>
                </a:lnTo>
                <a:lnTo>
                  <a:pt x="715" y="213"/>
                </a:lnTo>
                <a:lnTo>
                  <a:pt x="715" y="235"/>
                </a:lnTo>
                <a:lnTo>
                  <a:pt x="715" y="235"/>
                </a:lnTo>
                <a:lnTo>
                  <a:pt x="470" y="235"/>
                </a:lnTo>
                <a:lnTo>
                  <a:pt x="470" y="235"/>
                </a:lnTo>
                <a:lnTo>
                  <a:pt x="470" y="213"/>
                </a:lnTo>
                <a:lnTo>
                  <a:pt x="470" y="213"/>
                </a:lnTo>
                <a:close/>
                <a:moveTo>
                  <a:pt x="201" y="338"/>
                </a:moveTo>
                <a:lnTo>
                  <a:pt x="201" y="338"/>
                </a:lnTo>
                <a:lnTo>
                  <a:pt x="225" y="338"/>
                </a:lnTo>
                <a:lnTo>
                  <a:pt x="225" y="338"/>
                </a:lnTo>
                <a:lnTo>
                  <a:pt x="225" y="360"/>
                </a:lnTo>
                <a:lnTo>
                  <a:pt x="225" y="360"/>
                </a:lnTo>
                <a:lnTo>
                  <a:pt x="201" y="360"/>
                </a:lnTo>
                <a:lnTo>
                  <a:pt x="201" y="360"/>
                </a:lnTo>
                <a:lnTo>
                  <a:pt x="201" y="338"/>
                </a:lnTo>
                <a:lnTo>
                  <a:pt x="201" y="338"/>
                </a:lnTo>
                <a:close/>
                <a:moveTo>
                  <a:pt x="146" y="338"/>
                </a:moveTo>
                <a:lnTo>
                  <a:pt x="177" y="338"/>
                </a:lnTo>
                <a:lnTo>
                  <a:pt x="177" y="360"/>
                </a:lnTo>
                <a:lnTo>
                  <a:pt x="146" y="360"/>
                </a:lnTo>
                <a:lnTo>
                  <a:pt x="146" y="338"/>
                </a:lnTo>
                <a:lnTo>
                  <a:pt x="146" y="338"/>
                </a:lnTo>
                <a:close/>
                <a:moveTo>
                  <a:pt x="244" y="338"/>
                </a:moveTo>
                <a:lnTo>
                  <a:pt x="244" y="338"/>
                </a:lnTo>
                <a:lnTo>
                  <a:pt x="280" y="338"/>
                </a:lnTo>
                <a:lnTo>
                  <a:pt x="280" y="338"/>
                </a:lnTo>
                <a:lnTo>
                  <a:pt x="280" y="360"/>
                </a:lnTo>
                <a:lnTo>
                  <a:pt x="280" y="360"/>
                </a:lnTo>
                <a:lnTo>
                  <a:pt x="244" y="360"/>
                </a:lnTo>
                <a:lnTo>
                  <a:pt x="244" y="360"/>
                </a:lnTo>
                <a:lnTo>
                  <a:pt x="244" y="338"/>
                </a:lnTo>
                <a:lnTo>
                  <a:pt x="244" y="338"/>
                </a:lnTo>
                <a:close/>
                <a:moveTo>
                  <a:pt x="304" y="338"/>
                </a:moveTo>
                <a:lnTo>
                  <a:pt x="304" y="338"/>
                </a:lnTo>
                <a:lnTo>
                  <a:pt x="323" y="338"/>
                </a:lnTo>
                <a:lnTo>
                  <a:pt x="323" y="338"/>
                </a:lnTo>
                <a:lnTo>
                  <a:pt x="323" y="360"/>
                </a:lnTo>
                <a:lnTo>
                  <a:pt x="323" y="360"/>
                </a:lnTo>
                <a:lnTo>
                  <a:pt x="304" y="360"/>
                </a:lnTo>
                <a:lnTo>
                  <a:pt x="304" y="360"/>
                </a:lnTo>
                <a:lnTo>
                  <a:pt x="304" y="338"/>
                </a:lnTo>
                <a:lnTo>
                  <a:pt x="304" y="338"/>
                </a:lnTo>
                <a:close/>
                <a:moveTo>
                  <a:pt x="347" y="338"/>
                </a:moveTo>
                <a:lnTo>
                  <a:pt x="371" y="338"/>
                </a:lnTo>
                <a:lnTo>
                  <a:pt x="371" y="360"/>
                </a:lnTo>
                <a:lnTo>
                  <a:pt x="347" y="360"/>
                </a:lnTo>
                <a:lnTo>
                  <a:pt x="347" y="338"/>
                </a:lnTo>
                <a:lnTo>
                  <a:pt x="347" y="338"/>
                </a:lnTo>
                <a:close/>
                <a:moveTo>
                  <a:pt x="201" y="84"/>
                </a:moveTo>
                <a:lnTo>
                  <a:pt x="201" y="84"/>
                </a:lnTo>
                <a:lnTo>
                  <a:pt x="225" y="84"/>
                </a:lnTo>
                <a:lnTo>
                  <a:pt x="225" y="84"/>
                </a:lnTo>
                <a:lnTo>
                  <a:pt x="225" y="103"/>
                </a:lnTo>
                <a:lnTo>
                  <a:pt x="225" y="103"/>
                </a:lnTo>
                <a:lnTo>
                  <a:pt x="201" y="103"/>
                </a:lnTo>
                <a:lnTo>
                  <a:pt x="201" y="103"/>
                </a:lnTo>
                <a:lnTo>
                  <a:pt x="201" y="84"/>
                </a:lnTo>
                <a:lnTo>
                  <a:pt x="201" y="84"/>
                </a:lnTo>
                <a:close/>
                <a:moveTo>
                  <a:pt x="146" y="84"/>
                </a:moveTo>
                <a:lnTo>
                  <a:pt x="146" y="84"/>
                </a:lnTo>
                <a:lnTo>
                  <a:pt x="177" y="84"/>
                </a:lnTo>
                <a:lnTo>
                  <a:pt x="177" y="84"/>
                </a:lnTo>
                <a:lnTo>
                  <a:pt x="177" y="103"/>
                </a:lnTo>
                <a:lnTo>
                  <a:pt x="177" y="103"/>
                </a:lnTo>
                <a:lnTo>
                  <a:pt x="146" y="103"/>
                </a:lnTo>
                <a:lnTo>
                  <a:pt x="146" y="103"/>
                </a:lnTo>
                <a:lnTo>
                  <a:pt x="146" y="84"/>
                </a:lnTo>
                <a:lnTo>
                  <a:pt x="146" y="84"/>
                </a:lnTo>
                <a:close/>
                <a:moveTo>
                  <a:pt x="244" y="84"/>
                </a:moveTo>
                <a:lnTo>
                  <a:pt x="244" y="84"/>
                </a:lnTo>
                <a:lnTo>
                  <a:pt x="280" y="84"/>
                </a:lnTo>
                <a:lnTo>
                  <a:pt x="280" y="84"/>
                </a:lnTo>
                <a:lnTo>
                  <a:pt x="280" y="103"/>
                </a:lnTo>
                <a:lnTo>
                  <a:pt x="280" y="103"/>
                </a:lnTo>
                <a:lnTo>
                  <a:pt x="244" y="103"/>
                </a:lnTo>
                <a:lnTo>
                  <a:pt x="244" y="103"/>
                </a:lnTo>
                <a:lnTo>
                  <a:pt x="244" y="84"/>
                </a:lnTo>
                <a:lnTo>
                  <a:pt x="244" y="84"/>
                </a:lnTo>
                <a:close/>
                <a:moveTo>
                  <a:pt x="304" y="84"/>
                </a:moveTo>
                <a:lnTo>
                  <a:pt x="304" y="84"/>
                </a:lnTo>
                <a:lnTo>
                  <a:pt x="323" y="84"/>
                </a:lnTo>
                <a:lnTo>
                  <a:pt x="323" y="84"/>
                </a:lnTo>
                <a:lnTo>
                  <a:pt x="323" y="103"/>
                </a:lnTo>
                <a:lnTo>
                  <a:pt x="323" y="103"/>
                </a:lnTo>
                <a:lnTo>
                  <a:pt x="304" y="103"/>
                </a:lnTo>
                <a:lnTo>
                  <a:pt x="304" y="103"/>
                </a:lnTo>
                <a:lnTo>
                  <a:pt x="304" y="84"/>
                </a:lnTo>
                <a:lnTo>
                  <a:pt x="304" y="84"/>
                </a:lnTo>
                <a:close/>
                <a:moveTo>
                  <a:pt x="347" y="84"/>
                </a:moveTo>
                <a:lnTo>
                  <a:pt x="347" y="84"/>
                </a:lnTo>
                <a:lnTo>
                  <a:pt x="371" y="84"/>
                </a:lnTo>
                <a:lnTo>
                  <a:pt x="371" y="84"/>
                </a:lnTo>
                <a:lnTo>
                  <a:pt x="371" y="103"/>
                </a:lnTo>
                <a:lnTo>
                  <a:pt x="371" y="103"/>
                </a:lnTo>
                <a:lnTo>
                  <a:pt x="347" y="103"/>
                </a:lnTo>
                <a:lnTo>
                  <a:pt x="347" y="103"/>
                </a:lnTo>
                <a:lnTo>
                  <a:pt x="347" y="84"/>
                </a:lnTo>
                <a:lnTo>
                  <a:pt x="347" y="84"/>
                </a:lnTo>
                <a:close/>
                <a:moveTo>
                  <a:pt x="201" y="134"/>
                </a:moveTo>
                <a:lnTo>
                  <a:pt x="201" y="134"/>
                </a:lnTo>
                <a:lnTo>
                  <a:pt x="225" y="134"/>
                </a:lnTo>
                <a:lnTo>
                  <a:pt x="225" y="134"/>
                </a:lnTo>
                <a:lnTo>
                  <a:pt x="225" y="156"/>
                </a:lnTo>
                <a:lnTo>
                  <a:pt x="225" y="156"/>
                </a:lnTo>
                <a:lnTo>
                  <a:pt x="201" y="156"/>
                </a:lnTo>
                <a:lnTo>
                  <a:pt x="201" y="156"/>
                </a:lnTo>
                <a:lnTo>
                  <a:pt x="201" y="134"/>
                </a:lnTo>
                <a:lnTo>
                  <a:pt x="201" y="134"/>
                </a:lnTo>
                <a:close/>
                <a:moveTo>
                  <a:pt x="146" y="134"/>
                </a:moveTo>
                <a:lnTo>
                  <a:pt x="146" y="134"/>
                </a:lnTo>
                <a:lnTo>
                  <a:pt x="177" y="134"/>
                </a:lnTo>
                <a:lnTo>
                  <a:pt x="177" y="134"/>
                </a:lnTo>
                <a:lnTo>
                  <a:pt x="177" y="156"/>
                </a:lnTo>
                <a:lnTo>
                  <a:pt x="177" y="156"/>
                </a:lnTo>
                <a:lnTo>
                  <a:pt x="146" y="156"/>
                </a:lnTo>
                <a:lnTo>
                  <a:pt x="146" y="156"/>
                </a:lnTo>
                <a:lnTo>
                  <a:pt x="146" y="134"/>
                </a:lnTo>
                <a:lnTo>
                  <a:pt x="146" y="134"/>
                </a:lnTo>
                <a:close/>
                <a:moveTo>
                  <a:pt x="244" y="134"/>
                </a:moveTo>
                <a:lnTo>
                  <a:pt x="244" y="134"/>
                </a:lnTo>
                <a:lnTo>
                  <a:pt x="280" y="134"/>
                </a:lnTo>
                <a:lnTo>
                  <a:pt x="280" y="134"/>
                </a:lnTo>
                <a:lnTo>
                  <a:pt x="280" y="156"/>
                </a:lnTo>
                <a:lnTo>
                  <a:pt x="280" y="156"/>
                </a:lnTo>
                <a:lnTo>
                  <a:pt x="244" y="156"/>
                </a:lnTo>
                <a:lnTo>
                  <a:pt x="244" y="156"/>
                </a:lnTo>
                <a:lnTo>
                  <a:pt x="244" y="134"/>
                </a:lnTo>
                <a:lnTo>
                  <a:pt x="244" y="134"/>
                </a:lnTo>
                <a:close/>
                <a:moveTo>
                  <a:pt x="304" y="134"/>
                </a:moveTo>
                <a:lnTo>
                  <a:pt x="304" y="134"/>
                </a:lnTo>
                <a:lnTo>
                  <a:pt x="323" y="134"/>
                </a:lnTo>
                <a:lnTo>
                  <a:pt x="323" y="134"/>
                </a:lnTo>
                <a:lnTo>
                  <a:pt x="323" y="156"/>
                </a:lnTo>
                <a:lnTo>
                  <a:pt x="323" y="156"/>
                </a:lnTo>
                <a:lnTo>
                  <a:pt x="304" y="156"/>
                </a:lnTo>
                <a:lnTo>
                  <a:pt x="304" y="156"/>
                </a:lnTo>
                <a:lnTo>
                  <a:pt x="304" y="134"/>
                </a:lnTo>
                <a:lnTo>
                  <a:pt x="304" y="134"/>
                </a:lnTo>
                <a:close/>
                <a:moveTo>
                  <a:pt x="347" y="134"/>
                </a:moveTo>
                <a:lnTo>
                  <a:pt x="347" y="134"/>
                </a:lnTo>
                <a:lnTo>
                  <a:pt x="371" y="134"/>
                </a:lnTo>
                <a:lnTo>
                  <a:pt x="371" y="134"/>
                </a:lnTo>
                <a:lnTo>
                  <a:pt x="371" y="156"/>
                </a:lnTo>
                <a:lnTo>
                  <a:pt x="371" y="156"/>
                </a:lnTo>
                <a:lnTo>
                  <a:pt x="347" y="156"/>
                </a:lnTo>
                <a:lnTo>
                  <a:pt x="347" y="156"/>
                </a:lnTo>
                <a:lnTo>
                  <a:pt x="347" y="134"/>
                </a:lnTo>
                <a:lnTo>
                  <a:pt x="347" y="134"/>
                </a:lnTo>
                <a:close/>
                <a:moveTo>
                  <a:pt x="201" y="180"/>
                </a:moveTo>
                <a:lnTo>
                  <a:pt x="201" y="180"/>
                </a:lnTo>
                <a:lnTo>
                  <a:pt x="225" y="180"/>
                </a:lnTo>
                <a:lnTo>
                  <a:pt x="225" y="180"/>
                </a:lnTo>
                <a:lnTo>
                  <a:pt x="225" y="206"/>
                </a:lnTo>
                <a:lnTo>
                  <a:pt x="225" y="206"/>
                </a:lnTo>
                <a:lnTo>
                  <a:pt x="201" y="206"/>
                </a:lnTo>
                <a:lnTo>
                  <a:pt x="201" y="206"/>
                </a:lnTo>
                <a:lnTo>
                  <a:pt x="201" y="180"/>
                </a:lnTo>
                <a:lnTo>
                  <a:pt x="201" y="180"/>
                </a:lnTo>
                <a:close/>
                <a:moveTo>
                  <a:pt x="146" y="180"/>
                </a:moveTo>
                <a:lnTo>
                  <a:pt x="146" y="180"/>
                </a:lnTo>
                <a:lnTo>
                  <a:pt x="177" y="180"/>
                </a:lnTo>
                <a:lnTo>
                  <a:pt x="177" y="180"/>
                </a:lnTo>
                <a:lnTo>
                  <a:pt x="177" y="206"/>
                </a:lnTo>
                <a:lnTo>
                  <a:pt x="177" y="206"/>
                </a:lnTo>
                <a:lnTo>
                  <a:pt x="146" y="206"/>
                </a:lnTo>
                <a:lnTo>
                  <a:pt x="146" y="206"/>
                </a:lnTo>
                <a:lnTo>
                  <a:pt x="146" y="180"/>
                </a:lnTo>
                <a:lnTo>
                  <a:pt x="146" y="180"/>
                </a:lnTo>
                <a:close/>
                <a:moveTo>
                  <a:pt x="244" y="180"/>
                </a:moveTo>
                <a:lnTo>
                  <a:pt x="244" y="180"/>
                </a:lnTo>
                <a:lnTo>
                  <a:pt x="280" y="180"/>
                </a:lnTo>
                <a:lnTo>
                  <a:pt x="280" y="180"/>
                </a:lnTo>
                <a:lnTo>
                  <a:pt x="280" y="206"/>
                </a:lnTo>
                <a:lnTo>
                  <a:pt x="280" y="206"/>
                </a:lnTo>
                <a:lnTo>
                  <a:pt x="244" y="206"/>
                </a:lnTo>
                <a:lnTo>
                  <a:pt x="244" y="206"/>
                </a:lnTo>
                <a:lnTo>
                  <a:pt x="244" y="180"/>
                </a:lnTo>
                <a:lnTo>
                  <a:pt x="244" y="180"/>
                </a:lnTo>
                <a:close/>
                <a:moveTo>
                  <a:pt x="304" y="180"/>
                </a:moveTo>
                <a:lnTo>
                  <a:pt x="304" y="180"/>
                </a:lnTo>
                <a:lnTo>
                  <a:pt x="323" y="180"/>
                </a:lnTo>
                <a:lnTo>
                  <a:pt x="323" y="180"/>
                </a:lnTo>
                <a:lnTo>
                  <a:pt x="323" y="206"/>
                </a:lnTo>
                <a:lnTo>
                  <a:pt x="323" y="206"/>
                </a:lnTo>
                <a:lnTo>
                  <a:pt x="304" y="206"/>
                </a:lnTo>
                <a:lnTo>
                  <a:pt x="304" y="206"/>
                </a:lnTo>
                <a:lnTo>
                  <a:pt x="304" y="180"/>
                </a:lnTo>
                <a:lnTo>
                  <a:pt x="304" y="180"/>
                </a:lnTo>
                <a:close/>
                <a:moveTo>
                  <a:pt x="347" y="180"/>
                </a:moveTo>
                <a:lnTo>
                  <a:pt x="347" y="180"/>
                </a:lnTo>
                <a:lnTo>
                  <a:pt x="371" y="180"/>
                </a:lnTo>
                <a:lnTo>
                  <a:pt x="371" y="180"/>
                </a:lnTo>
                <a:lnTo>
                  <a:pt x="371" y="206"/>
                </a:lnTo>
                <a:lnTo>
                  <a:pt x="371" y="206"/>
                </a:lnTo>
                <a:lnTo>
                  <a:pt x="347" y="206"/>
                </a:lnTo>
                <a:lnTo>
                  <a:pt x="347" y="206"/>
                </a:lnTo>
                <a:lnTo>
                  <a:pt x="347" y="180"/>
                </a:lnTo>
                <a:lnTo>
                  <a:pt x="347" y="180"/>
                </a:lnTo>
                <a:close/>
                <a:moveTo>
                  <a:pt x="201" y="235"/>
                </a:moveTo>
                <a:lnTo>
                  <a:pt x="201" y="235"/>
                </a:lnTo>
                <a:lnTo>
                  <a:pt x="225" y="235"/>
                </a:lnTo>
                <a:lnTo>
                  <a:pt x="225" y="235"/>
                </a:lnTo>
                <a:lnTo>
                  <a:pt x="225" y="252"/>
                </a:lnTo>
                <a:lnTo>
                  <a:pt x="225" y="252"/>
                </a:lnTo>
                <a:lnTo>
                  <a:pt x="201" y="252"/>
                </a:lnTo>
                <a:lnTo>
                  <a:pt x="201" y="252"/>
                </a:lnTo>
                <a:lnTo>
                  <a:pt x="201" y="235"/>
                </a:lnTo>
                <a:lnTo>
                  <a:pt x="201" y="235"/>
                </a:lnTo>
                <a:close/>
                <a:moveTo>
                  <a:pt x="146" y="235"/>
                </a:moveTo>
                <a:lnTo>
                  <a:pt x="146" y="235"/>
                </a:lnTo>
                <a:lnTo>
                  <a:pt x="177" y="235"/>
                </a:lnTo>
                <a:lnTo>
                  <a:pt x="177" y="235"/>
                </a:lnTo>
                <a:lnTo>
                  <a:pt x="177" y="252"/>
                </a:lnTo>
                <a:lnTo>
                  <a:pt x="177" y="252"/>
                </a:lnTo>
                <a:lnTo>
                  <a:pt x="146" y="252"/>
                </a:lnTo>
                <a:lnTo>
                  <a:pt x="146" y="252"/>
                </a:lnTo>
                <a:lnTo>
                  <a:pt x="146" y="235"/>
                </a:lnTo>
                <a:lnTo>
                  <a:pt x="146" y="235"/>
                </a:lnTo>
                <a:close/>
                <a:moveTo>
                  <a:pt x="244" y="235"/>
                </a:moveTo>
                <a:lnTo>
                  <a:pt x="244" y="235"/>
                </a:lnTo>
                <a:lnTo>
                  <a:pt x="280" y="235"/>
                </a:lnTo>
                <a:lnTo>
                  <a:pt x="280" y="235"/>
                </a:lnTo>
                <a:lnTo>
                  <a:pt x="280" y="252"/>
                </a:lnTo>
                <a:lnTo>
                  <a:pt x="280" y="252"/>
                </a:lnTo>
                <a:lnTo>
                  <a:pt x="244" y="252"/>
                </a:lnTo>
                <a:lnTo>
                  <a:pt x="244" y="252"/>
                </a:lnTo>
                <a:lnTo>
                  <a:pt x="244" y="235"/>
                </a:lnTo>
                <a:lnTo>
                  <a:pt x="244" y="235"/>
                </a:lnTo>
                <a:close/>
                <a:moveTo>
                  <a:pt x="304" y="235"/>
                </a:moveTo>
                <a:lnTo>
                  <a:pt x="304" y="235"/>
                </a:lnTo>
                <a:lnTo>
                  <a:pt x="323" y="235"/>
                </a:lnTo>
                <a:lnTo>
                  <a:pt x="323" y="235"/>
                </a:lnTo>
                <a:lnTo>
                  <a:pt x="323" y="252"/>
                </a:lnTo>
                <a:lnTo>
                  <a:pt x="323" y="252"/>
                </a:lnTo>
                <a:lnTo>
                  <a:pt x="304" y="252"/>
                </a:lnTo>
                <a:lnTo>
                  <a:pt x="304" y="252"/>
                </a:lnTo>
                <a:lnTo>
                  <a:pt x="304" y="235"/>
                </a:lnTo>
                <a:lnTo>
                  <a:pt x="304" y="235"/>
                </a:lnTo>
                <a:close/>
                <a:moveTo>
                  <a:pt x="347" y="235"/>
                </a:moveTo>
                <a:lnTo>
                  <a:pt x="347" y="235"/>
                </a:lnTo>
                <a:lnTo>
                  <a:pt x="371" y="235"/>
                </a:lnTo>
                <a:lnTo>
                  <a:pt x="371" y="235"/>
                </a:lnTo>
                <a:lnTo>
                  <a:pt x="371" y="252"/>
                </a:lnTo>
                <a:lnTo>
                  <a:pt x="371" y="252"/>
                </a:lnTo>
                <a:lnTo>
                  <a:pt x="347" y="252"/>
                </a:lnTo>
                <a:lnTo>
                  <a:pt x="347" y="252"/>
                </a:lnTo>
                <a:lnTo>
                  <a:pt x="347" y="235"/>
                </a:lnTo>
                <a:lnTo>
                  <a:pt x="347" y="235"/>
                </a:lnTo>
                <a:close/>
                <a:moveTo>
                  <a:pt x="201" y="283"/>
                </a:moveTo>
                <a:lnTo>
                  <a:pt x="201" y="283"/>
                </a:lnTo>
                <a:lnTo>
                  <a:pt x="225" y="283"/>
                </a:lnTo>
                <a:lnTo>
                  <a:pt x="225" y="283"/>
                </a:lnTo>
                <a:lnTo>
                  <a:pt x="225" y="304"/>
                </a:lnTo>
                <a:lnTo>
                  <a:pt x="225" y="304"/>
                </a:lnTo>
                <a:lnTo>
                  <a:pt x="201" y="304"/>
                </a:lnTo>
                <a:lnTo>
                  <a:pt x="201" y="304"/>
                </a:lnTo>
                <a:lnTo>
                  <a:pt x="201" y="283"/>
                </a:lnTo>
                <a:lnTo>
                  <a:pt x="201" y="283"/>
                </a:lnTo>
                <a:close/>
                <a:moveTo>
                  <a:pt x="146" y="283"/>
                </a:moveTo>
                <a:lnTo>
                  <a:pt x="146" y="283"/>
                </a:lnTo>
                <a:lnTo>
                  <a:pt x="177" y="283"/>
                </a:lnTo>
                <a:lnTo>
                  <a:pt x="177" y="283"/>
                </a:lnTo>
                <a:lnTo>
                  <a:pt x="177" y="304"/>
                </a:lnTo>
                <a:lnTo>
                  <a:pt x="177" y="304"/>
                </a:lnTo>
                <a:lnTo>
                  <a:pt x="146" y="304"/>
                </a:lnTo>
                <a:lnTo>
                  <a:pt x="146" y="304"/>
                </a:lnTo>
                <a:lnTo>
                  <a:pt x="146" y="283"/>
                </a:lnTo>
                <a:lnTo>
                  <a:pt x="146" y="283"/>
                </a:lnTo>
                <a:close/>
                <a:moveTo>
                  <a:pt x="244" y="283"/>
                </a:moveTo>
                <a:lnTo>
                  <a:pt x="244" y="283"/>
                </a:lnTo>
                <a:lnTo>
                  <a:pt x="280" y="283"/>
                </a:lnTo>
                <a:lnTo>
                  <a:pt x="280" y="283"/>
                </a:lnTo>
                <a:lnTo>
                  <a:pt x="280" y="304"/>
                </a:lnTo>
                <a:lnTo>
                  <a:pt x="280" y="304"/>
                </a:lnTo>
                <a:lnTo>
                  <a:pt x="244" y="304"/>
                </a:lnTo>
                <a:lnTo>
                  <a:pt x="244" y="304"/>
                </a:lnTo>
                <a:lnTo>
                  <a:pt x="244" y="283"/>
                </a:lnTo>
                <a:lnTo>
                  <a:pt x="244" y="283"/>
                </a:lnTo>
                <a:close/>
                <a:moveTo>
                  <a:pt x="304" y="283"/>
                </a:moveTo>
                <a:lnTo>
                  <a:pt x="304" y="283"/>
                </a:lnTo>
                <a:lnTo>
                  <a:pt x="323" y="283"/>
                </a:lnTo>
                <a:lnTo>
                  <a:pt x="323" y="283"/>
                </a:lnTo>
                <a:lnTo>
                  <a:pt x="323" y="304"/>
                </a:lnTo>
                <a:lnTo>
                  <a:pt x="323" y="304"/>
                </a:lnTo>
                <a:lnTo>
                  <a:pt x="304" y="304"/>
                </a:lnTo>
                <a:lnTo>
                  <a:pt x="304" y="304"/>
                </a:lnTo>
                <a:lnTo>
                  <a:pt x="304" y="283"/>
                </a:lnTo>
                <a:lnTo>
                  <a:pt x="304" y="283"/>
                </a:lnTo>
                <a:close/>
                <a:moveTo>
                  <a:pt x="347" y="283"/>
                </a:moveTo>
                <a:lnTo>
                  <a:pt x="347" y="283"/>
                </a:lnTo>
                <a:lnTo>
                  <a:pt x="371" y="283"/>
                </a:lnTo>
                <a:lnTo>
                  <a:pt x="371" y="283"/>
                </a:lnTo>
                <a:lnTo>
                  <a:pt x="371" y="304"/>
                </a:lnTo>
                <a:lnTo>
                  <a:pt x="371" y="304"/>
                </a:lnTo>
                <a:lnTo>
                  <a:pt x="347" y="304"/>
                </a:lnTo>
                <a:lnTo>
                  <a:pt x="347" y="304"/>
                </a:lnTo>
                <a:lnTo>
                  <a:pt x="347" y="283"/>
                </a:lnTo>
                <a:lnTo>
                  <a:pt x="347" y="283"/>
                </a:lnTo>
                <a:close/>
                <a:moveTo>
                  <a:pt x="201" y="31"/>
                </a:moveTo>
                <a:lnTo>
                  <a:pt x="201" y="31"/>
                </a:lnTo>
                <a:lnTo>
                  <a:pt x="225" y="31"/>
                </a:lnTo>
                <a:lnTo>
                  <a:pt x="225" y="31"/>
                </a:lnTo>
                <a:lnTo>
                  <a:pt x="225" y="48"/>
                </a:lnTo>
                <a:lnTo>
                  <a:pt x="225" y="48"/>
                </a:lnTo>
                <a:lnTo>
                  <a:pt x="201" y="48"/>
                </a:lnTo>
                <a:lnTo>
                  <a:pt x="201" y="48"/>
                </a:lnTo>
                <a:lnTo>
                  <a:pt x="201" y="31"/>
                </a:lnTo>
                <a:lnTo>
                  <a:pt x="201" y="31"/>
                </a:lnTo>
                <a:close/>
                <a:moveTo>
                  <a:pt x="146" y="31"/>
                </a:moveTo>
                <a:lnTo>
                  <a:pt x="177" y="31"/>
                </a:lnTo>
                <a:lnTo>
                  <a:pt x="177" y="48"/>
                </a:lnTo>
                <a:lnTo>
                  <a:pt x="146" y="48"/>
                </a:lnTo>
                <a:lnTo>
                  <a:pt x="146" y="31"/>
                </a:lnTo>
                <a:lnTo>
                  <a:pt x="146" y="31"/>
                </a:lnTo>
                <a:close/>
                <a:moveTo>
                  <a:pt x="244" y="31"/>
                </a:moveTo>
                <a:lnTo>
                  <a:pt x="244" y="31"/>
                </a:lnTo>
                <a:lnTo>
                  <a:pt x="280" y="31"/>
                </a:lnTo>
                <a:lnTo>
                  <a:pt x="280" y="31"/>
                </a:lnTo>
                <a:lnTo>
                  <a:pt x="280" y="48"/>
                </a:lnTo>
                <a:lnTo>
                  <a:pt x="280" y="48"/>
                </a:lnTo>
                <a:lnTo>
                  <a:pt x="244" y="48"/>
                </a:lnTo>
                <a:lnTo>
                  <a:pt x="244" y="48"/>
                </a:lnTo>
                <a:lnTo>
                  <a:pt x="244" y="31"/>
                </a:lnTo>
                <a:lnTo>
                  <a:pt x="244" y="31"/>
                </a:lnTo>
                <a:close/>
                <a:moveTo>
                  <a:pt x="304" y="31"/>
                </a:moveTo>
                <a:lnTo>
                  <a:pt x="304" y="31"/>
                </a:lnTo>
                <a:lnTo>
                  <a:pt x="323" y="31"/>
                </a:lnTo>
                <a:lnTo>
                  <a:pt x="323" y="31"/>
                </a:lnTo>
                <a:lnTo>
                  <a:pt x="323" y="48"/>
                </a:lnTo>
                <a:lnTo>
                  <a:pt x="323" y="48"/>
                </a:lnTo>
                <a:lnTo>
                  <a:pt x="304" y="48"/>
                </a:lnTo>
                <a:lnTo>
                  <a:pt x="304" y="48"/>
                </a:lnTo>
                <a:lnTo>
                  <a:pt x="304" y="31"/>
                </a:lnTo>
                <a:lnTo>
                  <a:pt x="304" y="31"/>
                </a:lnTo>
                <a:close/>
                <a:moveTo>
                  <a:pt x="347" y="31"/>
                </a:moveTo>
                <a:lnTo>
                  <a:pt x="371" y="31"/>
                </a:lnTo>
                <a:lnTo>
                  <a:pt x="371" y="48"/>
                </a:lnTo>
                <a:lnTo>
                  <a:pt x="347" y="48"/>
                </a:lnTo>
                <a:lnTo>
                  <a:pt x="347" y="31"/>
                </a:lnTo>
                <a:lnTo>
                  <a:pt x="347" y="31"/>
                </a:lnTo>
                <a:close/>
                <a:moveTo>
                  <a:pt x="470" y="172"/>
                </a:moveTo>
                <a:lnTo>
                  <a:pt x="715" y="172"/>
                </a:lnTo>
                <a:lnTo>
                  <a:pt x="715" y="194"/>
                </a:lnTo>
                <a:lnTo>
                  <a:pt x="470" y="194"/>
                </a:lnTo>
                <a:lnTo>
                  <a:pt x="470" y="172"/>
                </a:lnTo>
                <a:lnTo>
                  <a:pt x="470" y="172"/>
                </a:lnTo>
                <a:close/>
                <a:moveTo>
                  <a:pt x="470" y="252"/>
                </a:moveTo>
                <a:lnTo>
                  <a:pt x="470" y="252"/>
                </a:lnTo>
                <a:lnTo>
                  <a:pt x="715" y="252"/>
                </a:lnTo>
                <a:lnTo>
                  <a:pt x="715" y="252"/>
                </a:lnTo>
                <a:lnTo>
                  <a:pt x="715" y="273"/>
                </a:lnTo>
                <a:lnTo>
                  <a:pt x="715" y="273"/>
                </a:lnTo>
                <a:lnTo>
                  <a:pt x="470" y="273"/>
                </a:lnTo>
                <a:lnTo>
                  <a:pt x="470" y="273"/>
                </a:lnTo>
                <a:lnTo>
                  <a:pt x="470" y="252"/>
                </a:lnTo>
                <a:lnTo>
                  <a:pt x="470" y="252"/>
                </a:lnTo>
                <a:close/>
                <a:moveTo>
                  <a:pt x="470" y="297"/>
                </a:moveTo>
                <a:lnTo>
                  <a:pt x="470" y="297"/>
                </a:lnTo>
                <a:lnTo>
                  <a:pt x="715" y="297"/>
                </a:lnTo>
                <a:lnTo>
                  <a:pt x="715" y="297"/>
                </a:lnTo>
                <a:lnTo>
                  <a:pt x="715" y="319"/>
                </a:lnTo>
                <a:lnTo>
                  <a:pt x="715" y="319"/>
                </a:lnTo>
                <a:lnTo>
                  <a:pt x="470" y="319"/>
                </a:lnTo>
                <a:lnTo>
                  <a:pt x="470" y="319"/>
                </a:lnTo>
                <a:lnTo>
                  <a:pt x="470" y="297"/>
                </a:lnTo>
                <a:lnTo>
                  <a:pt x="470" y="297"/>
                </a:lnTo>
                <a:close/>
                <a:moveTo>
                  <a:pt x="470" y="338"/>
                </a:moveTo>
                <a:lnTo>
                  <a:pt x="715" y="338"/>
                </a:lnTo>
                <a:lnTo>
                  <a:pt x="715" y="360"/>
                </a:lnTo>
                <a:lnTo>
                  <a:pt x="470" y="360"/>
                </a:lnTo>
                <a:lnTo>
                  <a:pt x="470" y="338"/>
                </a:lnTo>
                <a:close/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" name="path 156"/>
          <p:cNvSpPr/>
          <p:nvPr/>
        </p:nvSpPr>
        <p:spPr>
          <a:xfrm>
            <a:off x="3749039" y="2154935"/>
            <a:ext cx="470915" cy="245364"/>
          </a:xfrm>
          <a:custGeom>
            <a:avLst/>
            <a:gdLst/>
            <a:ahLst/>
            <a:cxnLst/>
            <a:rect l="0" t="0" r="0" b="0"/>
            <a:pathLst>
              <a:path w="741" h="386">
                <a:moveTo>
                  <a:pt x="259" y="0"/>
                </a:moveTo>
                <a:moveTo>
                  <a:pt x="259" y="0"/>
                </a:moveTo>
                <a:lnTo>
                  <a:pt x="259" y="0"/>
                </a:lnTo>
                <a:lnTo>
                  <a:pt x="300" y="4"/>
                </a:lnTo>
                <a:lnTo>
                  <a:pt x="335" y="16"/>
                </a:lnTo>
                <a:lnTo>
                  <a:pt x="335" y="16"/>
                </a:lnTo>
                <a:lnTo>
                  <a:pt x="357" y="12"/>
                </a:lnTo>
                <a:lnTo>
                  <a:pt x="383" y="9"/>
                </a:lnTo>
                <a:lnTo>
                  <a:pt x="383" y="9"/>
                </a:lnTo>
                <a:lnTo>
                  <a:pt x="424" y="12"/>
                </a:lnTo>
                <a:lnTo>
                  <a:pt x="448" y="26"/>
                </a:lnTo>
                <a:lnTo>
                  <a:pt x="448" y="26"/>
                </a:lnTo>
                <a:lnTo>
                  <a:pt x="480" y="16"/>
                </a:lnTo>
                <a:lnTo>
                  <a:pt x="506" y="12"/>
                </a:lnTo>
                <a:lnTo>
                  <a:pt x="506" y="12"/>
                </a:lnTo>
                <a:lnTo>
                  <a:pt x="535" y="12"/>
                </a:lnTo>
                <a:lnTo>
                  <a:pt x="542" y="16"/>
                </a:lnTo>
                <a:lnTo>
                  <a:pt x="571" y="31"/>
                </a:lnTo>
                <a:lnTo>
                  <a:pt x="571" y="31"/>
                </a:lnTo>
                <a:lnTo>
                  <a:pt x="597" y="26"/>
                </a:lnTo>
                <a:lnTo>
                  <a:pt x="597" y="26"/>
                </a:lnTo>
                <a:lnTo>
                  <a:pt x="628" y="31"/>
                </a:lnTo>
                <a:lnTo>
                  <a:pt x="647" y="35"/>
                </a:lnTo>
                <a:lnTo>
                  <a:pt x="652" y="43"/>
                </a:lnTo>
                <a:lnTo>
                  <a:pt x="664" y="57"/>
                </a:lnTo>
                <a:lnTo>
                  <a:pt x="664" y="57"/>
                </a:lnTo>
                <a:lnTo>
                  <a:pt x="652" y="69"/>
                </a:lnTo>
                <a:lnTo>
                  <a:pt x="638" y="79"/>
                </a:lnTo>
                <a:lnTo>
                  <a:pt x="638" y="79"/>
                </a:lnTo>
                <a:lnTo>
                  <a:pt x="647" y="88"/>
                </a:lnTo>
                <a:lnTo>
                  <a:pt x="647" y="88"/>
                </a:lnTo>
                <a:lnTo>
                  <a:pt x="647" y="93"/>
                </a:lnTo>
                <a:lnTo>
                  <a:pt x="515" y="93"/>
                </a:lnTo>
                <a:lnTo>
                  <a:pt x="515" y="93"/>
                </a:lnTo>
                <a:lnTo>
                  <a:pt x="515" y="88"/>
                </a:lnTo>
                <a:lnTo>
                  <a:pt x="515" y="88"/>
                </a:lnTo>
                <a:lnTo>
                  <a:pt x="515" y="79"/>
                </a:lnTo>
                <a:lnTo>
                  <a:pt x="515" y="79"/>
                </a:lnTo>
                <a:lnTo>
                  <a:pt x="506" y="79"/>
                </a:lnTo>
                <a:lnTo>
                  <a:pt x="506" y="79"/>
                </a:lnTo>
                <a:lnTo>
                  <a:pt x="484" y="74"/>
                </a:lnTo>
                <a:lnTo>
                  <a:pt x="460" y="67"/>
                </a:lnTo>
                <a:lnTo>
                  <a:pt x="460" y="67"/>
                </a:lnTo>
                <a:lnTo>
                  <a:pt x="448" y="79"/>
                </a:lnTo>
                <a:lnTo>
                  <a:pt x="429" y="84"/>
                </a:lnTo>
                <a:lnTo>
                  <a:pt x="403" y="88"/>
                </a:lnTo>
                <a:lnTo>
                  <a:pt x="383" y="93"/>
                </a:lnTo>
                <a:lnTo>
                  <a:pt x="383" y="93"/>
                </a:lnTo>
                <a:lnTo>
                  <a:pt x="347" y="88"/>
                </a:lnTo>
                <a:lnTo>
                  <a:pt x="326" y="79"/>
                </a:lnTo>
                <a:lnTo>
                  <a:pt x="326" y="79"/>
                </a:lnTo>
                <a:lnTo>
                  <a:pt x="300" y="88"/>
                </a:lnTo>
                <a:lnTo>
                  <a:pt x="259" y="93"/>
                </a:lnTo>
                <a:lnTo>
                  <a:pt x="259" y="93"/>
                </a:lnTo>
                <a:lnTo>
                  <a:pt x="225" y="88"/>
                </a:lnTo>
                <a:lnTo>
                  <a:pt x="199" y="79"/>
                </a:lnTo>
                <a:lnTo>
                  <a:pt x="177" y="67"/>
                </a:lnTo>
                <a:lnTo>
                  <a:pt x="167" y="47"/>
                </a:lnTo>
                <a:lnTo>
                  <a:pt x="167" y="47"/>
                </a:lnTo>
                <a:lnTo>
                  <a:pt x="177" y="31"/>
                </a:lnTo>
                <a:lnTo>
                  <a:pt x="199" y="12"/>
                </a:lnTo>
                <a:lnTo>
                  <a:pt x="225" y="4"/>
                </a:lnTo>
                <a:lnTo>
                  <a:pt x="259" y="0"/>
                </a:lnTo>
                <a:lnTo>
                  <a:pt x="259" y="0"/>
                </a:lnTo>
                <a:close/>
                <a:moveTo>
                  <a:pt x="271" y="196"/>
                </a:moveTo>
                <a:moveTo>
                  <a:pt x="271" y="196"/>
                </a:moveTo>
                <a:lnTo>
                  <a:pt x="347" y="196"/>
                </a:lnTo>
                <a:lnTo>
                  <a:pt x="347" y="247"/>
                </a:lnTo>
                <a:lnTo>
                  <a:pt x="271" y="247"/>
                </a:lnTo>
                <a:lnTo>
                  <a:pt x="271" y="196"/>
                </a:lnTo>
                <a:lnTo>
                  <a:pt x="271" y="196"/>
                </a:lnTo>
                <a:close/>
                <a:moveTo>
                  <a:pt x="515" y="107"/>
                </a:moveTo>
                <a:moveTo>
                  <a:pt x="515" y="107"/>
                </a:moveTo>
                <a:lnTo>
                  <a:pt x="515" y="160"/>
                </a:lnTo>
                <a:lnTo>
                  <a:pt x="203" y="160"/>
                </a:lnTo>
                <a:lnTo>
                  <a:pt x="203" y="196"/>
                </a:lnTo>
                <a:lnTo>
                  <a:pt x="67" y="196"/>
                </a:lnTo>
                <a:lnTo>
                  <a:pt x="67" y="360"/>
                </a:lnTo>
                <a:lnTo>
                  <a:pt x="0" y="360"/>
                </a:lnTo>
                <a:lnTo>
                  <a:pt x="0" y="386"/>
                </a:lnTo>
                <a:lnTo>
                  <a:pt x="741" y="386"/>
                </a:lnTo>
                <a:lnTo>
                  <a:pt x="741" y="360"/>
                </a:lnTo>
                <a:lnTo>
                  <a:pt x="683" y="360"/>
                </a:lnTo>
                <a:lnTo>
                  <a:pt x="647" y="107"/>
                </a:lnTo>
                <a:lnTo>
                  <a:pt x="515" y="107"/>
                </a:lnTo>
                <a:close/>
                <a:moveTo>
                  <a:pt x="393" y="196"/>
                </a:moveTo>
                <a:moveTo>
                  <a:pt x="393" y="196"/>
                </a:moveTo>
                <a:lnTo>
                  <a:pt x="470" y="196"/>
                </a:lnTo>
                <a:lnTo>
                  <a:pt x="470" y="247"/>
                </a:lnTo>
                <a:lnTo>
                  <a:pt x="393" y="247"/>
                </a:lnTo>
                <a:lnTo>
                  <a:pt x="393" y="196"/>
                </a:lnTo>
                <a:lnTo>
                  <a:pt x="393" y="196"/>
                </a:lnTo>
                <a:close/>
                <a:moveTo>
                  <a:pt x="100" y="225"/>
                </a:moveTo>
                <a:moveTo>
                  <a:pt x="100" y="225"/>
                </a:moveTo>
                <a:lnTo>
                  <a:pt x="189" y="225"/>
                </a:lnTo>
                <a:lnTo>
                  <a:pt x="189" y="278"/>
                </a:lnTo>
                <a:lnTo>
                  <a:pt x="100" y="278"/>
                </a:lnTo>
                <a:lnTo>
                  <a:pt x="100" y="225"/>
                </a:lnTo>
                <a:lnTo>
                  <a:pt x="100" y="225"/>
                </a:lnTo>
                <a:close/>
              </a:path>
            </a:pathLst>
          </a:custGeom>
          <a:solidFill>
            <a:srgbClr val="7F7F7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" name="path 158"/>
          <p:cNvSpPr/>
          <p:nvPr/>
        </p:nvSpPr>
        <p:spPr>
          <a:xfrm>
            <a:off x="6431279" y="2235517"/>
            <a:ext cx="382523" cy="301942"/>
          </a:xfrm>
          <a:custGeom>
            <a:avLst/>
            <a:gdLst/>
            <a:ahLst/>
            <a:cxnLst/>
            <a:rect l="0" t="0" r="0" b="0"/>
            <a:pathLst>
              <a:path w="602" h="475">
                <a:moveTo>
                  <a:pt x="139" y="177"/>
                </a:moveTo>
                <a:moveTo>
                  <a:pt x="139" y="177"/>
                </a:moveTo>
                <a:lnTo>
                  <a:pt x="525" y="223"/>
                </a:lnTo>
                <a:lnTo>
                  <a:pt x="535" y="223"/>
                </a:lnTo>
                <a:lnTo>
                  <a:pt x="542" y="230"/>
                </a:lnTo>
                <a:lnTo>
                  <a:pt x="592" y="463"/>
                </a:lnTo>
                <a:lnTo>
                  <a:pt x="602" y="475"/>
                </a:lnTo>
                <a:lnTo>
                  <a:pt x="590" y="475"/>
                </a:lnTo>
                <a:lnTo>
                  <a:pt x="139" y="475"/>
                </a:lnTo>
                <a:lnTo>
                  <a:pt x="132" y="475"/>
                </a:lnTo>
                <a:lnTo>
                  <a:pt x="127" y="475"/>
                </a:lnTo>
                <a:lnTo>
                  <a:pt x="93" y="475"/>
                </a:lnTo>
                <a:lnTo>
                  <a:pt x="93" y="374"/>
                </a:lnTo>
                <a:lnTo>
                  <a:pt x="55" y="475"/>
                </a:lnTo>
                <a:lnTo>
                  <a:pt x="0" y="475"/>
                </a:lnTo>
                <a:lnTo>
                  <a:pt x="100" y="230"/>
                </a:lnTo>
                <a:lnTo>
                  <a:pt x="100" y="189"/>
                </a:lnTo>
                <a:lnTo>
                  <a:pt x="127" y="177"/>
                </a:lnTo>
                <a:lnTo>
                  <a:pt x="139" y="177"/>
                </a:lnTo>
                <a:lnTo>
                  <a:pt x="139" y="177"/>
                </a:lnTo>
                <a:close/>
                <a:moveTo>
                  <a:pt x="177" y="230"/>
                </a:moveTo>
                <a:moveTo>
                  <a:pt x="177" y="230"/>
                </a:moveTo>
                <a:lnTo>
                  <a:pt x="177" y="230"/>
                </a:lnTo>
                <a:lnTo>
                  <a:pt x="177" y="271"/>
                </a:lnTo>
                <a:lnTo>
                  <a:pt x="177" y="271"/>
                </a:lnTo>
                <a:lnTo>
                  <a:pt x="177" y="312"/>
                </a:lnTo>
                <a:lnTo>
                  <a:pt x="177" y="312"/>
                </a:lnTo>
                <a:lnTo>
                  <a:pt x="232" y="312"/>
                </a:lnTo>
                <a:lnTo>
                  <a:pt x="232" y="312"/>
                </a:lnTo>
                <a:lnTo>
                  <a:pt x="285" y="319"/>
                </a:lnTo>
                <a:lnTo>
                  <a:pt x="285" y="319"/>
                </a:lnTo>
                <a:lnTo>
                  <a:pt x="278" y="278"/>
                </a:lnTo>
                <a:lnTo>
                  <a:pt x="278" y="278"/>
                </a:lnTo>
                <a:lnTo>
                  <a:pt x="278" y="245"/>
                </a:lnTo>
                <a:lnTo>
                  <a:pt x="278" y="245"/>
                </a:lnTo>
                <a:lnTo>
                  <a:pt x="232" y="237"/>
                </a:lnTo>
                <a:lnTo>
                  <a:pt x="232" y="237"/>
                </a:lnTo>
                <a:lnTo>
                  <a:pt x="177" y="230"/>
                </a:lnTo>
                <a:lnTo>
                  <a:pt x="177" y="230"/>
                </a:lnTo>
                <a:close/>
                <a:moveTo>
                  <a:pt x="434" y="353"/>
                </a:moveTo>
                <a:moveTo>
                  <a:pt x="434" y="353"/>
                </a:moveTo>
                <a:lnTo>
                  <a:pt x="434" y="353"/>
                </a:lnTo>
                <a:lnTo>
                  <a:pt x="441" y="386"/>
                </a:lnTo>
                <a:lnTo>
                  <a:pt x="441" y="386"/>
                </a:lnTo>
                <a:lnTo>
                  <a:pt x="451" y="427"/>
                </a:lnTo>
                <a:lnTo>
                  <a:pt x="451" y="427"/>
                </a:lnTo>
                <a:lnTo>
                  <a:pt x="489" y="427"/>
                </a:lnTo>
                <a:lnTo>
                  <a:pt x="489" y="427"/>
                </a:lnTo>
                <a:lnTo>
                  <a:pt x="525" y="427"/>
                </a:lnTo>
                <a:lnTo>
                  <a:pt x="525" y="427"/>
                </a:lnTo>
                <a:lnTo>
                  <a:pt x="518" y="386"/>
                </a:lnTo>
                <a:lnTo>
                  <a:pt x="518" y="386"/>
                </a:lnTo>
                <a:lnTo>
                  <a:pt x="508" y="353"/>
                </a:lnTo>
                <a:lnTo>
                  <a:pt x="508" y="353"/>
                </a:lnTo>
                <a:lnTo>
                  <a:pt x="472" y="353"/>
                </a:lnTo>
                <a:lnTo>
                  <a:pt x="472" y="353"/>
                </a:lnTo>
                <a:lnTo>
                  <a:pt x="434" y="353"/>
                </a:lnTo>
                <a:lnTo>
                  <a:pt x="434" y="353"/>
                </a:lnTo>
                <a:close/>
                <a:moveTo>
                  <a:pt x="417" y="259"/>
                </a:moveTo>
                <a:moveTo>
                  <a:pt x="417" y="259"/>
                </a:moveTo>
                <a:lnTo>
                  <a:pt x="417" y="259"/>
                </a:lnTo>
                <a:lnTo>
                  <a:pt x="417" y="293"/>
                </a:lnTo>
                <a:lnTo>
                  <a:pt x="417" y="293"/>
                </a:lnTo>
                <a:lnTo>
                  <a:pt x="424" y="326"/>
                </a:lnTo>
                <a:lnTo>
                  <a:pt x="424" y="326"/>
                </a:lnTo>
                <a:lnTo>
                  <a:pt x="472" y="326"/>
                </a:lnTo>
                <a:lnTo>
                  <a:pt x="472" y="326"/>
                </a:lnTo>
                <a:lnTo>
                  <a:pt x="501" y="333"/>
                </a:lnTo>
                <a:lnTo>
                  <a:pt x="501" y="333"/>
                </a:lnTo>
                <a:lnTo>
                  <a:pt x="501" y="300"/>
                </a:lnTo>
                <a:lnTo>
                  <a:pt x="501" y="300"/>
                </a:lnTo>
                <a:lnTo>
                  <a:pt x="496" y="264"/>
                </a:lnTo>
                <a:lnTo>
                  <a:pt x="496" y="264"/>
                </a:lnTo>
                <a:lnTo>
                  <a:pt x="456" y="264"/>
                </a:lnTo>
                <a:lnTo>
                  <a:pt x="456" y="264"/>
                </a:lnTo>
                <a:lnTo>
                  <a:pt x="417" y="259"/>
                </a:lnTo>
                <a:lnTo>
                  <a:pt x="417" y="259"/>
                </a:lnTo>
                <a:close/>
                <a:moveTo>
                  <a:pt x="312" y="245"/>
                </a:moveTo>
                <a:moveTo>
                  <a:pt x="312" y="245"/>
                </a:moveTo>
                <a:lnTo>
                  <a:pt x="312" y="245"/>
                </a:lnTo>
                <a:lnTo>
                  <a:pt x="312" y="285"/>
                </a:lnTo>
                <a:lnTo>
                  <a:pt x="312" y="285"/>
                </a:lnTo>
                <a:lnTo>
                  <a:pt x="312" y="319"/>
                </a:lnTo>
                <a:lnTo>
                  <a:pt x="312" y="319"/>
                </a:lnTo>
                <a:lnTo>
                  <a:pt x="357" y="319"/>
                </a:lnTo>
                <a:lnTo>
                  <a:pt x="357" y="319"/>
                </a:lnTo>
                <a:lnTo>
                  <a:pt x="405" y="326"/>
                </a:lnTo>
                <a:lnTo>
                  <a:pt x="405" y="326"/>
                </a:lnTo>
                <a:lnTo>
                  <a:pt x="396" y="293"/>
                </a:lnTo>
                <a:lnTo>
                  <a:pt x="396" y="293"/>
                </a:lnTo>
                <a:lnTo>
                  <a:pt x="396" y="259"/>
                </a:lnTo>
                <a:lnTo>
                  <a:pt x="396" y="259"/>
                </a:lnTo>
                <a:lnTo>
                  <a:pt x="350" y="252"/>
                </a:lnTo>
                <a:lnTo>
                  <a:pt x="350" y="252"/>
                </a:lnTo>
                <a:lnTo>
                  <a:pt x="312" y="245"/>
                </a:lnTo>
                <a:lnTo>
                  <a:pt x="312" y="245"/>
                </a:lnTo>
                <a:close/>
                <a:moveTo>
                  <a:pt x="316" y="345"/>
                </a:moveTo>
                <a:moveTo>
                  <a:pt x="316" y="345"/>
                </a:moveTo>
                <a:lnTo>
                  <a:pt x="316" y="345"/>
                </a:lnTo>
                <a:lnTo>
                  <a:pt x="316" y="386"/>
                </a:lnTo>
                <a:lnTo>
                  <a:pt x="316" y="386"/>
                </a:lnTo>
                <a:lnTo>
                  <a:pt x="323" y="427"/>
                </a:lnTo>
                <a:lnTo>
                  <a:pt x="323" y="427"/>
                </a:lnTo>
                <a:lnTo>
                  <a:pt x="372" y="427"/>
                </a:lnTo>
                <a:lnTo>
                  <a:pt x="372" y="427"/>
                </a:lnTo>
                <a:lnTo>
                  <a:pt x="417" y="427"/>
                </a:lnTo>
                <a:lnTo>
                  <a:pt x="417" y="427"/>
                </a:lnTo>
                <a:lnTo>
                  <a:pt x="407" y="386"/>
                </a:lnTo>
                <a:lnTo>
                  <a:pt x="407" y="386"/>
                </a:lnTo>
                <a:lnTo>
                  <a:pt x="407" y="345"/>
                </a:lnTo>
                <a:lnTo>
                  <a:pt x="407" y="345"/>
                </a:lnTo>
                <a:lnTo>
                  <a:pt x="362" y="345"/>
                </a:lnTo>
                <a:lnTo>
                  <a:pt x="362" y="345"/>
                </a:lnTo>
                <a:lnTo>
                  <a:pt x="316" y="345"/>
                </a:lnTo>
                <a:lnTo>
                  <a:pt x="316" y="345"/>
                </a:lnTo>
                <a:close/>
                <a:moveTo>
                  <a:pt x="177" y="341"/>
                </a:moveTo>
                <a:moveTo>
                  <a:pt x="177" y="341"/>
                </a:moveTo>
                <a:lnTo>
                  <a:pt x="177" y="341"/>
                </a:lnTo>
                <a:lnTo>
                  <a:pt x="177" y="381"/>
                </a:lnTo>
                <a:lnTo>
                  <a:pt x="177" y="381"/>
                </a:lnTo>
                <a:lnTo>
                  <a:pt x="177" y="427"/>
                </a:lnTo>
                <a:lnTo>
                  <a:pt x="177" y="427"/>
                </a:lnTo>
                <a:lnTo>
                  <a:pt x="232" y="427"/>
                </a:lnTo>
                <a:lnTo>
                  <a:pt x="232" y="427"/>
                </a:lnTo>
                <a:lnTo>
                  <a:pt x="295" y="427"/>
                </a:lnTo>
                <a:lnTo>
                  <a:pt x="295" y="427"/>
                </a:lnTo>
                <a:lnTo>
                  <a:pt x="285" y="381"/>
                </a:lnTo>
                <a:lnTo>
                  <a:pt x="285" y="381"/>
                </a:lnTo>
                <a:lnTo>
                  <a:pt x="285" y="341"/>
                </a:lnTo>
                <a:lnTo>
                  <a:pt x="285" y="341"/>
                </a:lnTo>
                <a:lnTo>
                  <a:pt x="232" y="341"/>
                </a:lnTo>
                <a:lnTo>
                  <a:pt x="232" y="341"/>
                </a:lnTo>
                <a:lnTo>
                  <a:pt x="177" y="341"/>
                </a:lnTo>
                <a:lnTo>
                  <a:pt x="177" y="341"/>
                </a:lnTo>
                <a:close/>
                <a:moveTo>
                  <a:pt x="508" y="245"/>
                </a:moveTo>
                <a:moveTo>
                  <a:pt x="508" y="245"/>
                </a:moveTo>
                <a:lnTo>
                  <a:pt x="156" y="204"/>
                </a:lnTo>
                <a:lnTo>
                  <a:pt x="156" y="449"/>
                </a:lnTo>
                <a:lnTo>
                  <a:pt x="563" y="449"/>
                </a:lnTo>
                <a:lnTo>
                  <a:pt x="508" y="245"/>
                </a:lnTo>
                <a:close/>
                <a:moveTo>
                  <a:pt x="456" y="7"/>
                </a:moveTo>
                <a:moveTo>
                  <a:pt x="456" y="7"/>
                </a:moveTo>
                <a:lnTo>
                  <a:pt x="456" y="7"/>
                </a:lnTo>
                <a:lnTo>
                  <a:pt x="489" y="7"/>
                </a:lnTo>
                <a:lnTo>
                  <a:pt x="518" y="26"/>
                </a:lnTo>
                <a:lnTo>
                  <a:pt x="535" y="48"/>
                </a:lnTo>
                <a:lnTo>
                  <a:pt x="542" y="74"/>
                </a:lnTo>
                <a:lnTo>
                  <a:pt x="542" y="74"/>
                </a:lnTo>
                <a:lnTo>
                  <a:pt x="535" y="101"/>
                </a:lnTo>
                <a:lnTo>
                  <a:pt x="518" y="129"/>
                </a:lnTo>
                <a:lnTo>
                  <a:pt x="489" y="141"/>
                </a:lnTo>
                <a:lnTo>
                  <a:pt x="456" y="149"/>
                </a:lnTo>
                <a:lnTo>
                  <a:pt x="456" y="149"/>
                </a:lnTo>
                <a:lnTo>
                  <a:pt x="424" y="141"/>
                </a:lnTo>
                <a:lnTo>
                  <a:pt x="405" y="129"/>
                </a:lnTo>
                <a:lnTo>
                  <a:pt x="379" y="101"/>
                </a:lnTo>
                <a:lnTo>
                  <a:pt x="379" y="74"/>
                </a:lnTo>
                <a:lnTo>
                  <a:pt x="379" y="74"/>
                </a:lnTo>
                <a:lnTo>
                  <a:pt x="379" y="48"/>
                </a:lnTo>
                <a:lnTo>
                  <a:pt x="405" y="26"/>
                </a:lnTo>
                <a:lnTo>
                  <a:pt x="424" y="7"/>
                </a:lnTo>
                <a:lnTo>
                  <a:pt x="456" y="7"/>
                </a:lnTo>
                <a:lnTo>
                  <a:pt x="456" y="7"/>
                </a:lnTo>
                <a:close/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0" name="path 160"/>
          <p:cNvSpPr/>
          <p:nvPr/>
        </p:nvSpPr>
        <p:spPr>
          <a:xfrm>
            <a:off x="9282683" y="4023359"/>
            <a:ext cx="470916" cy="225552"/>
          </a:xfrm>
          <a:custGeom>
            <a:avLst/>
            <a:gdLst/>
            <a:ahLst/>
            <a:cxnLst/>
            <a:rect l="0" t="0" r="0" b="0"/>
            <a:pathLst>
              <a:path w="741" h="355">
                <a:moveTo>
                  <a:pt x="261" y="0"/>
                </a:moveTo>
                <a:moveTo>
                  <a:pt x="261" y="0"/>
                </a:moveTo>
                <a:lnTo>
                  <a:pt x="261" y="0"/>
                </a:lnTo>
                <a:lnTo>
                  <a:pt x="302" y="4"/>
                </a:lnTo>
                <a:lnTo>
                  <a:pt x="335" y="16"/>
                </a:lnTo>
                <a:lnTo>
                  <a:pt x="335" y="16"/>
                </a:lnTo>
                <a:lnTo>
                  <a:pt x="357" y="12"/>
                </a:lnTo>
                <a:lnTo>
                  <a:pt x="384" y="9"/>
                </a:lnTo>
                <a:lnTo>
                  <a:pt x="384" y="9"/>
                </a:lnTo>
                <a:lnTo>
                  <a:pt x="424" y="12"/>
                </a:lnTo>
                <a:lnTo>
                  <a:pt x="448" y="24"/>
                </a:lnTo>
                <a:lnTo>
                  <a:pt x="448" y="24"/>
                </a:lnTo>
                <a:lnTo>
                  <a:pt x="480" y="16"/>
                </a:lnTo>
                <a:lnTo>
                  <a:pt x="506" y="12"/>
                </a:lnTo>
                <a:lnTo>
                  <a:pt x="506" y="12"/>
                </a:lnTo>
                <a:lnTo>
                  <a:pt x="537" y="12"/>
                </a:lnTo>
                <a:lnTo>
                  <a:pt x="542" y="16"/>
                </a:lnTo>
                <a:lnTo>
                  <a:pt x="571" y="28"/>
                </a:lnTo>
                <a:lnTo>
                  <a:pt x="571" y="28"/>
                </a:lnTo>
                <a:lnTo>
                  <a:pt x="597" y="24"/>
                </a:lnTo>
                <a:lnTo>
                  <a:pt x="597" y="24"/>
                </a:lnTo>
                <a:lnTo>
                  <a:pt x="628" y="28"/>
                </a:lnTo>
                <a:lnTo>
                  <a:pt x="648" y="33"/>
                </a:lnTo>
                <a:lnTo>
                  <a:pt x="652" y="40"/>
                </a:lnTo>
                <a:lnTo>
                  <a:pt x="664" y="55"/>
                </a:lnTo>
                <a:lnTo>
                  <a:pt x="664" y="55"/>
                </a:lnTo>
                <a:lnTo>
                  <a:pt x="652" y="64"/>
                </a:lnTo>
                <a:lnTo>
                  <a:pt x="638" y="74"/>
                </a:lnTo>
                <a:lnTo>
                  <a:pt x="638" y="74"/>
                </a:lnTo>
                <a:lnTo>
                  <a:pt x="648" y="84"/>
                </a:lnTo>
                <a:lnTo>
                  <a:pt x="648" y="84"/>
                </a:lnTo>
                <a:lnTo>
                  <a:pt x="648" y="88"/>
                </a:lnTo>
                <a:lnTo>
                  <a:pt x="515" y="88"/>
                </a:lnTo>
                <a:lnTo>
                  <a:pt x="515" y="88"/>
                </a:lnTo>
                <a:lnTo>
                  <a:pt x="515" y="84"/>
                </a:lnTo>
                <a:lnTo>
                  <a:pt x="515" y="84"/>
                </a:lnTo>
                <a:lnTo>
                  <a:pt x="515" y="74"/>
                </a:lnTo>
                <a:lnTo>
                  <a:pt x="515" y="74"/>
                </a:lnTo>
                <a:lnTo>
                  <a:pt x="506" y="74"/>
                </a:lnTo>
                <a:lnTo>
                  <a:pt x="506" y="74"/>
                </a:lnTo>
                <a:lnTo>
                  <a:pt x="484" y="69"/>
                </a:lnTo>
                <a:lnTo>
                  <a:pt x="460" y="62"/>
                </a:lnTo>
                <a:lnTo>
                  <a:pt x="460" y="62"/>
                </a:lnTo>
                <a:lnTo>
                  <a:pt x="448" y="74"/>
                </a:lnTo>
                <a:lnTo>
                  <a:pt x="429" y="79"/>
                </a:lnTo>
                <a:lnTo>
                  <a:pt x="403" y="84"/>
                </a:lnTo>
                <a:lnTo>
                  <a:pt x="384" y="88"/>
                </a:lnTo>
                <a:lnTo>
                  <a:pt x="384" y="88"/>
                </a:lnTo>
                <a:lnTo>
                  <a:pt x="348" y="84"/>
                </a:lnTo>
                <a:lnTo>
                  <a:pt x="326" y="74"/>
                </a:lnTo>
                <a:lnTo>
                  <a:pt x="326" y="74"/>
                </a:lnTo>
                <a:lnTo>
                  <a:pt x="302" y="84"/>
                </a:lnTo>
                <a:lnTo>
                  <a:pt x="261" y="88"/>
                </a:lnTo>
                <a:lnTo>
                  <a:pt x="261" y="88"/>
                </a:lnTo>
                <a:lnTo>
                  <a:pt x="225" y="84"/>
                </a:lnTo>
                <a:lnTo>
                  <a:pt x="199" y="74"/>
                </a:lnTo>
                <a:lnTo>
                  <a:pt x="177" y="62"/>
                </a:lnTo>
                <a:lnTo>
                  <a:pt x="168" y="45"/>
                </a:lnTo>
                <a:lnTo>
                  <a:pt x="168" y="45"/>
                </a:lnTo>
                <a:lnTo>
                  <a:pt x="177" y="28"/>
                </a:lnTo>
                <a:lnTo>
                  <a:pt x="199" y="12"/>
                </a:lnTo>
                <a:lnTo>
                  <a:pt x="225" y="4"/>
                </a:lnTo>
                <a:lnTo>
                  <a:pt x="261" y="0"/>
                </a:lnTo>
                <a:lnTo>
                  <a:pt x="261" y="0"/>
                </a:lnTo>
                <a:close/>
                <a:moveTo>
                  <a:pt x="271" y="182"/>
                </a:moveTo>
                <a:moveTo>
                  <a:pt x="271" y="182"/>
                </a:moveTo>
                <a:lnTo>
                  <a:pt x="348" y="182"/>
                </a:lnTo>
                <a:lnTo>
                  <a:pt x="348" y="227"/>
                </a:lnTo>
                <a:lnTo>
                  <a:pt x="271" y="227"/>
                </a:lnTo>
                <a:lnTo>
                  <a:pt x="271" y="182"/>
                </a:lnTo>
                <a:lnTo>
                  <a:pt x="271" y="182"/>
                </a:lnTo>
                <a:close/>
                <a:moveTo>
                  <a:pt x="515" y="98"/>
                </a:moveTo>
                <a:moveTo>
                  <a:pt x="515" y="98"/>
                </a:moveTo>
                <a:lnTo>
                  <a:pt x="515" y="148"/>
                </a:lnTo>
                <a:lnTo>
                  <a:pt x="204" y="148"/>
                </a:lnTo>
                <a:lnTo>
                  <a:pt x="204" y="182"/>
                </a:lnTo>
                <a:lnTo>
                  <a:pt x="67" y="182"/>
                </a:lnTo>
                <a:lnTo>
                  <a:pt x="67" y="331"/>
                </a:lnTo>
                <a:lnTo>
                  <a:pt x="0" y="331"/>
                </a:lnTo>
                <a:lnTo>
                  <a:pt x="0" y="355"/>
                </a:lnTo>
                <a:lnTo>
                  <a:pt x="741" y="355"/>
                </a:lnTo>
                <a:lnTo>
                  <a:pt x="741" y="331"/>
                </a:lnTo>
                <a:lnTo>
                  <a:pt x="684" y="331"/>
                </a:lnTo>
                <a:lnTo>
                  <a:pt x="648" y="98"/>
                </a:lnTo>
                <a:lnTo>
                  <a:pt x="515" y="98"/>
                </a:lnTo>
                <a:close/>
                <a:moveTo>
                  <a:pt x="393" y="182"/>
                </a:moveTo>
                <a:moveTo>
                  <a:pt x="393" y="182"/>
                </a:moveTo>
                <a:lnTo>
                  <a:pt x="470" y="182"/>
                </a:lnTo>
                <a:lnTo>
                  <a:pt x="470" y="227"/>
                </a:lnTo>
                <a:lnTo>
                  <a:pt x="393" y="227"/>
                </a:lnTo>
                <a:lnTo>
                  <a:pt x="393" y="182"/>
                </a:lnTo>
                <a:lnTo>
                  <a:pt x="393" y="182"/>
                </a:lnTo>
                <a:close/>
                <a:moveTo>
                  <a:pt x="103" y="206"/>
                </a:moveTo>
                <a:moveTo>
                  <a:pt x="103" y="206"/>
                </a:moveTo>
                <a:lnTo>
                  <a:pt x="189" y="206"/>
                </a:lnTo>
                <a:lnTo>
                  <a:pt x="189" y="256"/>
                </a:lnTo>
                <a:lnTo>
                  <a:pt x="103" y="256"/>
                </a:lnTo>
                <a:lnTo>
                  <a:pt x="103" y="206"/>
                </a:lnTo>
                <a:lnTo>
                  <a:pt x="103" y="206"/>
                </a:lnTo>
                <a:close/>
              </a:path>
            </a:pathLst>
          </a:custGeom>
          <a:solidFill>
            <a:srgbClr val="7F7F7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" name="textbox 162"/>
          <p:cNvSpPr/>
          <p:nvPr/>
        </p:nvSpPr>
        <p:spPr>
          <a:xfrm>
            <a:off x="9191732" y="2535281"/>
            <a:ext cx="646430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售电公司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6790815" y="4292157"/>
            <a:ext cx="490219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6" name="picture 1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078979" y="3288791"/>
            <a:ext cx="818388" cy="67055"/>
          </a:xfrm>
          <a:prstGeom prst="rect">
            <a:avLst/>
          </a:prstGeom>
        </p:spPr>
      </p:pic>
      <p:pic>
        <p:nvPicPr>
          <p:cNvPr id="168" name="picture 1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013447" y="2456688"/>
            <a:ext cx="763523" cy="67055"/>
          </a:xfrm>
          <a:prstGeom prst="rect">
            <a:avLst/>
          </a:prstGeom>
        </p:spPr>
      </p:pic>
      <p:pic>
        <p:nvPicPr>
          <p:cNvPr id="170" name="picture 1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516111" y="2444495"/>
            <a:ext cx="659892" cy="67055"/>
          </a:xfrm>
          <a:prstGeom prst="rect">
            <a:avLst/>
          </a:prstGeom>
        </p:spPr>
      </p:pic>
      <p:pic>
        <p:nvPicPr>
          <p:cNvPr id="172" name="picture 17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174" name="picture 17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210055" y="3113532"/>
            <a:ext cx="637032" cy="65532"/>
          </a:xfrm>
          <a:prstGeom prst="rect">
            <a:avLst/>
          </a:prstGeom>
        </p:spPr>
      </p:pic>
      <p:sp>
        <p:nvSpPr>
          <p:cNvPr id="176" name="path 176"/>
          <p:cNvSpPr/>
          <p:nvPr/>
        </p:nvSpPr>
        <p:spPr>
          <a:xfrm>
            <a:off x="6632257" y="2209800"/>
            <a:ext cx="178689" cy="151066"/>
          </a:xfrm>
          <a:custGeom>
            <a:avLst/>
            <a:gdLst/>
            <a:ahLst/>
            <a:cxnLst/>
            <a:rect l="0" t="0" r="0" b="0"/>
            <a:pathLst>
              <a:path w="281" h="237">
                <a:moveTo>
                  <a:pt x="173" y="40"/>
                </a:moveTo>
                <a:moveTo>
                  <a:pt x="173" y="40"/>
                </a:moveTo>
                <a:lnTo>
                  <a:pt x="201" y="55"/>
                </a:lnTo>
                <a:lnTo>
                  <a:pt x="209" y="9"/>
                </a:lnTo>
                <a:lnTo>
                  <a:pt x="173" y="40"/>
                </a:lnTo>
                <a:lnTo>
                  <a:pt x="173" y="40"/>
                </a:lnTo>
                <a:close/>
                <a:moveTo>
                  <a:pt x="209" y="57"/>
                </a:moveTo>
                <a:moveTo>
                  <a:pt x="209" y="57"/>
                </a:moveTo>
                <a:lnTo>
                  <a:pt x="230" y="88"/>
                </a:lnTo>
                <a:lnTo>
                  <a:pt x="257" y="57"/>
                </a:lnTo>
                <a:lnTo>
                  <a:pt x="209" y="57"/>
                </a:lnTo>
                <a:lnTo>
                  <a:pt x="209" y="57"/>
                </a:lnTo>
                <a:close/>
                <a:moveTo>
                  <a:pt x="230" y="98"/>
                </a:moveTo>
                <a:moveTo>
                  <a:pt x="230" y="98"/>
                </a:moveTo>
                <a:lnTo>
                  <a:pt x="230" y="129"/>
                </a:lnTo>
                <a:lnTo>
                  <a:pt x="273" y="115"/>
                </a:lnTo>
                <a:lnTo>
                  <a:pt x="230" y="98"/>
                </a:lnTo>
                <a:lnTo>
                  <a:pt x="230" y="98"/>
                </a:lnTo>
                <a:close/>
                <a:moveTo>
                  <a:pt x="230" y="141"/>
                </a:moveTo>
                <a:moveTo>
                  <a:pt x="230" y="141"/>
                </a:moveTo>
                <a:lnTo>
                  <a:pt x="218" y="170"/>
                </a:lnTo>
                <a:lnTo>
                  <a:pt x="257" y="170"/>
                </a:lnTo>
                <a:lnTo>
                  <a:pt x="230" y="141"/>
                </a:lnTo>
                <a:lnTo>
                  <a:pt x="230" y="141"/>
                </a:lnTo>
                <a:close/>
                <a:moveTo>
                  <a:pt x="201" y="177"/>
                </a:moveTo>
                <a:moveTo>
                  <a:pt x="201" y="177"/>
                </a:moveTo>
                <a:lnTo>
                  <a:pt x="173" y="196"/>
                </a:lnTo>
                <a:lnTo>
                  <a:pt x="209" y="218"/>
                </a:lnTo>
                <a:lnTo>
                  <a:pt x="201" y="177"/>
                </a:lnTo>
                <a:lnTo>
                  <a:pt x="201" y="177"/>
                </a:lnTo>
                <a:close/>
                <a:moveTo>
                  <a:pt x="163" y="196"/>
                </a:moveTo>
                <a:moveTo>
                  <a:pt x="163" y="196"/>
                </a:moveTo>
                <a:lnTo>
                  <a:pt x="125" y="196"/>
                </a:lnTo>
                <a:lnTo>
                  <a:pt x="139" y="230"/>
                </a:lnTo>
                <a:lnTo>
                  <a:pt x="163" y="196"/>
                </a:lnTo>
                <a:lnTo>
                  <a:pt x="163" y="196"/>
                </a:lnTo>
                <a:close/>
                <a:moveTo>
                  <a:pt x="108" y="196"/>
                </a:moveTo>
                <a:moveTo>
                  <a:pt x="108" y="196"/>
                </a:moveTo>
                <a:lnTo>
                  <a:pt x="79" y="177"/>
                </a:lnTo>
                <a:lnTo>
                  <a:pt x="79" y="218"/>
                </a:lnTo>
                <a:lnTo>
                  <a:pt x="108" y="196"/>
                </a:lnTo>
                <a:lnTo>
                  <a:pt x="108" y="196"/>
                </a:lnTo>
                <a:close/>
                <a:moveTo>
                  <a:pt x="72" y="170"/>
                </a:moveTo>
                <a:moveTo>
                  <a:pt x="72" y="170"/>
                </a:moveTo>
                <a:lnTo>
                  <a:pt x="55" y="141"/>
                </a:lnTo>
                <a:lnTo>
                  <a:pt x="33" y="177"/>
                </a:lnTo>
                <a:lnTo>
                  <a:pt x="72" y="170"/>
                </a:lnTo>
                <a:lnTo>
                  <a:pt x="72" y="170"/>
                </a:lnTo>
                <a:close/>
                <a:moveTo>
                  <a:pt x="45" y="129"/>
                </a:moveTo>
                <a:moveTo>
                  <a:pt x="45" y="129"/>
                </a:moveTo>
                <a:lnTo>
                  <a:pt x="45" y="98"/>
                </a:lnTo>
                <a:lnTo>
                  <a:pt x="7" y="115"/>
                </a:lnTo>
                <a:lnTo>
                  <a:pt x="45" y="129"/>
                </a:lnTo>
                <a:lnTo>
                  <a:pt x="45" y="129"/>
                </a:lnTo>
                <a:close/>
                <a:moveTo>
                  <a:pt x="55" y="88"/>
                </a:moveTo>
                <a:moveTo>
                  <a:pt x="55" y="88"/>
                </a:moveTo>
                <a:lnTo>
                  <a:pt x="72" y="57"/>
                </a:lnTo>
                <a:lnTo>
                  <a:pt x="24" y="57"/>
                </a:lnTo>
                <a:lnTo>
                  <a:pt x="55" y="88"/>
                </a:lnTo>
                <a:lnTo>
                  <a:pt x="55" y="88"/>
                </a:lnTo>
                <a:close/>
                <a:moveTo>
                  <a:pt x="79" y="55"/>
                </a:moveTo>
                <a:moveTo>
                  <a:pt x="79" y="55"/>
                </a:moveTo>
                <a:lnTo>
                  <a:pt x="108" y="40"/>
                </a:lnTo>
                <a:lnTo>
                  <a:pt x="79" y="16"/>
                </a:lnTo>
                <a:lnTo>
                  <a:pt x="79" y="55"/>
                </a:lnTo>
                <a:lnTo>
                  <a:pt x="79" y="55"/>
                </a:lnTo>
                <a:close/>
                <a:moveTo>
                  <a:pt x="125" y="33"/>
                </a:moveTo>
                <a:moveTo>
                  <a:pt x="125" y="33"/>
                </a:moveTo>
                <a:lnTo>
                  <a:pt x="156" y="33"/>
                </a:lnTo>
                <a:lnTo>
                  <a:pt x="139" y="0"/>
                </a:lnTo>
                <a:lnTo>
                  <a:pt x="125" y="33"/>
                </a:lnTo>
                <a:lnTo>
                  <a:pt x="125" y="33"/>
                </a:lnTo>
                <a:close/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8" name="path 178"/>
          <p:cNvSpPr/>
          <p:nvPr/>
        </p:nvSpPr>
        <p:spPr>
          <a:xfrm>
            <a:off x="8711183" y="6508241"/>
            <a:ext cx="1837945" cy="10667"/>
          </a:xfrm>
          <a:custGeom>
            <a:avLst/>
            <a:gdLst/>
            <a:ahLst/>
            <a:cxnLst/>
            <a:rect l="0" t="0" r="0" b="0"/>
            <a:pathLst>
              <a:path w="2894" h="16">
                <a:moveTo>
                  <a:pt x="0" y="8"/>
                </a:moveTo>
                <a:lnTo>
                  <a:pt x="2894" y="8"/>
                </a:lnTo>
                <a:moveTo>
                  <a:pt x="2894" y="8"/>
                </a:moveTo>
                <a:lnTo>
                  <a:pt x="0" y="8"/>
                </a:lnTo>
              </a:path>
            </a:pathLst>
          </a:custGeom>
          <a:noFill/>
          <a:ln w="10668" cap="flat">
            <a:solidFill>
              <a:srgbClr val="006C67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0" name="path 180"/>
          <p:cNvSpPr/>
          <p:nvPr/>
        </p:nvSpPr>
        <p:spPr>
          <a:xfrm>
            <a:off x="288036" y="6537197"/>
            <a:ext cx="1644396" cy="10667"/>
          </a:xfrm>
          <a:custGeom>
            <a:avLst/>
            <a:gdLst/>
            <a:ahLst/>
            <a:cxnLst/>
            <a:rect l="0" t="0" r="0" b="0"/>
            <a:pathLst>
              <a:path w="2589" h="16">
                <a:moveTo>
                  <a:pt x="0" y="8"/>
                </a:moveTo>
                <a:lnTo>
                  <a:pt x="2589" y="8"/>
                </a:lnTo>
                <a:lnTo>
                  <a:pt x="2589" y="8"/>
                </a:lnTo>
                <a:lnTo>
                  <a:pt x="0" y="8"/>
                </a:lnTo>
              </a:path>
            </a:pathLst>
          </a:custGeom>
          <a:noFill/>
          <a:ln w="10668" cap="flat">
            <a:solidFill>
              <a:srgbClr val="006C67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2" name="path 182"/>
          <p:cNvSpPr/>
          <p:nvPr/>
        </p:nvSpPr>
        <p:spPr>
          <a:xfrm>
            <a:off x="282702" y="5440680"/>
            <a:ext cx="10667" cy="1101851"/>
          </a:xfrm>
          <a:custGeom>
            <a:avLst/>
            <a:gdLst/>
            <a:ahLst/>
            <a:cxnLst/>
            <a:rect l="0" t="0" r="0" b="0"/>
            <a:pathLst>
              <a:path w="16" h="1735">
                <a:moveTo>
                  <a:pt x="8" y="0"/>
                </a:moveTo>
                <a:lnTo>
                  <a:pt x="8" y="1735"/>
                </a:lnTo>
                <a:moveTo>
                  <a:pt x="8" y="1735"/>
                </a:moveTo>
                <a:lnTo>
                  <a:pt x="8" y="0"/>
                </a:lnTo>
              </a:path>
            </a:pathLst>
          </a:custGeom>
          <a:noFill/>
          <a:ln w="10668" cap="flat">
            <a:solidFill>
              <a:srgbClr val="006C67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" name="path 184"/>
          <p:cNvSpPr/>
          <p:nvPr/>
        </p:nvSpPr>
        <p:spPr>
          <a:xfrm>
            <a:off x="10543793" y="5452871"/>
            <a:ext cx="10669" cy="1060703"/>
          </a:xfrm>
          <a:custGeom>
            <a:avLst/>
            <a:gdLst/>
            <a:ahLst/>
            <a:cxnLst/>
            <a:rect l="0" t="0" r="0" b="0"/>
            <a:pathLst>
              <a:path w="16" h="1670">
                <a:moveTo>
                  <a:pt x="8" y="1670"/>
                </a:moveTo>
                <a:lnTo>
                  <a:pt x="8" y="0"/>
                </a:lnTo>
                <a:lnTo>
                  <a:pt x="8" y="0"/>
                </a:lnTo>
                <a:lnTo>
                  <a:pt x="8" y="1670"/>
                </a:lnTo>
              </a:path>
            </a:pathLst>
          </a:custGeom>
          <a:noFill/>
          <a:ln w="10668" cap="flat">
            <a:solidFill>
              <a:srgbClr val="006C67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6" name="path 186"/>
          <p:cNvSpPr/>
          <p:nvPr/>
        </p:nvSpPr>
        <p:spPr>
          <a:xfrm>
            <a:off x="8241791" y="3360420"/>
            <a:ext cx="48767" cy="85344"/>
          </a:xfrm>
          <a:custGeom>
            <a:avLst/>
            <a:gdLst/>
            <a:ahLst/>
            <a:cxnLst/>
            <a:rect l="0" t="0" r="0" b="0"/>
            <a:pathLst>
              <a:path w="76" h="134">
                <a:moveTo>
                  <a:pt x="64" y="110"/>
                </a:moveTo>
                <a:cubicBezTo>
                  <a:pt x="52" y="110"/>
                  <a:pt x="52" y="110"/>
                  <a:pt x="52" y="110"/>
                </a:cubicBezTo>
                <a:cubicBezTo>
                  <a:pt x="52" y="0"/>
                  <a:pt x="52" y="0"/>
                  <a:pt x="5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8" y="110"/>
                  <a:pt x="28" y="110"/>
                  <a:pt x="28" y="110"/>
                </a:cubicBezTo>
                <a:cubicBezTo>
                  <a:pt x="9" y="110"/>
                  <a:pt x="9" y="110"/>
                  <a:pt x="9" y="110"/>
                </a:cubicBezTo>
                <a:cubicBezTo>
                  <a:pt x="7" y="110"/>
                  <a:pt x="4" y="112"/>
                  <a:pt x="2" y="115"/>
                </a:cubicBezTo>
                <a:cubicBezTo>
                  <a:pt x="0" y="117"/>
                  <a:pt x="0" y="120"/>
                  <a:pt x="0" y="124"/>
                </a:cubicBezTo>
                <a:cubicBezTo>
                  <a:pt x="0" y="129"/>
                  <a:pt x="4" y="134"/>
                  <a:pt x="9" y="134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9" y="134"/>
                  <a:pt x="76" y="129"/>
                  <a:pt x="76" y="124"/>
                </a:cubicBezTo>
                <a:cubicBezTo>
                  <a:pt x="76" y="117"/>
                  <a:pt x="69" y="110"/>
                  <a:pt x="64" y="110"/>
                </a:cubicBezTo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6447" y="4002023"/>
            <a:ext cx="9744457" cy="2391156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596825" y="2056638"/>
            <a:ext cx="9159822" cy="469391"/>
            <a:chOff x="0" y="0"/>
            <a:chExt cx="9159822" cy="469391"/>
          </a:xfrm>
        </p:grpSpPr>
        <p:sp>
          <p:nvSpPr>
            <p:cNvPr id="190" name="rect 190"/>
            <p:cNvSpPr/>
            <p:nvPr/>
          </p:nvSpPr>
          <p:spPr>
            <a:xfrm>
              <a:off x="181938" y="8382"/>
              <a:ext cx="8977883" cy="452627"/>
            </a:xfrm>
            <a:prstGeom prst="rect">
              <a:avLst/>
            </a:pr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2" name="textbox 192"/>
            <p:cNvSpPr/>
            <p:nvPr/>
          </p:nvSpPr>
          <p:spPr>
            <a:xfrm>
              <a:off x="-12700" y="-12700"/>
              <a:ext cx="2277110" cy="4965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386715" algn="l" rtl="0" eaLnBrk="0">
                <a:lnSpc>
                  <a:spcPct val="87000"/>
                </a:lnSpc>
                <a:spcBef>
                  <a:spcPts val="7"/>
                </a:spcBef>
                <a:tabLst>
                  <a:tab pos="859155" algn="l"/>
                </a:tabLst>
              </a:pP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500" b="1" kern="0" spc="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输电线路与断面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grpSp>
          <p:nvGrpSpPr>
            <p:cNvPr id="26" name="group 26"/>
            <p:cNvGrpSpPr/>
            <p:nvPr/>
          </p:nvGrpSpPr>
          <p:grpSpPr>
            <a:xfrm rot="21600000">
              <a:off x="0" y="0"/>
              <a:ext cx="374545" cy="469391"/>
              <a:chOff x="0" y="0"/>
              <a:chExt cx="374545" cy="469391"/>
            </a:xfrm>
          </p:grpSpPr>
          <p:sp>
            <p:nvSpPr>
              <p:cNvPr id="194" name="path 194"/>
              <p:cNvSpPr/>
              <p:nvPr/>
            </p:nvSpPr>
            <p:spPr>
              <a:xfrm>
                <a:off x="6678" y="8382"/>
                <a:ext cx="361187" cy="452627"/>
              </a:xfrm>
              <a:custGeom>
                <a:avLst/>
                <a:gdLst/>
                <a:ahLst/>
                <a:cxnLst/>
                <a:rect l="0" t="0" r="0" b="0"/>
                <a:pathLst>
                  <a:path w="568" h="712">
                    <a:moveTo>
                      <a:pt x="0" y="0"/>
                    </a:moveTo>
                    <a:lnTo>
                      <a:pt x="297" y="0"/>
                    </a:lnTo>
                    <a:lnTo>
                      <a:pt x="568" y="355"/>
                    </a:lnTo>
                    <a:lnTo>
                      <a:pt x="297" y="712"/>
                    </a:lnTo>
                    <a:lnTo>
                      <a:pt x="0" y="712"/>
                    </a:lnTo>
                    <a:lnTo>
                      <a:pt x="271" y="3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path 196"/>
              <p:cNvSpPr/>
              <p:nvPr/>
            </p:nvSpPr>
            <p:spPr>
              <a:xfrm>
                <a:off x="0" y="0"/>
                <a:ext cx="374545" cy="469391"/>
              </a:xfrm>
              <a:custGeom>
                <a:avLst/>
                <a:gdLst/>
                <a:ahLst/>
                <a:cxnLst/>
                <a:rect l="0" t="0" r="0" b="0"/>
                <a:pathLst>
                  <a:path w="589" h="739">
                    <a:moveTo>
                      <a:pt x="10" y="13"/>
                    </a:moveTo>
                    <a:lnTo>
                      <a:pt x="308" y="13"/>
                    </a:lnTo>
                    <a:lnTo>
                      <a:pt x="579" y="368"/>
                    </a:lnTo>
                    <a:lnTo>
                      <a:pt x="308" y="725"/>
                    </a:lnTo>
                    <a:lnTo>
                      <a:pt x="10" y="725"/>
                    </a:lnTo>
                    <a:lnTo>
                      <a:pt x="281" y="368"/>
                    </a:lnTo>
                    <a:lnTo>
                      <a:pt x="10" y="13"/>
                    </a:lnTo>
                    <a:close/>
                  </a:path>
                </a:pathLst>
              </a:custGeom>
              <a:noFill/>
              <a:ln w="16763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21600000">
              <a:off x="4338828" y="0"/>
              <a:ext cx="374544" cy="469391"/>
              <a:chOff x="0" y="0"/>
              <a:chExt cx="374544" cy="469391"/>
            </a:xfrm>
          </p:grpSpPr>
          <p:sp>
            <p:nvSpPr>
              <p:cNvPr id="198" name="path 198"/>
              <p:cNvSpPr/>
              <p:nvPr/>
            </p:nvSpPr>
            <p:spPr>
              <a:xfrm>
                <a:off x="6678" y="8382"/>
                <a:ext cx="361187" cy="452627"/>
              </a:xfrm>
              <a:custGeom>
                <a:avLst/>
                <a:gdLst/>
                <a:ahLst/>
                <a:cxnLst/>
                <a:rect l="0" t="0" r="0" b="0"/>
                <a:pathLst>
                  <a:path w="568" h="712">
                    <a:moveTo>
                      <a:pt x="0" y="0"/>
                    </a:moveTo>
                    <a:lnTo>
                      <a:pt x="297" y="0"/>
                    </a:lnTo>
                    <a:lnTo>
                      <a:pt x="568" y="355"/>
                    </a:lnTo>
                    <a:lnTo>
                      <a:pt x="297" y="712"/>
                    </a:lnTo>
                    <a:lnTo>
                      <a:pt x="0" y="712"/>
                    </a:lnTo>
                    <a:lnTo>
                      <a:pt x="271" y="3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path 200"/>
              <p:cNvSpPr/>
              <p:nvPr/>
            </p:nvSpPr>
            <p:spPr>
              <a:xfrm>
                <a:off x="0" y="0"/>
                <a:ext cx="374544" cy="469391"/>
              </a:xfrm>
              <a:custGeom>
                <a:avLst/>
                <a:gdLst/>
                <a:ahLst/>
                <a:cxnLst/>
                <a:rect l="0" t="0" r="0" b="0"/>
                <a:pathLst>
                  <a:path w="589" h="739">
                    <a:moveTo>
                      <a:pt x="10" y="13"/>
                    </a:moveTo>
                    <a:lnTo>
                      <a:pt x="308" y="13"/>
                    </a:lnTo>
                    <a:lnTo>
                      <a:pt x="579" y="368"/>
                    </a:lnTo>
                    <a:lnTo>
                      <a:pt x="308" y="725"/>
                    </a:lnTo>
                    <a:lnTo>
                      <a:pt x="10" y="725"/>
                    </a:lnTo>
                    <a:lnTo>
                      <a:pt x="281" y="368"/>
                    </a:lnTo>
                    <a:lnTo>
                      <a:pt x="10" y="13"/>
                    </a:lnTo>
                    <a:close/>
                  </a:path>
                </a:pathLst>
              </a:custGeom>
              <a:noFill/>
              <a:ln w="16763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02" name="textbox 202"/>
          <p:cNvSpPr/>
          <p:nvPr/>
        </p:nvSpPr>
        <p:spPr>
          <a:xfrm>
            <a:off x="3586533" y="4520154"/>
            <a:ext cx="291465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2477024" y="4514015"/>
            <a:ext cx="291465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6" name="path 206"/>
          <p:cNvSpPr/>
          <p:nvPr/>
        </p:nvSpPr>
        <p:spPr>
          <a:xfrm>
            <a:off x="3015996" y="5583935"/>
            <a:ext cx="400811" cy="33528"/>
          </a:xfrm>
          <a:custGeom>
            <a:avLst/>
            <a:gdLst/>
            <a:ahLst/>
            <a:cxnLst/>
            <a:rect l="0" t="0" r="0" b="0"/>
            <a:pathLst>
              <a:path w="631" h="52">
                <a:moveTo>
                  <a:pt x="0" y="26"/>
                </a:moveTo>
                <a:lnTo>
                  <a:pt x="631" y="26"/>
                </a:lnTo>
              </a:path>
            </a:pathLst>
          </a:custGeom>
          <a:noFill/>
          <a:ln w="33527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8" name="path 208"/>
          <p:cNvSpPr/>
          <p:nvPr/>
        </p:nvSpPr>
        <p:spPr>
          <a:xfrm>
            <a:off x="2683763" y="4732019"/>
            <a:ext cx="33528" cy="315467"/>
          </a:xfrm>
          <a:custGeom>
            <a:avLst/>
            <a:gdLst/>
            <a:ahLst/>
            <a:cxnLst/>
            <a:rect l="0" t="0" r="0" b="0"/>
            <a:pathLst>
              <a:path w="52" h="496">
                <a:moveTo>
                  <a:pt x="26" y="496"/>
                </a:moveTo>
                <a:lnTo>
                  <a:pt x="26" y="0"/>
                </a:lnTo>
              </a:path>
            </a:pathLst>
          </a:custGeom>
          <a:noFill/>
          <a:ln w="33527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0" name="path 210"/>
          <p:cNvSpPr/>
          <p:nvPr/>
        </p:nvSpPr>
        <p:spPr>
          <a:xfrm>
            <a:off x="2189226" y="4883658"/>
            <a:ext cx="510539" cy="698753"/>
          </a:xfrm>
          <a:custGeom>
            <a:avLst/>
            <a:gdLst/>
            <a:ahLst/>
            <a:cxnLst/>
            <a:rect l="0" t="0" r="0" b="0"/>
            <a:pathLst>
              <a:path w="803" h="1100">
                <a:moveTo>
                  <a:pt x="795" y="41"/>
                </a:moveTo>
                <a:lnTo>
                  <a:pt x="795" y="8"/>
                </a:lnTo>
                <a:lnTo>
                  <a:pt x="8" y="8"/>
                </a:lnTo>
                <a:lnTo>
                  <a:pt x="8" y="1100"/>
                </a:lnTo>
              </a:path>
            </a:pathLst>
          </a:custGeom>
          <a:noFill/>
          <a:ln w="10668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2" name="path 212"/>
          <p:cNvSpPr/>
          <p:nvPr/>
        </p:nvSpPr>
        <p:spPr>
          <a:xfrm>
            <a:off x="3756659" y="4732019"/>
            <a:ext cx="33528" cy="315467"/>
          </a:xfrm>
          <a:custGeom>
            <a:avLst/>
            <a:gdLst/>
            <a:ahLst/>
            <a:cxnLst/>
            <a:rect l="0" t="0" r="0" b="0"/>
            <a:pathLst>
              <a:path w="52" h="496">
                <a:moveTo>
                  <a:pt x="26" y="0"/>
                </a:moveTo>
                <a:lnTo>
                  <a:pt x="26" y="496"/>
                </a:lnTo>
              </a:path>
            </a:pathLst>
          </a:custGeom>
          <a:noFill/>
          <a:ln w="33527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4" name="path 214"/>
          <p:cNvSpPr/>
          <p:nvPr/>
        </p:nvSpPr>
        <p:spPr>
          <a:xfrm>
            <a:off x="3761994" y="4883658"/>
            <a:ext cx="492251" cy="707897"/>
          </a:xfrm>
          <a:custGeom>
            <a:avLst/>
            <a:gdLst/>
            <a:ahLst/>
            <a:cxnLst/>
            <a:rect l="0" t="0" r="0" b="0"/>
            <a:pathLst>
              <a:path w="775" h="1114">
                <a:moveTo>
                  <a:pt x="8" y="56"/>
                </a:moveTo>
                <a:lnTo>
                  <a:pt x="8" y="8"/>
                </a:lnTo>
                <a:lnTo>
                  <a:pt x="766" y="8"/>
                </a:lnTo>
                <a:lnTo>
                  <a:pt x="766" y="1114"/>
                </a:lnTo>
              </a:path>
            </a:pathLst>
          </a:custGeom>
          <a:noFill/>
          <a:ln w="10668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" name="path 216"/>
          <p:cNvSpPr/>
          <p:nvPr/>
        </p:nvSpPr>
        <p:spPr>
          <a:xfrm>
            <a:off x="2693841" y="4882133"/>
            <a:ext cx="1080105" cy="723708"/>
          </a:xfrm>
          <a:custGeom>
            <a:avLst/>
            <a:gdLst/>
            <a:ahLst/>
            <a:cxnLst/>
            <a:rect l="0" t="0" r="0" b="0"/>
            <a:pathLst>
              <a:path w="1700" h="1139">
                <a:moveTo>
                  <a:pt x="10" y="13"/>
                </a:moveTo>
                <a:lnTo>
                  <a:pt x="1700" y="13"/>
                </a:lnTo>
                <a:moveTo>
                  <a:pt x="10" y="44"/>
                </a:moveTo>
                <a:lnTo>
                  <a:pt x="821" y="1117"/>
                </a:lnTo>
                <a:moveTo>
                  <a:pt x="1690" y="13"/>
                </a:moveTo>
                <a:lnTo>
                  <a:pt x="821" y="1131"/>
                </a:lnTo>
              </a:path>
            </a:pathLst>
          </a:custGeom>
          <a:noFill/>
          <a:ln w="16763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18" name="picture 2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83508" y="5237988"/>
            <a:ext cx="417576" cy="16764"/>
          </a:xfrm>
          <a:prstGeom prst="rect">
            <a:avLst/>
          </a:prstGeom>
        </p:spPr>
      </p:pic>
      <p:sp>
        <p:nvSpPr>
          <p:cNvPr id="220" name="textbox 220"/>
          <p:cNvSpPr/>
          <p:nvPr/>
        </p:nvSpPr>
        <p:spPr>
          <a:xfrm>
            <a:off x="2629407" y="5475740"/>
            <a:ext cx="291465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15640" y="5236464"/>
            <a:ext cx="417576" cy="16764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208019" y="5242560"/>
            <a:ext cx="16764" cy="301751"/>
          </a:xfrm>
          <a:prstGeom prst="rect">
            <a:avLst/>
          </a:prstGeom>
        </p:spPr>
      </p:pic>
      <p:sp>
        <p:nvSpPr>
          <p:cNvPr id="226" name="path 226"/>
          <p:cNvSpPr/>
          <p:nvPr/>
        </p:nvSpPr>
        <p:spPr>
          <a:xfrm>
            <a:off x="3067049" y="5600700"/>
            <a:ext cx="306324" cy="251460"/>
          </a:xfrm>
          <a:custGeom>
            <a:avLst/>
            <a:gdLst/>
            <a:ahLst/>
            <a:cxnLst/>
            <a:rect l="0" t="0" r="0" b="0"/>
            <a:pathLst>
              <a:path w="482" h="396">
                <a:moveTo>
                  <a:pt x="8" y="0"/>
                </a:moveTo>
                <a:lnTo>
                  <a:pt x="8" y="396"/>
                </a:lnTo>
                <a:moveTo>
                  <a:pt x="474" y="0"/>
                </a:moveTo>
                <a:lnTo>
                  <a:pt x="474" y="396"/>
                </a:lnTo>
              </a:path>
            </a:pathLst>
          </a:custGeom>
          <a:noFill/>
          <a:ln w="10668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2032254" y="5586222"/>
            <a:ext cx="326135" cy="326135"/>
            <a:chOff x="0" y="0"/>
            <a:chExt cx="326135" cy="326135"/>
          </a:xfrm>
        </p:grpSpPr>
        <p:sp>
          <p:nvSpPr>
            <p:cNvPr id="228" name="path 228"/>
            <p:cNvSpPr/>
            <p:nvPr/>
          </p:nvSpPr>
          <p:spPr>
            <a:xfrm>
              <a:off x="0" y="0"/>
              <a:ext cx="326135" cy="326135"/>
            </a:xfrm>
            <a:custGeom>
              <a:avLst/>
              <a:gdLst/>
              <a:ahLst/>
              <a:cxnLst/>
              <a:rect l="0" t="0" r="0" b="0"/>
              <a:pathLst>
                <a:path w="513" h="513">
                  <a:moveTo>
                    <a:pt x="8" y="255"/>
                  </a:moveTo>
                  <a:cubicBezTo>
                    <a:pt x="8" y="118"/>
                    <a:pt x="121" y="8"/>
                    <a:pt x="257" y="8"/>
                  </a:cubicBezTo>
                  <a:cubicBezTo>
                    <a:pt x="394" y="8"/>
                    <a:pt x="505" y="118"/>
                    <a:pt x="505" y="255"/>
                  </a:cubicBezTo>
                  <a:cubicBezTo>
                    <a:pt x="505" y="394"/>
                    <a:pt x="394" y="505"/>
                    <a:pt x="257" y="505"/>
                  </a:cubicBezTo>
                  <a:cubicBezTo>
                    <a:pt x="121" y="505"/>
                    <a:pt x="8" y="394"/>
                    <a:pt x="8" y="255"/>
                  </a:cubicBezTo>
                </a:path>
              </a:pathLst>
            </a:custGeom>
            <a:noFill/>
            <a:ln w="10668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0" name="textbox 230"/>
            <p:cNvSpPr/>
            <p:nvPr/>
          </p:nvSpPr>
          <p:spPr>
            <a:xfrm>
              <a:off x="-12700" y="-12700"/>
              <a:ext cx="351790" cy="3517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16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6045" algn="l" rtl="0" eaLnBrk="0">
                <a:lnSpc>
                  <a:spcPts val="365"/>
                </a:lnSpc>
                <a:tabLst/>
              </a:pPr>
              <a:r>
                <a:rPr sz="300" b="1" kern="0" spc="10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~</a:t>
              </a:r>
              <a:endParaRPr sz="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32" name="picture 2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791711" y="4713731"/>
            <a:ext cx="3224783" cy="70104"/>
          </a:xfrm>
          <a:prstGeom prst="rect">
            <a:avLst/>
          </a:prstGeom>
        </p:spPr>
      </p:pic>
      <p:sp>
        <p:nvSpPr>
          <p:cNvPr id="234" name="path 234"/>
          <p:cNvSpPr/>
          <p:nvPr/>
        </p:nvSpPr>
        <p:spPr>
          <a:xfrm>
            <a:off x="2327910" y="4260341"/>
            <a:ext cx="1787651" cy="1557527"/>
          </a:xfrm>
          <a:custGeom>
            <a:avLst/>
            <a:gdLst/>
            <a:ahLst/>
            <a:cxnLst/>
            <a:rect l="0" t="0" r="0" b="0"/>
            <a:pathLst>
              <a:path w="2815" h="2452">
                <a:moveTo>
                  <a:pt x="8" y="1227"/>
                </a:moveTo>
                <a:cubicBezTo>
                  <a:pt x="8" y="553"/>
                  <a:pt x="634" y="8"/>
                  <a:pt x="1407" y="8"/>
                </a:cubicBezTo>
                <a:cubicBezTo>
                  <a:pt x="2180" y="8"/>
                  <a:pt x="2806" y="553"/>
                  <a:pt x="2806" y="1227"/>
                </a:cubicBezTo>
                <a:cubicBezTo>
                  <a:pt x="2806" y="1899"/>
                  <a:pt x="2180" y="2444"/>
                  <a:pt x="1407" y="2444"/>
                </a:cubicBezTo>
                <a:cubicBezTo>
                  <a:pt x="634" y="2444"/>
                  <a:pt x="8" y="1899"/>
                  <a:pt x="8" y="1227"/>
                </a:cubicBezTo>
              </a:path>
            </a:pathLst>
          </a:custGeom>
          <a:noFill/>
          <a:ln w="10668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6389369" y="5563361"/>
            <a:ext cx="326136" cy="326135"/>
            <a:chOff x="0" y="0"/>
            <a:chExt cx="326136" cy="326135"/>
          </a:xfrm>
        </p:grpSpPr>
        <p:sp>
          <p:nvSpPr>
            <p:cNvPr id="236" name="path 236"/>
            <p:cNvSpPr/>
            <p:nvPr/>
          </p:nvSpPr>
          <p:spPr>
            <a:xfrm>
              <a:off x="0" y="0"/>
              <a:ext cx="326136" cy="326135"/>
            </a:xfrm>
            <a:custGeom>
              <a:avLst/>
              <a:gdLst/>
              <a:ahLst/>
              <a:cxnLst/>
              <a:rect l="0" t="0" r="0" b="0"/>
              <a:pathLst>
                <a:path w="513" h="513">
                  <a:moveTo>
                    <a:pt x="8" y="255"/>
                  </a:moveTo>
                  <a:cubicBezTo>
                    <a:pt x="8" y="118"/>
                    <a:pt x="118" y="8"/>
                    <a:pt x="255" y="8"/>
                  </a:cubicBezTo>
                  <a:cubicBezTo>
                    <a:pt x="392" y="8"/>
                    <a:pt x="505" y="118"/>
                    <a:pt x="505" y="255"/>
                  </a:cubicBezTo>
                  <a:cubicBezTo>
                    <a:pt x="505" y="394"/>
                    <a:pt x="392" y="505"/>
                    <a:pt x="255" y="505"/>
                  </a:cubicBezTo>
                  <a:cubicBezTo>
                    <a:pt x="118" y="505"/>
                    <a:pt x="8" y="394"/>
                    <a:pt x="8" y="255"/>
                  </a:cubicBezTo>
                </a:path>
              </a:pathLst>
            </a:custGeom>
            <a:noFill/>
            <a:ln w="10668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8" name="textbox 238"/>
            <p:cNvSpPr/>
            <p:nvPr/>
          </p:nvSpPr>
          <p:spPr>
            <a:xfrm>
              <a:off x="-12700" y="-12700"/>
              <a:ext cx="351790" cy="3517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6045" algn="l" rtl="0" eaLnBrk="0">
                <a:lnSpc>
                  <a:spcPts val="365"/>
                </a:lnSpc>
                <a:tabLst/>
              </a:pPr>
              <a:r>
                <a:rPr sz="300" b="1" kern="0" spc="10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~</a:t>
              </a:r>
              <a:endParaRPr sz="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40" name="textbox 240"/>
          <p:cNvSpPr/>
          <p:nvPr/>
        </p:nvSpPr>
        <p:spPr>
          <a:xfrm>
            <a:off x="6889075" y="4543033"/>
            <a:ext cx="291465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7937527" y="4527767"/>
            <a:ext cx="291465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4" name="path 244"/>
          <p:cNvSpPr/>
          <p:nvPr/>
        </p:nvSpPr>
        <p:spPr>
          <a:xfrm>
            <a:off x="8112252" y="4709159"/>
            <a:ext cx="33528" cy="315468"/>
          </a:xfrm>
          <a:custGeom>
            <a:avLst/>
            <a:gdLst/>
            <a:ahLst/>
            <a:cxnLst/>
            <a:rect l="0" t="0" r="0" b="0"/>
            <a:pathLst>
              <a:path w="52" h="496">
                <a:moveTo>
                  <a:pt x="26" y="0"/>
                </a:moveTo>
                <a:lnTo>
                  <a:pt x="26" y="496"/>
                </a:lnTo>
              </a:path>
            </a:pathLst>
          </a:custGeom>
          <a:noFill/>
          <a:ln w="33527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6" name="path 246"/>
          <p:cNvSpPr/>
          <p:nvPr/>
        </p:nvSpPr>
        <p:spPr>
          <a:xfrm>
            <a:off x="8117585" y="4860797"/>
            <a:ext cx="493776" cy="707897"/>
          </a:xfrm>
          <a:custGeom>
            <a:avLst/>
            <a:gdLst/>
            <a:ahLst/>
            <a:cxnLst/>
            <a:rect l="0" t="0" r="0" b="0"/>
            <a:pathLst>
              <a:path w="777" h="1114">
                <a:moveTo>
                  <a:pt x="8" y="56"/>
                </a:moveTo>
                <a:lnTo>
                  <a:pt x="8" y="8"/>
                </a:lnTo>
                <a:lnTo>
                  <a:pt x="769" y="8"/>
                </a:lnTo>
                <a:lnTo>
                  <a:pt x="769" y="1114"/>
                </a:lnTo>
              </a:path>
            </a:pathLst>
          </a:custGeom>
          <a:noFill/>
          <a:ln w="10668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8" name="path 248"/>
          <p:cNvSpPr/>
          <p:nvPr/>
        </p:nvSpPr>
        <p:spPr>
          <a:xfrm>
            <a:off x="7039355" y="4709159"/>
            <a:ext cx="33528" cy="315468"/>
          </a:xfrm>
          <a:custGeom>
            <a:avLst/>
            <a:gdLst/>
            <a:ahLst/>
            <a:cxnLst/>
            <a:rect l="0" t="0" r="0" b="0"/>
            <a:pathLst>
              <a:path w="52" h="496">
                <a:moveTo>
                  <a:pt x="26" y="496"/>
                </a:moveTo>
                <a:lnTo>
                  <a:pt x="26" y="0"/>
                </a:lnTo>
              </a:path>
            </a:pathLst>
          </a:custGeom>
          <a:noFill/>
          <a:ln w="33527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0" name="path 250"/>
          <p:cNvSpPr/>
          <p:nvPr/>
        </p:nvSpPr>
        <p:spPr>
          <a:xfrm>
            <a:off x="6544817" y="4860797"/>
            <a:ext cx="510539" cy="698753"/>
          </a:xfrm>
          <a:custGeom>
            <a:avLst/>
            <a:gdLst/>
            <a:ahLst/>
            <a:cxnLst/>
            <a:rect l="0" t="0" r="0" b="0"/>
            <a:pathLst>
              <a:path w="803" h="1100">
                <a:moveTo>
                  <a:pt x="795" y="41"/>
                </a:moveTo>
                <a:lnTo>
                  <a:pt x="795" y="8"/>
                </a:lnTo>
                <a:lnTo>
                  <a:pt x="8" y="8"/>
                </a:lnTo>
                <a:lnTo>
                  <a:pt x="8" y="1100"/>
                </a:lnTo>
              </a:path>
            </a:pathLst>
          </a:custGeom>
          <a:noFill/>
          <a:ln w="10668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2" name="path 252"/>
          <p:cNvSpPr/>
          <p:nvPr/>
        </p:nvSpPr>
        <p:spPr>
          <a:xfrm>
            <a:off x="7371588" y="5561075"/>
            <a:ext cx="400811" cy="33528"/>
          </a:xfrm>
          <a:custGeom>
            <a:avLst/>
            <a:gdLst/>
            <a:ahLst/>
            <a:cxnLst/>
            <a:rect l="0" t="0" r="0" b="0"/>
            <a:pathLst>
              <a:path w="631" h="52">
                <a:moveTo>
                  <a:pt x="0" y="26"/>
                </a:moveTo>
                <a:lnTo>
                  <a:pt x="631" y="26"/>
                </a:lnTo>
              </a:path>
            </a:pathLst>
          </a:custGeom>
          <a:noFill/>
          <a:ln w="33527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4" name="path 254"/>
          <p:cNvSpPr/>
          <p:nvPr/>
        </p:nvSpPr>
        <p:spPr>
          <a:xfrm>
            <a:off x="7049441" y="4859273"/>
            <a:ext cx="1080105" cy="723699"/>
          </a:xfrm>
          <a:custGeom>
            <a:avLst/>
            <a:gdLst/>
            <a:ahLst/>
            <a:cxnLst/>
            <a:rect l="0" t="0" r="0" b="0"/>
            <a:pathLst>
              <a:path w="1700" h="1139">
                <a:moveTo>
                  <a:pt x="10" y="13"/>
                </a:moveTo>
                <a:lnTo>
                  <a:pt x="1700" y="13"/>
                </a:lnTo>
                <a:moveTo>
                  <a:pt x="10" y="44"/>
                </a:moveTo>
                <a:lnTo>
                  <a:pt x="824" y="1117"/>
                </a:lnTo>
                <a:moveTo>
                  <a:pt x="1690" y="13"/>
                </a:moveTo>
                <a:lnTo>
                  <a:pt x="824" y="1131"/>
                </a:lnTo>
              </a:path>
            </a:pathLst>
          </a:custGeom>
          <a:noFill/>
          <a:ln w="16763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56" name="picture 2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490716" y="5241035"/>
            <a:ext cx="1082040" cy="18288"/>
          </a:xfrm>
          <a:prstGeom prst="rect">
            <a:avLst/>
          </a:prstGeom>
        </p:spPr>
      </p:pic>
      <p:pic>
        <p:nvPicPr>
          <p:cNvPr id="258" name="picture 2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72755" y="5247132"/>
            <a:ext cx="16764" cy="301751"/>
          </a:xfrm>
          <a:prstGeom prst="rect">
            <a:avLst/>
          </a:prstGeom>
        </p:spPr>
      </p:pic>
      <p:sp>
        <p:nvSpPr>
          <p:cNvPr id="260" name="path 260"/>
          <p:cNvSpPr/>
          <p:nvPr/>
        </p:nvSpPr>
        <p:spPr>
          <a:xfrm>
            <a:off x="7424166" y="5577839"/>
            <a:ext cx="306323" cy="251460"/>
          </a:xfrm>
          <a:custGeom>
            <a:avLst/>
            <a:gdLst/>
            <a:ahLst/>
            <a:cxnLst/>
            <a:rect l="0" t="0" r="0" b="0"/>
            <a:pathLst>
              <a:path w="482" h="396">
                <a:moveTo>
                  <a:pt x="8" y="0"/>
                </a:moveTo>
                <a:lnTo>
                  <a:pt x="8" y="396"/>
                </a:lnTo>
                <a:moveTo>
                  <a:pt x="473" y="0"/>
                </a:moveTo>
                <a:lnTo>
                  <a:pt x="473" y="396"/>
                </a:lnTo>
              </a:path>
            </a:pathLst>
          </a:custGeom>
          <a:noFill/>
          <a:ln w="10668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2" name="textbox 262"/>
          <p:cNvSpPr/>
          <p:nvPr/>
        </p:nvSpPr>
        <p:spPr>
          <a:xfrm>
            <a:off x="6985051" y="5452821"/>
            <a:ext cx="291465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4" name="path 264"/>
          <p:cNvSpPr/>
          <p:nvPr/>
        </p:nvSpPr>
        <p:spPr>
          <a:xfrm>
            <a:off x="6688073" y="4246626"/>
            <a:ext cx="1787652" cy="1556004"/>
          </a:xfrm>
          <a:custGeom>
            <a:avLst/>
            <a:gdLst/>
            <a:ahLst/>
            <a:cxnLst/>
            <a:rect l="0" t="0" r="0" b="0"/>
            <a:pathLst>
              <a:path w="2815" h="2450">
                <a:moveTo>
                  <a:pt x="8" y="1225"/>
                </a:moveTo>
                <a:cubicBezTo>
                  <a:pt x="8" y="553"/>
                  <a:pt x="634" y="8"/>
                  <a:pt x="1407" y="8"/>
                </a:cubicBezTo>
                <a:cubicBezTo>
                  <a:pt x="2180" y="8"/>
                  <a:pt x="2806" y="553"/>
                  <a:pt x="2806" y="1225"/>
                </a:cubicBezTo>
                <a:cubicBezTo>
                  <a:pt x="2806" y="1897"/>
                  <a:pt x="2180" y="2442"/>
                  <a:pt x="1407" y="2442"/>
                </a:cubicBezTo>
                <a:cubicBezTo>
                  <a:pt x="634" y="2442"/>
                  <a:pt x="8" y="1897"/>
                  <a:pt x="8" y="1225"/>
                </a:cubicBezTo>
              </a:path>
            </a:pathLst>
          </a:custGeom>
          <a:noFill/>
          <a:ln w="10668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6" name="textbox 266"/>
          <p:cNvSpPr/>
          <p:nvPr/>
        </p:nvSpPr>
        <p:spPr>
          <a:xfrm>
            <a:off x="5278022" y="3232517"/>
            <a:ext cx="4439284" cy="486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200" b="1" kern="0" spc="3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≈  母线：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发电机组输出通过主变升压连接母线，物理概念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spcBef>
                <a:spcPts val="7"/>
              </a:spcBef>
              <a:tabLst/>
            </a:pPr>
            <a:r>
              <a:rPr sz="1200" b="1" kern="0" spc="1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≈  节点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：市场概念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，代表一组母线（忽略这些母线之间的堵塞）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660256" y="3259993"/>
            <a:ext cx="3060700" cy="478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200" b="1" kern="0" spc="3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≈  线路：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连接两个母线的物理线路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1200" b="1" kern="0" spc="2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≈</a:t>
            </a:r>
            <a:r>
              <a:rPr sz="1200" b="1" kern="0" spc="13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b="1" kern="0" spc="2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断面：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两个节点之间所有线路连接的集合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5148212" y="4176205"/>
            <a:ext cx="560069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4300" algn="l" rtl="0" eaLnBrk="0">
              <a:lnSpc>
                <a:spcPct val="86000"/>
              </a:lnSpc>
              <a:tabLst/>
            </a:pPr>
            <a:r>
              <a:rPr sz="900" b="1" kern="0" spc="20" dirty="0">
                <a:solidFill>
                  <a:srgbClr val="5482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断面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输电线路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72" name="picture 27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554980" y="5239511"/>
            <a:ext cx="885443" cy="18287"/>
          </a:xfrm>
          <a:prstGeom prst="rect">
            <a:avLst/>
          </a:prstGeom>
        </p:spPr>
      </p:pic>
      <p:pic>
        <p:nvPicPr>
          <p:cNvPr id="274" name="picture 27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151375" y="5237988"/>
            <a:ext cx="885444" cy="18288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 rot="21600000">
            <a:off x="4889753" y="4409693"/>
            <a:ext cx="1062228" cy="1007364"/>
            <a:chOff x="0" y="0"/>
            <a:chExt cx="1062228" cy="1007364"/>
          </a:xfrm>
        </p:grpSpPr>
        <p:pic>
          <p:nvPicPr>
            <p:cNvPr id="276" name="picture 27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062228" cy="1007364"/>
            </a:xfrm>
            <a:prstGeom prst="rect">
              <a:avLst/>
            </a:prstGeom>
          </p:spPr>
        </p:pic>
        <p:sp>
          <p:nvSpPr>
            <p:cNvPr id="278" name="textbox 278"/>
            <p:cNvSpPr/>
            <p:nvPr/>
          </p:nvSpPr>
          <p:spPr>
            <a:xfrm>
              <a:off x="-12700" y="-12700"/>
              <a:ext cx="1087755" cy="10337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92734" algn="l" rtl="0" eaLnBrk="0">
                <a:lnSpc>
                  <a:spcPct val="87000"/>
                </a:lnSpc>
                <a:spcBef>
                  <a:spcPts val="4"/>
                </a:spcBef>
                <a:tabLst/>
              </a:pPr>
              <a:r>
                <a:rPr sz="1000" b="1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输电线路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80" name="textbox 280"/>
          <p:cNvSpPr/>
          <p:nvPr/>
        </p:nvSpPr>
        <p:spPr>
          <a:xfrm>
            <a:off x="537160" y="1115253"/>
            <a:ext cx="1809114" cy="329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6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电网中的节点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2" name="path 282"/>
          <p:cNvSpPr/>
          <p:nvPr/>
        </p:nvSpPr>
        <p:spPr>
          <a:xfrm>
            <a:off x="6473952" y="2517647"/>
            <a:ext cx="6095" cy="251460"/>
          </a:xfrm>
          <a:custGeom>
            <a:avLst/>
            <a:gdLst/>
            <a:ahLst/>
            <a:cxnLst/>
            <a:rect l="0" t="0" r="0" b="0"/>
            <a:pathLst>
              <a:path w="9" h="396">
                <a:moveTo>
                  <a:pt x="4" y="0"/>
                </a:moveTo>
                <a:lnTo>
                  <a:pt x="4" y="396"/>
                </a:lnTo>
              </a:path>
            </a:pathLst>
          </a:custGeom>
          <a:noFill/>
          <a:ln w="6096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4" name="picture 28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229349" y="2696717"/>
            <a:ext cx="493776" cy="493776"/>
          </a:xfrm>
          <a:prstGeom prst="rect">
            <a:avLst/>
          </a:prstGeom>
        </p:spPr>
      </p:pic>
      <p:sp>
        <p:nvSpPr>
          <p:cNvPr id="286" name="path 286"/>
          <p:cNvSpPr/>
          <p:nvPr/>
        </p:nvSpPr>
        <p:spPr>
          <a:xfrm>
            <a:off x="2496311" y="2517647"/>
            <a:ext cx="6096" cy="251460"/>
          </a:xfrm>
          <a:custGeom>
            <a:avLst/>
            <a:gdLst/>
            <a:ahLst/>
            <a:cxnLst/>
            <a:rect l="0" t="0" r="0" b="0"/>
            <a:pathLst>
              <a:path w="9" h="396">
                <a:moveTo>
                  <a:pt x="4" y="0"/>
                </a:moveTo>
                <a:lnTo>
                  <a:pt x="4" y="396"/>
                </a:lnTo>
              </a:path>
            </a:pathLst>
          </a:custGeom>
          <a:noFill/>
          <a:ln w="6096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6" name="group 36"/>
          <p:cNvGrpSpPr/>
          <p:nvPr/>
        </p:nvGrpSpPr>
        <p:grpSpPr>
          <a:xfrm rot="21600000">
            <a:off x="2236470" y="2696717"/>
            <a:ext cx="493776" cy="493776"/>
            <a:chOff x="0" y="0"/>
            <a:chExt cx="493776" cy="493776"/>
          </a:xfrm>
        </p:grpSpPr>
        <p:sp>
          <p:nvSpPr>
            <p:cNvPr id="288" name="path 288"/>
            <p:cNvSpPr/>
            <p:nvPr/>
          </p:nvSpPr>
          <p:spPr>
            <a:xfrm>
              <a:off x="5333" y="5334"/>
              <a:ext cx="483107" cy="483108"/>
            </a:xfrm>
            <a:custGeom>
              <a:avLst/>
              <a:gdLst/>
              <a:ahLst/>
              <a:cxnLst/>
              <a:rect l="0" t="0" r="0" b="0"/>
              <a:pathLst>
                <a:path w="760" h="760">
                  <a:moveTo>
                    <a:pt x="0" y="379"/>
                  </a:moveTo>
                  <a:cubicBezTo>
                    <a:pt x="0" y="170"/>
                    <a:pt x="170" y="0"/>
                    <a:pt x="379" y="0"/>
                  </a:cubicBezTo>
                  <a:cubicBezTo>
                    <a:pt x="590" y="0"/>
                    <a:pt x="760" y="170"/>
                    <a:pt x="760" y="379"/>
                  </a:cubicBezTo>
                  <a:cubicBezTo>
                    <a:pt x="760" y="590"/>
                    <a:pt x="590" y="760"/>
                    <a:pt x="379" y="760"/>
                  </a:cubicBezTo>
                  <a:cubicBezTo>
                    <a:pt x="170" y="760"/>
                    <a:pt x="0" y="590"/>
                    <a:pt x="0" y="379"/>
                  </a:cubicBezTo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0" name="path 290"/>
            <p:cNvSpPr/>
            <p:nvPr/>
          </p:nvSpPr>
          <p:spPr>
            <a:xfrm>
              <a:off x="0" y="0"/>
              <a:ext cx="493776" cy="493776"/>
            </a:xfrm>
            <a:custGeom>
              <a:avLst/>
              <a:gdLst/>
              <a:ahLst/>
              <a:cxnLst/>
              <a:rect l="0" t="0" r="0" b="0"/>
              <a:pathLst>
                <a:path w="777" h="777">
                  <a:moveTo>
                    <a:pt x="8" y="387"/>
                  </a:moveTo>
                  <a:cubicBezTo>
                    <a:pt x="8" y="178"/>
                    <a:pt x="178" y="8"/>
                    <a:pt x="387" y="8"/>
                  </a:cubicBezTo>
                  <a:cubicBezTo>
                    <a:pt x="598" y="8"/>
                    <a:pt x="769" y="178"/>
                    <a:pt x="769" y="387"/>
                  </a:cubicBezTo>
                  <a:cubicBezTo>
                    <a:pt x="769" y="598"/>
                    <a:pt x="598" y="769"/>
                    <a:pt x="387" y="769"/>
                  </a:cubicBezTo>
                  <a:cubicBezTo>
                    <a:pt x="178" y="769"/>
                    <a:pt x="8" y="598"/>
                    <a:pt x="8" y="387"/>
                  </a:cubicBez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2" name="path 292"/>
            <p:cNvSpPr/>
            <p:nvPr/>
          </p:nvSpPr>
          <p:spPr>
            <a:xfrm>
              <a:off x="102870" y="99821"/>
              <a:ext cx="298703" cy="274320"/>
            </a:xfrm>
            <a:custGeom>
              <a:avLst/>
              <a:gdLst/>
              <a:ahLst/>
              <a:cxnLst/>
              <a:rect l="0" t="0" r="0" b="0"/>
              <a:pathLst>
                <a:path w="470" h="432">
                  <a:moveTo>
                    <a:pt x="374" y="206"/>
                  </a:moveTo>
                  <a:lnTo>
                    <a:pt x="470" y="206"/>
                  </a:lnTo>
                  <a:lnTo>
                    <a:pt x="470" y="206"/>
                  </a:lnTo>
                  <a:lnTo>
                    <a:pt x="467" y="184"/>
                  </a:lnTo>
                  <a:lnTo>
                    <a:pt x="463" y="163"/>
                  </a:lnTo>
                  <a:lnTo>
                    <a:pt x="455" y="141"/>
                  </a:lnTo>
                  <a:lnTo>
                    <a:pt x="446" y="122"/>
                  </a:lnTo>
                  <a:lnTo>
                    <a:pt x="362" y="122"/>
                  </a:lnTo>
                  <a:lnTo>
                    <a:pt x="362" y="122"/>
                  </a:lnTo>
                  <a:lnTo>
                    <a:pt x="367" y="141"/>
                  </a:lnTo>
                  <a:lnTo>
                    <a:pt x="371" y="163"/>
                  </a:lnTo>
                  <a:lnTo>
                    <a:pt x="371" y="184"/>
                  </a:lnTo>
                  <a:lnTo>
                    <a:pt x="374" y="206"/>
                  </a:lnTo>
                  <a:lnTo>
                    <a:pt x="374" y="206"/>
                  </a:lnTo>
                  <a:close/>
                  <a:moveTo>
                    <a:pt x="311" y="60"/>
                  </a:moveTo>
                  <a:lnTo>
                    <a:pt x="311" y="60"/>
                  </a:lnTo>
                  <a:lnTo>
                    <a:pt x="304" y="47"/>
                  </a:lnTo>
                  <a:lnTo>
                    <a:pt x="297" y="36"/>
                  </a:lnTo>
                  <a:lnTo>
                    <a:pt x="287" y="26"/>
                  </a:lnTo>
                  <a:lnTo>
                    <a:pt x="278" y="19"/>
                  </a:lnTo>
                  <a:lnTo>
                    <a:pt x="266" y="12"/>
                  </a:lnTo>
                  <a:lnTo>
                    <a:pt x="256" y="7"/>
                  </a:lnTo>
                  <a:lnTo>
                    <a:pt x="247" y="2"/>
                  </a:lnTo>
                  <a:lnTo>
                    <a:pt x="237" y="0"/>
                  </a:lnTo>
                  <a:lnTo>
                    <a:pt x="237" y="105"/>
                  </a:lnTo>
                  <a:lnTo>
                    <a:pt x="333" y="105"/>
                  </a:lnTo>
                  <a:lnTo>
                    <a:pt x="333" y="105"/>
                  </a:lnTo>
                  <a:lnTo>
                    <a:pt x="323" y="81"/>
                  </a:lnTo>
                  <a:lnTo>
                    <a:pt x="319" y="72"/>
                  </a:lnTo>
                  <a:lnTo>
                    <a:pt x="311" y="60"/>
                  </a:lnTo>
                  <a:lnTo>
                    <a:pt x="311" y="60"/>
                  </a:lnTo>
                  <a:close/>
                  <a:moveTo>
                    <a:pt x="338" y="122"/>
                  </a:moveTo>
                  <a:lnTo>
                    <a:pt x="237" y="122"/>
                  </a:lnTo>
                  <a:lnTo>
                    <a:pt x="237" y="206"/>
                  </a:lnTo>
                  <a:lnTo>
                    <a:pt x="350" y="206"/>
                  </a:lnTo>
                  <a:lnTo>
                    <a:pt x="350" y="206"/>
                  </a:lnTo>
                  <a:lnTo>
                    <a:pt x="350" y="184"/>
                  </a:lnTo>
                  <a:lnTo>
                    <a:pt x="347" y="163"/>
                  </a:lnTo>
                  <a:lnTo>
                    <a:pt x="343" y="141"/>
                  </a:lnTo>
                  <a:lnTo>
                    <a:pt x="338" y="122"/>
                  </a:lnTo>
                  <a:lnTo>
                    <a:pt x="338" y="122"/>
                  </a:lnTo>
                  <a:close/>
                  <a:moveTo>
                    <a:pt x="357" y="105"/>
                  </a:moveTo>
                  <a:lnTo>
                    <a:pt x="436" y="105"/>
                  </a:lnTo>
                  <a:lnTo>
                    <a:pt x="436" y="105"/>
                  </a:lnTo>
                  <a:lnTo>
                    <a:pt x="424" y="88"/>
                  </a:lnTo>
                  <a:lnTo>
                    <a:pt x="410" y="74"/>
                  </a:lnTo>
                  <a:lnTo>
                    <a:pt x="395" y="60"/>
                  </a:lnTo>
                  <a:lnTo>
                    <a:pt x="379" y="47"/>
                  </a:lnTo>
                  <a:lnTo>
                    <a:pt x="362" y="36"/>
                  </a:lnTo>
                  <a:lnTo>
                    <a:pt x="343" y="26"/>
                  </a:lnTo>
                  <a:lnTo>
                    <a:pt x="323" y="16"/>
                  </a:lnTo>
                  <a:lnTo>
                    <a:pt x="302" y="9"/>
                  </a:lnTo>
                  <a:lnTo>
                    <a:pt x="302" y="9"/>
                  </a:lnTo>
                  <a:lnTo>
                    <a:pt x="311" y="19"/>
                  </a:lnTo>
                  <a:lnTo>
                    <a:pt x="319" y="28"/>
                  </a:lnTo>
                  <a:lnTo>
                    <a:pt x="326" y="38"/>
                  </a:lnTo>
                  <a:lnTo>
                    <a:pt x="333" y="50"/>
                  </a:lnTo>
                  <a:lnTo>
                    <a:pt x="333" y="50"/>
                  </a:lnTo>
                  <a:lnTo>
                    <a:pt x="340" y="62"/>
                  </a:lnTo>
                  <a:lnTo>
                    <a:pt x="347" y="76"/>
                  </a:lnTo>
                  <a:lnTo>
                    <a:pt x="352" y="91"/>
                  </a:lnTo>
                  <a:lnTo>
                    <a:pt x="357" y="105"/>
                  </a:lnTo>
                  <a:lnTo>
                    <a:pt x="357" y="105"/>
                  </a:lnTo>
                  <a:close/>
                  <a:moveTo>
                    <a:pt x="333" y="381"/>
                  </a:moveTo>
                  <a:lnTo>
                    <a:pt x="333" y="381"/>
                  </a:lnTo>
                  <a:lnTo>
                    <a:pt x="326" y="391"/>
                  </a:lnTo>
                  <a:lnTo>
                    <a:pt x="319" y="403"/>
                  </a:lnTo>
                  <a:lnTo>
                    <a:pt x="311" y="412"/>
                  </a:lnTo>
                  <a:lnTo>
                    <a:pt x="302" y="422"/>
                  </a:lnTo>
                  <a:lnTo>
                    <a:pt x="302" y="422"/>
                  </a:lnTo>
                  <a:lnTo>
                    <a:pt x="323" y="415"/>
                  </a:lnTo>
                  <a:lnTo>
                    <a:pt x="343" y="405"/>
                  </a:lnTo>
                  <a:lnTo>
                    <a:pt x="362" y="396"/>
                  </a:lnTo>
                  <a:lnTo>
                    <a:pt x="381" y="384"/>
                  </a:lnTo>
                  <a:lnTo>
                    <a:pt x="398" y="369"/>
                  </a:lnTo>
                  <a:lnTo>
                    <a:pt x="412" y="355"/>
                  </a:lnTo>
                  <a:lnTo>
                    <a:pt x="427" y="338"/>
                  </a:lnTo>
                  <a:lnTo>
                    <a:pt x="439" y="321"/>
                  </a:lnTo>
                  <a:lnTo>
                    <a:pt x="359" y="321"/>
                  </a:lnTo>
                  <a:lnTo>
                    <a:pt x="359" y="321"/>
                  </a:lnTo>
                  <a:lnTo>
                    <a:pt x="355" y="338"/>
                  </a:lnTo>
                  <a:lnTo>
                    <a:pt x="347" y="352"/>
                  </a:lnTo>
                  <a:lnTo>
                    <a:pt x="340" y="367"/>
                  </a:lnTo>
                  <a:lnTo>
                    <a:pt x="333" y="381"/>
                  </a:lnTo>
                  <a:lnTo>
                    <a:pt x="333" y="381"/>
                  </a:lnTo>
                  <a:close/>
                  <a:moveTo>
                    <a:pt x="374" y="223"/>
                  </a:moveTo>
                  <a:lnTo>
                    <a:pt x="374" y="223"/>
                  </a:lnTo>
                  <a:lnTo>
                    <a:pt x="374" y="244"/>
                  </a:lnTo>
                  <a:lnTo>
                    <a:pt x="371" y="266"/>
                  </a:lnTo>
                  <a:lnTo>
                    <a:pt x="369" y="285"/>
                  </a:lnTo>
                  <a:lnTo>
                    <a:pt x="364" y="307"/>
                  </a:lnTo>
                  <a:lnTo>
                    <a:pt x="448" y="307"/>
                  </a:lnTo>
                  <a:lnTo>
                    <a:pt x="448" y="307"/>
                  </a:lnTo>
                  <a:lnTo>
                    <a:pt x="458" y="285"/>
                  </a:lnTo>
                  <a:lnTo>
                    <a:pt x="463" y="266"/>
                  </a:lnTo>
                  <a:lnTo>
                    <a:pt x="467" y="244"/>
                  </a:lnTo>
                  <a:lnTo>
                    <a:pt x="470" y="223"/>
                  </a:lnTo>
                  <a:lnTo>
                    <a:pt x="374" y="223"/>
                  </a:lnTo>
                  <a:close/>
                  <a:moveTo>
                    <a:pt x="350" y="223"/>
                  </a:moveTo>
                  <a:lnTo>
                    <a:pt x="237" y="223"/>
                  </a:lnTo>
                  <a:lnTo>
                    <a:pt x="237" y="307"/>
                  </a:lnTo>
                  <a:lnTo>
                    <a:pt x="338" y="307"/>
                  </a:lnTo>
                  <a:lnTo>
                    <a:pt x="338" y="307"/>
                  </a:lnTo>
                  <a:lnTo>
                    <a:pt x="343" y="285"/>
                  </a:lnTo>
                  <a:lnTo>
                    <a:pt x="347" y="266"/>
                  </a:lnTo>
                  <a:lnTo>
                    <a:pt x="350" y="244"/>
                  </a:lnTo>
                  <a:lnTo>
                    <a:pt x="350" y="223"/>
                  </a:lnTo>
                  <a:lnTo>
                    <a:pt x="350" y="223"/>
                  </a:lnTo>
                  <a:close/>
                  <a:moveTo>
                    <a:pt x="335" y="321"/>
                  </a:moveTo>
                  <a:lnTo>
                    <a:pt x="237" y="321"/>
                  </a:lnTo>
                  <a:lnTo>
                    <a:pt x="237" y="432"/>
                  </a:lnTo>
                  <a:lnTo>
                    <a:pt x="237" y="432"/>
                  </a:lnTo>
                  <a:lnTo>
                    <a:pt x="247" y="429"/>
                  </a:lnTo>
                  <a:lnTo>
                    <a:pt x="256" y="424"/>
                  </a:lnTo>
                  <a:lnTo>
                    <a:pt x="266" y="420"/>
                  </a:lnTo>
                  <a:lnTo>
                    <a:pt x="278" y="412"/>
                  </a:lnTo>
                  <a:lnTo>
                    <a:pt x="287" y="405"/>
                  </a:lnTo>
                  <a:lnTo>
                    <a:pt x="297" y="396"/>
                  </a:lnTo>
                  <a:lnTo>
                    <a:pt x="304" y="384"/>
                  </a:lnTo>
                  <a:lnTo>
                    <a:pt x="311" y="369"/>
                  </a:lnTo>
                  <a:lnTo>
                    <a:pt x="311" y="369"/>
                  </a:lnTo>
                  <a:lnTo>
                    <a:pt x="319" y="360"/>
                  </a:lnTo>
                  <a:lnTo>
                    <a:pt x="326" y="347"/>
                  </a:lnTo>
                  <a:lnTo>
                    <a:pt x="328" y="336"/>
                  </a:lnTo>
                  <a:lnTo>
                    <a:pt x="335" y="321"/>
                  </a:lnTo>
                  <a:lnTo>
                    <a:pt x="335" y="321"/>
                  </a:lnTo>
                  <a:close/>
                </a:path>
                <a:path w="470" h="432">
                  <a:moveTo>
                    <a:pt x="203" y="429"/>
                  </a:moveTo>
                  <a:lnTo>
                    <a:pt x="203" y="0"/>
                  </a:lnTo>
                  <a:lnTo>
                    <a:pt x="160" y="0"/>
                  </a:lnTo>
                  <a:lnTo>
                    <a:pt x="160" y="21"/>
                  </a:lnTo>
                  <a:lnTo>
                    <a:pt x="160" y="21"/>
                  </a:lnTo>
                  <a:lnTo>
                    <a:pt x="143" y="24"/>
                  </a:lnTo>
                  <a:lnTo>
                    <a:pt x="127" y="24"/>
                  </a:lnTo>
                  <a:lnTo>
                    <a:pt x="112" y="28"/>
                  </a:lnTo>
                  <a:lnTo>
                    <a:pt x="98" y="31"/>
                  </a:lnTo>
                  <a:lnTo>
                    <a:pt x="86" y="36"/>
                  </a:lnTo>
                  <a:lnTo>
                    <a:pt x="74" y="43"/>
                  </a:lnTo>
                  <a:lnTo>
                    <a:pt x="62" y="48"/>
                  </a:lnTo>
                  <a:lnTo>
                    <a:pt x="52" y="55"/>
                  </a:lnTo>
                  <a:lnTo>
                    <a:pt x="52" y="55"/>
                  </a:lnTo>
                  <a:lnTo>
                    <a:pt x="45" y="64"/>
                  </a:lnTo>
                  <a:lnTo>
                    <a:pt x="36" y="72"/>
                  </a:lnTo>
                  <a:lnTo>
                    <a:pt x="31" y="81"/>
                  </a:lnTo>
                  <a:lnTo>
                    <a:pt x="26" y="91"/>
                  </a:lnTo>
                  <a:lnTo>
                    <a:pt x="21" y="100"/>
                  </a:lnTo>
                  <a:lnTo>
                    <a:pt x="19" y="110"/>
                  </a:lnTo>
                  <a:lnTo>
                    <a:pt x="16" y="120"/>
                  </a:lnTo>
                  <a:lnTo>
                    <a:pt x="16" y="132"/>
                  </a:lnTo>
                  <a:lnTo>
                    <a:pt x="16" y="132"/>
                  </a:lnTo>
                  <a:lnTo>
                    <a:pt x="19" y="148"/>
                  </a:lnTo>
                  <a:lnTo>
                    <a:pt x="21" y="163"/>
                  </a:lnTo>
                  <a:lnTo>
                    <a:pt x="26" y="177"/>
                  </a:lnTo>
                  <a:lnTo>
                    <a:pt x="31" y="182"/>
                  </a:lnTo>
                  <a:lnTo>
                    <a:pt x="33" y="189"/>
                  </a:lnTo>
                  <a:lnTo>
                    <a:pt x="33" y="189"/>
                  </a:lnTo>
                  <a:lnTo>
                    <a:pt x="45" y="199"/>
                  </a:lnTo>
                  <a:lnTo>
                    <a:pt x="55" y="208"/>
                  </a:lnTo>
                  <a:lnTo>
                    <a:pt x="64" y="216"/>
                  </a:lnTo>
                  <a:lnTo>
                    <a:pt x="76" y="223"/>
                  </a:lnTo>
                  <a:lnTo>
                    <a:pt x="76" y="223"/>
                  </a:lnTo>
                  <a:lnTo>
                    <a:pt x="91" y="228"/>
                  </a:lnTo>
                  <a:lnTo>
                    <a:pt x="110" y="235"/>
                  </a:lnTo>
                  <a:lnTo>
                    <a:pt x="131" y="240"/>
                  </a:lnTo>
                  <a:lnTo>
                    <a:pt x="160" y="247"/>
                  </a:lnTo>
                  <a:lnTo>
                    <a:pt x="160" y="338"/>
                  </a:lnTo>
                  <a:lnTo>
                    <a:pt x="160" y="338"/>
                  </a:lnTo>
                  <a:lnTo>
                    <a:pt x="151" y="333"/>
                  </a:lnTo>
                  <a:lnTo>
                    <a:pt x="143" y="328"/>
                  </a:lnTo>
                  <a:lnTo>
                    <a:pt x="136" y="324"/>
                  </a:lnTo>
                  <a:lnTo>
                    <a:pt x="131" y="319"/>
                  </a:lnTo>
                  <a:lnTo>
                    <a:pt x="131" y="319"/>
                  </a:lnTo>
                  <a:lnTo>
                    <a:pt x="127" y="312"/>
                  </a:lnTo>
                  <a:lnTo>
                    <a:pt x="124" y="304"/>
                  </a:lnTo>
                  <a:lnTo>
                    <a:pt x="120" y="292"/>
                  </a:lnTo>
                  <a:lnTo>
                    <a:pt x="117" y="280"/>
                  </a:lnTo>
                  <a:lnTo>
                    <a:pt x="0" y="295"/>
                  </a:lnTo>
                  <a:lnTo>
                    <a:pt x="0" y="295"/>
                  </a:lnTo>
                  <a:lnTo>
                    <a:pt x="2" y="307"/>
                  </a:lnTo>
                  <a:lnTo>
                    <a:pt x="7" y="316"/>
                  </a:lnTo>
                  <a:lnTo>
                    <a:pt x="9" y="328"/>
                  </a:lnTo>
                  <a:lnTo>
                    <a:pt x="16" y="338"/>
                  </a:lnTo>
                  <a:lnTo>
                    <a:pt x="16" y="338"/>
                  </a:lnTo>
                  <a:lnTo>
                    <a:pt x="21" y="345"/>
                  </a:lnTo>
                  <a:lnTo>
                    <a:pt x="28" y="355"/>
                  </a:lnTo>
                  <a:lnTo>
                    <a:pt x="36" y="364"/>
                  </a:lnTo>
                  <a:lnTo>
                    <a:pt x="45" y="372"/>
                  </a:lnTo>
                  <a:lnTo>
                    <a:pt x="45" y="372"/>
                  </a:lnTo>
                  <a:lnTo>
                    <a:pt x="55" y="379"/>
                  </a:lnTo>
                  <a:lnTo>
                    <a:pt x="67" y="386"/>
                  </a:lnTo>
                  <a:lnTo>
                    <a:pt x="79" y="391"/>
                  </a:lnTo>
                  <a:lnTo>
                    <a:pt x="91" y="396"/>
                  </a:lnTo>
                  <a:lnTo>
                    <a:pt x="91" y="396"/>
                  </a:lnTo>
                  <a:lnTo>
                    <a:pt x="105" y="400"/>
                  </a:lnTo>
                  <a:lnTo>
                    <a:pt x="122" y="403"/>
                  </a:lnTo>
                  <a:lnTo>
                    <a:pt x="141" y="405"/>
                  </a:lnTo>
                  <a:lnTo>
                    <a:pt x="160" y="408"/>
                  </a:lnTo>
                  <a:lnTo>
                    <a:pt x="160" y="429"/>
                  </a:lnTo>
                  <a:lnTo>
                    <a:pt x="203" y="429"/>
                  </a:lnTo>
                  <a:close/>
                  <a:moveTo>
                    <a:pt x="136" y="141"/>
                  </a:moveTo>
                  <a:lnTo>
                    <a:pt x="136" y="141"/>
                  </a:lnTo>
                  <a:lnTo>
                    <a:pt x="131" y="134"/>
                  </a:lnTo>
                  <a:lnTo>
                    <a:pt x="129" y="132"/>
                  </a:lnTo>
                  <a:lnTo>
                    <a:pt x="127" y="124"/>
                  </a:lnTo>
                  <a:lnTo>
                    <a:pt x="127" y="120"/>
                  </a:lnTo>
                  <a:lnTo>
                    <a:pt x="127" y="120"/>
                  </a:lnTo>
                  <a:lnTo>
                    <a:pt x="127" y="115"/>
                  </a:lnTo>
                  <a:lnTo>
                    <a:pt x="129" y="110"/>
                  </a:lnTo>
                  <a:lnTo>
                    <a:pt x="131" y="105"/>
                  </a:lnTo>
                  <a:lnTo>
                    <a:pt x="136" y="100"/>
                  </a:lnTo>
                  <a:lnTo>
                    <a:pt x="136" y="100"/>
                  </a:lnTo>
                  <a:lnTo>
                    <a:pt x="139" y="98"/>
                  </a:lnTo>
                  <a:lnTo>
                    <a:pt x="146" y="93"/>
                  </a:lnTo>
                  <a:lnTo>
                    <a:pt x="151" y="91"/>
                  </a:lnTo>
                  <a:lnTo>
                    <a:pt x="160" y="88"/>
                  </a:lnTo>
                  <a:lnTo>
                    <a:pt x="160" y="153"/>
                  </a:lnTo>
                  <a:lnTo>
                    <a:pt x="160" y="153"/>
                  </a:lnTo>
                  <a:lnTo>
                    <a:pt x="151" y="151"/>
                  </a:lnTo>
                  <a:lnTo>
                    <a:pt x="146" y="146"/>
                  </a:lnTo>
                  <a:lnTo>
                    <a:pt x="139" y="144"/>
                  </a:lnTo>
                  <a:lnTo>
                    <a:pt x="136" y="141"/>
                  </a:lnTo>
                  <a:lnTo>
                    <a:pt x="136" y="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group 38"/>
          <p:cNvGrpSpPr/>
          <p:nvPr/>
        </p:nvGrpSpPr>
        <p:grpSpPr>
          <a:xfrm rot="21600000">
            <a:off x="9563689" y="2020830"/>
            <a:ext cx="375247" cy="539481"/>
            <a:chOff x="0" y="0"/>
            <a:chExt cx="375247" cy="539481"/>
          </a:xfrm>
        </p:grpSpPr>
        <p:sp>
          <p:nvSpPr>
            <p:cNvPr id="294" name="path 294"/>
            <p:cNvSpPr/>
            <p:nvPr/>
          </p:nvSpPr>
          <p:spPr>
            <a:xfrm>
              <a:off x="7029" y="4565"/>
              <a:ext cx="361188" cy="530351"/>
            </a:xfrm>
            <a:custGeom>
              <a:avLst/>
              <a:gdLst/>
              <a:ahLst/>
              <a:cxnLst/>
              <a:rect l="0" t="0" r="0" b="0"/>
              <a:pathLst>
                <a:path w="568" h="835">
                  <a:moveTo>
                    <a:pt x="0" y="0"/>
                  </a:moveTo>
                  <a:lnTo>
                    <a:pt x="297" y="0"/>
                  </a:lnTo>
                  <a:lnTo>
                    <a:pt x="568" y="417"/>
                  </a:lnTo>
                  <a:lnTo>
                    <a:pt x="297" y="835"/>
                  </a:lnTo>
                  <a:lnTo>
                    <a:pt x="0" y="835"/>
                  </a:lnTo>
                  <a:lnTo>
                    <a:pt x="271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6" name="path 296"/>
            <p:cNvSpPr/>
            <p:nvPr/>
          </p:nvSpPr>
          <p:spPr>
            <a:xfrm>
              <a:off x="0" y="0"/>
              <a:ext cx="375247" cy="539481"/>
            </a:xfrm>
            <a:custGeom>
              <a:avLst/>
              <a:gdLst/>
              <a:ahLst/>
              <a:cxnLst/>
              <a:rect l="0" t="0" r="0" b="0"/>
              <a:pathLst>
                <a:path w="590" h="849">
                  <a:moveTo>
                    <a:pt x="308" y="7"/>
                  </a:moveTo>
                  <a:lnTo>
                    <a:pt x="579" y="424"/>
                  </a:lnTo>
                  <a:lnTo>
                    <a:pt x="308" y="842"/>
                  </a:lnTo>
                  <a:moveTo>
                    <a:pt x="11" y="842"/>
                  </a:moveTo>
                  <a:lnTo>
                    <a:pt x="282" y="424"/>
                  </a:lnTo>
                  <a:lnTo>
                    <a:pt x="11" y="7"/>
                  </a:lnTo>
                </a:path>
              </a:pathLst>
            </a:custGeom>
            <a:noFill/>
            <a:ln w="16763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98" name="textbox 298"/>
          <p:cNvSpPr/>
          <p:nvPr/>
        </p:nvSpPr>
        <p:spPr>
          <a:xfrm>
            <a:off x="5888221" y="2142921"/>
            <a:ext cx="1028700" cy="224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母线与节点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40" name="group 40"/>
          <p:cNvGrpSpPr/>
          <p:nvPr/>
        </p:nvGrpSpPr>
        <p:grpSpPr>
          <a:xfrm rot="21600000">
            <a:off x="7273289" y="5833109"/>
            <a:ext cx="326135" cy="326135"/>
            <a:chOff x="0" y="0"/>
            <a:chExt cx="326135" cy="326135"/>
          </a:xfrm>
        </p:grpSpPr>
        <p:sp>
          <p:nvSpPr>
            <p:cNvPr id="300" name="path 300"/>
            <p:cNvSpPr/>
            <p:nvPr/>
          </p:nvSpPr>
          <p:spPr>
            <a:xfrm>
              <a:off x="0" y="0"/>
              <a:ext cx="326135" cy="326135"/>
            </a:xfrm>
            <a:custGeom>
              <a:avLst/>
              <a:gdLst/>
              <a:ahLst/>
              <a:cxnLst/>
              <a:rect l="0" t="0" r="0" b="0"/>
              <a:pathLst>
                <a:path w="513" h="513">
                  <a:moveTo>
                    <a:pt x="8" y="257"/>
                  </a:moveTo>
                  <a:cubicBezTo>
                    <a:pt x="8" y="118"/>
                    <a:pt x="118" y="8"/>
                    <a:pt x="255" y="8"/>
                  </a:cubicBezTo>
                  <a:cubicBezTo>
                    <a:pt x="392" y="8"/>
                    <a:pt x="505" y="118"/>
                    <a:pt x="505" y="257"/>
                  </a:cubicBezTo>
                  <a:cubicBezTo>
                    <a:pt x="505" y="394"/>
                    <a:pt x="392" y="505"/>
                    <a:pt x="255" y="505"/>
                  </a:cubicBezTo>
                  <a:cubicBezTo>
                    <a:pt x="118" y="505"/>
                    <a:pt x="8" y="394"/>
                    <a:pt x="8" y="257"/>
                  </a:cubicBezTo>
                </a:path>
              </a:pathLst>
            </a:custGeom>
            <a:noFill/>
            <a:ln w="10668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2" name="textbox 302"/>
            <p:cNvSpPr/>
            <p:nvPr/>
          </p:nvSpPr>
          <p:spPr>
            <a:xfrm>
              <a:off x="-12700" y="-12700"/>
              <a:ext cx="351790" cy="3517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27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6045" algn="l" rtl="0" eaLnBrk="0">
                <a:lnSpc>
                  <a:spcPts val="365"/>
                </a:lnSpc>
                <a:tabLst/>
              </a:pPr>
              <a:r>
                <a:rPr sz="300" b="1" kern="0" spc="10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~</a:t>
              </a:r>
              <a:endParaRPr sz="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21600000">
            <a:off x="2916174" y="5855970"/>
            <a:ext cx="326135" cy="326135"/>
            <a:chOff x="0" y="0"/>
            <a:chExt cx="326135" cy="326135"/>
          </a:xfrm>
        </p:grpSpPr>
        <p:sp>
          <p:nvSpPr>
            <p:cNvPr id="304" name="path 304"/>
            <p:cNvSpPr/>
            <p:nvPr/>
          </p:nvSpPr>
          <p:spPr>
            <a:xfrm>
              <a:off x="0" y="0"/>
              <a:ext cx="326135" cy="326135"/>
            </a:xfrm>
            <a:custGeom>
              <a:avLst/>
              <a:gdLst/>
              <a:ahLst/>
              <a:cxnLst/>
              <a:rect l="0" t="0" r="0" b="0"/>
              <a:pathLst>
                <a:path w="513" h="513">
                  <a:moveTo>
                    <a:pt x="8" y="257"/>
                  </a:moveTo>
                  <a:cubicBezTo>
                    <a:pt x="8" y="118"/>
                    <a:pt x="121" y="8"/>
                    <a:pt x="257" y="8"/>
                  </a:cubicBezTo>
                  <a:cubicBezTo>
                    <a:pt x="394" y="8"/>
                    <a:pt x="505" y="118"/>
                    <a:pt x="505" y="257"/>
                  </a:cubicBezTo>
                  <a:cubicBezTo>
                    <a:pt x="505" y="394"/>
                    <a:pt x="394" y="505"/>
                    <a:pt x="257" y="505"/>
                  </a:cubicBezTo>
                  <a:cubicBezTo>
                    <a:pt x="121" y="505"/>
                    <a:pt x="8" y="394"/>
                    <a:pt x="8" y="257"/>
                  </a:cubicBezTo>
                </a:path>
              </a:pathLst>
            </a:custGeom>
            <a:noFill/>
            <a:ln w="10668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6" name="textbox 306"/>
            <p:cNvSpPr/>
            <p:nvPr/>
          </p:nvSpPr>
          <p:spPr>
            <a:xfrm>
              <a:off x="-12700" y="-12700"/>
              <a:ext cx="351790" cy="3517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80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6045" algn="l" rtl="0" eaLnBrk="0">
                <a:lnSpc>
                  <a:spcPts val="365"/>
                </a:lnSpc>
                <a:tabLst/>
              </a:pPr>
              <a:r>
                <a:rPr sz="300" b="1" kern="0" spc="10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~</a:t>
              </a:r>
              <a:endParaRPr sz="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aphicFrame>
        <p:nvGraphicFramePr>
          <p:cNvPr id="308" name="table 308"/>
          <p:cNvGraphicFramePr>
            <a:graphicFrameLocks noGrp="1"/>
          </p:cNvGraphicFramePr>
          <p:nvPr/>
        </p:nvGraphicFramePr>
        <p:xfrm>
          <a:off x="8536685" y="5572505"/>
          <a:ext cx="136525" cy="325754"/>
        </p:xfrm>
        <a:graphic>
          <a:graphicData uri="http://schemas.openxmlformats.org/drawingml/2006/table">
            <a:tbl>
              <a:tblPr/>
              <a:tblGrid>
                <a:gridCol w="136525"/>
              </a:tblGrid>
              <a:tr h="3162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0" name="table 310"/>
          <p:cNvGraphicFramePr>
            <a:graphicFrameLocks noGrp="1"/>
          </p:cNvGraphicFramePr>
          <p:nvPr/>
        </p:nvGraphicFramePr>
        <p:xfrm>
          <a:off x="7655814" y="5843778"/>
          <a:ext cx="136525" cy="325755"/>
        </p:xfrm>
        <a:graphic>
          <a:graphicData uri="http://schemas.openxmlformats.org/drawingml/2006/table">
            <a:tbl>
              <a:tblPr/>
              <a:tblGrid>
                <a:gridCol w="136525"/>
              </a:tblGrid>
              <a:tr h="3162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2" name="table 312"/>
          <p:cNvGraphicFramePr>
            <a:graphicFrameLocks noGrp="1"/>
          </p:cNvGraphicFramePr>
          <p:nvPr/>
        </p:nvGraphicFramePr>
        <p:xfrm>
          <a:off x="4181094" y="5595366"/>
          <a:ext cx="136525" cy="325754"/>
        </p:xfrm>
        <a:graphic>
          <a:graphicData uri="http://schemas.openxmlformats.org/drawingml/2006/table">
            <a:tbl>
              <a:tblPr/>
              <a:tblGrid>
                <a:gridCol w="136525"/>
              </a:tblGrid>
              <a:tr h="3162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4" name="table 314"/>
          <p:cNvGraphicFramePr>
            <a:graphicFrameLocks noGrp="1"/>
          </p:cNvGraphicFramePr>
          <p:nvPr/>
        </p:nvGraphicFramePr>
        <p:xfrm>
          <a:off x="3300222" y="5866638"/>
          <a:ext cx="136525" cy="325755"/>
        </p:xfrm>
        <a:graphic>
          <a:graphicData uri="http://schemas.openxmlformats.org/drawingml/2006/table">
            <a:tbl>
              <a:tblPr/>
              <a:tblGrid>
                <a:gridCol w="136525"/>
              </a:tblGrid>
              <a:tr h="3162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16" name="picture 3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318" name="textbox 318"/>
          <p:cNvSpPr/>
          <p:nvPr/>
        </p:nvSpPr>
        <p:spPr>
          <a:xfrm>
            <a:off x="8478018" y="5948533"/>
            <a:ext cx="292100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7613906" y="6189312"/>
            <a:ext cx="292100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2" name="textbox 322"/>
          <p:cNvSpPr/>
          <p:nvPr/>
        </p:nvSpPr>
        <p:spPr>
          <a:xfrm>
            <a:off x="3465569" y="6108562"/>
            <a:ext cx="292100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4" name="textbox 324"/>
          <p:cNvSpPr/>
          <p:nvPr/>
        </p:nvSpPr>
        <p:spPr>
          <a:xfrm>
            <a:off x="4123937" y="5994250"/>
            <a:ext cx="292100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6983300" y="6066678"/>
            <a:ext cx="285750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电源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2604857" y="6088043"/>
            <a:ext cx="285750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电源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1528878" y="5707045"/>
            <a:ext cx="285750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电源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6175627" y="5873130"/>
            <a:ext cx="285750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电源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4" name="textbox 334"/>
          <p:cNvSpPr/>
          <p:nvPr/>
        </p:nvSpPr>
        <p:spPr>
          <a:xfrm>
            <a:off x="6698474" y="4243230"/>
            <a:ext cx="26733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5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b="1" kern="0" spc="40" dirty="0">
                <a:solidFill>
                  <a:srgbClr val="5482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6" name="textbox 336"/>
          <p:cNvSpPr/>
          <p:nvPr/>
        </p:nvSpPr>
        <p:spPr>
          <a:xfrm>
            <a:off x="3616905" y="4171606"/>
            <a:ext cx="26733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5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b="1" kern="0" spc="40" dirty="0">
                <a:solidFill>
                  <a:srgbClr val="5482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8" name="path 338"/>
          <p:cNvSpPr/>
          <p:nvPr/>
        </p:nvSpPr>
        <p:spPr>
          <a:xfrm>
            <a:off x="9570719" y="2017014"/>
            <a:ext cx="188976" cy="16764"/>
          </a:xfrm>
          <a:custGeom>
            <a:avLst/>
            <a:gdLst/>
            <a:ahLst/>
            <a:cxnLst/>
            <a:rect l="0" t="0" r="0" b="0"/>
            <a:pathLst>
              <a:path w="297" h="26">
                <a:moveTo>
                  <a:pt x="0" y="13"/>
                </a:moveTo>
                <a:lnTo>
                  <a:pt x="297" y="13"/>
                </a:lnTo>
              </a:path>
            </a:pathLst>
          </a:custGeom>
          <a:noFill/>
          <a:ln w="16763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0" name="path 340"/>
          <p:cNvSpPr/>
          <p:nvPr/>
        </p:nvSpPr>
        <p:spPr>
          <a:xfrm>
            <a:off x="9570719" y="2547365"/>
            <a:ext cx="188976" cy="16764"/>
          </a:xfrm>
          <a:custGeom>
            <a:avLst/>
            <a:gdLst/>
            <a:ahLst/>
            <a:cxnLst/>
            <a:rect l="0" t="0" r="0" b="0"/>
            <a:pathLst>
              <a:path w="297" h="26">
                <a:moveTo>
                  <a:pt x="297" y="13"/>
                </a:moveTo>
                <a:lnTo>
                  <a:pt x="0" y="13"/>
                </a:lnTo>
              </a:path>
            </a:pathLst>
          </a:custGeom>
          <a:noFill/>
          <a:ln w="16763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 rot="21600000">
            <a:off x="6637019" y="5074920"/>
            <a:ext cx="586740" cy="411479"/>
            <a:chOff x="0" y="0"/>
            <a:chExt cx="586740" cy="411479"/>
          </a:xfrm>
        </p:grpSpPr>
        <p:sp>
          <p:nvSpPr>
            <p:cNvPr id="342" name="path 342"/>
            <p:cNvSpPr/>
            <p:nvPr/>
          </p:nvSpPr>
          <p:spPr>
            <a:xfrm>
              <a:off x="0" y="0"/>
              <a:ext cx="586740" cy="411479"/>
            </a:xfrm>
            <a:custGeom>
              <a:avLst/>
              <a:gdLst/>
              <a:ahLst/>
              <a:cxnLst/>
              <a:rect l="0" t="0" r="0" b="0"/>
              <a:pathLst>
                <a:path w="924" h="647">
                  <a:moveTo>
                    <a:pt x="0" y="323"/>
                  </a:moveTo>
                  <a:cubicBezTo>
                    <a:pt x="0" y="143"/>
                    <a:pt x="206" y="0"/>
                    <a:pt x="460" y="0"/>
                  </a:cubicBezTo>
                  <a:cubicBezTo>
                    <a:pt x="717" y="0"/>
                    <a:pt x="924" y="143"/>
                    <a:pt x="924" y="323"/>
                  </a:cubicBezTo>
                  <a:cubicBezTo>
                    <a:pt x="924" y="503"/>
                    <a:pt x="717" y="647"/>
                    <a:pt x="460" y="647"/>
                  </a:cubicBezTo>
                  <a:cubicBezTo>
                    <a:pt x="206" y="647"/>
                    <a:pt x="0" y="503"/>
                    <a:pt x="0" y="323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4" name="textbox 344"/>
            <p:cNvSpPr/>
            <p:nvPr/>
          </p:nvSpPr>
          <p:spPr>
            <a:xfrm>
              <a:off x="-12700" y="-12700"/>
              <a:ext cx="612775" cy="438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2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 rot="21600000">
            <a:off x="8145780" y="5132831"/>
            <a:ext cx="586740" cy="413004"/>
            <a:chOff x="0" y="0"/>
            <a:chExt cx="586740" cy="413004"/>
          </a:xfrm>
        </p:grpSpPr>
        <p:sp>
          <p:nvSpPr>
            <p:cNvPr id="346" name="path 346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6"/>
                  </a:moveTo>
                  <a:cubicBezTo>
                    <a:pt x="0" y="146"/>
                    <a:pt x="206" y="0"/>
                    <a:pt x="463" y="0"/>
                  </a:cubicBezTo>
                  <a:cubicBezTo>
                    <a:pt x="717" y="0"/>
                    <a:pt x="924" y="146"/>
                    <a:pt x="924" y="326"/>
                  </a:cubicBezTo>
                  <a:cubicBezTo>
                    <a:pt x="924" y="504"/>
                    <a:pt x="717" y="650"/>
                    <a:pt x="463" y="650"/>
                  </a:cubicBezTo>
                  <a:cubicBezTo>
                    <a:pt x="206" y="650"/>
                    <a:pt x="0" y="504"/>
                    <a:pt x="0" y="326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8" name="textbox 348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3670" algn="l" rtl="0" eaLnBrk="0">
                <a:lnSpc>
                  <a:spcPct val="85000"/>
                </a:lnSpc>
                <a:spcBef>
                  <a:spcPts val="3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 rot="21600000">
            <a:off x="7391400" y="4721352"/>
            <a:ext cx="586740" cy="411479"/>
            <a:chOff x="0" y="0"/>
            <a:chExt cx="586740" cy="411479"/>
          </a:xfrm>
        </p:grpSpPr>
        <p:sp>
          <p:nvSpPr>
            <p:cNvPr id="350" name="path 350"/>
            <p:cNvSpPr/>
            <p:nvPr/>
          </p:nvSpPr>
          <p:spPr>
            <a:xfrm>
              <a:off x="0" y="0"/>
              <a:ext cx="586740" cy="411479"/>
            </a:xfrm>
            <a:custGeom>
              <a:avLst/>
              <a:gdLst/>
              <a:ahLst/>
              <a:cxnLst/>
              <a:rect l="0" t="0" r="0" b="0"/>
              <a:pathLst>
                <a:path w="924" h="647">
                  <a:moveTo>
                    <a:pt x="0" y="323"/>
                  </a:moveTo>
                  <a:cubicBezTo>
                    <a:pt x="0" y="143"/>
                    <a:pt x="206" y="0"/>
                    <a:pt x="460" y="0"/>
                  </a:cubicBezTo>
                  <a:cubicBezTo>
                    <a:pt x="717" y="0"/>
                    <a:pt x="924" y="143"/>
                    <a:pt x="924" y="323"/>
                  </a:cubicBezTo>
                  <a:cubicBezTo>
                    <a:pt x="924" y="503"/>
                    <a:pt x="717" y="647"/>
                    <a:pt x="460" y="647"/>
                  </a:cubicBezTo>
                  <a:cubicBezTo>
                    <a:pt x="206" y="647"/>
                    <a:pt x="0" y="503"/>
                    <a:pt x="0" y="323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2" name="textbox 352"/>
            <p:cNvSpPr/>
            <p:nvPr/>
          </p:nvSpPr>
          <p:spPr>
            <a:xfrm>
              <a:off x="-12700" y="-12700"/>
              <a:ext cx="612775" cy="438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3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21600000">
            <a:off x="7642860" y="3718559"/>
            <a:ext cx="586740" cy="413004"/>
            <a:chOff x="0" y="0"/>
            <a:chExt cx="586740" cy="413004"/>
          </a:xfrm>
        </p:grpSpPr>
        <p:sp>
          <p:nvSpPr>
            <p:cNvPr id="354" name="path 354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6"/>
                  </a:moveTo>
                  <a:cubicBezTo>
                    <a:pt x="0" y="146"/>
                    <a:pt x="206" y="0"/>
                    <a:pt x="460" y="0"/>
                  </a:cubicBezTo>
                  <a:cubicBezTo>
                    <a:pt x="717" y="0"/>
                    <a:pt x="924" y="146"/>
                    <a:pt x="924" y="326"/>
                  </a:cubicBezTo>
                  <a:cubicBezTo>
                    <a:pt x="924" y="504"/>
                    <a:pt x="717" y="650"/>
                    <a:pt x="460" y="650"/>
                  </a:cubicBezTo>
                  <a:cubicBezTo>
                    <a:pt x="206" y="650"/>
                    <a:pt x="0" y="504"/>
                    <a:pt x="0" y="326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6" name="textbox 356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3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 rot="21600000">
            <a:off x="6804660" y="3895344"/>
            <a:ext cx="586740" cy="413004"/>
            <a:chOff x="0" y="0"/>
            <a:chExt cx="586740" cy="413004"/>
          </a:xfrm>
        </p:grpSpPr>
        <p:sp>
          <p:nvSpPr>
            <p:cNvPr id="358" name="path 358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6"/>
                  </a:moveTo>
                  <a:cubicBezTo>
                    <a:pt x="0" y="146"/>
                    <a:pt x="206" y="0"/>
                    <a:pt x="460" y="0"/>
                  </a:cubicBezTo>
                  <a:cubicBezTo>
                    <a:pt x="717" y="0"/>
                    <a:pt x="924" y="146"/>
                    <a:pt x="924" y="326"/>
                  </a:cubicBezTo>
                  <a:cubicBezTo>
                    <a:pt x="924" y="504"/>
                    <a:pt x="717" y="650"/>
                    <a:pt x="460" y="650"/>
                  </a:cubicBezTo>
                  <a:cubicBezTo>
                    <a:pt x="206" y="650"/>
                    <a:pt x="0" y="504"/>
                    <a:pt x="0" y="326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0" name="textbox 360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2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 rot="21600000">
            <a:off x="5126735" y="5899404"/>
            <a:ext cx="586740" cy="413003"/>
            <a:chOff x="0" y="0"/>
            <a:chExt cx="586740" cy="413003"/>
          </a:xfrm>
        </p:grpSpPr>
        <p:sp>
          <p:nvSpPr>
            <p:cNvPr id="362" name="path 362"/>
            <p:cNvSpPr/>
            <p:nvPr/>
          </p:nvSpPr>
          <p:spPr>
            <a:xfrm>
              <a:off x="0" y="0"/>
              <a:ext cx="586740" cy="413003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3"/>
                  </a:moveTo>
                  <a:cubicBezTo>
                    <a:pt x="0" y="143"/>
                    <a:pt x="206" y="0"/>
                    <a:pt x="463" y="0"/>
                  </a:cubicBezTo>
                  <a:cubicBezTo>
                    <a:pt x="717" y="0"/>
                    <a:pt x="924" y="143"/>
                    <a:pt x="924" y="323"/>
                  </a:cubicBezTo>
                  <a:cubicBezTo>
                    <a:pt x="924" y="503"/>
                    <a:pt x="717" y="650"/>
                    <a:pt x="463" y="650"/>
                  </a:cubicBezTo>
                  <a:cubicBezTo>
                    <a:pt x="206" y="650"/>
                    <a:pt x="0" y="503"/>
                    <a:pt x="0" y="323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4" name="textbox 364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3670" algn="l" rtl="0" eaLnBrk="0">
                <a:lnSpc>
                  <a:spcPct val="85000"/>
                </a:lnSpc>
                <a:spcBef>
                  <a:spcPts val="3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 rot="21600000">
            <a:off x="5462016" y="5428488"/>
            <a:ext cx="586740" cy="411479"/>
            <a:chOff x="0" y="0"/>
            <a:chExt cx="586740" cy="411479"/>
          </a:xfrm>
        </p:grpSpPr>
        <p:sp>
          <p:nvSpPr>
            <p:cNvPr id="366" name="path 366"/>
            <p:cNvSpPr/>
            <p:nvPr/>
          </p:nvSpPr>
          <p:spPr>
            <a:xfrm>
              <a:off x="0" y="0"/>
              <a:ext cx="586740" cy="411479"/>
            </a:xfrm>
            <a:custGeom>
              <a:avLst/>
              <a:gdLst/>
              <a:ahLst/>
              <a:cxnLst/>
              <a:rect l="0" t="0" r="0" b="0"/>
              <a:pathLst>
                <a:path w="924" h="647">
                  <a:moveTo>
                    <a:pt x="0" y="323"/>
                  </a:moveTo>
                  <a:cubicBezTo>
                    <a:pt x="0" y="143"/>
                    <a:pt x="208" y="0"/>
                    <a:pt x="463" y="0"/>
                  </a:cubicBezTo>
                  <a:cubicBezTo>
                    <a:pt x="717" y="0"/>
                    <a:pt x="924" y="143"/>
                    <a:pt x="924" y="323"/>
                  </a:cubicBezTo>
                  <a:cubicBezTo>
                    <a:pt x="924" y="503"/>
                    <a:pt x="717" y="647"/>
                    <a:pt x="463" y="647"/>
                  </a:cubicBezTo>
                  <a:cubicBezTo>
                    <a:pt x="208" y="647"/>
                    <a:pt x="0" y="503"/>
                    <a:pt x="0" y="323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8" name="textbox 368"/>
            <p:cNvSpPr/>
            <p:nvPr/>
          </p:nvSpPr>
          <p:spPr>
            <a:xfrm>
              <a:off x="-12700" y="-12700"/>
              <a:ext cx="612775" cy="438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5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 rot="21600000">
            <a:off x="6888480" y="5782055"/>
            <a:ext cx="586740" cy="411479"/>
            <a:chOff x="0" y="0"/>
            <a:chExt cx="586740" cy="411479"/>
          </a:xfrm>
        </p:grpSpPr>
        <p:sp>
          <p:nvSpPr>
            <p:cNvPr id="370" name="path 370"/>
            <p:cNvSpPr/>
            <p:nvPr/>
          </p:nvSpPr>
          <p:spPr>
            <a:xfrm>
              <a:off x="0" y="0"/>
              <a:ext cx="586740" cy="411479"/>
            </a:xfrm>
            <a:custGeom>
              <a:avLst/>
              <a:gdLst/>
              <a:ahLst/>
              <a:cxnLst/>
              <a:rect l="0" t="0" r="0" b="0"/>
              <a:pathLst>
                <a:path w="924" h="647">
                  <a:moveTo>
                    <a:pt x="0" y="323"/>
                  </a:moveTo>
                  <a:cubicBezTo>
                    <a:pt x="0" y="143"/>
                    <a:pt x="206" y="0"/>
                    <a:pt x="460" y="0"/>
                  </a:cubicBezTo>
                  <a:cubicBezTo>
                    <a:pt x="717" y="0"/>
                    <a:pt x="924" y="143"/>
                    <a:pt x="924" y="323"/>
                  </a:cubicBezTo>
                  <a:cubicBezTo>
                    <a:pt x="924" y="503"/>
                    <a:pt x="717" y="647"/>
                    <a:pt x="460" y="647"/>
                  </a:cubicBezTo>
                  <a:cubicBezTo>
                    <a:pt x="206" y="647"/>
                    <a:pt x="0" y="503"/>
                    <a:pt x="0" y="323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72" name="textbox 372"/>
            <p:cNvSpPr/>
            <p:nvPr/>
          </p:nvSpPr>
          <p:spPr>
            <a:xfrm>
              <a:off x="-12700" y="-12700"/>
              <a:ext cx="612775" cy="438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4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 rot="21600000">
            <a:off x="7894319" y="5663183"/>
            <a:ext cx="586740" cy="413004"/>
            <a:chOff x="0" y="0"/>
            <a:chExt cx="586740" cy="413004"/>
          </a:xfrm>
        </p:grpSpPr>
        <p:sp>
          <p:nvSpPr>
            <p:cNvPr id="374" name="path 374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6"/>
                  </a:moveTo>
                  <a:cubicBezTo>
                    <a:pt x="0" y="146"/>
                    <a:pt x="206" y="0"/>
                    <a:pt x="463" y="0"/>
                  </a:cubicBezTo>
                  <a:cubicBezTo>
                    <a:pt x="717" y="0"/>
                    <a:pt x="924" y="146"/>
                    <a:pt x="924" y="326"/>
                  </a:cubicBezTo>
                  <a:cubicBezTo>
                    <a:pt x="924" y="504"/>
                    <a:pt x="717" y="650"/>
                    <a:pt x="463" y="650"/>
                  </a:cubicBezTo>
                  <a:cubicBezTo>
                    <a:pt x="206" y="650"/>
                    <a:pt x="0" y="504"/>
                    <a:pt x="0" y="326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76" name="textbox 376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5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21600000">
            <a:off x="7307580" y="5309616"/>
            <a:ext cx="586740" cy="413004"/>
            <a:chOff x="0" y="0"/>
            <a:chExt cx="586740" cy="413004"/>
          </a:xfrm>
        </p:grpSpPr>
        <p:sp>
          <p:nvSpPr>
            <p:cNvPr id="378" name="path 378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6"/>
                  </a:moveTo>
                  <a:cubicBezTo>
                    <a:pt x="0" y="146"/>
                    <a:pt x="206" y="0"/>
                    <a:pt x="460" y="0"/>
                  </a:cubicBezTo>
                  <a:cubicBezTo>
                    <a:pt x="717" y="0"/>
                    <a:pt x="924" y="146"/>
                    <a:pt x="924" y="326"/>
                  </a:cubicBezTo>
                  <a:cubicBezTo>
                    <a:pt x="924" y="504"/>
                    <a:pt x="717" y="650"/>
                    <a:pt x="460" y="650"/>
                  </a:cubicBezTo>
                  <a:cubicBezTo>
                    <a:pt x="206" y="650"/>
                    <a:pt x="0" y="504"/>
                    <a:pt x="0" y="326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0" name="textbox 380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2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 rot="21600000">
            <a:off x="3534155" y="5958840"/>
            <a:ext cx="586740" cy="411479"/>
            <a:chOff x="0" y="0"/>
            <a:chExt cx="586740" cy="411479"/>
          </a:xfrm>
        </p:grpSpPr>
        <p:sp>
          <p:nvSpPr>
            <p:cNvPr id="382" name="path 382"/>
            <p:cNvSpPr/>
            <p:nvPr/>
          </p:nvSpPr>
          <p:spPr>
            <a:xfrm>
              <a:off x="0" y="0"/>
              <a:ext cx="586740" cy="411479"/>
            </a:xfrm>
            <a:custGeom>
              <a:avLst/>
              <a:gdLst/>
              <a:ahLst/>
              <a:cxnLst/>
              <a:rect l="0" t="0" r="0" b="0"/>
              <a:pathLst>
                <a:path w="924" h="647">
                  <a:moveTo>
                    <a:pt x="0" y="323"/>
                  </a:moveTo>
                  <a:cubicBezTo>
                    <a:pt x="0" y="143"/>
                    <a:pt x="206" y="0"/>
                    <a:pt x="460" y="0"/>
                  </a:cubicBezTo>
                  <a:cubicBezTo>
                    <a:pt x="717" y="0"/>
                    <a:pt x="924" y="143"/>
                    <a:pt x="924" y="323"/>
                  </a:cubicBezTo>
                  <a:cubicBezTo>
                    <a:pt x="924" y="503"/>
                    <a:pt x="717" y="647"/>
                    <a:pt x="460" y="647"/>
                  </a:cubicBezTo>
                  <a:cubicBezTo>
                    <a:pt x="206" y="647"/>
                    <a:pt x="0" y="503"/>
                    <a:pt x="0" y="323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4" name="textbox 384"/>
            <p:cNvSpPr/>
            <p:nvPr/>
          </p:nvSpPr>
          <p:spPr>
            <a:xfrm>
              <a:off x="-12700" y="-12700"/>
              <a:ext cx="612775" cy="438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3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 rot="21600000">
            <a:off x="4288535" y="5958840"/>
            <a:ext cx="586740" cy="411479"/>
            <a:chOff x="0" y="0"/>
            <a:chExt cx="586740" cy="411479"/>
          </a:xfrm>
        </p:grpSpPr>
        <p:sp>
          <p:nvSpPr>
            <p:cNvPr id="386" name="path 386"/>
            <p:cNvSpPr/>
            <p:nvPr/>
          </p:nvSpPr>
          <p:spPr>
            <a:xfrm>
              <a:off x="0" y="0"/>
              <a:ext cx="586740" cy="411479"/>
            </a:xfrm>
            <a:custGeom>
              <a:avLst/>
              <a:gdLst/>
              <a:ahLst/>
              <a:cxnLst/>
              <a:rect l="0" t="0" r="0" b="0"/>
              <a:pathLst>
                <a:path w="924" h="647">
                  <a:moveTo>
                    <a:pt x="0" y="323"/>
                  </a:moveTo>
                  <a:cubicBezTo>
                    <a:pt x="0" y="143"/>
                    <a:pt x="206" y="0"/>
                    <a:pt x="463" y="0"/>
                  </a:cubicBezTo>
                  <a:cubicBezTo>
                    <a:pt x="717" y="0"/>
                    <a:pt x="924" y="143"/>
                    <a:pt x="924" y="323"/>
                  </a:cubicBezTo>
                  <a:cubicBezTo>
                    <a:pt x="924" y="503"/>
                    <a:pt x="717" y="647"/>
                    <a:pt x="463" y="647"/>
                  </a:cubicBezTo>
                  <a:cubicBezTo>
                    <a:pt x="206" y="647"/>
                    <a:pt x="0" y="503"/>
                    <a:pt x="0" y="323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8" name="textbox 388"/>
            <p:cNvSpPr/>
            <p:nvPr/>
          </p:nvSpPr>
          <p:spPr>
            <a:xfrm>
              <a:off x="-12700" y="-12700"/>
              <a:ext cx="612775" cy="438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3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 rot="21600000">
            <a:off x="4539996" y="5251704"/>
            <a:ext cx="586740" cy="411479"/>
            <a:chOff x="0" y="0"/>
            <a:chExt cx="586740" cy="411479"/>
          </a:xfrm>
        </p:grpSpPr>
        <p:sp>
          <p:nvSpPr>
            <p:cNvPr id="390" name="path 390"/>
            <p:cNvSpPr/>
            <p:nvPr/>
          </p:nvSpPr>
          <p:spPr>
            <a:xfrm>
              <a:off x="0" y="0"/>
              <a:ext cx="586740" cy="411479"/>
            </a:xfrm>
            <a:custGeom>
              <a:avLst/>
              <a:gdLst/>
              <a:ahLst/>
              <a:cxnLst/>
              <a:rect l="0" t="0" r="0" b="0"/>
              <a:pathLst>
                <a:path w="924" h="647">
                  <a:moveTo>
                    <a:pt x="0" y="323"/>
                  </a:moveTo>
                  <a:cubicBezTo>
                    <a:pt x="0" y="143"/>
                    <a:pt x="206" y="0"/>
                    <a:pt x="463" y="0"/>
                  </a:cubicBezTo>
                  <a:cubicBezTo>
                    <a:pt x="717" y="0"/>
                    <a:pt x="924" y="143"/>
                    <a:pt x="924" y="323"/>
                  </a:cubicBezTo>
                  <a:cubicBezTo>
                    <a:pt x="924" y="503"/>
                    <a:pt x="717" y="647"/>
                    <a:pt x="463" y="647"/>
                  </a:cubicBezTo>
                  <a:cubicBezTo>
                    <a:pt x="206" y="647"/>
                    <a:pt x="0" y="503"/>
                    <a:pt x="0" y="323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2" name="textbox 392"/>
            <p:cNvSpPr/>
            <p:nvPr/>
          </p:nvSpPr>
          <p:spPr>
            <a:xfrm>
              <a:off x="-12700" y="-12700"/>
              <a:ext cx="612775" cy="438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6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 rot="21600000">
            <a:off x="6888480" y="3307079"/>
            <a:ext cx="586740" cy="411480"/>
            <a:chOff x="0" y="0"/>
            <a:chExt cx="586740" cy="411480"/>
          </a:xfrm>
        </p:grpSpPr>
        <p:sp>
          <p:nvSpPr>
            <p:cNvPr id="394" name="path 394"/>
            <p:cNvSpPr/>
            <p:nvPr/>
          </p:nvSpPr>
          <p:spPr>
            <a:xfrm>
              <a:off x="0" y="0"/>
              <a:ext cx="586740" cy="411480"/>
            </a:xfrm>
            <a:custGeom>
              <a:avLst/>
              <a:gdLst/>
              <a:ahLst/>
              <a:cxnLst/>
              <a:rect l="0" t="0" r="0" b="0"/>
              <a:pathLst>
                <a:path w="924" h="648">
                  <a:moveTo>
                    <a:pt x="0" y="324"/>
                  </a:moveTo>
                  <a:cubicBezTo>
                    <a:pt x="0" y="144"/>
                    <a:pt x="206" y="0"/>
                    <a:pt x="460" y="0"/>
                  </a:cubicBezTo>
                  <a:cubicBezTo>
                    <a:pt x="717" y="0"/>
                    <a:pt x="924" y="144"/>
                    <a:pt x="924" y="324"/>
                  </a:cubicBezTo>
                  <a:cubicBezTo>
                    <a:pt x="924" y="504"/>
                    <a:pt x="717" y="648"/>
                    <a:pt x="460" y="648"/>
                  </a:cubicBezTo>
                  <a:cubicBezTo>
                    <a:pt x="206" y="648"/>
                    <a:pt x="0" y="504"/>
                    <a:pt x="0" y="324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6" name="textbox 396"/>
            <p:cNvSpPr/>
            <p:nvPr/>
          </p:nvSpPr>
          <p:spPr>
            <a:xfrm>
              <a:off x="-12700" y="-12700"/>
              <a:ext cx="612775" cy="438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4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 rot="21600000">
            <a:off x="3701796" y="5486400"/>
            <a:ext cx="586740" cy="413004"/>
            <a:chOff x="0" y="0"/>
            <a:chExt cx="586740" cy="413004"/>
          </a:xfrm>
        </p:grpSpPr>
        <p:sp>
          <p:nvSpPr>
            <p:cNvPr id="398" name="path 398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6"/>
                  </a:moveTo>
                  <a:cubicBezTo>
                    <a:pt x="0" y="146"/>
                    <a:pt x="206" y="0"/>
                    <a:pt x="460" y="0"/>
                  </a:cubicBezTo>
                  <a:cubicBezTo>
                    <a:pt x="717" y="0"/>
                    <a:pt x="924" y="146"/>
                    <a:pt x="924" y="326"/>
                  </a:cubicBezTo>
                  <a:cubicBezTo>
                    <a:pt x="924" y="504"/>
                    <a:pt x="717" y="650"/>
                    <a:pt x="460" y="650"/>
                  </a:cubicBezTo>
                  <a:cubicBezTo>
                    <a:pt x="206" y="650"/>
                    <a:pt x="0" y="504"/>
                    <a:pt x="0" y="326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0" name="textbox 400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6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 rot="21600000">
            <a:off x="5294375" y="4838700"/>
            <a:ext cx="586740" cy="413004"/>
            <a:chOff x="0" y="0"/>
            <a:chExt cx="586740" cy="413004"/>
          </a:xfrm>
        </p:grpSpPr>
        <p:sp>
          <p:nvSpPr>
            <p:cNvPr id="402" name="path 402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3"/>
                  </a:moveTo>
                  <a:cubicBezTo>
                    <a:pt x="0" y="146"/>
                    <a:pt x="206" y="0"/>
                    <a:pt x="463" y="0"/>
                  </a:cubicBezTo>
                  <a:cubicBezTo>
                    <a:pt x="717" y="0"/>
                    <a:pt x="924" y="146"/>
                    <a:pt x="924" y="323"/>
                  </a:cubicBezTo>
                  <a:cubicBezTo>
                    <a:pt x="924" y="503"/>
                    <a:pt x="717" y="650"/>
                    <a:pt x="463" y="650"/>
                  </a:cubicBezTo>
                  <a:cubicBezTo>
                    <a:pt x="206" y="650"/>
                    <a:pt x="0" y="503"/>
                    <a:pt x="0" y="323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4" name="textbox 404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3670" algn="l" rtl="0" eaLnBrk="0">
                <a:lnSpc>
                  <a:spcPct val="85000"/>
                </a:lnSpc>
                <a:spcBef>
                  <a:spcPts val="2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 rot="21600000">
            <a:off x="4623816" y="3837431"/>
            <a:ext cx="586740" cy="411480"/>
            <a:chOff x="0" y="0"/>
            <a:chExt cx="586740" cy="411480"/>
          </a:xfrm>
        </p:grpSpPr>
        <p:sp>
          <p:nvSpPr>
            <p:cNvPr id="406" name="path 406"/>
            <p:cNvSpPr/>
            <p:nvPr/>
          </p:nvSpPr>
          <p:spPr>
            <a:xfrm>
              <a:off x="0" y="0"/>
              <a:ext cx="586740" cy="411480"/>
            </a:xfrm>
            <a:custGeom>
              <a:avLst/>
              <a:gdLst/>
              <a:ahLst/>
              <a:cxnLst/>
              <a:rect l="0" t="0" r="0" b="0"/>
              <a:pathLst>
                <a:path w="924" h="648">
                  <a:moveTo>
                    <a:pt x="0" y="324"/>
                  </a:moveTo>
                  <a:cubicBezTo>
                    <a:pt x="0" y="144"/>
                    <a:pt x="206" y="0"/>
                    <a:pt x="463" y="0"/>
                  </a:cubicBezTo>
                  <a:cubicBezTo>
                    <a:pt x="717" y="0"/>
                    <a:pt x="924" y="144"/>
                    <a:pt x="924" y="324"/>
                  </a:cubicBezTo>
                  <a:cubicBezTo>
                    <a:pt x="924" y="504"/>
                    <a:pt x="717" y="648"/>
                    <a:pt x="463" y="648"/>
                  </a:cubicBezTo>
                  <a:cubicBezTo>
                    <a:pt x="206" y="648"/>
                    <a:pt x="0" y="504"/>
                    <a:pt x="0" y="324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8" name="textbox 408"/>
            <p:cNvSpPr/>
            <p:nvPr/>
          </p:nvSpPr>
          <p:spPr>
            <a:xfrm>
              <a:off x="-12700" y="-12700"/>
              <a:ext cx="612775" cy="438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2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 rot="21600000">
            <a:off x="8481060" y="3837431"/>
            <a:ext cx="586740" cy="411480"/>
            <a:chOff x="0" y="0"/>
            <a:chExt cx="586740" cy="411480"/>
          </a:xfrm>
        </p:grpSpPr>
        <p:sp>
          <p:nvSpPr>
            <p:cNvPr id="410" name="path 410"/>
            <p:cNvSpPr/>
            <p:nvPr/>
          </p:nvSpPr>
          <p:spPr>
            <a:xfrm>
              <a:off x="0" y="0"/>
              <a:ext cx="586740" cy="411480"/>
            </a:xfrm>
            <a:custGeom>
              <a:avLst/>
              <a:gdLst/>
              <a:ahLst/>
              <a:cxnLst/>
              <a:rect l="0" t="0" r="0" b="0"/>
              <a:pathLst>
                <a:path w="924" h="648">
                  <a:moveTo>
                    <a:pt x="0" y="324"/>
                  </a:moveTo>
                  <a:cubicBezTo>
                    <a:pt x="0" y="144"/>
                    <a:pt x="206" y="0"/>
                    <a:pt x="463" y="0"/>
                  </a:cubicBezTo>
                  <a:cubicBezTo>
                    <a:pt x="717" y="0"/>
                    <a:pt x="924" y="144"/>
                    <a:pt x="924" y="324"/>
                  </a:cubicBezTo>
                  <a:cubicBezTo>
                    <a:pt x="924" y="504"/>
                    <a:pt x="717" y="648"/>
                    <a:pt x="463" y="648"/>
                  </a:cubicBezTo>
                  <a:cubicBezTo>
                    <a:pt x="206" y="648"/>
                    <a:pt x="0" y="504"/>
                    <a:pt x="0" y="324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2" name="textbox 412"/>
            <p:cNvSpPr/>
            <p:nvPr/>
          </p:nvSpPr>
          <p:spPr>
            <a:xfrm>
              <a:off x="-12700" y="-12700"/>
              <a:ext cx="612775" cy="438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3670" algn="l" rtl="0" eaLnBrk="0">
                <a:lnSpc>
                  <a:spcPct val="85000"/>
                </a:lnSpc>
                <a:spcBef>
                  <a:spcPts val="2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 rot="21600000">
            <a:off x="7726680" y="3188207"/>
            <a:ext cx="586740" cy="413004"/>
            <a:chOff x="0" y="0"/>
            <a:chExt cx="586740" cy="413004"/>
          </a:xfrm>
        </p:grpSpPr>
        <p:sp>
          <p:nvSpPr>
            <p:cNvPr id="414" name="path 414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6"/>
                  </a:moveTo>
                  <a:cubicBezTo>
                    <a:pt x="0" y="146"/>
                    <a:pt x="206" y="0"/>
                    <a:pt x="463" y="0"/>
                  </a:cubicBezTo>
                  <a:cubicBezTo>
                    <a:pt x="717" y="0"/>
                    <a:pt x="924" y="146"/>
                    <a:pt x="924" y="326"/>
                  </a:cubicBezTo>
                  <a:cubicBezTo>
                    <a:pt x="924" y="504"/>
                    <a:pt x="717" y="650"/>
                    <a:pt x="463" y="650"/>
                  </a:cubicBezTo>
                  <a:cubicBezTo>
                    <a:pt x="206" y="650"/>
                    <a:pt x="0" y="504"/>
                    <a:pt x="0" y="326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6" name="textbox 416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5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 rot="21600000">
            <a:off x="2524505" y="3597402"/>
            <a:ext cx="594360" cy="420623"/>
            <a:chOff x="0" y="0"/>
            <a:chExt cx="594360" cy="420623"/>
          </a:xfrm>
        </p:grpSpPr>
        <p:sp>
          <p:nvSpPr>
            <p:cNvPr id="418" name="path 418"/>
            <p:cNvSpPr/>
            <p:nvPr/>
          </p:nvSpPr>
          <p:spPr>
            <a:xfrm>
              <a:off x="3810" y="3809"/>
              <a:ext cx="586739" cy="413004"/>
            </a:xfrm>
            <a:custGeom>
              <a:avLst/>
              <a:gdLst/>
              <a:ahLst/>
              <a:cxnLst/>
              <a:rect l="0" t="0" r="0" b="0"/>
              <a:pathLst>
                <a:path w="923" h="650">
                  <a:moveTo>
                    <a:pt x="0" y="324"/>
                  </a:moveTo>
                  <a:cubicBezTo>
                    <a:pt x="0" y="146"/>
                    <a:pt x="206" y="0"/>
                    <a:pt x="460" y="0"/>
                  </a:cubicBezTo>
                  <a:cubicBezTo>
                    <a:pt x="715" y="0"/>
                    <a:pt x="923" y="146"/>
                    <a:pt x="923" y="324"/>
                  </a:cubicBezTo>
                  <a:cubicBezTo>
                    <a:pt x="923" y="504"/>
                    <a:pt x="715" y="650"/>
                    <a:pt x="460" y="650"/>
                  </a:cubicBezTo>
                  <a:cubicBezTo>
                    <a:pt x="206" y="650"/>
                    <a:pt x="0" y="504"/>
                    <a:pt x="0" y="324"/>
                  </a:cubicBezTo>
                </a:path>
              </a:pathLst>
            </a:custGeom>
            <a:solidFill>
              <a:srgbClr val="0066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0" name="path 420"/>
            <p:cNvSpPr/>
            <p:nvPr/>
          </p:nvSpPr>
          <p:spPr>
            <a:xfrm>
              <a:off x="0" y="0"/>
              <a:ext cx="594360" cy="420623"/>
            </a:xfrm>
            <a:custGeom>
              <a:avLst/>
              <a:gdLst/>
              <a:ahLst/>
              <a:cxnLst/>
              <a:rect l="0" t="0" r="0" b="0"/>
              <a:pathLst>
                <a:path w="936" h="662">
                  <a:moveTo>
                    <a:pt x="6" y="330"/>
                  </a:moveTo>
                  <a:cubicBezTo>
                    <a:pt x="6" y="152"/>
                    <a:pt x="212" y="5"/>
                    <a:pt x="466" y="5"/>
                  </a:cubicBezTo>
                  <a:cubicBezTo>
                    <a:pt x="721" y="5"/>
                    <a:pt x="930" y="152"/>
                    <a:pt x="930" y="330"/>
                  </a:cubicBezTo>
                  <a:cubicBezTo>
                    <a:pt x="930" y="510"/>
                    <a:pt x="721" y="656"/>
                    <a:pt x="466" y="656"/>
                  </a:cubicBezTo>
                  <a:cubicBezTo>
                    <a:pt x="212" y="656"/>
                    <a:pt x="6" y="510"/>
                    <a:pt x="6" y="330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4" name="group 84"/>
          <p:cNvGrpSpPr/>
          <p:nvPr/>
        </p:nvGrpSpPr>
        <p:grpSpPr>
          <a:xfrm rot="21600000">
            <a:off x="4955285" y="2890266"/>
            <a:ext cx="594359" cy="420623"/>
            <a:chOff x="0" y="0"/>
            <a:chExt cx="594359" cy="420623"/>
          </a:xfrm>
        </p:grpSpPr>
        <p:sp>
          <p:nvSpPr>
            <p:cNvPr id="422" name="path 422"/>
            <p:cNvSpPr/>
            <p:nvPr/>
          </p:nvSpPr>
          <p:spPr>
            <a:xfrm>
              <a:off x="3809" y="3809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4"/>
                  </a:moveTo>
                  <a:cubicBezTo>
                    <a:pt x="0" y="146"/>
                    <a:pt x="206" y="0"/>
                    <a:pt x="463" y="0"/>
                  </a:cubicBezTo>
                  <a:cubicBezTo>
                    <a:pt x="717" y="0"/>
                    <a:pt x="924" y="146"/>
                    <a:pt x="924" y="324"/>
                  </a:cubicBezTo>
                  <a:cubicBezTo>
                    <a:pt x="924" y="504"/>
                    <a:pt x="717" y="650"/>
                    <a:pt x="463" y="650"/>
                  </a:cubicBezTo>
                  <a:cubicBezTo>
                    <a:pt x="206" y="650"/>
                    <a:pt x="0" y="504"/>
                    <a:pt x="0" y="324"/>
                  </a:cubicBezTo>
                </a:path>
              </a:pathLst>
            </a:custGeom>
            <a:solidFill>
              <a:srgbClr val="0066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4" name="path 424"/>
            <p:cNvSpPr/>
            <p:nvPr/>
          </p:nvSpPr>
          <p:spPr>
            <a:xfrm>
              <a:off x="0" y="0"/>
              <a:ext cx="594359" cy="420623"/>
            </a:xfrm>
            <a:custGeom>
              <a:avLst/>
              <a:gdLst/>
              <a:ahLst/>
              <a:cxnLst/>
              <a:rect l="0" t="0" r="0" b="0"/>
              <a:pathLst>
                <a:path w="935" h="662">
                  <a:moveTo>
                    <a:pt x="5" y="330"/>
                  </a:moveTo>
                  <a:cubicBezTo>
                    <a:pt x="5" y="152"/>
                    <a:pt x="212" y="5"/>
                    <a:pt x="469" y="5"/>
                  </a:cubicBezTo>
                  <a:cubicBezTo>
                    <a:pt x="723" y="5"/>
                    <a:pt x="930" y="152"/>
                    <a:pt x="930" y="330"/>
                  </a:cubicBezTo>
                  <a:cubicBezTo>
                    <a:pt x="930" y="510"/>
                    <a:pt x="723" y="656"/>
                    <a:pt x="469" y="656"/>
                  </a:cubicBezTo>
                  <a:cubicBezTo>
                    <a:pt x="212" y="656"/>
                    <a:pt x="5" y="510"/>
                    <a:pt x="5" y="330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group 86"/>
          <p:cNvGrpSpPr/>
          <p:nvPr/>
        </p:nvGrpSpPr>
        <p:grpSpPr>
          <a:xfrm rot="21600000">
            <a:off x="3697986" y="3184397"/>
            <a:ext cx="594359" cy="420623"/>
            <a:chOff x="0" y="0"/>
            <a:chExt cx="594359" cy="420623"/>
          </a:xfrm>
        </p:grpSpPr>
        <p:sp>
          <p:nvSpPr>
            <p:cNvPr id="426" name="path 426"/>
            <p:cNvSpPr/>
            <p:nvPr/>
          </p:nvSpPr>
          <p:spPr>
            <a:xfrm>
              <a:off x="3809" y="3809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6"/>
                  </a:moveTo>
                  <a:cubicBezTo>
                    <a:pt x="0" y="146"/>
                    <a:pt x="206" y="0"/>
                    <a:pt x="460" y="0"/>
                  </a:cubicBezTo>
                  <a:cubicBezTo>
                    <a:pt x="717" y="0"/>
                    <a:pt x="924" y="146"/>
                    <a:pt x="924" y="326"/>
                  </a:cubicBezTo>
                  <a:cubicBezTo>
                    <a:pt x="924" y="504"/>
                    <a:pt x="717" y="650"/>
                    <a:pt x="460" y="650"/>
                  </a:cubicBezTo>
                  <a:cubicBezTo>
                    <a:pt x="206" y="650"/>
                    <a:pt x="0" y="504"/>
                    <a:pt x="0" y="326"/>
                  </a:cubicBezTo>
                </a:path>
              </a:pathLst>
            </a:custGeom>
            <a:solidFill>
              <a:srgbClr val="0066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8" name="path 428"/>
            <p:cNvSpPr/>
            <p:nvPr/>
          </p:nvSpPr>
          <p:spPr>
            <a:xfrm>
              <a:off x="0" y="0"/>
              <a:ext cx="594359" cy="420623"/>
            </a:xfrm>
            <a:custGeom>
              <a:avLst/>
              <a:gdLst/>
              <a:ahLst/>
              <a:cxnLst/>
              <a:rect l="0" t="0" r="0" b="0"/>
              <a:pathLst>
                <a:path w="935" h="662">
                  <a:moveTo>
                    <a:pt x="5" y="332"/>
                  </a:moveTo>
                  <a:cubicBezTo>
                    <a:pt x="5" y="152"/>
                    <a:pt x="212" y="5"/>
                    <a:pt x="466" y="5"/>
                  </a:cubicBezTo>
                  <a:cubicBezTo>
                    <a:pt x="723" y="5"/>
                    <a:pt x="930" y="152"/>
                    <a:pt x="930" y="332"/>
                  </a:cubicBezTo>
                  <a:cubicBezTo>
                    <a:pt x="930" y="510"/>
                    <a:pt x="723" y="656"/>
                    <a:pt x="466" y="656"/>
                  </a:cubicBezTo>
                  <a:cubicBezTo>
                    <a:pt x="212" y="656"/>
                    <a:pt x="5" y="510"/>
                    <a:pt x="5" y="332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8" name="group 88"/>
          <p:cNvGrpSpPr/>
          <p:nvPr/>
        </p:nvGrpSpPr>
        <p:grpSpPr>
          <a:xfrm rot="21600000">
            <a:off x="2187701" y="4658105"/>
            <a:ext cx="595883" cy="420623"/>
            <a:chOff x="0" y="0"/>
            <a:chExt cx="595883" cy="420623"/>
          </a:xfrm>
        </p:grpSpPr>
        <p:sp>
          <p:nvSpPr>
            <p:cNvPr id="430" name="path 430"/>
            <p:cNvSpPr/>
            <p:nvPr/>
          </p:nvSpPr>
          <p:spPr>
            <a:xfrm>
              <a:off x="3810" y="3810"/>
              <a:ext cx="588263" cy="413004"/>
            </a:xfrm>
            <a:custGeom>
              <a:avLst/>
              <a:gdLst/>
              <a:ahLst/>
              <a:cxnLst/>
              <a:rect l="0" t="0" r="0" b="0"/>
              <a:pathLst>
                <a:path w="926" h="650">
                  <a:moveTo>
                    <a:pt x="0" y="323"/>
                  </a:moveTo>
                  <a:cubicBezTo>
                    <a:pt x="0" y="146"/>
                    <a:pt x="208" y="0"/>
                    <a:pt x="463" y="0"/>
                  </a:cubicBezTo>
                  <a:cubicBezTo>
                    <a:pt x="717" y="0"/>
                    <a:pt x="926" y="146"/>
                    <a:pt x="926" y="323"/>
                  </a:cubicBezTo>
                  <a:cubicBezTo>
                    <a:pt x="926" y="503"/>
                    <a:pt x="717" y="650"/>
                    <a:pt x="463" y="650"/>
                  </a:cubicBezTo>
                  <a:cubicBezTo>
                    <a:pt x="208" y="650"/>
                    <a:pt x="0" y="503"/>
                    <a:pt x="0" y="323"/>
                  </a:cubicBezTo>
                </a:path>
              </a:pathLst>
            </a:custGeom>
            <a:solidFill>
              <a:srgbClr val="0066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32" name="path 432"/>
            <p:cNvSpPr/>
            <p:nvPr/>
          </p:nvSpPr>
          <p:spPr>
            <a:xfrm>
              <a:off x="0" y="0"/>
              <a:ext cx="595883" cy="420623"/>
            </a:xfrm>
            <a:custGeom>
              <a:avLst/>
              <a:gdLst/>
              <a:ahLst/>
              <a:cxnLst/>
              <a:rect l="0" t="0" r="0" b="0"/>
              <a:pathLst>
                <a:path w="938" h="662">
                  <a:moveTo>
                    <a:pt x="6" y="330"/>
                  </a:moveTo>
                  <a:cubicBezTo>
                    <a:pt x="6" y="152"/>
                    <a:pt x="214" y="6"/>
                    <a:pt x="469" y="6"/>
                  </a:cubicBezTo>
                  <a:cubicBezTo>
                    <a:pt x="723" y="6"/>
                    <a:pt x="932" y="152"/>
                    <a:pt x="932" y="330"/>
                  </a:cubicBezTo>
                  <a:cubicBezTo>
                    <a:pt x="932" y="510"/>
                    <a:pt x="723" y="656"/>
                    <a:pt x="469" y="656"/>
                  </a:cubicBezTo>
                  <a:cubicBezTo>
                    <a:pt x="214" y="656"/>
                    <a:pt x="6" y="510"/>
                    <a:pt x="6" y="330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0" name="group 90"/>
          <p:cNvGrpSpPr/>
          <p:nvPr/>
        </p:nvGrpSpPr>
        <p:grpSpPr>
          <a:xfrm rot="21600000">
            <a:off x="2859786" y="4187190"/>
            <a:ext cx="594360" cy="419100"/>
            <a:chOff x="0" y="0"/>
            <a:chExt cx="594360" cy="419100"/>
          </a:xfrm>
        </p:grpSpPr>
        <p:sp>
          <p:nvSpPr>
            <p:cNvPr id="434" name="path 434"/>
            <p:cNvSpPr/>
            <p:nvPr/>
          </p:nvSpPr>
          <p:spPr>
            <a:xfrm>
              <a:off x="3810" y="3809"/>
              <a:ext cx="586740" cy="411480"/>
            </a:xfrm>
            <a:custGeom>
              <a:avLst/>
              <a:gdLst/>
              <a:ahLst/>
              <a:cxnLst/>
              <a:rect l="0" t="0" r="0" b="0"/>
              <a:pathLst>
                <a:path w="924" h="648">
                  <a:moveTo>
                    <a:pt x="0" y="324"/>
                  </a:moveTo>
                  <a:cubicBezTo>
                    <a:pt x="0" y="144"/>
                    <a:pt x="206" y="0"/>
                    <a:pt x="460" y="0"/>
                  </a:cubicBezTo>
                  <a:cubicBezTo>
                    <a:pt x="717" y="0"/>
                    <a:pt x="924" y="144"/>
                    <a:pt x="924" y="324"/>
                  </a:cubicBezTo>
                  <a:cubicBezTo>
                    <a:pt x="924" y="504"/>
                    <a:pt x="717" y="648"/>
                    <a:pt x="460" y="648"/>
                  </a:cubicBezTo>
                  <a:cubicBezTo>
                    <a:pt x="206" y="648"/>
                    <a:pt x="0" y="504"/>
                    <a:pt x="0" y="324"/>
                  </a:cubicBezTo>
                </a:path>
              </a:pathLst>
            </a:custGeom>
            <a:solidFill>
              <a:srgbClr val="0066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36" name="path 436"/>
            <p:cNvSpPr/>
            <p:nvPr/>
          </p:nvSpPr>
          <p:spPr>
            <a:xfrm>
              <a:off x="0" y="0"/>
              <a:ext cx="594360" cy="419100"/>
            </a:xfrm>
            <a:custGeom>
              <a:avLst/>
              <a:gdLst/>
              <a:ahLst/>
              <a:cxnLst/>
              <a:rect l="0" t="0" r="0" b="0"/>
              <a:pathLst>
                <a:path w="936" h="660">
                  <a:moveTo>
                    <a:pt x="6" y="330"/>
                  </a:moveTo>
                  <a:cubicBezTo>
                    <a:pt x="6" y="150"/>
                    <a:pt x="212" y="5"/>
                    <a:pt x="466" y="5"/>
                  </a:cubicBezTo>
                  <a:cubicBezTo>
                    <a:pt x="723" y="5"/>
                    <a:pt x="930" y="150"/>
                    <a:pt x="930" y="330"/>
                  </a:cubicBezTo>
                  <a:cubicBezTo>
                    <a:pt x="930" y="510"/>
                    <a:pt x="723" y="653"/>
                    <a:pt x="466" y="653"/>
                  </a:cubicBezTo>
                  <a:cubicBezTo>
                    <a:pt x="212" y="653"/>
                    <a:pt x="6" y="510"/>
                    <a:pt x="6" y="330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2" name="group 92"/>
          <p:cNvGrpSpPr/>
          <p:nvPr/>
        </p:nvGrpSpPr>
        <p:grpSpPr>
          <a:xfrm rot="21600000">
            <a:off x="5542026" y="4010405"/>
            <a:ext cx="594359" cy="419100"/>
            <a:chOff x="0" y="0"/>
            <a:chExt cx="594359" cy="419100"/>
          </a:xfrm>
        </p:grpSpPr>
        <p:sp>
          <p:nvSpPr>
            <p:cNvPr id="438" name="path 438"/>
            <p:cNvSpPr/>
            <p:nvPr/>
          </p:nvSpPr>
          <p:spPr>
            <a:xfrm>
              <a:off x="3809" y="3809"/>
              <a:ext cx="586740" cy="411480"/>
            </a:xfrm>
            <a:custGeom>
              <a:avLst/>
              <a:gdLst/>
              <a:ahLst/>
              <a:cxnLst/>
              <a:rect l="0" t="0" r="0" b="0"/>
              <a:pathLst>
                <a:path w="924" h="648">
                  <a:moveTo>
                    <a:pt x="0" y="324"/>
                  </a:moveTo>
                  <a:cubicBezTo>
                    <a:pt x="0" y="144"/>
                    <a:pt x="208" y="0"/>
                    <a:pt x="463" y="0"/>
                  </a:cubicBezTo>
                  <a:cubicBezTo>
                    <a:pt x="717" y="0"/>
                    <a:pt x="924" y="144"/>
                    <a:pt x="924" y="324"/>
                  </a:cubicBezTo>
                  <a:cubicBezTo>
                    <a:pt x="924" y="504"/>
                    <a:pt x="717" y="648"/>
                    <a:pt x="463" y="648"/>
                  </a:cubicBezTo>
                  <a:cubicBezTo>
                    <a:pt x="208" y="648"/>
                    <a:pt x="0" y="504"/>
                    <a:pt x="0" y="324"/>
                  </a:cubicBezTo>
                </a:path>
              </a:pathLst>
            </a:custGeom>
            <a:solidFill>
              <a:srgbClr val="0066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40" name="path 440"/>
            <p:cNvSpPr/>
            <p:nvPr/>
          </p:nvSpPr>
          <p:spPr>
            <a:xfrm>
              <a:off x="0" y="0"/>
              <a:ext cx="594359" cy="419100"/>
            </a:xfrm>
            <a:custGeom>
              <a:avLst/>
              <a:gdLst/>
              <a:ahLst/>
              <a:cxnLst/>
              <a:rect l="0" t="0" r="0" b="0"/>
              <a:pathLst>
                <a:path w="935" h="660">
                  <a:moveTo>
                    <a:pt x="5" y="330"/>
                  </a:moveTo>
                  <a:cubicBezTo>
                    <a:pt x="5" y="150"/>
                    <a:pt x="214" y="5"/>
                    <a:pt x="469" y="5"/>
                  </a:cubicBezTo>
                  <a:cubicBezTo>
                    <a:pt x="723" y="5"/>
                    <a:pt x="930" y="150"/>
                    <a:pt x="930" y="330"/>
                  </a:cubicBezTo>
                  <a:cubicBezTo>
                    <a:pt x="930" y="510"/>
                    <a:pt x="723" y="653"/>
                    <a:pt x="469" y="653"/>
                  </a:cubicBezTo>
                  <a:cubicBezTo>
                    <a:pt x="214" y="653"/>
                    <a:pt x="5" y="510"/>
                    <a:pt x="5" y="330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4" name="group 94"/>
          <p:cNvGrpSpPr/>
          <p:nvPr/>
        </p:nvGrpSpPr>
        <p:grpSpPr>
          <a:xfrm rot="21600000">
            <a:off x="3195065" y="4304538"/>
            <a:ext cx="1097280" cy="832104"/>
            <a:chOff x="0" y="0"/>
            <a:chExt cx="1097280" cy="832104"/>
          </a:xfrm>
        </p:grpSpPr>
        <p:sp>
          <p:nvSpPr>
            <p:cNvPr id="442" name="path 442"/>
            <p:cNvSpPr/>
            <p:nvPr/>
          </p:nvSpPr>
          <p:spPr>
            <a:xfrm>
              <a:off x="506730" y="3809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3"/>
                  </a:moveTo>
                  <a:cubicBezTo>
                    <a:pt x="0" y="146"/>
                    <a:pt x="206" y="0"/>
                    <a:pt x="460" y="0"/>
                  </a:cubicBezTo>
                  <a:cubicBezTo>
                    <a:pt x="717" y="0"/>
                    <a:pt x="924" y="146"/>
                    <a:pt x="924" y="323"/>
                  </a:cubicBezTo>
                  <a:cubicBezTo>
                    <a:pt x="924" y="503"/>
                    <a:pt x="717" y="650"/>
                    <a:pt x="460" y="650"/>
                  </a:cubicBezTo>
                  <a:cubicBezTo>
                    <a:pt x="206" y="650"/>
                    <a:pt x="0" y="503"/>
                    <a:pt x="0" y="323"/>
                  </a:cubicBezTo>
                </a:path>
              </a:pathLst>
            </a:custGeom>
            <a:solidFill>
              <a:srgbClr val="0066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44" name="path 444"/>
            <p:cNvSpPr/>
            <p:nvPr/>
          </p:nvSpPr>
          <p:spPr>
            <a:xfrm>
              <a:off x="502920" y="0"/>
              <a:ext cx="594359" cy="420623"/>
            </a:xfrm>
            <a:custGeom>
              <a:avLst/>
              <a:gdLst/>
              <a:ahLst/>
              <a:cxnLst/>
              <a:rect l="0" t="0" r="0" b="0"/>
              <a:pathLst>
                <a:path w="935" h="662">
                  <a:moveTo>
                    <a:pt x="5" y="329"/>
                  </a:moveTo>
                  <a:cubicBezTo>
                    <a:pt x="5" y="152"/>
                    <a:pt x="212" y="5"/>
                    <a:pt x="466" y="5"/>
                  </a:cubicBezTo>
                  <a:cubicBezTo>
                    <a:pt x="723" y="5"/>
                    <a:pt x="930" y="152"/>
                    <a:pt x="930" y="329"/>
                  </a:cubicBezTo>
                  <a:cubicBezTo>
                    <a:pt x="930" y="509"/>
                    <a:pt x="723" y="656"/>
                    <a:pt x="466" y="656"/>
                  </a:cubicBezTo>
                  <a:cubicBezTo>
                    <a:pt x="212" y="656"/>
                    <a:pt x="5" y="509"/>
                    <a:pt x="5" y="329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46" name="path 446"/>
            <p:cNvSpPr/>
            <p:nvPr/>
          </p:nvSpPr>
          <p:spPr>
            <a:xfrm>
              <a:off x="3810" y="416814"/>
              <a:ext cx="586740" cy="411479"/>
            </a:xfrm>
            <a:custGeom>
              <a:avLst/>
              <a:gdLst/>
              <a:ahLst/>
              <a:cxnLst/>
              <a:rect l="0" t="0" r="0" b="0"/>
              <a:pathLst>
                <a:path w="924" h="647">
                  <a:moveTo>
                    <a:pt x="0" y="323"/>
                  </a:moveTo>
                  <a:cubicBezTo>
                    <a:pt x="0" y="143"/>
                    <a:pt x="206" y="0"/>
                    <a:pt x="460" y="0"/>
                  </a:cubicBezTo>
                  <a:cubicBezTo>
                    <a:pt x="717" y="0"/>
                    <a:pt x="924" y="143"/>
                    <a:pt x="924" y="323"/>
                  </a:cubicBezTo>
                  <a:cubicBezTo>
                    <a:pt x="924" y="503"/>
                    <a:pt x="717" y="647"/>
                    <a:pt x="460" y="647"/>
                  </a:cubicBezTo>
                  <a:cubicBezTo>
                    <a:pt x="206" y="647"/>
                    <a:pt x="0" y="503"/>
                    <a:pt x="0" y="323"/>
                  </a:cubicBezTo>
                </a:path>
              </a:pathLst>
            </a:custGeom>
            <a:solidFill>
              <a:srgbClr val="0066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48" name="path 448"/>
            <p:cNvSpPr/>
            <p:nvPr/>
          </p:nvSpPr>
          <p:spPr>
            <a:xfrm>
              <a:off x="0" y="413004"/>
              <a:ext cx="594360" cy="419100"/>
            </a:xfrm>
            <a:custGeom>
              <a:avLst/>
              <a:gdLst/>
              <a:ahLst/>
              <a:cxnLst/>
              <a:rect l="0" t="0" r="0" b="0"/>
              <a:pathLst>
                <a:path w="936" h="660">
                  <a:moveTo>
                    <a:pt x="6" y="330"/>
                  </a:moveTo>
                  <a:cubicBezTo>
                    <a:pt x="6" y="150"/>
                    <a:pt x="212" y="6"/>
                    <a:pt x="466" y="6"/>
                  </a:cubicBezTo>
                  <a:cubicBezTo>
                    <a:pt x="723" y="6"/>
                    <a:pt x="930" y="150"/>
                    <a:pt x="930" y="330"/>
                  </a:cubicBezTo>
                  <a:cubicBezTo>
                    <a:pt x="930" y="510"/>
                    <a:pt x="723" y="653"/>
                    <a:pt x="466" y="653"/>
                  </a:cubicBezTo>
                  <a:cubicBezTo>
                    <a:pt x="212" y="653"/>
                    <a:pt x="6" y="510"/>
                    <a:pt x="6" y="330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6" name="group 96"/>
          <p:cNvGrpSpPr/>
          <p:nvPr/>
        </p:nvGrpSpPr>
        <p:grpSpPr>
          <a:xfrm rot="21600000">
            <a:off x="5374385" y="3480053"/>
            <a:ext cx="594359" cy="419100"/>
            <a:chOff x="0" y="0"/>
            <a:chExt cx="594359" cy="419100"/>
          </a:xfrm>
        </p:grpSpPr>
        <p:sp>
          <p:nvSpPr>
            <p:cNvPr id="450" name="path 450"/>
            <p:cNvSpPr/>
            <p:nvPr/>
          </p:nvSpPr>
          <p:spPr>
            <a:xfrm>
              <a:off x="3809" y="3809"/>
              <a:ext cx="586740" cy="411480"/>
            </a:xfrm>
            <a:custGeom>
              <a:avLst/>
              <a:gdLst/>
              <a:ahLst/>
              <a:cxnLst/>
              <a:rect l="0" t="0" r="0" b="0"/>
              <a:pathLst>
                <a:path w="924" h="648">
                  <a:moveTo>
                    <a:pt x="0" y="324"/>
                  </a:moveTo>
                  <a:cubicBezTo>
                    <a:pt x="0" y="144"/>
                    <a:pt x="208" y="0"/>
                    <a:pt x="463" y="0"/>
                  </a:cubicBezTo>
                  <a:cubicBezTo>
                    <a:pt x="717" y="0"/>
                    <a:pt x="924" y="144"/>
                    <a:pt x="924" y="324"/>
                  </a:cubicBezTo>
                  <a:cubicBezTo>
                    <a:pt x="924" y="504"/>
                    <a:pt x="717" y="648"/>
                    <a:pt x="463" y="648"/>
                  </a:cubicBezTo>
                  <a:cubicBezTo>
                    <a:pt x="208" y="648"/>
                    <a:pt x="0" y="504"/>
                    <a:pt x="0" y="324"/>
                  </a:cubicBezTo>
                </a:path>
              </a:pathLst>
            </a:custGeom>
            <a:solidFill>
              <a:srgbClr val="0066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52" name="path 452"/>
            <p:cNvSpPr/>
            <p:nvPr/>
          </p:nvSpPr>
          <p:spPr>
            <a:xfrm>
              <a:off x="0" y="0"/>
              <a:ext cx="594359" cy="419100"/>
            </a:xfrm>
            <a:custGeom>
              <a:avLst/>
              <a:gdLst/>
              <a:ahLst/>
              <a:cxnLst/>
              <a:rect l="0" t="0" r="0" b="0"/>
              <a:pathLst>
                <a:path w="935" h="660">
                  <a:moveTo>
                    <a:pt x="5" y="330"/>
                  </a:moveTo>
                  <a:cubicBezTo>
                    <a:pt x="5" y="150"/>
                    <a:pt x="214" y="5"/>
                    <a:pt x="469" y="5"/>
                  </a:cubicBezTo>
                  <a:cubicBezTo>
                    <a:pt x="723" y="5"/>
                    <a:pt x="930" y="150"/>
                    <a:pt x="930" y="330"/>
                  </a:cubicBezTo>
                  <a:cubicBezTo>
                    <a:pt x="930" y="510"/>
                    <a:pt x="723" y="654"/>
                    <a:pt x="469" y="654"/>
                  </a:cubicBezTo>
                  <a:cubicBezTo>
                    <a:pt x="214" y="654"/>
                    <a:pt x="5" y="510"/>
                    <a:pt x="5" y="330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8" name="group 98"/>
          <p:cNvGrpSpPr/>
          <p:nvPr/>
        </p:nvGrpSpPr>
        <p:grpSpPr>
          <a:xfrm rot="21600000">
            <a:off x="4368546" y="3361182"/>
            <a:ext cx="594359" cy="420623"/>
            <a:chOff x="0" y="0"/>
            <a:chExt cx="594359" cy="420623"/>
          </a:xfrm>
        </p:grpSpPr>
        <p:sp>
          <p:nvSpPr>
            <p:cNvPr id="454" name="path 454"/>
            <p:cNvSpPr/>
            <p:nvPr/>
          </p:nvSpPr>
          <p:spPr>
            <a:xfrm>
              <a:off x="3809" y="3809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6"/>
                  </a:moveTo>
                  <a:cubicBezTo>
                    <a:pt x="0" y="146"/>
                    <a:pt x="206" y="0"/>
                    <a:pt x="463" y="0"/>
                  </a:cubicBezTo>
                  <a:cubicBezTo>
                    <a:pt x="717" y="0"/>
                    <a:pt x="924" y="146"/>
                    <a:pt x="924" y="326"/>
                  </a:cubicBezTo>
                  <a:cubicBezTo>
                    <a:pt x="924" y="504"/>
                    <a:pt x="717" y="650"/>
                    <a:pt x="463" y="650"/>
                  </a:cubicBezTo>
                  <a:cubicBezTo>
                    <a:pt x="206" y="650"/>
                    <a:pt x="0" y="504"/>
                    <a:pt x="0" y="326"/>
                  </a:cubicBezTo>
                </a:path>
              </a:pathLst>
            </a:custGeom>
            <a:solidFill>
              <a:srgbClr val="0066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56" name="path 456"/>
            <p:cNvSpPr/>
            <p:nvPr/>
          </p:nvSpPr>
          <p:spPr>
            <a:xfrm>
              <a:off x="0" y="0"/>
              <a:ext cx="594359" cy="420623"/>
            </a:xfrm>
            <a:custGeom>
              <a:avLst/>
              <a:gdLst/>
              <a:ahLst/>
              <a:cxnLst/>
              <a:rect l="0" t="0" r="0" b="0"/>
              <a:pathLst>
                <a:path w="935" h="662">
                  <a:moveTo>
                    <a:pt x="5" y="332"/>
                  </a:moveTo>
                  <a:cubicBezTo>
                    <a:pt x="5" y="152"/>
                    <a:pt x="212" y="5"/>
                    <a:pt x="469" y="5"/>
                  </a:cubicBezTo>
                  <a:cubicBezTo>
                    <a:pt x="723" y="5"/>
                    <a:pt x="930" y="152"/>
                    <a:pt x="930" y="332"/>
                  </a:cubicBezTo>
                  <a:cubicBezTo>
                    <a:pt x="930" y="510"/>
                    <a:pt x="723" y="656"/>
                    <a:pt x="469" y="656"/>
                  </a:cubicBezTo>
                  <a:cubicBezTo>
                    <a:pt x="212" y="656"/>
                    <a:pt x="5" y="510"/>
                    <a:pt x="5" y="332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0" name="group 100"/>
          <p:cNvGrpSpPr/>
          <p:nvPr/>
        </p:nvGrpSpPr>
        <p:grpSpPr>
          <a:xfrm rot="21600000">
            <a:off x="1852422" y="4127753"/>
            <a:ext cx="594360" cy="420623"/>
            <a:chOff x="0" y="0"/>
            <a:chExt cx="594360" cy="420623"/>
          </a:xfrm>
        </p:grpSpPr>
        <p:sp>
          <p:nvSpPr>
            <p:cNvPr id="458" name="path 458"/>
            <p:cNvSpPr/>
            <p:nvPr/>
          </p:nvSpPr>
          <p:spPr>
            <a:xfrm>
              <a:off x="3810" y="3809"/>
              <a:ext cx="586739" cy="413004"/>
            </a:xfrm>
            <a:custGeom>
              <a:avLst/>
              <a:gdLst/>
              <a:ahLst/>
              <a:cxnLst/>
              <a:rect l="0" t="0" r="0" b="0"/>
              <a:pathLst>
                <a:path w="923" h="650">
                  <a:moveTo>
                    <a:pt x="0" y="324"/>
                  </a:moveTo>
                  <a:cubicBezTo>
                    <a:pt x="0" y="146"/>
                    <a:pt x="208" y="0"/>
                    <a:pt x="463" y="0"/>
                  </a:cubicBezTo>
                  <a:cubicBezTo>
                    <a:pt x="717" y="0"/>
                    <a:pt x="923" y="146"/>
                    <a:pt x="923" y="324"/>
                  </a:cubicBezTo>
                  <a:cubicBezTo>
                    <a:pt x="923" y="504"/>
                    <a:pt x="717" y="650"/>
                    <a:pt x="463" y="650"/>
                  </a:cubicBezTo>
                  <a:cubicBezTo>
                    <a:pt x="208" y="650"/>
                    <a:pt x="0" y="504"/>
                    <a:pt x="0" y="324"/>
                  </a:cubicBezTo>
                </a:path>
              </a:pathLst>
            </a:custGeom>
            <a:solidFill>
              <a:srgbClr val="0066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0" name="path 460"/>
            <p:cNvSpPr/>
            <p:nvPr/>
          </p:nvSpPr>
          <p:spPr>
            <a:xfrm>
              <a:off x="0" y="0"/>
              <a:ext cx="594360" cy="420623"/>
            </a:xfrm>
            <a:custGeom>
              <a:avLst/>
              <a:gdLst/>
              <a:ahLst/>
              <a:cxnLst/>
              <a:rect l="0" t="0" r="0" b="0"/>
              <a:pathLst>
                <a:path w="936" h="662">
                  <a:moveTo>
                    <a:pt x="6" y="330"/>
                  </a:moveTo>
                  <a:cubicBezTo>
                    <a:pt x="6" y="152"/>
                    <a:pt x="214" y="5"/>
                    <a:pt x="469" y="5"/>
                  </a:cubicBezTo>
                  <a:cubicBezTo>
                    <a:pt x="723" y="5"/>
                    <a:pt x="930" y="152"/>
                    <a:pt x="930" y="330"/>
                  </a:cubicBezTo>
                  <a:cubicBezTo>
                    <a:pt x="930" y="510"/>
                    <a:pt x="723" y="656"/>
                    <a:pt x="469" y="656"/>
                  </a:cubicBezTo>
                  <a:cubicBezTo>
                    <a:pt x="214" y="656"/>
                    <a:pt x="6" y="510"/>
                    <a:pt x="6" y="330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2" name="group 102"/>
          <p:cNvGrpSpPr/>
          <p:nvPr/>
        </p:nvGrpSpPr>
        <p:grpSpPr>
          <a:xfrm rot="21600000">
            <a:off x="1680210" y="2757678"/>
            <a:ext cx="7479792" cy="3729228"/>
            <a:chOff x="0" y="0"/>
            <a:chExt cx="7479792" cy="3729228"/>
          </a:xfrm>
        </p:grpSpPr>
        <p:sp>
          <p:nvSpPr>
            <p:cNvPr id="462" name="path 462"/>
            <p:cNvSpPr/>
            <p:nvPr/>
          </p:nvSpPr>
          <p:spPr>
            <a:xfrm>
              <a:off x="0" y="0"/>
              <a:ext cx="7479792" cy="3729228"/>
            </a:xfrm>
            <a:custGeom>
              <a:avLst/>
              <a:gdLst/>
              <a:ahLst/>
              <a:cxnLst/>
              <a:rect l="0" t="0" r="0" b="0"/>
              <a:pathLst>
                <a:path w="11779" h="5872">
                  <a:moveTo>
                    <a:pt x="13" y="2626"/>
                  </a:moveTo>
                  <a:cubicBezTo>
                    <a:pt x="13" y="1858"/>
                    <a:pt x="958" y="1234"/>
                    <a:pt x="2127" y="1234"/>
                  </a:cubicBezTo>
                  <a:cubicBezTo>
                    <a:pt x="3293" y="1234"/>
                    <a:pt x="4239" y="1858"/>
                    <a:pt x="4239" y="2626"/>
                  </a:cubicBezTo>
                  <a:cubicBezTo>
                    <a:pt x="4239" y="3397"/>
                    <a:pt x="3293" y="4018"/>
                    <a:pt x="2127" y="4018"/>
                  </a:cubicBezTo>
                  <a:cubicBezTo>
                    <a:pt x="958" y="4018"/>
                    <a:pt x="13" y="3397"/>
                    <a:pt x="13" y="2626"/>
                  </a:cubicBezTo>
                  <a:moveTo>
                    <a:pt x="7674" y="1745"/>
                  </a:moveTo>
                  <a:cubicBezTo>
                    <a:pt x="7674" y="1105"/>
                    <a:pt x="8588" y="586"/>
                    <a:pt x="9718" y="586"/>
                  </a:cubicBezTo>
                  <a:cubicBezTo>
                    <a:pt x="10849" y="586"/>
                    <a:pt x="11765" y="1105"/>
                    <a:pt x="11765" y="1745"/>
                  </a:cubicBezTo>
                  <a:cubicBezTo>
                    <a:pt x="11765" y="2386"/>
                    <a:pt x="10849" y="2905"/>
                    <a:pt x="9718" y="2905"/>
                  </a:cubicBezTo>
                  <a:cubicBezTo>
                    <a:pt x="8588" y="2905"/>
                    <a:pt x="7674" y="2386"/>
                    <a:pt x="7674" y="1745"/>
                  </a:cubicBezTo>
                  <a:moveTo>
                    <a:pt x="4393" y="277"/>
                  </a:moveTo>
                  <a:cubicBezTo>
                    <a:pt x="4525" y="262"/>
                    <a:pt x="4618" y="231"/>
                    <a:pt x="4746" y="214"/>
                  </a:cubicBezTo>
                  <a:cubicBezTo>
                    <a:pt x="4973" y="109"/>
                    <a:pt x="5321" y="142"/>
                    <a:pt x="5559" y="137"/>
                  </a:cubicBezTo>
                  <a:cubicBezTo>
                    <a:pt x="5686" y="116"/>
                    <a:pt x="5801" y="111"/>
                    <a:pt x="5912" y="61"/>
                  </a:cubicBezTo>
                  <a:cubicBezTo>
                    <a:pt x="5926" y="44"/>
                    <a:pt x="5929" y="15"/>
                    <a:pt x="5955" y="13"/>
                  </a:cubicBezTo>
                  <a:cubicBezTo>
                    <a:pt x="6030" y="10"/>
                    <a:pt x="6176" y="44"/>
                    <a:pt x="6176" y="44"/>
                  </a:cubicBezTo>
                  <a:cubicBezTo>
                    <a:pt x="6289" y="97"/>
                    <a:pt x="6308" y="202"/>
                    <a:pt x="6397" y="277"/>
                  </a:cubicBezTo>
                  <a:cubicBezTo>
                    <a:pt x="6433" y="308"/>
                    <a:pt x="6461" y="341"/>
                    <a:pt x="6507" y="370"/>
                  </a:cubicBezTo>
                  <a:cubicBezTo>
                    <a:pt x="6742" y="514"/>
                    <a:pt x="6555" y="353"/>
                    <a:pt x="6704" y="493"/>
                  </a:cubicBezTo>
                  <a:cubicBezTo>
                    <a:pt x="6798" y="757"/>
                    <a:pt x="6963" y="1004"/>
                    <a:pt x="7057" y="1265"/>
                  </a:cubicBezTo>
                  <a:cubicBezTo>
                    <a:pt x="7076" y="1424"/>
                    <a:pt x="7117" y="1575"/>
                    <a:pt x="7167" y="1731"/>
                  </a:cubicBezTo>
                  <a:cubicBezTo>
                    <a:pt x="7186" y="1793"/>
                    <a:pt x="7246" y="1853"/>
                    <a:pt x="7278" y="1916"/>
                  </a:cubicBezTo>
                  <a:cubicBezTo>
                    <a:pt x="7345" y="2060"/>
                    <a:pt x="7395" y="2216"/>
                    <a:pt x="7431" y="2365"/>
                  </a:cubicBezTo>
                  <a:cubicBezTo>
                    <a:pt x="7417" y="2468"/>
                    <a:pt x="7421" y="2633"/>
                    <a:pt x="7364" y="2734"/>
                  </a:cubicBezTo>
                  <a:cubicBezTo>
                    <a:pt x="7350" y="2758"/>
                    <a:pt x="7318" y="2775"/>
                    <a:pt x="7299" y="2797"/>
                  </a:cubicBezTo>
                  <a:cubicBezTo>
                    <a:pt x="7265" y="2837"/>
                    <a:pt x="7265" y="2895"/>
                    <a:pt x="7210" y="2921"/>
                  </a:cubicBezTo>
                  <a:cubicBezTo>
                    <a:pt x="7167" y="2943"/>
                    <a:pt x="7129" y="2972"/>
                    <a:pt x="7078" y="2984"/>
                  </a:cubicBezTo>
                  <a:cubicBezTo>
                    <a:pt x="7035" y="2993"/>
                    <a:pt x="6946" y="3013"/>
                    <a:pt x="6946" y="3013"/>
                  </a:cubicBezTo>
                  <a:cubicBezTo>
                    <a:pt x="6738" y="3003"/>
                    <a:pt x="6514" y="3001"/>
                    <a:pt x="6308" y="2967"/>
                  </a:cubicBezTo>
                  <a:cubicBezTo>
                    <a:pt x="6010" y="2921"/>
                    <a:pt x="6027" y="2905"/>
                    <a:pt x="5670" y="2890"/>
                  </a:cubicBezTo>
                  <a:cubicBezTo>
                    <a:pt x="5535" y="2866"/>
                    <a:pt x="5559" y="2859"/>
                    <a:pt x="5473" y="2797"/>
                  </a:cubicBezTo>
                  <a:cubicBezTo>
                    <a:pt x="5401" y="2746"/>
                    <a:pt x="5271" y="2725"/>
                    <a:pt x="5185" y="2689"/>
                  </a:cubicBezTo>
                  <a:cubicBezTo>
                    <a:pt x="5156" y="2674"/>
                    <a:pt x="5127" y="2655"/>
                    <a:pt x="5098" y="2643"/>
                  </a:cubicBezTo>
                  <a:cubicBezTo>
                    <a:pt x="5069" y="2631"/>
                    <a:pt x="5036" y="2624"/>
                    <a:pt x="5009" y="2612"/>
                  </a:cubicBezTo>
                  <a:cubicBezTo>
                    <a:pt x="4966" y="2593"/>
                    <a:pt x="4877" y="2549"/>
                    <a:pt x="4877" y="2549"/>
                  </a:cubicBezTo>
                  <a:cubicBezTo>
                    <a:pt x="4827" y="2497"/>
                    <a:pt x="4765" y="2470"/>
                    <a:pt x="4702" y="2427"/>
                  </a:cubicBezTo>
                  <a:cubicBezTo>
                    <a:pt x="4645" y="2302"/>
                    <a:pt x="4594" y="2199"/>
                    <a:pt x="4503" y="2086"/>
                  </a:cubicBezTo>
                  <a:cubicBezTo>
                    <a:pt x="4465" y="2038"/>
                    <a:pt x="4450" y="1971"/>
                    <a:pt x="4393" y="1930"/>
                  </a:cubicBezTo>
                  <a:cubicBezTo>
                    <a:pt x="4366" y="1911"/>
                    <a:pt x="4277" y="1870"/>
                    <a:pt x="4239" y="1853"/>
                  </a:cubicBezTo>
                  <a:cubicBezTo>
                    <a:pt x="4225" y="1839"/>
                    <a:pt x="4215" y="1820"/>
                    <a:pt x="4196" y="1808"/>
                  </a:cubicBezTo>
                  <a:cubicBezTo>
                    <a:pt x="4177" y="1793"/>
                    <a:pt x="4146" y="1791"/>
                    <a:pt x="4129" y="1777"/>
                  </a:cubicBezTo>
                  <a:cubicBezTo>
                    <a:pt x="3951" y="1633"/>
                    <a:pt x="4124" y="1721"/>
                    <a:pt x="3975" y="1652"/>
                  </a:cubicBezTo>
                  <a:cubicBezTo>
                    <a:pt x="3915" y="1592"/>
                    <a:pt x="3826" y="1573"/>
                    <a:pt x="3733" y="1530"/>
                  </a:cubicBezTo>
                  <a:cubicBezTo>
                    <a:pt x="3687" y="1505"/>
                    <a:pt x="3649" y="1474"/>
                    <a:pt x="3601" y="1453"/>
                  </a:cubicBezTo>
                  <a:cubicBezTo>
                    <a:pt x="3502" y="1347"/>
                    <a:pt x="3617" y="1450"/>
                    <a:pt x="3490" y="1390"/>
                  </a:cubicBezTo>
                  <a:cubicBezTo>
                    <a:pt x="3466" y="1378"/>
                    <a:pt x="3452" y="1354"/>
                    <a:pt x="3425" y="1345"/>
                  </a:cubicBezTo>
                  <a:cubicBezTo>
                    <a:pt x="3361" y="1318"/>
                    <a:pt x="3291" y="1304"/>
                    <a:pt x="3226" y="1282"/>
                  </a:cubicBezTo>
                  <a:cubicBezTo>
                    <a:pt x="3159" y="1258"/>
                    <a:pt x="3029" y="1205"/>
                    <a:pt x="3029" y="1205"/>
                  </a:cubicBezTo>
                  <a:cubicBezTo>
                    <a:pt x="3015" y="1174"/>
                    <a:pt x="2998" y="1143"/>
                    <a:pt x="2984" y="1112"/>
                  </a:cubicBezTo>
                  <a:cubicBezTo>
                    <a:pt x="2977" y="1095"/>
                    <a:pt x="2962" y="1066"/>
                    <a:pt x="2962" y="1066"/>
                  </a:cubicBezTo>
                  <a:cubicBezTo>
                    <a:pt x="2974" y="949"/>
                    <a:pt x="2960" y="764"/>
                    <a:pt x="3051" y="649"/>
                  </a:cubicBezTo>
                  <a:cubicBezTo>
                    <a:pt x="3209" y="447"/>
                    <a:pt x="3629" y="380"/>
                    <a:pt x="3932" y="353"/>
                  </a:cubicBezTo>
                  <a:cubicBezTo>
                    <a:pt x="3997" y="339"/>
                    <a:pt x="4061" y="313"/>
                    <a:pt x="4129" y="308"/>
                  </a:cubicBezTo>
                  <a:cubicBezTo>
                    <a:pt x="4349" y="291"/>
                    <a:pt x="4263" y="308"/>
                    <a:pt x="4393" y="277"/>
                  </a:cubicBezTo>
                  <a:moveTo>
                    <a:pt x="5031" y="3106"/>
                  </a:moveTo>
                  <a:cubicBezTo>
                    <a:pt x="4985" y="3140"/>
                    <a:pt x="4923" y="3166"/>
                    <a:pt x="4877" y="3200"/>
                  </a:cubicBezTo>
                  <a:cubicBezTo>
                    <a:pt x="4805" y="3250"/>
                    <a:pt x="4753" y="3325"/>
                    <a:pt x="4678" y="3370"/>
                  </a:cubicBezTo>
                  <a:cubicBezTo>
                    <a:pt x="4647" y="3390"/>
                    <a:pt x="4604" y="3399"/>
                    <a:pt x="4570" y="3416"/>
                  </a:cubicBezTo>
                  <a:cubicBezTo>
                    <a:pt x="4345" y="3526"/>
                    <a:pt x="4472" y="3490"/>
                    <a:pt x="4328" y="3524"/>
                  </a:cubicBezTo>
                  <a:cubicBezTo>
                    <a:pt x="4208" y="3586"/>
                    <a:pt x="4124" y="3668"/>
                    <a:pt x="4018" y="3740"/>
                  </a:cubicBezTo>
                  <a:cubicBezTo>
                    <a:pt x="3992" y="3759"/>
                    <a:pt x="3941" y="3759"/>
                    <a:pt x="3908" y="3771"/>
                  </a:cubicBezTo>
                  <a:cubicBezTo>
                    <a:pt x="3761" y="3836"/>
                    <a:pt x="3620" y="3910"/>
                    <a:pt x="3469" y="3973"/>
                  </a:cubicBezTo>
                  <a:cubicBezTo>
                    <a:pt x="3217" y="4073"/>
                    <a:pt x="3610" y="3922"/>
                    <a:pt x="3337" y="4050"/>
                  </a:cubicBezTo>
                  <a:cubicBezTo>
                    <a:pt x="3274" y="4078"/>
                    <a:pt x="3202" y="4097"/>
                    <a:pt x="3137" y="4126"/>
                  </a:cubicBezTo>
                  <a:cubicBezTo>
                    <a:pt x="3094" y="4148"/>
                    <a:pt x="3005" y="4189"/>
                    <a:pt x="3005" y="4189"/>
                  </a:cubicBezTo>
                  <a:cubicBezTo>
                    <a:pt x="2962" y="4234"/>
                    <a:pt x="2924" y="4292"/>
                    <a:pt x="2897" y="4345"/>
                  </a:cubicBezTo>
                  <a:cubicBezTo>
                    <a:pt x="2866" y="4405"/>
                    <a:pt x="2873" y="4474"/>
                    <a:pt x="2830" y="4530"/>
                  </a:cubicBezTo>
                  <a:cubicBezTo>
                    <a:pt x="2737" y="4647"/>
                    <a:pt x="2629" y="4750"/>
                    <a:pt x="2545" y="4870"/>
                  </a:cubicBezTo>
                  <a:cubicBezTo>
                    <a:pt x="2501" y="4930"/>
                    <a:pt x="2501" y="5005"/>
                    <a:pt x="2477" y="5070"/>
                  </a:cubicBezTo>
                  <a:cubicBezTo>
                    <a:pt x="2482" y="5101"/>
                    <a:pt x="2463" y="5417"/>
                    <a:pt x="2545" y="5504"/>
                  </a:cubicBezTo>
                  <a:cubicBezTo>
                    <a:pt x="2566" y="5528"/>
                    <a:pt x="2638" y="5569"/>
                    <a:pt x="2677" y="5581"/>
                  </a:cubicBezTo>
                  <a:cubicBezTo>
                    <a:pt x="2717" y="5595"/>
                    <a:pt x="2809" y="5612"/>
                    <a:pt x="2809" y="5612"/>
                  </a:cubicBezTo>
                  <a:cubicBezTo>
                    <a:pt x="2955" y="5715"/>
                    <a:pt x="2797" y="5617"/>
                    <a:pt x="2941" y="5674"/>
                  </a:cubicBezTo>
                  <a:cubicBezTo>
                    <a:pt x="2941" y="5674"/>
                    <a:pt x="3106" y="5751"/>
                    <a:pt x="3137" y="5765"/>
                  </a:cubicBezTo>
                  <a:cubicBezTo>
                    <a:pt x="3173" y="5785"/>
                    <a:pt x="3433" y="5845"/>
                    <a:pt x="3490" y="5859"/>
                  </a:cubicBezTo>
                  <a:cubicBezTo>
                    <a:pt x="4162" y="5850"/>
                    <a:pt x="4825" y="5823"/>
                    <a:pt x="5494" y="5845"/>
                  </a:cubicBezTo>
                  <a:cubicBezTo>
                    <a:pt x="5840" y="5825"/>
                    <a:pt x="6133" y="5782"/>
                    <a:pt x="6440" y="5674"/>
                  </a:cubicBezTo>
                  <a:cubicBezTo>
                    <a:pt x="6493" y="5619"/>
                    <a:pt x="6529" y="5588"/>
                    <a:pt x="6615" y="5566"/>
                  </a:cubicBezTo>
                  <a:cubicBezTo>
                    <a:pt x="6706" y="5470"/>
                    <a:pt x="6641" y="5533"/>
                    <a:pt x="6836" y="5396"/>
                  </a:cubicBezTo>
                  <a:cubicBezTo>
                    <a:pt x="6905" y="5348"/>
                    <a:pt x="6905" y="5297"/>
                    <a:pt x="6990" y="5257"/>
                  </a:cubicBezTo>
                  <a:cubicBezTo>
                    <a:pt x="7110" y="5007"/>
                    <a:pt x="7165" y="4738"/>
                    <a:pt x="7253" y="4484"/>
                  </a:cubicBezTo>
                  <a:cubicBezTo>
                    <a:pt x="7273" y="4196"/>
                    <a:pt x="7345" y="3870"/>
                    <a:pt x="7277" y="3586"/>
                  </a:cubicBezTo>
                  <a:cubicBezTo>
                    <a:pt x="7268" y="3550"/>
                    <a:pt x="7217" y="3524"/>
                    <a:pt x="7189" y="3493"/>
                  </a:cubicBezTo>
                  <a:cubicBezTo>
                    <a:pt x="7102" y="3404"/>
                    <a:pt x="7042" y="3368"/>
                    <a:pt x="6903" y="3322"/>
                  </a:cubicBezTo>
                  <a:cubicBezTo>
                    <a:pt x="6833" y="3301"/>
                    <a:pt x="6704" y="3291"/>
                    <a:pt x="6639" y="3262"/>
                  </a:cubicBezTo>
                  <a:cubicBezTo>
                    <a:pt x="6469" y="3183"/>
                    <a:pt x="6320" y="3133"/>
                    <a:pt x="6111" y="3123"/>
                  </a:cubicBezTo>
                  <a:cubicBezTo>
                    <a:pt x="5943" y="3113"/>
                    <a:pt x="5773" y="3113"/>
                    <a:pt x="5605" y="3106"/>
                  </a:cubicBezTo>
                  <a:cubicBezTo>
                    <a:pt x="5425" y="3085"/>
                    <a:pt x="5513" y="3101"/>
                    <a:pt x="5341" y="3061"/>
                  </a:cubicBezTo>
                  <a:cubicBezTo>
                    <a:pt x="5295" y="3051"/>
                    <a:pt x="5209" y="3030"/>
                    <a:pt x="5209" y="3030"/>
                  </a:cubicBezTo>
                  <a:cubicBezTo>
                    <a:pt x="5101" y="3044"/>
                    <a:pt x="5031" y="3025"/>
                    <a:pt x="5031" y="3106"/>
                  </a:cubicBezTo>
                  <a:moveTo>
                    <a:pt x="8288" y="3092"/>
                  </a:moveTo>
                  <a:cubicBezTo>
                    <a:pt x="8190" y="3137"/>
                    <a:pt x="8098" y="3195"/>
                    <a:pt x="8002" y="3245"/>
                  </a:cubicBezTo>
                  <a:cubicBezTo>
                    <a:pt x="7957" y="3313"/>
                    <a:pt x="7890" y="3356"/>
                    <a:pt x="7827" y="3416"/>
                  </a:cubicBezTo>
                  <a:cubicBezTo>
                    <a:pt x="7755" y="3569"/>
                    <a:pt x="7875" y="3334"/>
                    <a:pt x="7738" y="3509"/>
                  </a:cubicBezTo>
                  <a:cubicBezTo>
                    <a:pt x="7698" y="3560"/>
                    <a:pt x="7686" y="3637"/>
                    <a:pt x="7674" y="3694"/>
                  </a:cubicBezTo>
                  <a:cubicBezTo>
                    <a:pt x="7700" y="4162"/>
                    <a:pt x="7635" y="4666"/>
                    <a:pt x="7849" y="5117"/>
                  </a:cubicBezTo>
                  <a:cubicBezTo>
                    <a:pt x="7890" y="5204"/>
                    <a:pt x="7957" y="5405"/>
                    <a:pt x="8048" y="5458"/>
                  </a:cubicBezTo>
                  <a:cubicBezTo>
                    <a:pt x="8108" y="5494"/>
                    <a:pt x="8211" y="5545"/>
                    <a:pt x="8288" y="5566"/>
                  </a:cubicBezTo>
                  <a:cubicBezTo>
                    <a:pt x="8334" y="5576"/>
                    <a:pt x="8420" y="5597"/>
                    <a:pt x="8420" y="5597"/>
                  </a:cubicBezTo>
                  <a:cubicBezTo>
                    <a:pt x="8746" y="5588"/>
                    <a:pt x="8994" y="5557"/>
                    <a:pt x="9301" y="5535"/>
                  </a:cubicBezTo>
                  <a:cubicBezTo>
                    <a:pt x="9411" y="5509"/>
                    <a:pt x="9522" y="5482"/>
                    <a:pt x="9632" y="5458"/>
                  </a:cubicBezTo>
                  <a:cubicBezTo>
                    <a:pt x="9716" y="5439"/>
                    <a:pt x="9810" y="5444"/>
                    <a:pt x="9896" y="5427"/>
                  </a:cubicBezTo>
                  <a:cubicBezTo>
                    <a:pt x="9970" y="5410"/>
                    <a:pt x="10018" y="5379"/>
                    <a:pt x="10093" y="5365"/>
                  </a:cubicBezTo>
                  <a:cubicBezTo>
                    <a:pt x="10167" y="5348"/>
                    <a:pt x="10239" y="5331"/>
                    <a:pt x="10314" y="5319"/>
                  </a:cubicBezTo>
                  <a:cubicBezTo>
                    <a:pt x="10371" y="5309"/>
                    <a:pt x="10489" y="5288"/>
                    <a:pt x="10489" y="5288"/>
                  </a:cubicBezTo>
                  <a:cubicBezTo>
                    <a:pt x="10532" y="5269"/>
                    <a:pt x="10582" y="5261"/>
                    <a:pt x="10621" y="5240"/>
                  </a:cubicBezTo>
                  <a:cubicBezTo>
                    <a:pt x="10645" y="5230"/>
                    <a:pt x="10647" y="5209"/>
                    <a:pt x="10666" y="5194"/>
                  </a:cubicBezTo>
                  <a:cubicBezTo>
                    <a:pt x="10798" y="5101"/>
                    <a:pt x="10681" y="5266"/>
                    <a:pt x="10863" y="5069"/>
                  </a:cubicBezTo>
                  <a:cubicBezTo>
                    <a:pt x="10945" y="4985"/>
                    <a:pt x="11046" y="4897"/>
                    <a:pt x="11151" y="4822"/>
                  </a:cubicBezTo>
                  <a:cubicBezTo>
                    <a:pt x="11185" y="4724"/>
                    <a:pt x="11290" y="4630"/>
                    <a:pt x="11370" y="4544"/>
                  </a:cubicBezTo>
                  <a:cubicBezTo>
                    <a:pt x="11401" y="4513"/>
                    <a:pt x="11427" y="4484"/>
                    <a:pt x="11458" y="4453"/>
                  </a:cubicBezTo>
                  <a:cubicBezTo>
                    <a:pt x="11473" y="4436"/>
                    <a:pt x="11502" y="4405"/>
                    <a:pt x="11502" y="4405"/>
                  </a:cubicBezTo>
                  <a:cubicBezTo>
                    <a:pt x="11552" y="4265"/>
                    <a:pt x="11672" y="4145"/>
                    <a:pt x="11722" y="4004"/>
                  </a:cubicBezTo>
                  <a:cubicBezTo>
                    <a:pt x="11710" y="3831"/>
                    <a:pt x="11778" y="3668"/>
                    <a:pt x="11569" y="3569"/>
                  </a:cubicBezTo>
                  <a:cubicBezTo>
                    <a:pt x="11518" y="3502"/>
                    <a:pt x="11466" y="3483"/>
                    <a:pt x="11391" y="3430"/>
                  </a:cubicBezTo>
                  <a:cubicBezTo>
                    <a:pt x="11346" y="3332"/>
                    <a:pt x="11410" y="3430"/>
                    <a:pt x="11305" y="3370"/>
                  </a:cubicBezTo>
                  <a:cubicBezTo>
                    <a:pt x="11096" y="3253"/>
                    <a:pt x="11418" y="3380"/>
                    <a:pt x="11194" y="3308"/>
                  </a:cubicBezTo>
                  <a:cubicBezTo>
                    <a:pt x="10894" y="3212"/>
                    <a:pt x="10621" y="3147"/>
                    <a:pt x="10292" y="3123"/>
                  </a:cubicBezTo>
                  <a:cubicBezTo>
                    <a:pt x="10174" y="3094"/>
                    <a:pt x="10057" y="3070"/>
                    <a:pt x="9939" y="3044"/>
                  </a:cubicBezTo>
                  <a:cubicBezTo>
                    <a:pt x="9896" y="3034"/>
                    <a:pt x="9807" y="3013"/>
                    <a:pt x="9807" y="3013"/>
                  </a:cubicBezTo>
                  <a:cubicBezTo>
                    <a:pt x="9399" y="3025"/>
                    <a:pt x="9003" y="3044"/>
                    <a:pt x="8598" y="3061"/>
                  </a:cubicBezTo>
                  <a:cubicBezTo>
                    <a:pt x="8307" y="3070"/>
                    <a:pt x="8377" y="3029"/>
                    <a:pt x="8288" y="3092"/>
                  </a:cubicBezTo>
                </a:path>
              </a:pathLst>
            </a:custGeom>
            <a:noFill/>
            <a:ln w="16763" cap="flat">
              <a:solidFill>
                <a:srgbClr val="ED7D31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4" name="path 464"/>
            <p:cNvSpPr/>
            <p:nvPr/>
          </p:nvSpPr>
          <p:spPr>
            <a:xfrm>
              <a:off x="676341" y="486848"/>
              <a:ext cx="6125384" cy="2774845"/>
            </a:xfrm>
            <a:custGeom>
              <a:avLst/>
              <a:gdLst/>
              <a:ahLst/>
              <a:cxnLst/>
              <a:rect l="0" t="0" r="0" b="0"/>
              <a:pathLst>
                <a:path w="9646" h="4369">
                  <a:moveTo>
                    <a:pt x="402" y="1118"/>
                  </a:moveTo>
                  <a:lnTo>
                    <a:pt x="4" y="1490"/>
                  </a:lnTo>
                  <a:moveTo>
                    <a:pt x="930" y="1212"/>
                  </a:moveTo>
                  <a:lnTo>
                    <a:pt x="1062" y="1490"/>
                  </a:lnTo>
                  <a:moveTo>
                    <a:pt x="534" y="2325"/>
                  </a:moveTo>
                  <a:lnTo>
                    <a:pt x="930" y="2047"/>
                  </a:lnTo>
                  <a:moveTo>
                    <a:pt x="1722" y="1860"/>
                  </a:moveTo>
                  <a:lnTo>
                    <a:pt x="2118" y="1953"/>
                  </a:lnTo>
                  <a:moveTo>
                    <a:pt x="2118" y="2416"/>
                  </a:moveTo>
                  <a:lnTo>
                    <a:pt x="2382" y="2325"/>
                  </a:lnTo>
                  <a:moveTo>
                    <a:pt x="3174" y="4365"/>
                  </a:moveTo>
                  <a:lnTo>
                    <a:pt x="2910" y="4087"/>
                  </a:lnTo>
                  <a:moveTo>
                    <a:pt x="3042" y="3717"/>
                  </a:moveTo>
                  <a:lnTo>
                    <a:pt x="3438" y="3624"/>
                  </a:lnTo>
                  <a:moveTo>
                    <a:pt x="4230" y="3252"/>
                  </a:moveTo>
                  <a:lnTo>
                    <a:pt x="4758" y="3067"/>
                  </a:lnTo>
                  <a:moveTo>
                    <a:pt x="5154" y="4087"/>
                  </a:moveTo>
                  <a:lnTo>
                    <a:pt x="5022" y="4180"/>
                  </a:lnTo>
                  <a:moveTo>
                    <a:pt x="5286" y="3160"/>
                  </a:moveTo>
                  <a:lnTo>
                    <a:pt x="5418" y="3439"/>
                  </a:lnTo>
                  <a:moveTo>
                    <a:pt x="4362" y="4"/>
                  </a:moveTo>
                  <a:lnTo>
                    <a:pt x="3966" y="283"/>
                  </a:lnTo>
                  <a:moveTo>
                    <a:pt x="3877" y="964"/>
                  </a:moveTo>
                  <a:lnTo>
                    <a:pt x="3836" y="842"/>
                  </a:lnTo>
                  <a:moveTo>
                    <a:pt x="4758" y="840"/>
                  </a:moveTo>
                  <a:lnTo>
                    <a:pt x="4429" y="1087"/>
                  </a:lnTo>
                  <a:moveTo>
                    <a:pt x="5286" y="1024"/>
                  </a:moveTo>
                  <a:lnTo>
                    <a:pt x="5418" y="1212"/>
                  </a:lnTo>
                  <a:moveTo>
                    <a:pt x="7928" y="2788"/>
                  </a:moveTo>
                  <a:lnTo>
                    <a:pt x="7664" y="3067"/>
                  </a:lnTo>
                  <a:moveTo>
                    <a:pt x="8720" y="2788"/>
                  </a:moveTo>
                  <a:lnTo>
                    <a:pt x="9248" y="3067"/>
                  </a:lnTo>
                  <a:moveTo>
                    <a:pt x="8082" y="3856"/>
                  </a:moveTo>
                  <a:lnTo>
                    <a:pt x="7861" y="4056"/>
                  </a:lnTo>
                  <a:moveTo>
                    <a:pt x="9380" y="3624"/>
                  </a:moveTo>
                  <a:lnTo>
                    <a:pt x="9248" y="3808"/>
                  </a:lnTo>
                  <a:moveTo>
                    <a:pt x="8060" y="376"/>
                  </a:moveTo>
                  <a:lnTo>
                    <a:pt x="8456" y="283"/>
                  </a:lnTo>
                  <a:moveTo>
                    <a:pt x="9248" y="1118"/>
                  </a:moveTo>
                  <a:lnTo>
                    <a:pt x="9644" y="1212"/>
                  </a:lnTo>
                </a:path>
              </a:pathLst>
            </a:custGeom>
            <a:noFill/>
            <a:ln w="762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6" name="path 466"/>
            <p:cNvSpPr/>
            <p:nvPr/>
          </p:nvSpPr>
          <p:spPr>
            <a:xfrm>
              <a:off x="1347920" y="703727"/>
              <a:ext cx="5627822" cy="1419827"/>
            </a:xfrm>
            <a:custGeom>
              <a:avLst/>
              <a:gdLst/>
              <a:ahLst/>
              <a:cxnLst/>
              <a:rect l="0" t="0" r="0" b="0"/>
              <a:pathLst>
                <a:path w="8862" h="2235">
                  <a:moveTo>
                    <a:pt x="4" y="313"/>
                  </a:moveTo>
                  <a:lnTo>
                    <a:pt x="1125" y="18"/>
                  </a:lnTo>
                  <a:moveTo>
                    <a:pt x="1852" y="1427"/>
                  </a:moveTo>
                  <a:lnTo>
                    <a:pt x="2580" y="1086"/>
                  </a:lnTo>
                  <a:moveTo>
                    <a:pt x="4360" y="1518"/>
                  </a:moveTo>
                  <a:lnTo>
                    <a:pt x="4185" y="2231"/>
                  </a:lnTo>
                  <a:moveTo>
                    <a:pt x="4624" y="313"/>
                  </a:moveTo>
                  <a:lnTo>
                    <a:pt x="6079" y="126"/>
                  </a:lnTo>
                  <a:moveTo>
                    <a:pt x="4888" y="1148"/>
                  </a:moveTo>
                  <a:lnTo>
                    <a:pt x="5947" y="1055"/>
                  </a:lnTo>
                  <a:moveTo>
                    <a:pt x="8851" y="1148"/>
                  </a:moveTo>
                  <a:lnTo>
                    <a:pt x="7641" y="2044"/>
                  </a:lnTo>
                </a:path>
              </a:pathLst>
            </a:custGeom>
            <a:noFill/>
            <a:ln w="24383" cap="flat">
              <a:solidFill>
                <a:srgbClr val="ED7D31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8" name="path 468"/>
            <p:cNvSpPr/>
            <p:nvPr/>
          </p:nvSpPr>
          <p:spPr>
            <a:xfrm>
              <a:off x="823721" y="854201"/>
              <a:ext cx="586739" cy="411480"/>
            </a:xfrm>
            <a:custGeom>
              <a:avLst/>
              <a:gdLst/>
              <a:ahLst/>
              <a:cxnLst/>
              <a:rect l="0" t="0" r="0" b="0"/>
              <a:pathLst>
                <a:path w="923" h="648">
                  <a:moveTo>
                    <a:pt x="0" y="324"/>
                  </a:moveTo>
                  <a:cubicBezTo>
                    <a:pt x="0" y="144"/>
                    <a:pt x="206" y="0"/>
                    <a:pt x="463" y="0"/>
                  </a:cubicBezTo>
                  <a:cubicBezTo>
                    <a:pt x="717" y="0"/>
                    <a:pt x="923" y="144"/>
                    <a:pt x="923" y="324"/>
                  </a:cubicBezTo>
                  <a:cubicBezTo>
                    <a:pt x="923" y="504"/>
                    <a:pt x="717" y="648"/>
                    <a:pt x="463" y="648"/>
                  </a:cubicBezTo>
                  <a:cubicBezTo>
                    <a:pt x="206" y="648"/>
                    <a:pt x="0" y="504"/>
                    <a:pt x="0" y="324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70" name="textbox 470"/>
          <p:cNvSpPr/>
          <p:nvPr/>
        </p:nvSpPr>
        <p:spPr>
          <a:xfrm>
            <a:off x="527853" y="1111986"/>
            <a:ext cx="4520565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一般现货市场交易结算的地点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要素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04" name="group 104"/>
          <p:cNvGrpSpPr/>
          <p:nvPr/>
        </p:nvGrpSpPr>
        <p:grpSpPr>
          <a:xfrm rot="21600000">
            <a:off x="1062228" y="2677667"/>
            <a:ext cx="784860" cy="487679"/>
            <a:chOff x="0" y="0"/>
            <a:chExt cx="784860" cy="487679"/>
          </a:xfrm>
        </p:grpSpPr>
        <p:sp>
          <p:nvSpPr>
            <p:cNvPr id="472" name="path 472"/>
            <p:cNvSpPr/>
            <p:nvPr/>
          </p:nvSpPr>
          <p:spPr>
            <a:xfrm>
              <a:off x="0" y="0"/>
              <a:ext cx="784860" cy="487679"/>
            </a:xfrm>
            <a:custGeom>
              <a:avLst/>
              <a:gdLst/>
              <a:ahLst/>
              <a:cxnLst/>
              <a:rect l="0" t="0" r="0" b="0"/>
              <a:pathLst>
                <a:path w="1236" h="767">
                  <a:moveTo>
                    <a:pt x="1125" y="0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50" y="0"/>
                    <a:pt x="0" y="33"/>
                    <a:pt x="0" y="76"/>
                  </a:cubicBezTo>
                  <a:cubicBezTo>
                    <a:pt x="0" y="532"/>
                    <a:pt x="0" y="532"/>
                    <a:pt x="0" y="532"/>
                  </a:cubicBezTo>
                  <a:cubicBezTo>
                    <a:pt x="0" y="573"/>
                    <a:pt x="50" y="604"/>
                    <a:pt x="110" y="604"/>
                  </a:cubicBezTo>
                  <a:cubicBezTo>
                    <a:pt x="165" y="604"/>
                    <a:pt x="165" y="604"/>
                    <a:pt x="165" y="604"/>
                  </a:cubicBezTo>
                  <a:cubicBezTo>
                    <a:pt x="31" y="767"/>
                    <a:pt x="31" y="767"/>
                    <a:pt x="31" y="767"/>
                  </a:cubicBezTo>
                  <a:cubicBezTo>
                    <a:pt x="434" y="604"/>
                    <a:pt x="434" y="604"/>
                    <a:pt x="434" y="604"/>
                  </a:cubicBezTo>
                  <a:cubicBezTo>
                    <a:pt x="1125" y="604"/>
                    <a:pt x="1125" y="604"/>
                    <a:pt x="1125" y="604"/>
                  </a:cubicBezTo>
                  <a:cubicBezTo>
                    <a:pt x="1185" y="604"/>
                    <a:pt x="1236" y="573"/>
                    <a:pt x="1236" y="532"/>
                  </a:cubicBezTo>
                  <a:cubicBezTo>
                    <a:pt x="1236" y="76"/>
                    <a:pt x="1236" y="76"/>
                    <a:pt x="1236" y="76"/>
                  </a:cubicBezTo>
                  <a:cubicBezTo>
                    <a:pt x="1236" y="33"/>
                    <a:pt x="1185" y="0"/>
                    <a:pt x="1125" y="0"/>
                  </a:cubicBezTo>
                  <a:moveTo>
                    <a:pt x="1135" y="475"/>
                  </a:moveTo>
                  <a:cubicBezTo>
                    <a:pt x="1135" y="511"/>
                    <a:pt x="1096" y="535"/>
                    <a:pt x="1046" y="535"/>
                  </a:cubicBezTo>
                  <a:cubicBezTo>
                    <a:pt x="619" y="535"/>
                    <a:pt x="619" y="535"/>
                    <a:pt x="619" y="535"/>
                  </a:cubicBezTo>
                  <a:cubicBezTo>
                    <a:pt x="184" y="535"/>
                    <a:pt x="184" y="535"/>
                    <a:pt x="184" y="535"/>
                  </a:cubicBezTo>
                  <a:cubicBezTo>
                    <a:pt x="134" y="535"/>
                    <a:pt x="96" y="511"/>
                    <a:pt x="96" y="475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6" y="95"/>
                    <a:pt x="134" y="69"/>
                    <a:pt x="184" y="69"/>
                  </a:cubicBezTo>
                  <a:cubicBezTo>
                    <a:pt x="619" y="69"/>
                    <a:pt x="619" y="69"/>
                    <a:pt x="619" y="69"/>
                  </a:cubicBezTo>
                  <a:cubicBezTo>
                    <a:pt x="1046" y="69"/>
                    <a:pt x="1046" y="69"/>
                    <a:pt x="1046" y="69"/>
                  </a:cubicBezTo>
                  <a:cubicBezTo>
                    <a:pt x="1096" y="69"/>
                    <a:pt x="1135" y="95"/>
                    <a:pt x="1135" y="127"/>
                  </a:cubicBezTo>
                  <a:lnTo>
                    <a:pt x="1135" y="475"/>
                  </a:lnTo>
                  <a:close/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74" name="textbox 474"/>
            <p:cNvSpPr/>
            <p:nvPr/>
          </p:nvSpPr>
          <p:spPr>
            <a:xfrm>
              <a:off x="-12700" y="-12700"/>
              <a:ext cx="810894" cy="5130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95909" algn="l" rtl="0" eaLnBrk="0">
                <a:lnSpc>
                  <a:spcPct val="76000"/>
                </a:lnSpc>
                <a:spcBef>
                  <a:spcPts val="3"/>
                </a:spcBef>
                <a:tabLst/>
              </a:pPr>
              <a:r>
                <a:rPr sz="2100" kern="0" spc="540" dirty="0">
                  <a:solidFill>
                    <a:srgbClr val="58595B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$</a:t>
              </a:r>
              <a:endParaRPr sz="21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76" name="path 476"/>
          <p:cNvSpPr/>
          <p:nvPr/>
        </p:nvSpPr>
        <p:spPr>
          <a:xfrm>
            <a:off x="697992" y="2924555"/>
            <a:ext cx="390143" cy="623315"/>
          </a:xfrm>
          <a:custGeom>
            <a:avLst/>
            <a:gdLst/>
            <a:ahLst/>
            <a:cxnLst/>
            <a:rect l="0" t="0" r="0" b="0"/>
            <a:pathLst>
              <a:path w="614" h="981">
                <a:moveTo>
                  <a:pt x="309" y="412"/>
                </a:moveTo>
                <a:cubicBezTo>
                  <a:pt x="549" y="659"/>
                  <a:pt x="549" y="659"/>
                  <a:pt x="549" y="659"/>
                </a:cubicBezTo>
                <a:cubicBezTo>
                  <a:pt x="549" y="775"/>
                  <a:pt x="549" y="775"/>
                  <a:pt x="549" y="775"/>
                </a:cubicBezTo>
                <a:cubicBezTo>
                  <a:pt x="364" y="698"/>
                  <a:pt x="364" y="698"/>
                  <a:pt x="364" y="698"/>
                </a:cubicBezTo>
                <a:cubicBezTo>
                  <a:pt x="309" y="412"/>
                  <a:pt x="309" y="412"/>
                  <a:pt x="309" y="412"/>
                </a:cubicBezTo>
                <a:cubicBezTo>
                  <a:pt x="309" y="412"/>
                  <a:pt x="0" y="403"/>
                  <a:pt x="0" y="551"/>
                </a:cubicBezTo>
                <a:cubicBezTo>
                  <a:pt x="0" y="698"/>
                  <a:pt x="0" y="897"/>
                  <a:pt x="0" y="897"/>
                </a:cubicBezTo>
                <a:cubicBezTo>
                  <a:pt x="0" y="897"/>
                  <a:pt x="35" y="981"/>
                  <a:pt x="309" y="981"/>
                </a:cubicBezTo>
                <a:cubicBezTo>
                  <a:pt x="578" y="981"/>
                  <a:pt x="614" y="923"/>
                  <a:pt x="614" y="859"/>
                </a:cubicBezTo>
                <a:cubicBezTo>
                  <a:pt x="614" y="789"/>
                  <a:pt x="614" y="698"/>
                  <a:pt x="614" y="698"/>
                </a:cubicBezTo>
                <a:cubicBezTo>
                  <a:pt x="614" y="698"/>
                  <a:pt x="544" y="412"/>
                  <a:pt x="309" y="412"/>
                </a:cubicBezTo>
              </a:path>
              <a:path w="614" h="981">
                <a:moveTo>
                  <a:pt x="35" y="196"/>
                </a:moveTo>
                <a:cubicBezTo>
                  <a:pt x="35" y="88"/>
                  <a:pt x="144" y="0"/>
                  <a:pt x="275" y="0"/>
                </a:cubicBezTo>
                <a:cubicBezTo>
                  <a:pt x="407" y="0"/>
                  <a:pt x="515" y="88"/>
                  <a:pt x="515" y="196"/>
                </a:cubicBezTo>
                <a:cubicBezTo>
                  <a:pt x="515" y="304"/>
                  <a:pt x="407" y="393"/>
                  <a:pt x="275" y="393"/>
                </a:cubicBezTo>
                <a:cubicBezTo>
                  <a:pt x="144" y="393"/>
                  <a:pt x="35" y="304"/>
                  <a:pt x="35" y="196"/>
                </a:cubicBezTo>
              </a:path>
            </a:pathLst>
          </a:custGeom>
          <a:solidFill>
            <a:srgbClr val="5859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06" name="group 106"/>
          <p:cNvGrpSpPr/>
          <p:nvPr/>
        </p:nvGrpSpPr>
        <p:grpSpPr>
          <a:xfrm rot="21600000">
            <a:off x="3174491" y="4730495"/>
            <a:ext cx="588264" cy="413004"/>
            <a:chOff x="0" y="0"/>
            <a:chExt cx="588264" cy="413004"/>
          </a:xfrm>
        </p:grpSpPr>
        <p:sp>
          <p:nvSpPr>
            <p:cNvPr id="478" name="path 478"/>
            <p:cNvSpPr/>
            <p:nvPr/>
          </p:nvSpPr>
          <p:spPr>
            <a:xfrm>
              <a:off x="0" y="0"/>
              <a:ext cx="588264" cy="413004"/>
            </a:xfrm>
            <a:custGeom>
              <a:avLst/>
              <a:gdLst/>
              <a:ahLst/>
              <a:cxnLst/>
              <a:rect l="0" t="0" r="0" b="0"/>
              <a:pathLst>
                <a:path w="926" h="650">
                  <a:moveTo>
                    <a:pt x="0" y="323"/>
                  </a:moveTo>
                  <a:cubicBezTo>
                    <a:pt x="0" y="146"/>
                    <a:pt x="208" y="0"/>
                    <a:pt x="463" y="0"/>
                  </a:cubicBezTo>
                  <a:cubicBezTo>
                    <a:pt x="717" y="0"/>
                    <a:pt x="926" y="146"/>
                    <a:pt x="926" y="323"/>
                  </a:cubicBezTo>
                  <a:cubicBezTo>
                    <a:pt x="926" y="503"/>
                    <a:pt x="717" y="650"/>
                    <a:pt x="463" y="650"/>
                  </a:cubicBezTo>
                  <a:cubicBezTo>
                    <a:pt x="208" y="650"/>
                    <a:pt x="0" y="503"/>
                    <a:pt x="0" y="323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0" name="textbox 480"/>
            <p:cNvSpPr/>
            <p:nvPr/>
          </p:nvSpPr>
          <p:spPr>
            <a:xfrm>
              <a:off x="-12700" y="-12700"/>
              <a:ext cx="614044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3670" algn="l" rtl="0" eaLnBrk="0">
                <a:lnSpc>
                  <a:spcPct val="85000"/>
                </a:lnSpc>
                <a:spcBef>
                  <a:spcPts val="5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108" name="group 108"/>
          <p:cNvGrpSpPr/>
          <p:nvPr/>
        </p:nvGrpSpPr>
        <p:grpSpPr>
          <a:xfrm rot="21600000">
            <a:off x="5522975" y="4023359"/>
            <a:ext cx="586740" cy="413004"/>
            <a:chOff x="0" y="0"/>
            <a:chExt cx="586740" cy="413004"/>
          </a:xfrm>
        </p:grpSpPr>
        <p:sp>
          <p:nvSpPr>
            <p:cNvPr id="482" name="path 482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4"/>
                  </a:moveTo>
                  <a:cubicBezTo>
                    <a:pt x="0" y="146"/>
                    <a:pt x="206" y="0"/>
                    <a:pt x="463" y="0"/>
                  </a:cubicBezTo>
                  <a:cubicBezTo>
                    <a:pt x="717" y="0"/>
                    <a:pt x="924" y="146"/>
                    <a:pt x="924" y="324"/>
                  </a:cubicBezTo>
                  <a:cubicBezTo>
                    <a:pt x="924" y="504"/>
                    <a:pt x="717" y="650"/>
                    <a:pt x="463" y="650"/>
                  </a:cubicBezTo>
                  <a:cubicBezTo>
                    <a:pt x="206" y="650"/>
                    <a:pt x="0" y="504"/>
                    <a:pt x="0" y="324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4" name="textbox 484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3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 rot="21600000">
            <a:off x="2839211" y="4200143"/>
            <a:ext cx="586740" cy="413004"/>
            <a:chOff x="0" y="0"/>
            <a:chExt cx="586740" cy="413004"/>
          </a:xfrm>
        </p:grpSpPr>
        <p:sp>
          <p:nvSpPr>
            <p:cNvPr id="486" name="path 486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4"/>
                  </a:moveTo>
                  <a:cubicBezTo>
                    <a:pt x="0" y="146"/>
                    <a:pt x="208" y="0"/>
                    <a:pt x="463" y="0"/>
                  </a:cubicBezTo>
                  <a:cubicBezTo>
                    <a:pt x="717" y="0"/>
                    <a:pt x="924" y="146"/>
                    <a:pt x="924" y="324"/>
                  </a:cubicBezTo>
                  <a:cubicBezTo>
                    <a:pt x="924" y="504"/>
                    <a:pt x="717" y="650"/>
                    <a:pt x="463" y="650"/>
                  </a:cubicBezTo>
                  <a:cubicBezTo>
                    <a:pt x="208" y="650"/>
                    <a:pt x="0" y="504"/>
                    <a:pt x="0" y="324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8" name="textbox 488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3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112" name="group 112"/>
          <p:cNvGrpSpPr/>
          <p:nvPr/>
        </p:nvGrpSpPr>
        <p:grpSpPr>
          <a:xfrm rot="21600000">
            <a:off x="3678935" y="3198876"/>
            <a:ext cx="586740" cy="413004"/>
            <a:chOff x="0" y="0"/>
            <a:chExt cx="586740" cy="413004"/>
          </a:xfrm>
        </p:grpSpPr>
        <p:sp>
          <p:nvSpPr>
            <p:cNvPr id="490" name="path 490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4"/>
                  </a:moveTo>
                  <a:cubicBezTo>
                    <a:pt x="0" y="144"/>
                    <a:pt x="206" y="0"/>
                    <a:pt x="460" y="0"/>
                  </a:cubicBezTo>
                  <a:cubicBezTo>
                    <a:pt x="715" y="0"/>
                    <a:pt x="924" y="144"/>
                    <a:pt x="924" y="324"/>
                  </a:cubicBezTo>
                  <a:cubicBezTo>
                    <a:pt x="924" y="504"/>
                    <a:pt x="715" y="650"/>
                    <a:pt x="460" y="650"/>
                  </a:cubicBezTo>
                  <a:cubicBezTo>
                    <a:pt x="206" y="650"/>
                    <a:pt x="0" y="504"/>
                    <a:pt x="0" y="324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2" name="textbox 492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5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114" name="group 114"/>
          <p:cNvGrpSpPr/>
          <p:nvPr/>
        </p:nvGrpSpPr>
        <p:grpSpPr>
          <a:xfrm rot="21600000">
            <a:off x="5355335" y="3493007"/>
            <a:ext cx="586740" cy="413004"/>
            <a:chOff x="0" y="0"/>
            <a:chExt cx="586740" cy="413004"/>
          </a:xfrm>
        </p:grpSpPr>
        <p:sp>
          <p:nvSpPr>
            <p:cNvPr id="494" name="path 494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6"/>
                  </a:moveTo>
                  <a:cubicBezTo>
                    <a:pt x="0" y="146"/>
                    <a:pt x="206" y="0"/>
                    <a:pt x="463" y="0"/>
                  </a:cubicBezTo>
                  <a:cubicBezTo>
                    <a:pt x="717" y="0"/>
                    <a:pt x="924" y="146"/>
                    <a:pt x="924" y="326"/>
                  </a:cubicBezTo>
                  <a:cubicBezTo>
                    <a:pt x="924" y="504"/>
                    <a:pt x="717" y="650"/>
                    <a:pt x="463" y="650"/>
                  </a:cubicBezTo>
                  <a:cubicBezTo>
                    <a:pt x="206" y="650"/>
                    <a:pt x="0" y="504"/>
                    <a:pt x="0" y="326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6" name="textbox 496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5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116" name="group 116"/>
          <p:cNvGrpSpPr/>
          <p:nvPr/>
        </p:nvGrpSpPr>
        <p:grpSpPr>
          <a:xfrm rot="21600000">
            <a:off x="3678935" y="4317491"/>
            <a:ext cx="586740" cy="413004"/>
            <a:chOff x="0" y="0"/>
            <a:chExt cx="586740" cy="413004"/>
          </a:xfrm>
        </p:grpSpPr>
        <p:sp>
          <p:nvSpPr>
            <p:cNvPr id="498" name="path 498"/>
            <p:cNvSpPr/>
            <p:nvPr/>
          </p:nvSpPr>
          <p:spPr>
            <a:xfrm>
              <a:off x="0" y="0"/>
              <a:ext cx="586740" cy="413004"/>
            </a:xfrm>
            <a:custGeom>
              <a:avLst/>
              <a:gdLst/>
              <a:ahLst/>
              <a:cxnLst/>
              <a:rect l="0" t="0" r="0" b="0"/>
              <a:pathLst>
                <a:path w="924" h="650">
                  <a:moveTo>
                    <a:pt x="0" y="326"/>
                  </a:moveTo>
                  <a:cubicBezTo>
                    <a:pt x="0" y="146"/>
                    <a:pt x="206" y="0"/>
                    <a:pt x="460" y="0"/>
                  </a:cubicBezTo>
                  <a:cubicBezTo>
                    <a:pt x="715" y="0"/>
                    <a:pt x="924" y="146"/>
                    <a:pt x="924" y="326"/>
                  </a:cubicBezTo>
                  <a:cubicBezTo>
                    <a:pt x="924" y="506"/>
                    <a:pt x="715" y="650"/>
                    <a:pt x="460" y="650"/>
                  </a:cubicBezTo>
                  <a:cubicBezTo>
                    <a:pt x="206" y="650"/>
                    <a:pt x="0" y="506"/>
                    <a:pt x="0" y="326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00" name="textbox 500"/>
            <p:cNvSpPr/>
            <p:nvPr/>
          </p:nvSpPr>
          <p:spPr>
            <a:xfrm>
              <a:off x="-12700" y="-12700"/>
              <a:ext cx="612775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6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118" name="group 118"/>
          <p:cNvGrpSpPr/>
          <p:nvPr/>
        </p:nvGrpSpPr>
        <p:grpSpPr>
          <a:xfrm rot="21600000">
            <a:off x="1833372" y="4140707"/>
            <a:ext cx="586739" cy="413004"/>
            <a:chOff x="0" y="0"/>
            <a:chExt cx="586739" cy="413004"/>
          </a:xfrm>
        </p:grpSpPr>
        <p:sp>
          <p:nvSpPr>
            <p:cNvPr id="502" name="path 502"/>
            <p:cNvSpPr/>
            <p:nvPr/>
          </p:nvSpPr>
          <p:spPr>
            <a:xfrm>
              <a:off x="0" y="0"/>
              <a:ext cx="586739" cy="413004"/>
            </a:xfrm>
            <a:custGeom>
              <a:avLst/>
              <a:gdLst/>
              <a:ahLst/>
              <a:cxnLst/>
              <a:rect l="0" t="0" r="0" b="0"/>
              <a:pathLst>
                <a:path w="923" h="650">
                  <a:moveTo>
                    <a:pt x="0" y="326"/>
                  </a:moveTo>
                  <a:cubicBezTo>
                    <a:pt x="0" y="146"/>
                    <a:pt x="206" y="0"/>
                    <a:pt x="463" y="0"/>
                  </a:cubicBezTo>
                  <a:cubicBezTo>
                    <a:pt x="717" y="0"/>
                    <a:pt x="923" y="146"/>
                    <a:pt x="923" y="326"/>
                  </a:cubicBezTo>
                  <a:cubicBezTo>
                    <a:pt x="923" y="506"/>
                    <a:pt x="717" y="650"/>
                    <a:pt x="463" y="650"/>
                  </a:cubicBezTo>
                  <a:cubicBezTo>
                    <a:pt x="206" y="650"/>
                    <a:pt x="0" y="506"/>
                    <a:pt x="0" y="326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04" name="textbox 504"/>
            <p:cNvSpPr/>
            <p:nvPr/>
          </p:nvSpPr>
          <p:spPr>
            <a:xfrm>
              <a:off x="-12700" y="-12700"/>
              <a:ext cx="612140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2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120" name="group 120"/>
          <p:cNvGrpSpPr/>
          <p:nvPr/>
        </p:nvGrpSpPr>
        <p:grpSpPr>
          <a:xfrm rot="21600000">
            <a:off x="2168652" y="4671059"/>
            <a:ext cx="586739" cy="413004"/>
            <a:chOff x="0" y="0"/>
            <a:chExt cx="586739" cy="413004"/>
          </a:xfrm>
        </p:grpSpPr>
        <p:sp>
          <p:nvSpPr>
            <p:cNvPr id="506" name="path 506"/>
            <p:cNvSpPr/>
            <p:nvPr/>
          </p:nvSpPr>
          <p:spPr>
            <a:xfrm>
              <a:off x="0" y="0"/>
              <a:ext cx="586739" cy="413004"/>
            </a:xfrm>
            <a:custGeom>
              <a:avLst/>
              <a:gdLst/>
              <a:ahLst/>
              <a:cxnLst/>
              <a:rect l="0" t="0" r="0" b="0"/>
              <a:pathLst>
                <a:path w="923" h="650">
                  <a:moveTo>
                    <a:pt x="0" y="326"/>
                  </a:moveTo>
                  <a:cubicBezTo>
                    <a:pt x="0" y="146"/>
                    <a:pt x="206" y="0"/>
                    <a:pt x="463" y="0"/>
                  </a:cubicBezTo>
                  <a:cubicBezTo>
                    <a:pt x="717" y="0"/>
                    <a:pt x="923" y="146"/>
                    <a:pt x="923" y="326"/>
                  </a:cubicBezTo>
                  <a:cubicBezTo>
                    <a:pt x="923" y="504"/>
                    <a:pt x="717" y="650"/>
                    <a:pt x="463" y="650"/>
                  </a:cubicBezTo>
                  <a:cubicBezTo>
                    <a:pt x="206" y="650"/>
                    <a:pt x="0" y="504"/>
                    <a:pt x="0" y="326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08" name="textbox 508"/>
            <p:cNvSpPr/>
            <p:nvPr/>
          </p:nvSpPr>
          <p:spPr>
            <a:xfrm>
              <a:off x="-12700" y="-12700"/>
              <a:ext cx="612140" cy="440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5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 rot="21600000">
            <a:off x="4936235" y="2904743"/>
            <a:ext cx="586740" cy="411480"/>
            <a:chOff x="0" y="0"/>
            <a:chExt cx="586740" cy="411480"/>
          </a:xfrm>
        </p:grpSpPr>
        <p:sp>
          <p:nvSpPr>
            <p:cNvPr id="510" name="path 510"/>
            <p:cNvSpPr/>
            <p:nvPr/>
          </p:nvSpPr>
          <p:spPr>
            <a:xfrm>
              <a:off x="0" y="0"/>
              <a:ext cx="586740" cy="411480"/>
            </a:xfrm>
            <a:custGeom>
              <a:avLst/>
              <a:gdLst/>
              <a:ahLst/>
              <a:cxnLst/>
              <a:rect l="0" t="0" r="0" b="0"/>
              <a:pathLst>
                <a:path w="924" h="648">
                  <a:moveTo>
                    <a:pt x="0" y="324"/>
                  </a:moveTo>
                  <a:cubicBezTo>
                    <a:pt x="0" y="144"/>
                    <a:pt x="206" y="0"/>
                    <a:pt x="460" y="0"/>
                  </a:cubicBezTo>
                  <a:cubicBezTo>
                    <a:pt x="717" y="0"/>
                    <a:pt x="924" y="144"/>
                    <a:pt x="924" y="324"/>
                  </a:cubicBezTo>
                  <a:cubicBezTo>
                    <a:pt x="924" y="504"/>
                    <a:pt x="717" y="648"/>
                    <a:pt x="460" y="648"/>
                  </a:cubicBezTo>
                  <a:cubicBezTo>
                    <a:pt x="206" y="648"/>
                    <a:pt x="0" y="504"/>
                    <a:pt x="0" y="324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12" name="textbox 512"/>
            <p:cNvSpPr/>
            <p:nvPr/>
          </p:nvSpPr>
          <p:spPr>
            <a:xfrm>
              <a:off x="-12700" y="-12700"/>
              <a:ext cx="612775" cy="438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ct val="85000"/>
                </a:lnSpc>
                <a:spcBef>
                  <a:spcPts val="2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sp>
        <p:nvSpPr>
          <p:cNvPr id="514" name="path 514"/>
          <p:cNvSpPr/>
          <p:nvPr/>
        </p:nvSpPr>
        <p:spPr>
          <a:xfrm>
            <a:off x="4288535" y="3480054"/>
            <a:ext cx="83820" cy="7619"/>
          </a:xfrm>
          <a:custGeom>
            <a:avLst/>
            <a:gdLst/>
            <a:ahLst/>
            <a:cxnLst/>
            <a:rect l="0" t="0" r="0" b="0"/>
            <a:pathLst>
              <a:path w="132" h="11">
                <a:moveTo>
                  <a:pt x="0" y="5"/>
                </a:moveTo>
                <a:lnTo>
                  <a:pt x="132" y="5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24" name="group 124"/>
          <p:cNvGrpSpPr/>
          <p:nvPr/>
        </p:nvGrpSpPr>
        <p:grpSpPr>
          <a:xfrm rot="21600000">
            <a:off x="4349496" y="3375659"/>
            <a:ext cx="586740" cy="411480"/>
            <a:chOff x="0" y="0"/>
            <a:chExt cx="586740" cy="411480"/>
          </a:xfrm>
        </p:grpSpPr>
        <p:sp>
          <p:nvSpPr>
            <p:cNvPr id="516" name="path 516"/>
            <p:cNvSpPr/>
            <p:nvPr/>
          </p:nvSpPr>
          <p:spPr>
            <a:xfrm>
              <a:off x="0" y="0"/>
              <a:ext cx="586740" cy="411480"/>
            </a:xfrm>
            <a:custGeom>
              <a:avLst/>
              <a:gdLst/>
              <a:ahLst/>
              <a:cxnLst/>
              <a:rect l="0" t="0" r="0" b="0"/>
              <a:pathLst>
                <a:path w="924" h="648">
                  <a:moveTo>
                    <a:pt x="0" y="324"/>
                  </a:moveTo>
                  <a:cubicBezTo>
                    <a:pt x="0" y="144"/>
                    <a:pt x="206" y="0"/>
                    <a:pt x="460" y="0"/>
                  </a:cubicBezTo>
                  <a:cubicBezTo>
                    <a:pt x="717" y="0"/>
                    <a:pt x="924" y="144"/>
                    <a:pt x="924" y="324"/>
                  </a:cubicBezTo>
                  <a:cubicBezTo>
                    <a:pt x="924" y="504"/>
                    <a:pt x="717" y="648"/>
                    <a:pt x="460" y="648"/>
                  </a:cubicBezTo>
                  <a:cubicBezTo>
                    <a:pt x="206" y="648"/>
                    <a:pt x="0" y="504"/>
                    <a:pt x="0" y="324"/>
                  </a:cubicBezTo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18" name="textbox 518"/>
            <p:cNvSpPr/>
            <p:nvPr/>
          </p:nvSpPr>
          <p:spPr>
            <a:xfrm>
              <a:off x="-12700" y="-12700"/>
              <a:ext cx="612775" cy="438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3670" algn="l" rtl="0" eaLnBrk="0">
                <a:lnSpc>
                  <a:spcPct val="85000"/>
                </a:lnSpc>
                <a:spcBef>
                  <a:spcPts val="4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sp>
        <p:nvSpPr>
          <p:cNvPr id="520" name="textbox 520"/>
          <p:cNvSpPr/>
          <p:nvPr/>
        </p:nvSpPr>
        <p:spPr>
          <a:xfrm>
            <a:off x="9465475" y="3655900"/>
            <a:ext cx="828675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38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辅助服务按安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全域交易结算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2" name="path 522"/>
          <p:cNvSpPr/>
          <p:nvPr/>
        </p:nvSpPr>
        <p:spPr>
          <a:xfrm>
            <a:off x="2002536" y="3342132"/>
            <a:ext cx="807719" cy="281940"/>
          </a:xfrm>
          <a:custGeom>
            <a:avLst/>
            <a:gdLst/>
            <a:ahLst/>
            <a:cxnLst/>
            <a:rect l="0" t="0" r="0" b="0"/>
            <a:pathLst>
              <a:path w="1271" h="444">
                <a:moveTo>
                  <a:pt x="19" y="19"/>
                </a:moveTo>
                <a:cubicBezTo>
                  <a:pt x="636" y="19"/>
                  <a:pt x="1252" y="220"/>
                  <a:pt x="1252" y="424"/>
                </a:cubicBezTo>
              </a:path>
            </a:pathLst>
          </a:custGeom>
          <a:noFill/>
          <a:ln w="24383" cap="flat">
            <a:solidFill>
              <a:srgbClr val="548235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4" name="textbox 524"/>
          <p:cNvSpPr/>
          <p:nvPr/>
        </p:nvSpPr>
        <p:spPr>
          <a:xfrm>
            <a:off x="1251739" y="3192595"/>
            <a:ext cx="693419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47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5080" algn="l" rtl="0" eaLnBrk="0">
              <a:lnSpc>
                <a:spcPct val="99000"/>
              </a:lnSpc>
              <a:tabLst/>
            </a:pPr>
            <a:r>
              <a:rPr sz="1000" b="1" kern="0" spc="4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电能量按节</a:t>
            </a:r>
            <a:r>
              <a:rPr sz="1000" b="1" kern="0" spc="4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点交易结算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6" name="textbox 526"/>
          <p:cNvSpPr/>
          <p:nvPr/>
        </p:nvSpPr>
        <p:spPr>
          <a:xfrm>
            <a:off x="4920234" y="2152534"/>
            <a:ext cx="916305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整个区域网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528" name="table 528"/>
          <p:cNvGraphicFramePr>
            <a:graphicFrameLocks noGrp="1"/>
          </p:cNvGraphicFramePr>
          <p:nvPr/>
        </p:nvGraphicFramePr>
        <p:xfrm>
          <a:off x="9669780" y="3130295"/>
          <a:ext cx="452119" cy="284479"/>
        </p:xfrm>
        <a:graphic>
          <a:graphicData uri="http://schemas.openxmlformats.org/drawingml/2006/table">
            <a:tbl>
              <a:tblPr/>
              <a:tblGrid>
                <a:gridCol w="452119"/>
              </a:tblGrid>
              <a:tr h="265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0" name="path 530"/>
          <p:cNvSpPr/>
          <p:nvPr/>
        </p:nvSpPr>
        <p:spPr>
          <a:xfrm>
            <a:off x="8305038" y="3288029"/>
            <a:ext cx="1179576" cy="91439"/>
          </a:xfrm>
          <a:custGeom>
            <a:avLst/>
            <a:gdLst/>
            <a:ahLst/>
            <a:cxnLst/>
            <a:rect l="0" t="0" r="0" b="0"/>
            <a:pathLst>
              <a:path w="1857" h="143">
                <a:moveTo>
                  <a:pt x="1844" y="13"/>
                </a:moveTo>
                <a:cubicBezTo>
                  <a:pt x="1385" y="13"/>
                  <a:pt x="927" y="42"/>
                  <a:pt x="927" y="73"/>
                </a:cubicBezTo>
                <a:cubicBezTo>
                  <a:pt x="927" y="102"/>
                  <a:pt x="471" y="130"/>
                  <a:pt x="13" y="130"/>
                </a:cubicBezTo>
              </a:path>
            </a:pathLst>
          </a:custGeom>
          <a:noFill/>
          <a:ln w="16763" cap="flat">
            <a:solidFill>
              <a:srgbClr val="548235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2" name="path 532"/>
          <p:cNvSpPr/>
          <p:nvPr/>
        </p:nvSpPr>
        <p:spPr>
          <a:xfrm>
            <a:off x="9282683" y="3243071"/>
            <a:ext cx="370331" cy="231647"/>
          </a:xfrm>
          <a:custGeom>
            <a:avLst/>
            <a:gdLst/>
            <a:ahLst/>
            <a:cxnLst/>
            <a:rect l="0" t="0" r="0" b="0"/>
            <a:pathLst>
              <a:path w="583" h="364">
                <a:moveTo>
                  <a:pt x="511" y="45"/>
                </a:moveTo>
                <a:cubicBezTo>
                  <a:pt x="468" y="21"/>
                  <a:pt x="417" y="9"/>
                  <a:pt x="376" y="0"/>
                </a:cubicBezTo>
                <a:cubicBezTo>
                  <a:pt x="292" y="24"/>
                  <a:pt x="292" y="24"/>
                  <a:pt x="292" y="24"/>
                </a:cubicBezTo>
                <a:cubicBezTo>
                  <a:pt x="362" y="199"/>
                  <a:pt x="362" y="199"/>
                  <a:pt x="362" y="199"/>
                </a:cubicBezTo>
                <a:cubicBezTo>
                  <a:pt x="292" y="268"/>
                  <a:pt x="292" y="268"/>
                  <a:pt x="292" y="268"/>
                </a:cubicBezTo>
                <a:cubicBezTo>
                  <a:pt x="220" y="199"/>
                  <a:pt x="220" y="199"/>
                  <a:pt x="220" y="199"/>
                </a:cubicBezTo>
                <a:cubicBezTo>
                  <a:pt x="292" y="24"/>
                  <a:pt x="292" y="24"/>
                  <a:pt x="292" y="24"/>
                </a:cubicBezTo>
                <a:cubicBezTo>
                  <a:pt x="206" y="0"/>
                  <a:pt x="206" y="0"/>
                  <a:pt x="206" y="0"/>
                </a:cubicBezTo>
                <a:cubicBezTo>
                  <a:pt x="127" y="16"/>
                  <a:pt x="0" y="52"/>
                  <a:pt x="0" y="144"/>
                </a:cubicBezTo>
                <a:cubicBezTo>
                  <a:pt x="0" y="273"/>
                  <a:pt x="0" y="297"/>
                  <a:pt x="0" y="297"/>
                </a:cubicBezTo>
                <a:cubicBezTo>
                  <a:pt x="0" y="297"/>
                  <a:pt x="9" y="364"/>
                  <a:pt x="266" y="364"/>
                </a:cubicBezTo>
                <a:cubicBezTo>
                  <a:pt x="316" y="364"/>
                  <a:pt x="316" y="364"/>
                  <a:pt x="316" y="364"/>
                </a:cubicBezTo>
                <a:cubicBezTo>
                  <a:pt x="575" y="364"/>
                  <a:pt x="583" y="297"/>
                  <a:pt x="583" y="297"/>
                </a:cubicBezTo>
                <a:cubicBezTo>
                  <a:pt x="583" y="297"/>
                  <a:pt x="583" y="273"/>
                  <a:pt x="583" y="144"/>
                </a:cubicBezTo>
                <a:cubicBezTo>
                  <a:pt x="583" y="98"/>
                  <a:pt x="551" y="67"/>
                  <a:pt x="511" y="45"/>
                </a:cubicBezTo>
              </a:path>
            </a:pathLst>
          </a:custGeom>
          <a:solidFill>
            <a:srgbClr val="5859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4" name="textbox 534"/>
          <p:cNvSpPr/>
          <p:nvPr/>
        </p:nvSpPr>
        <p:spPr>
          <a:xfrm>
            <a:off x="2632945" y="3736939"/>
            <a:ext cx="332104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2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节点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pic>
        <p:nvPicPr>
          <p:cNvPr id="536" name="picture 5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538" name="path 538"/>
          <p:cNvSpPr/>
          <p:nvPr/>
        </p:nvSpPr>
        <p:spPr>
          <a:xfrm>
            <a:off x="9375647" y="3083051"/>
            <a:ext cx="184404" cy="149352"/>
          </a:xfrm>
          <a:custGeom>
            <a:avLst/>
            <a:gdLst/>
            <a:ahLst/>
            <a:cxnLst/>
            <a:rect l="0" t="0" r="0" b="0"/>
            <a:pathLst>
              <a:path w="290" h="235">
                <a:moveTo>
                  <a:pt x="0" y="117"/>
                </a:moveTo>
                <a:cubicBezTo>
                  <a:pt x="0" y="52"/>
                  <a:pt x="64" y="0"/>
                  <a:pt x="146" y="0"/>
                </a:cubicBezTo>
                <a:cubicBezTo>
                  <a:pt x="225" y="0"/>
                  <a:pt x="290" y="52"/>
                  <a:pt x="290" y="117"/>
                </a:cubicBezTo>
                <a:cubicBezTo>
                  <a:pt x="290" y="182"/>
                  <a:pt x="225" y="235"/>
                  <a:pt x="146" y="235"/>
                </a:cubicBezTo>
                <a:cubicBezTo>
                  <a:pt x="64" y="235"/>
                  <a:pt x="0" y="182"/>
                  <a:pt x="0" y="117"/>
                </a:cubicBezTo>
              </a:path>
            </a:pathLst>
          </a:custGeom>
          <a:solidFill>
            <a:srgbClr val="5859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0" name="textbox 540"/>
          <p:cNvSpPr/>
          <p:nvPr/>
        </p:nvSpPr>
        <p:spPr>
          <a:xfrm>
            <a:off x="9856723" y="3215131"/>
            <a:ext cx="175260" cy="137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100" kern="0" spc="10" dirty="0">
                <a:solidFill>
                  <a:srgbClr val="58595B">
                    <a:alpha val="100000"/>
                  </a:srgbClr>
                </a:solidFill>
                <a:latin typeface="Arial"/>
                <a:ea typeface="Arial"/>
                <a:cs typeface="Arial"/>
              </a:rPr>
              <a:t>lul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grpSp>
        <p:nvGrpSpPr>
          <p:cNvPr id="126" name="group 126"/>
          <p:cNvGrpSpPr/>
          <p:nvPr/>
        </p:nvGrpSpPr>
        <p:grpSpPr>
          <a:xfrm rot="21600000">
            <a:off x="9841230" y="3422141"/>
            <a:ext cx="109728" cy="128016"/>
            <a:chOff x="0" y="0"/>
            <a:chExt cx="109728" cy="128016"/>
          </a:xfrm>
        </p:grpSpPr>
        <p:sp>
          <p:nvSpPr>
            <p:cNvPr id="542" name="path 542"/>
            <p:cNvSpPr/>
            <p:nvPr/>
          </p:nvSpPr>
          <p:spPr>
            <a:xfrm>
              <a:off x="3810" y="3810"/>
              <a:ext cx="102107" cy="120395"/>
            </a:xfrm>
            <a:custGeom>
              <a:avLst/>
              <a:gdLst/>
              <a:ahLst/>
              <a:cxnLst/>
              <a:rect l="0" t="0" r="0" b="0"/>
              <a:pathLst>
                <a:path w="160" h="189">
                  <a:moveTo>
                    <a:pt x="134" y="155"/>
                  </a:moveTo>
                  <a:cubicBezTo>
                    <a:pt x="112" y="155"/>
                    <a:pt x="112" y="155"/>
                    <a:pt x="112" y="155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21" y="155"/>
                    <a:pt x="21" y="155"/>
                    <a:pt x="21" y="155"/>
                  </a:cubicBezTo>
                  <a:cubicBezTo>
                    <a:pt x="14" y="155"/>
                    <a:pt x="9" y="158"/>
                    <a:pt x="4" y="160"/>
                  </a:cubicBezTo>
                  <a:cubicBezTo>
                    <a:pt x="0" y="165"/>
                    <a:pt x="0" y="170"/>
                    <a:pt x="0" y="175"/>
                  </a:cubicBezTo>
                  <a:cubicBezTo>
                    <a:pt x="0" y="182"/>
                    <a:pt x="9" y="189"/>
                    <a:pt x="21" y="189"/>
                  </a:cubicBezTo>
                  <a:cubicBezTo>
                    <a:pt x="134" y="189"/>
                    <a:pt x="134" y="189"/>
                    <a:pt x="134" y="189"/>
                  </a:cubicBezTo>
                  <a:cubicBezTo>
                    <a:pt x="146" y="189"/>
                    <a:pt x="160" y="182"/>
                    <a:pt x="160" y="175"/>
                  </a:cubicBezTo>
                  <a:cubicBezTo>
                    <a:pt x="160" y="165"/>
                    <a:pt x="146" y="155"/>
                    <a:pt x="134" y="155"/>
                  </a:cubicBezTo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44" name="path 544"/>
            <p:cNvSpPr/>
            <p:nvPr/>
          </p:nvSpPr>
          <p:spPr>
            <a:xfrm>
              <a:off x="0" y="0"/>
              <a:ext cx="109728" cy="128016"/>
            </a:xfrm>
            <a:custGeom>
              <a:avLst/>
              <a:gdLst/>
              <a:ahLst/>
              <a:cxnLst/>
              <a:rect l="0" t="0" r="0" b="0"/>
              <a:pathLst>
                <a:path w="172" h="201">
                  <a:moveTo>
                    <a:pt x="140" y="162"/>
                  </a:moveTo>
                  <a:cubicBezTo>
                    <a:pt x="118" y="162"/>
                    <a:pt x="118" y="162"/>
                    <a:pt x="118" y="162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27" y="162"/>
                    <a:pt x="27" y="162"/>
                    <a:pt x="27" y="162"/>
                  </a:cubicBezTo>
                  <a:cubicBezTo>
                    <a:pt x="20" y="162"/>
                    <a:pt x="15" y="164"/>
                    <a:pt x="10" y="166"/>
                  </a:cubicBezTo>
                  <a:cubicBezTo>
                    <a:pt x="6" y="171"/>
                    <a:pt x="6" y="176"/>
                    <a:pt x="6" y="181"/>
                  </a:cubicBezTo>
                  <a:cubicBezTo>
                    <a:pt x="6" y="188"/>
                    <a:pt x="15" y="195"/>
                    <a:pt x="27" y="195"/>
                  </a:cubicBezTo>
                  <a:cubicBezTo>
                    <a:pt x="140" y="195"/>
                    <a:pt x="140" y="195"/>
                    <a:pt x="140" y="195"/>
                  </a:cubicBezTo>
                  <a:cubicBezTo>
                    <a:pt x="152" y="195"/>
                    <a:pt x="166" y="188"/>
                    <a:pt x="166" y="181"/>
                  </a:cubicBezTo>
                  <a:cubicBezTo>
                    <a:pt x="166" y="171"/>
                    <a:pt x="152" y="162"/>
                    <a:pt x="140" y="162"/>
                  </a:cubicBezTo>
                </a:path>
              </a:pathLst>
            </a:custGeom>
            <a:noFill/>
            <a:ln w="7620" cap="flat">
              <a:solidFill>
                <a:srgbClr val="FDA10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46" name="path 546"/>
          <p:cNvSpPr/>
          <p:nvPr/>
        </p:nvSpPr>
        <p:spPr>
          <a:xfrm>
            <a:off x="9630155" y="3095243"/>
            <a:ext cx="531876" cy="18288"/>
          </a:xfrm>
          <a:custGeom>
            <a:avLst/>
            <a:gdLst/>
            <a:ahLst/>
            <a:cxnLst/>
            <a:rect l="0" t="0" r="0" b="0"/>
            <a:pathLst>
              <a:path w="837" h="28">
                <a:moveTo>
                  <a:pt x="815" y="0"/>
                </a:moveTo>
                <a:cubicBezTo>
                  <a:pt x="19" y="0"/>
                  <a:pt x="19" y="0"/>
                  <a:pt x="19" y="0"/>
                </a:cubicBezTo>
                <a:cubicBezTo>
                  <a:pt x="14" y="0"/>
                  <a:pt x="9" y="2"/>
                  <a:pt x="7" y="4"/>
                </a:cubicBezTo>
                <a:cubicBezTo>
                  <a:pt x="0" y="7"/>
                  <a:pt x="0" y="9"/>
                  <a:pt x="0" y="14"/>
                </a:cubicBezTo>
                <a:cubicBezTo>
                  <a:pt x="0" y="21"/>
                  <a:pt x="9" y="28"/>
                  <a:pt x="19" y="28"/>
                </a:cubicBezTo>
                <a:cubicBezTo>
                  <a:pt x="815" y="28"/>
                  <a:pt x="815" y="28"/>
                  <a:pt x="815" y="28"/>
                </a:cubicBezTo>
                <a:cubicBezTo>
                  <a:pt x="827" y="28"/>
                  <a:pt x="837" y="21"/>
                  <a:pt x="837" y="14"/>
                </a:cubicBezTo>
                <a:cubicBezTo>
                  <a:pt x="837" y="7"/>
                  <a:pt x="827" y="0"/>
                  <a:pt x="815" y="0"/>
                </a:cubicBezTo>
              </a:path>
            </a:pathLst>
          </a:custGeom>
          <a:solidFill>
            <a:srgbClr val="5859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8" name="path 548"/>
          <p:cNvSpPr/>
          <p:nvPr/>
        </p:nvSpPr>
        <p:spPr>
          <a:xfrm>
            <a:off x="9747503" y="3264408"/>
            <a:ext cx="97535" cy="71627"/>
          </a:xfrm>
          <a:custGeom>
            <a:avLst/>
            <a:gdLst/>
            <a:ahLst/>
            <a:cxnLst/>
            <a:rect l="0" t="0" r="0" b="0"/>
            <a:pathLst>
              <a:path w="153" h="112">
                <a:moveTo>
                  <a:pt x="98" y="0"/>
                </a:moveTo>
                <a:lnTo>
                  <a:pt x="153" y="0"/>
                </a:lnTo>
                <a:lnTo>
                  <a:pt x="153" y="112"/>
                </a:lnTo>
                <a:lnTo>
                  <a:pt x="98" y="112"/>
                </a:lnTo>
                <a:lnTo>
                  <a:pt x="98" y="0"/>
                </a:lnTo>
                <a:close/>
                <a:moveTo>
                  <a:pt x="0" y="43"/>
                </a:moveTo>
                <a:lnTo>
                  <a:pt x="52" y="43"/>
                </a:lnTo>
                <a:lnTo>
                  <a:pt x="52" y="112"/>
                </a:lnTo>
                <a:lnTo>
                  <a:pt x="0" y="112"/>
                </a:lnTo>
                <a:lnTo>
                  <a:pt x="0" y="43"/>
                </a:lnTo>
                <a:close/>
              </a:path>
            </a:pathLst>
          </a:custGeom>
          <a:solidFill>
            <a:srgbClr val="5859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0" name="path 550"/>
          <p:cNvSpPr/>
          <p:nvPr/>
        </p:nvSpPr>
        <p:spPr>
          <a:xfrm>
            <a:off x="4875275" y="6131812"/>
            <a:ext cx="251460" cy="7620"/>
          </a:xfrm>
          <a:custGeom>
            <a:avLst/>
            <a:gdLst/>
            <a:ahLst/>
            <a:cxnLst/>
            <a:rect l="0" t="0" r="0" b="0"/>
            <a:pathLst>
              <a:path w="396" h="12">
                <a:moveTo>
                  <a:pt x="0" y="6"/>
                </a:moveTo>
                <a:lnTo>
                  <a:pt x="396" y="6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2" name="path 552"/>
          <p:cNvSpPr/>
          <p:nvPr/>
        </p:nvSpPr>
        <p:spPr>
          <a:xfrm>
            <a:off x="7639050" y="5132832"/>
            <a:ext cx="7620" cy="176783"/>
          </a:xfrm>
          <a:custGeom>
            <a:avLst/>
            <a:gdLst/>
            <a:ahLst/>
            <a:cxnLst/>
            <a:rect l="0" t="0" r="0" b="0"/>
            <a:pathLst>
              <a:path w="12" h="278">
                <a:moveTo>
                  <a:pt x="6" y="0"/>
                </a:moveTo>
                <a:lnTo>
                  <a:pt x="6" y="278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4" name="path 554"/>
          <p:cNvSpPr/>
          <p:nvPr/>
        </p:nvSpPr>
        <p:spPr>
          <a:xfrm>
            <a:off x="7136129" y="3718559"/>
            <a:ext cx="7620" cy="176783"/>
          </a:xfrm>
          <a:custGeom>
            <a:avLst/>
            <a:gdLst/>
            <a:ahLst/>
            <a:cxnLst/>
            <a:rect l="0" t="0" r="0" b="0"/>
            <a:pathLst>
              <a:path w="12" h="278">
                <a:moveTo>
                  <a:pt x="5" y="0"/>
                </a:moveTo>
                <a:lnTo>
                  <a:pt x="5" y="278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6" name="path 556"/>
          <p:cNvSpPr/>
          <p:nvPr/>
        </p:nvSpPr>
        <p:spPr>
          <a:xfrm>
            <a:off x="4120896" y="6131812"/>
            <a:ext cx="167639" cy="7620"/>
          </a:xfrm>
          <a:custGeom>
            <a:avLst/>
            <a:gdLst/>
            <a:ahLst/>
            <a:cxnLst/>
            <a:rect l="0" t="0" r="0" b="0"/>
            <a:pathLst>
              <a:path w="263" h="12">
                <a:moveTo>
                  <a:pt x="0" y="6"/>
                </a:moveTo>
                <a:lnTo>
                  <a:pt x="263" y="6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8" name="path 558"/>
          <p:cNvSpPr/>
          <p:nvPr/>
        </p:nvSpPr>
        <p:spPr>
          <a:xfrm>
            <a:off x="7974329" y="3601211"/>
            <a:ext cx="7620" cy="117347"/>
          </a:xfrm>
          <a:custGeom>
            <a:avLst/>
            <a:gdLst/>
            <a:ahLst/>
            <a:cxnLst/>
            <a:rect l="0" t="0" r="0" b="0"/>
            <a:pathLst>
              <a:path w="12" h="184">
                <a:moveTo>
                  <a:pt x="5" y="0"/>
                </a:moveTo>
                <a:lnTo>
                  <a:pt x="5" y="184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rect 560"/>
          <p:cNvSpPr/>
          <p:nvPr/>
        </p:nvSpPr>
        <p:spPr>
          <a:xfrm>
            <a:off x="460247" y="2366771"/>
            <a:ext cx="9813036" cy="4041647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62" name="picture 5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48995" y="2301240"/>
            <a:ext cx="9924288" cy="4107179"/>
          </a:xfrm>
          <a:prstGeom prst="rect">
            <a:avLst/>
          </a:prstGeom>
        </p:spPr>
      </p:pic>
      <p:sp>
        <p:nvSpPr>
          <p:cNvPr id="564" name="path 564"/>
          <p:cNvSpPr/>
          <p:nvPr/>
        </p:nvSpPr>
        <p:spPr>
          <a:xfrm>
            <a:off x="460247" y="2366771"/>
            <a:ext cx="9814560" cy="4043171"/>
          </a:xfrm>
          <a:custGeom>
            <a:avLst/>
            <a:gdLst/>
            <a:ahLst/>
            <a:cxnLst/>
            <a:rect l="0" t="0" r="0" b="0"/>
            <a:pathLst>
              <a:path w="15456" h="6367">
                <a:moveTo>
                  <a:pt x="15453" y="0"/>
                </a:moveTo>
                <a:lnTo>
                  <a:pt x="15453" y="6364"/>
                </a:lnTo>
                <a:lnTo>
                  <a:pt x="0" y="6364"/>
                </a:lnTo>
              </a:path>
            </a:pathLst>
          </a:custGeom>
          <a:noFill/>
          <a:ln w="3048" cap="flat">
            <a:solidFill>
              <a:srgbClr val="094161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6" name="path 566"/>
          <p:cNvSpPr/>
          <p:nvPr/>
        </p:nvSpPr>
        <p:spPr>
          <a:xfrm>
            <a:off x="2383535" y="3265931"/>
            <a:ext cx="547116" cy="559308"/>
          </a:xfrm>
          <a:custGeom>
            <a:avLst/>
            <a:gdLst/>
            <a:ahLst/>
            <a:cxnLst/>
            <a:rect l="0" t="0" r="0" b="0"/>
            <a:pathLst>
              <a:path w="861" h="880">
                <a:moveTo>
                  <a:pt x="0" y="441"/>
                </a:moveTo>
                <a:cubicBezTo>
                  <a:pt x="0" y="196"/>
                  <a:pt x="192" y="0"/>
                  <a:pt x="429" y="0"/>
                </a:cubicBezTo>
                <a:cubicBezTo>
                  <a:pt x="669" y="0"/>
                  <a:pt x="861" y="196"/>
                  <a:pt x="861" y="441"/>
                </a:cubicBezTo>
                <a:cubicBezTo>
                  <a:pt x="861" y="684"/>
                  <a:pt x="669" y="880"/>
                  <a:pt x="429" y="880"/>
                </a:cubicBezTo>
                <a:cubicBezTo>
                  <a:pt x="192" y="880"/>
                  <a:pt x="0" y="684"/>
                  <a:pt x="0" y="441"/>
                </a:cubicBezTo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8" name="path 568"/>
          <p:cNvSpPr/>
          <p:nvPr/>
        </p:nvSpPr>
        <p:spPr>
          <a:xfrm>
            <a:off x="3409188" y="4378452"/>
            <a:ext cx="547115" cy="560832"/>
          </a:xfrm>
          <a:custGeom>
            <a:avLst/>
            <a:gdLst/>
            <a:ahLst/>
            <a:cxnLst/>
            <a:rect l="0" t="0" r="0" b="0"/>
            <a:pathLst>
              <a:path w="861" h="883">
                <a:moveTo>
                  <a:pt x="0" y="441"/>
                </a:moveTo>
                <a:cubicBezTo>
                  <a:pt x="0" y="196"/>
                  <a:pt x="192" y="0"/>
                  <a:pt x="429" y="0"/>
                </a:cubicBezTo>
                <a:cubicBezTo>
                  <a:pt x="667" y="0"/>
                  <a:pt x="861" y="196"/>
                  <a:pt x="861" y="441"/>
                </a:cubicBezTo>
                <a:cubicBezTo>
                  <a:pt x="861" y="683"/>
                  <a:pt x="667" y="883"/>
                  <a:pt x="429" y="883"/>
                </a:cubicBezTo>
                <a:cubicBezTo>
                  <a:pt x="192" y="883"/>
                  <a:pt x="0" y="683"/>
                  <a:pt x="0" y="441"/>
                </a:cubicBezTo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0" name="path 570"/>
          <p:cNvSpPr/>
          <p:nvPr/>
        </p:nvSpPr>
        <p:spPr>
          <a:xfrm>
            <a:off x="2069592" y="4706111"/>
            <a:ext cx="548639" cy="559308"/>
          </a:xfrm>
          <a:custGeom>
            <a:avLst/>
            <a:gdLst/>
            <a:ahLst/>
            <a:cxnLst/>
            <a:rect l="0" t="0" r="0" b="0"/>
            <a:pathLst>
              <a:path w="863" h="880">
                <a:moveTo>
                  <a:pt x="0" y="441"/>
                </a:moveTo>
                <a:cubicBezTo>
                  <a:pt x="0" y="196"/>
                  <a:pt x="194" y="0"/>
                  <a:pt x="432" y="0"/>
                </a:cubicBezTo>
                <a:cubicBezTo>
                  <a:pt x="669" y="0"/>
                  <a:pt x="863" y="196"/>
                  <a:pt x="863" y="441"/>
                </a:cubicBezTo>
                <a:cubicBezTo>
                  <a:pt x="863" y="683"/>
                  <a:pt x="669" y="880"/>
                  <a:pt x="432" y="880"/>
                </a:cubicBezTo>
                <a:cubicBezTo>
                  <a:pt x="194" y="880"/>
                  <a:pt x="0" y="683"/>
                  <a:pt x="0" y="441"/>
                </a:cubicBezTo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2" name="path 572"/>
          <p:cNvSpPr/>
          <p:nvPr/>
        </p:nvSpPr>
        <p:spPr>
          <a:xfrm>
            <a:off x="7979664" y="4587240"/>
            <a:ext cx="547116" cy="545591"/>
          </a:xfrm>
          <a:custGeom>
            <a:avLst/>
            <a:gdLst/>
            <a:ahLst/>
            <a:cxnLst/>
            <a:rect l="0" t="0" r="0" b="0"/>
            <a:pathLst>
              <a:path w="861" h="859">
                <a:moveTo>
                  <a:pt x="0" y="429"/>
                </a:moveTo>
                <a:cubicBezTo>
                  <a:pt x="0" y="191"/>
                  <a:pt x="194" y="0"/>
                  <a:pt x="431" y="0"/>
                </a:cubicBezTo>
                <a:cubicBezTo>
                  <a:pt x="669" y="0"/>
                  <a:pt x="861" y="191"/>
                  <a:pt x="861" y="429"/>
                </a:cubicBezTo>
                <a:cubicBezTo>
                  <a:pt x="861" y="667"/>
                  <a:pt x="669" y="859"/>
                  <a:pt x="431" y="859"/>
                </a:cubicBezTo>
                <a:cubicBezTo>
                  <a:pt x="194" y="859"/>
                  <a:pt x="0" y="667"/>
                  <a:pt x="0" y="429"/>
                </a:cubicBezTo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4" name="path 574"/>
          <p:cNvSpPr/>
          <p:nvPr/>
        </p:nvSpPr>
        <p:spPr>
          <a:xfrm>
            <a:off x="1757172" y="3985259"/>
            <a:ext cx="547116" cy="560831"/>
          </a:xfrm>
          <a:custGeom>
            <a:avLst/>
            <a:gdLst/>
            <a:ahLst/>
            <a:cxnLst/>
            <a:rect l="0" t="0" r="0" b="0"/>
            <a:pathLst>
              <a:path w="861" h="883">
                <a:moveTo>
                  <a:pt x="0" y="441"/>
                </a:moveTo>
                <a:cubicBezTo>
                  <a:pt x="0" y="199"/>
                  <a:pt x="194" y="0"/>
                  <a:pt x="432" y="0"/>
                </a:cubicBezTo>
                <a:cubicBezTo>
                  <a:pt x="669" y="0"/>
                  <a:pt x="861" y="199"/>
                  <a:pt x="861" y="441"/>
                </a:cubicBezTo>
                <a:cubicBezTo>
                  <a:pt x="861" y="683"/>
                  <a:pt x="669" y="883"/>
                  <a:pt x="432" y="883"/>
                </a:cubicBezTo>
                <a:cubicBezTo>
                  <a:pt x="194" y="883"/>
                  <a:pt x="0" y="683"/>
                  <a:pt x="0" y="441"/>
                </a:cubicBezTo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6" name="path 576"/>
          <p:cNvSpPr/>
          <p:nvPr/>
        </p:nvSpPr>
        <p:spPr>
          <a:xfrm>
            <a:off x="7432547" y="3105911"/>
            <a:ext cx="547116" cy="545592"/>
          </a:xfrm>
          <a:custGeom>
            <a:avLst/>
            <a:gdLst/>
            <a:ahLst/>
            <a:cxnLst/>
            <a:rect l="0" t="0" r="0" b="0"/>
            <a:pathLst>
              <a:path w="861" h="859">
                <a:moveTo>
                  <a:pt x="0" y="429"/>
                </a:moveTo>
                <a:cubicBezTo>
                  <a:pt x="0" y="192"/>
                  <a:pt x="194" y="0"/>
                  <a:pt x="431" y="0"/>
                </a:cubicBezTo>
                <a:cubicBezTo>
                  <a:pt x="669" y="0"/>
                  <a:pt x="861" y="192"/>
                  <a:pt x="861" y="429"/>
                </a:cubicBezTo>
                <a:cubicBezTo>
                  <a:pt x="861" y="667"/>
                  <a:pt x="669" y="859"/>
                  <a:pt x="431" y="859"/>
                </a:cubicBezTo>
                <a:cubicBezTo>
                  <a:pt x="194" y="859"/>
                  <a:pt x="0" y="667"/>
                  <a:pt x="0" y="429"/>
                </a:cubicBezTo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8" name="path 578"/>
          <p:cNvSpPr/>
          <p:nvPr/>
        </p:nvSpPr>
        <p:spPr>
          <a:xfrm>
            <a:off x="6885432" y="3729227"/>
            <a:ext cx="547116" cy="545592"/>
          </a:xfrm>
          <a:custGeom>
            <a:avLst/>
            <a:gdLst/>
            <a:ahLst/>
            <a:cxnLst/>
            <a:rect l="0" t="0" r="0" b="0"/>
            <a:pathLst>
              <a:path w="861" h="859">
                <a:moveTo>
                  <a:pt x="0" y="429"/>
                </a:moveTo>
                <a:cubicBezTo>
                  <a:pt x="0" y="192"/>
                  <a:pt x="194" y="0"/>
                  <a:pt x="431" y="0"/>
                </a:cubicBezTo>
                <a:cubicBezTo>
                  <a:pt x="669" y="0"/>
                  <a:pt x="861" y="192"/>
                  <a:pt x="861" y="429"/>
                </a:cubicBezTo>
                <a:cubicBezTo>
                  <a:pt x="861" y="667"/>
                  <a:pt x="669" y="859"/>
                  <a:pt x="431" y="859"/>
                </a:cubicBezTo>
                <a:cubicBezTo>
                  <a:pt x="194" y="859"/>
                  <a:pt x="0" y="667"/>
                  <a:pt x="0" y="429"/>
                </a:cubicBezTo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0" name="path 580"/>
          <p:cNvSpPr/>
          <p:nvPr/>
        </p:nvSpPr>
        <p:spPr>
          <a:xfrm>
            <a:off x="6260592" y="3494531"/>
            <a:ext cx="547116" cy="547116"/>
          </a:xfrm>
          <a:custGeom>
            <a:avLst/>
            <a:gdLst/>
            <a:ahLst/>
            <a:cxnLst/>
            <a:rect l="0" t="0" r="0" b="0"/>
            <a:pathLst>
              <a:path w="861" h="861">
                <a:moveTo>
                  <a:pt x="0" y="429"/>
                </a:moveTo>
                <a:cubicBezTo>
                  <a:pt x="0" y="194"/>
                  <a:pt x="192" y="0"/>
                  <a:pt x="429" y="0"/>
                </a:cubicBezTo>
                <a:cubicBezTo>
                  <a:pt x="667" y="0"/>
                  <a:pt x="861" y="194"/>
                  <a:pt x="861" y="429"/>
                </a:cubicBezTo>
                <a:cubicBezTo>
                  <a:pt x="861" y="667"/>
                  <a:pt x="667" y="861"/>
                  <a:pt x="429" y="861"/>
                </a:cubicBezTo>
                <a:cubicBezTo>
                  <a:pt x="192" y="861"/>
                  <a:pt x="0" y="667"/>
                  <a:pt x="0" y="429"/>
                </a:cubicBezTo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28" name="group 128"/>
          <p:cNvGrpSpPr/>
          <p:nvPr/>
        </p:nvGrpSpPr>
        <p:grpSpPr>
          <a:xfrm rot="21600000">
            <a:off x="1044702" y="4981194"/>
            <a:ext cx="326135" cy="326135"/>
            <a:chOff x="0" y="0"/>
            <a:chExt cx="326135" cy="326135"/>
          </a:xfrm>
        </p:grpSpPr>
        <p:sp>
          <p:nvSpPr>
            <p:cNvPr id="582" name="path 582"/>
            <p:cNvSpPr/>
            <p:nvPr/>
          </p:nvSpPr>
          <p:spPr>
            <a:xfrm>
              <a:off x="5333" y="5333"/>
              <a:ext cx="315467" cy="315467"/>
            </a:xfrm>
            <a:custGeom>
              <a:avLst/>
              <a:gdLst/>
              <a:ahLst/>
              <a:cxnLst/>
              <a:rect l="0" t="0" r="0" b="0"/>
              <a:pathLst>
                <a:path w="496" h="496">
                  <a:moveTo>
                    <a:pt x="0" y="247"/>
                  </a:moveTo>
                  <a:cubicBezTo>
                    <a:pt x="0" y="110"/>
                    <a:pt x="112" y="0"/>
                    <a:pt x="249" y="0"/>
                  </a:cubicBezTo>
                  <a:cubicBezTo>
                    <a:pt x="386" y="0"/>
                    <a:pt x="496" y="110"/>
                    <a:pt x="496" y="247"/>
                  </a:cubicBezTo>
                  <a:cubicBezTo>
                    <a:pt x="496" y="383"/>
                    <a:pt x="386" y="496"/>
                    <a:pt x="249" y="496"/>
                  </a:cubicBezTo>
                  <a:cubicBezTo>
                    <a:pt x="112" y="496"/>
                    <a:pt x="0" y="383"/>
                    <a:pt x="0" y="247"/>
                  </a:cubicBezTo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4" name="path 584"/>
            <p:cNvSpPr/>
            <p:nvPr/>
          </p:nvSpPr>
          <p:spPr>
            <a:xfrm>
              <a:off x="0" y="0"/>
              <a:ext cx="326135" cy="326135"/>
            </a:xfrm>
            <a:custGeom>
              <a:avLst/>
              <a:gdLst/>
              <a:ahLst/>
              <a:cxnLst/>
              <a:rect l="0" t="0" r="0" b="0"/>
              <a:pathLst>
                <a:path w="513" h="513">
                  <a:moveTo>
                    <a:pt x="8" y="255"/>
                  </a:moveTo>
                  <a:cubicBezTo>
                    <a:pt x="8" y="118"/>
                    <a:pt x="121" y="8"/>
                    <a:pt x="258" y="8"/>
                  </a:cubicBezTo>
                  <a:cubicBezTo>
                    <a:pt x="394" y="8"/>
                    <a:pt x="505" y="118"/>
                    <a:pt x="505" y="255"/>
                  </a:cubicBezTo>
                  <a:cubicBezTo>
                    <a:pt x="505" y="392"/>
                    <a:pt x="394" y="505"/>
                    <a:pt x="258" y="505"/>
                  </a:cubicBezTo>
                  <a:cubicBezTo>
                    <a:pt x="121" y="505"/>
                    <a:pt x="8" y="392"/>
                    <a:pt x="8" y="255"/>
                  </a:cubicBezTo>
                </a:path>
              </a:pathLst>
            </a:custGeom>
            <a:noFill/>
            <a:ln w="10668" cap="flat">
              <a:solidFill>
                <a:srgbClr val="6A7173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86" name="table 586"/>
          <p:cNvGraphicFramePr>
            <a:graphicFrameLocks noGrp="1"/>
          </p:cNvGraphicFramePr>
          <p:nvPr/>
        </p:nvGraphicFramePr>
        <p:xfrm>
          <a:off x="347471" y="2299716"/>
          <a:ext cx="9815829" cy="4009390"/>
        </p:xfrm>
        <a:graphic>
          <a:graphicData uri="http://schemas.openxmlformats.org/drawingml/2006/table">
            <a:tbl>
              <a:tblPr/>
              <a:tblGrid>
                <a:gridCol w="8484234"/>
                <a:gridCol w="1331594"/>
              </a:tblGrid>
              <a:tr h="40093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8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661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节点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157729" algn="l" rtl="0" eaLnBrk="0">
                        <a:lnSpc>
                          <a:spcPct val="85000"/>
                        </a:lnSpc>
                        <a:spcBef>
                          <a:spcPts val="9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节点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034404" algn="l" rtl="0" eaLnBrk="0">
                        <a:lnSpc>
                          <a:spcPct val="85000"/>
                        </a:lnSpc>
                        <a:spcBef>
                          <a:spcPts val="53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节点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659244" algn="l" rtl="0" eaLnBrk="0">
                        <a:lnSpc>
                          <a:spcPct val="85000"/>
                        </a:lnSpc>
                        <a:spcBef>
                          <a:spcPts val="61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节点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531619" algn="l" rtl="0" eaLnBrk="0">
                        <a:lnSpc>
                          <a:spcPct val="85000"/>
                        </a:lnSpc>
                        <a:spcBef>
                          <a:spcPts val="85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节点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4579620" algn="l" rtl="0" eaLnBrk="0">
                        <a:lnSpc>
                          <a:spcPct val="87000"/>
                        </a:lnSpc>
                        <a:spcBef>
                          <a:spcPts val="551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经常堵塞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183254" algn="l" rtl="0" eaLnBrk="0">
                        <a:lnSpc>
                          <a:spcPct val="85000"/>
                        </a:lnSpc>
                        <a:spcBef>
                          <a:spcPts val="6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节点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753984" algn="l" rtl="0" eaLnBrk="0">
                        <a:lnSpc>
                          <a:spcPct val="77000"/>
                        </a:lnSpc>
                        <a:spcBef>
                          <a:spcPts val="35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节点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845310" algn="l" rtl="0" eaLnBrk="0">
                        <a:lnSpc>
                          <a:spcPct val="79000"/>
                        </a:lnSpc>
                        <a:spcBef>
                          <a:spcPts val="10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节点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68984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400" b="1" kern="0" spc="1270" dirty="0">
                          <a:solidFill>
                            <a:srgbClr val="6A717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~</a:t>
                      </a: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4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机组故障或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139" algn="l" rtl="0" eaLnBrk="0">
                        <a:lnSpc>
                          <a:spcPts val="1473"/>
                        </a:lnSpc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负荷急升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88" name="path 588"/>
          <p:cNvSpPr/>
          <p:nvPr/>
        </p:nvSpPr>
        <p:spPr>
          <a:xfrm>
            <a:off x="7120128" y="4352544"/>
            <a:ext cx="547116" cy="545591"/>
          </a:xfrm>
          <a:custGeom>
            <a:avLst/>
            <a:gdLst/>
            <a:ahLst/>
            <a:cxnLst/>
            <a:rect l="0" t="0" r="0" b="0"/>
            <a:pathLst>
              <a:path w="861" h="859">
                <a:moveTo>
                  <a:pt x="0" y="429"/>
                </a:moveTo>
                <a:cubicBezTo>
                  <a:pt x="0" y="191"/>
                  <a:pt x="191" y="0"/>
                  <a:pt x="431" y="0"/>
                </a:cubicBezTo>
                <a:cubicBezTo>
                  <a:pt x="669" y="0"/>
                  <a:pt x="861" y="191"/>
                  <a:pt x="861" y="429"/>
                </a:cubicBezTo>
                <a:cubicBezTo>
                  <a:pt x="861" y="667"/>
                  <a:pt x="669" y="859"/>
                  <a:pt x="431" y="859"/>
                </a:cubicBezTo>
                <a:cubicBezTo>
                  <a:pt x="191" y="859"/>
                  <a:pt x="0" y="667"/>
                  <a:pt x="0" y="429"/>
                </a:cubicBezTo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0" name="path 590"/>
          <p:cNvSpPr/>
          <p:nvPr/>
        </p:nvSpPr>
        <p:spPr>
          <a:xfrm>
            <a:off x="7824216" y="3884675"/>
            <a:ext cx="547116" cy="545592"/>
          </a:xfrm>
          <a:custGeom>
            <a:avLst/>
            <a:gdLst/>
            <a:ahLst/>
            <a:cxnLst/>
            <a:rect l="0" t="0" r="0" b="0"/>
            <a:pathLst>
              <a:path w="861" h="859">
                <a:moveTo>
                  <a:pt x="0" y="429"/>
                </a:moveTo>
                <a:cubicBezTo>
                  <a:pt x="0" y="192"/>
                  <a:pt x="191" y="0"/>
                  <a:pt x="429" y="0"/>
                </a:cubicBezTo>
                <a:cubicBezTo>
                  <a:pt x="667" y="0"/>
                  <a:pt x="861" y="192"/>
                  <a:pt x="861" y="429"/>
                </a:cubicBezTo>
                <a:cubicBezTo>
                  <a:pt x="861" y="667"/>
                  <a:pt x="667" y="859"/>
                  <a:pt x="429" y="859"/>
                </a:cubicBezTo>
                <a:cubicBezTo>
                  <a:pt x="191" y="859"/>
                  <a:pt x="0" y="667"/>
                  <a:pt x="0" y="429"/>
                </a:cubicBezTo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2" name="textbox 592"/>
          <p:cNvSpPr/>
          <p:nvPr/>
        </p:nvSpPr>
        <p:spPr>
          <a:xfrm>
            <a:off x="7933365" y="4076982"/>
            <a:ext cx="332104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2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节点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594" name="textbox 594"/>
          <p:cNvSpPr/>
          <p:nvPr/>
        </p:nvSpPr>
        <p:spPr>
          <a:xfrm>
            <a:off x="7229597" y="4544540"/>
            <a:ext cx="332104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2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节点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pSp>
        <p:nvGrpSpPr>
          <p:cNvPr id="130" name="group 130"/>
          <p:cNvGrpSpPr/>
          <p:nvPr/>
        </p:nvGrpSpPr>
        <p:grpSpPr>
          <a:xfrm rot="21600000">
            <a:off x="6102856" y="2890250"/>
            <a:ext cx="2702815" cy="2537474"/>
            <a:chOff x="0" y="0"/>
            <a:chExt cx="2702815" cy="2537474"/>
          </a:xfrm>
        </p:grpSpPr>
        <p:sp>
          <p:nvSpPr>
            <p:cNvPr id="596" name="path 596"/>
            <p:cNvSpPr/>
            <p:nvPr/>
          </p:nvSpPr>
          <p:spPr>
            <a:xfrm>
              <a:off x="0" y="0"/>
              <a:ext cx="2662428" cy="2537474"/>
            </a:xfrm>
            <a:custGeom>
              <a:avLst/>
              <a:gdLst/>
              <a:ahLst/>
              <a:cxnLst/>
              <a:rect l="0" t="0" r="0" b="0"/>
              <a:pathLst>
                <a:path w="4192" h="3996">
                  <a:moveTo>
                    <a:pt x="1347" y="361"/>
                  </a:moveTo>
                  <a:cubicBezTo>
                    <a:pt x="1470" y="344"/>
                    <a:pt x="1556" y="303"/>
                    <a:pt x="1674" y="279"/>
                  </a:cubicBezTo>
                  <a:cubicBezTo>
                    <a:pt x="1887" y="138"/>
                    <a:pt x="2211" y="186"/>
                    <a:pt x="2434" y="176"/>
                  </a:cubicBezTo>
                  <a:cubicBezTo>
                    <a:pt x="2552" y="150"/>
                    <a:pt x="2660" y="145"/>
                    <a:pt x="2763" y="75"/>
                  </a:cubicBezTo>
                  <a:cubicBezTo>
                    <a:pt x="2775" y="54"/>
                    <a:pt x="2778" y="15"/>
                    <a:pt x="2804" y="13"/>
                  </a:cubicBezTo>
                  <a:cubicBezTo>
                    <a:pt x="2874" y="8"/>
                    <a:pt x="3008" y="54"/>
                    <a:pt x="3008" y="54"/>
                  </a:cubicBezTo>
                  <a:cubicBezTo>
                    <a:pt x="3114" y="123"/>
                    <a:pt x="3133" y="265"/>
                    <a:pt x="3214" y="361"/>
                  </a:cubicBezTo>
                  <a:cubicBezTo>
                    <a:pt x="3248" y="402"/>
                    <a:pt x="3274" y="447"/>
                    <a:pt x="3318" y="483"/>
                  </a:cubicBezTo>
                  <a:cubicBezTo>
                    <a:pt x="3536" y="675"/>
                    <a:pt x="3363" y="464"/>
                    <a:pt x="3500" y="649"/>
                  </a:cubicBezTo>
                  <a:cubicBezTo>
                    <a:pt x="3589" y="997"/>
                    <a:pt x="3742" y="1323"/>
                    <a:pt x="3829" y="1671"/>
                  </a:cubicBezTo>
                  <a:cubicBezTo>
                    <a:pt x="3848" y="1880"/>
                    <a:pt x="3886" y="2079"/>
                    <a:pt x="3932" y="2286"/>
                  </a:cubicBezTo>
                  <a:cubicBezTo>
                    <a:pt x="3949" y="2370"/>
                    <a:pt x="4006" y="2449"/>
                    <a:pt x="4035" y="2530"/>
                  </a:cubicBezTo>
                  <a:cubicBezTo>
                    <a:pt x="4098" y="2720"/>
                    <a:pt x="4145" y="2926"/>
                    <a:pt x="4179" y="3123"/>
                  </a:cubicBezTo>
                  <a:cubicBezTo>
                    <a:pt x="4165" y="3262"/>
                    <a:pt x="4170" y="3478"/>
                    <a:pt x="4117" y="3615"/>
                  </a:cubicBezTo>
                  <a:cubicBezTo>
                    <a:pt x="4105" y="3646"/>
                    <a:pt x="4074" y="3666"/>
                    <a:pt x="4054" y="3697"/>
                  </a:cubicBezTo>
                  <a:cubicBezTo>
                    <a:pt x="4023" y="3750"/>
                    <a:pt x="4023" y="3826"/>
                    <a:pt x="3973" y="3860"/>
                  </a:cubicBezTo>
                  <a:cubicBezTo>
                    <a:pt x="3932" y="3889"/>
                    <a:pt x="3896" y="3927"/>
                    <a:pt x="3850" y="3942"/>
                  </a:cubicBezTo>
                  <a:cubicBezTo>
                    <a:pt x="3810" y="3956"/>
                    <a:pt x="3728" y="3982"/>
                    <a:pt x="3728" y="3982"/>
                  </a:cubicBezTo>
                  <a:cubicBezTo>
                    <a:pt x="3531" y="3968"/>
                    <a:pt x="3325" y="3966"/>
                    <a:pt x="3133" y="3922"/>
                  </a:cubicBezTo>
                  <a:cubicBezTo>
                    <a:pt x="2854" y="3860"/>
                    <a:pt x="2871" y="3841"/>
                    <a:pt x="2538" y="3819"/>
                  </a:cubicBezTo>
                  <a:cubicBezTo>
                    <a:pt x="2410" y="3788"/>
                    <a:pt x="2434" y="3778"/>
                    <a:pt x="2353" y="3697"/>
                  </a:cubicBezTo>
                  <a:cubicBezTo>
                    <a:pt x="2285" y="3630"/>
                    <a:pt x="2165" y="3603"/>
                    <a:pt x="2084" y="3553"/>
                  </a:cubicBezTo>
                  <a:cubicBezTo>
                    <a:pt x="2058" y="3536"/>
                    <a:pt x="2031" y="3510"/>
                    <a:pt x="2002" y="3493"/>
                  </a:cubicBezTo>
                  <a:cubicBezTo>
                    <a:pt x="1978" y="3476"/>
                    <a:pt x="1947" y="3466"/>
                    <a:pt x="1921" y="3452"/>
                  </a:cubicBezTo>
                  <a:cubicBezTo>
                    <a:pt x="1880" y="3426"/>
                    <a:pt x="1798" y="3370"/>
                    <a:pt x="1798" y="3370"/>
                  </a:cubicBezTo>
                  <a:cubicBezTo>
                    <a:pt x="1753" y="3301"/>
                    <a:pt x="1693" y="3265"/>
                    <a:pt x="1633" y="3205"/>
                  </a:cubicBezTo>
                  <a:cubicBezTo>
                    <a:pt x="1580" y="3042"/>
                    <a:pt x="1534" y="2905"/>
                    <a:pt x="1448" y="2756"/>
                  </a:cubicBezTo>
                  <a:cubicBezTo>
                    <a:pt x="1412" y="2691"/>
                    <a:pt x="1400" y="2605"/>
                    <a:pt x="1347" y="2552"/>
                  </a:cubicBezTo>
                  <a:cubicBezTo>
                    <a:pt x="1321" y="2526"/>
                    <a:pt x="1239" y="2473"/>
                    <a:pt x="1203" y="2449"/>
                  </a:cubicBezTo>
                  <a:cubicBezTo>
                    <a:pt x="1189" y="2427"/>
                    <a:pt x="1179" y="2406"/>
                    <a:pt x="1162" y="2386"/>
                  </a:cubicBezTo>
                  <a:cubicBezTo>
                    <a:pt x="1143" y="2370"/>
                    <a:pt x="1114" y="2365"/>
                    <a:pt x="1100" y="2346"/>
                  </a:cubicBezTo>
                  <a:cubicBezTo>
                    <a:pt x="934" y="2154"/>
                    <a:pt x="1095" y="2274"/>
                    <a:pt x="956" y="2182"/>
                  </a:cubicBezTo>
                  <a:cubicBezTo>
                    <a:pt x="901" y="2101"/>
                    <a:pt x="819" y="2077"/>
                    <a:pt x="730" y="2019"/>
                  </a:cubicBezTo>
                  <a:cubicBezTo>
                    <a:pt x="687" y="1988"/>
                    <a:pt x="651" y="1947"/>
                    <a:pt x="608" y="1916"/>
                  </a:cubicBezTo>
                  <a:cubicBezTo>
                    <a:pt x="514" y="1779"/>
                    <a:pt x="622" y="1914"/>
                    <a:pt x="505" y="1834"/>
                  </a:cubicBezTo>
                  <a:cubicBezTo>
                    <a:pt x="483" y="1820"/>
                    <a:pt x="469" y="1786"/>
                    <a:pt x="442" y="1774"/>
                  </a:cubicBezTo>
                  <a:cubicBezTo>
                    <a:pt x="385" y="1741"/>
                    <a:pt x="317" y="1722"/>
                    <a:pt x="260" y="1690"/>
                  </a:cubicBezTo>
                  <a:cubicBezTo>
                    <a:pt x="195" y="1662"/>
                    <a:pt x="75" y="1590"/>
                    <a:pt x="75" y="1590"/>
                  </a:cubicBezTo>
                  <a:cubicBezTo>
                    <a:pt x="61" y="1549"/>
                    <a:pt x="46" y="1508"/>
                    <a:pt x="32" y="1467"/>
                  </a:cubicBezTo>
                  <a:cubicBezTo>
                    <a:pt x="25" y="1446"/>
                    <a:pt x="13" y="1405"/>
                    <a:pt x="13" y="1405"/>
                  </a:cubicBezTo>
                  <a:cubicBezTo>
                    <a:pt x="22" y="1251"/>
                    <a:pt x="10" y="1006"/>
                    <a:pt x="94" y="853"/>
                  </a:cubicBezTo>
                  <a:cubicBezTo>
                    <a:pt x="243" y="586"/>
                    <a:pt x="634" y="500"/>
                    <a:pt x="915" y="464"/>
                  </a:cubicBezTo>
                  <a:cubicBezTo>
                    <a:pt x="978" y="442"/>
                    <a:pt x="1035" y="409"/>
                    <a:pt x="1100" y="402"/>
                  </a:cubicBezTo>
                  <a:cubicBezTo>
                    <a:pt x="1306" y="380"/>
                    <a:pt x="1225" y="402"/>
                    <a:pt x="1347" y="361"/>
                  </a:cubicBezTo>
                </a:path>
              </a:pathLst>
            </a:custGeom>
            <a:noFill/>
            <a:ln w="16763" cap="flat">
              <a:solidFill>
                <a:srgbClr val="FDA103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8" name="path 598"/>
            <p:cNvSpPr/>
            <p:nvPr/>
          </p:nvSpPr>
          <p:spPr>
            <a:xfrm>
              <a:off x="704850" y="680826"/>
              <a:ext cx="1410066" cy="1017853"/>
            </a:xfrm>
            <a:custGeom>
              <a:avLst/>
              <a:gdLst/>
              <a:ahLst/>
              <a:cxnLst/>
              <a:rect l="0" t="0" r="0" b="0"/>
              <a:pathLst>
                <a:path w="2220" h="1602">
                  <a:moveTo>
                    <a:pt x="0" y="493"/>
                  </a:moveTo>
                  <a:lnTo>
                    <a:pt x="122" y="493"/>
                  </a:lnTo>
                  <a:moveTo>
                    <a:pt x="1231" y="4"/>
                  </a:moveTo>
                  <a:lnTo>
                    <a:pt x="861" y="371"/>
                  </a:lnTo>
                  <a:moveTo>
                    <a:pt x="780" y="1271"/>
                  </a:moveTo>
                  <a:lnTo>
                    <a:pt x="741" y="1110"/>
                  </a:lnTo>
                  <a:moveTo>
                    <a:pt x="1600" y="1108"/>
                  </a:moveTo>
                  <a:lnTo>
                    <a:pt x="1291" y="1434"/>
                  </a:lnTo>
                  <a:moveTo>
                    <a:pt x="2092" y="1353"/>
                  </a:moveTo>
                  <a:lnTo>
                    <a:pt x="2215" y="1600"/>
                  </a:lnTo>
                </a:path>
              </a:pathLst>
            </a:custGeom>
            <a:noFill/>
            <a:ln w="7620" cap="flat">
              <a:solidFill>
                <a:srgbClr val="FDA103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0" name="path 600"/>
            <p:cNvSpPr/>
            <p:nvPr/>
          </p:nvSpPr>
          <p:spPr>
            <a:xfrm>
              <a:off x="2094738" y="294909"/>
              <a:ext cx="608076" cy="92964"/>
            </a:xfrm>
            <a:custGeom>
              <a:avLst/>
              <a:gdLst/>
              <a:ahLst/>
              <a:cxnLst/>
              <a:rect l="0" t="0" r="0" b="0"/>
              <a:pathLst>
                <a:path w="957" h="146">
                  <a:moveTo>
                    <a:pt x="19" y="19"/>
                  </a:moveTo>
                  <a:cubicBezTo>
                    <a:pt x="247" y="19"/>
                    <a:pt x="477" y="45"/>
                    <a:pt x="477" y="74"/>
                  </a:cubicBezTo>
                  <a:cubicBezTo>
                    <a:pt x="477" y="100"/>
                    <a:pt x="708" y="127"/>
                    <a:pt x="938" y="127"/>
                  </a:cubicBezTo>
                </a:path>
              </a:pathLst>
            </a:custGeom>
            <a:noFill/>
            <a:ln w="24383" cap="flat">
              <a:solidFill>
                <a:srgbClr val="FDA103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02" name="path 602"/>
          <p:cNvSpPr/>
          <p:nvPr/>
        </p:nvSpPr>
        <p:spPr>
          <a:xfrm>
            <a:off x="2695955" y="4066031"/>
            <a:ext cx="547116" cy="559308"/>
          </a:xfrm>
          <a:custGeom>
            <a:avLst/>
            <a:gdLst/>
            <a:ahLst/>
            <a:cxnLst/>
            <a:rect l="0" t="0" r="0" b="0"/>
            <a:pathLst>
              <a:path w="861" h="880">
                <a:moveTo>
                  <a:pt x="0" y="441"/>
                </a:moveTo>
                <a:cubicBezTo>
                  <a:pt x="0" y="196"/>
                  <a:pt x="194" y="0"/>
                  <a:pt x="432" y="0"/>
                </a:cubicBezTo>
                <a:cubicBezTo>
                  <a:pt x="669" y="0"/>
                  <a:pt x="861" y="196"/>
                  <a:pt x="861" y="441"/>
                </a:cubicBezTo>
                <a:cubicBezTo>
                  <a:pt x="861" y="684"/>
                  <a:pt x="669" y="880"/>
                  <a:pt x="432" y="880"/>
                </a:cubicBezTo>
                <a:cubicBezTo>
                  <a:pt x="194" y="880"/>
                  <a:pt x="0" y="684"/>
                  <a:pt x="0" y="441"/>
                </a:cubicBezTo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4" name="textbox 604"/>
          <p:cNvSpPr/>
          <p:nvPr/>
        </p:nvSpPr>
        <p:spPr>
          <a:xfrm>
            <a:off x="2805396" y="4265827"/>
            <a:ext cx="332104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2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节点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pSp>
        <p:nvGrpSpPr>
          <p:cNvPr id="132" name="group 132"/>
          <p:cNvGrpSpPr/>
          <p:nvPr/>
        </p:nvGrpSpPr>
        <p:grpSpPr>
          <a:xfrm rot="21600000">
            <a:off x="1591817" y="3176777"/>
            <a:ext cx="2520695" cy="2417064"/>
            <a:chOff x="0" y="0"/>
            <a:chExt cx="2520695" cy="2417064"/>
          </a:xfrm>
        </p:grpSpPr>
        <p:sp>
          <p:nvSpPr>
            <p:cNvPr id="606" name="path 606"/>
            <p:cNvSpPr/>
            <p:nvPr/>
          </p:nvSpPr>
          <p:spPr>
            <a:xfrm>
              <a:off x="0" y="0"/>
              <a:ext cx="2520695" cy="2417064"/>
            </a:xfrm>
            <a:custGeom>
              <a:avLst/>
              <a:gdLst/>
              <a:ahLst/>
              <a:cxnLst/>
              <a:rect l="0" t="0" r="0" b="0"/>
              <a:pathLst>
                <a:path w="3969" h="3806">
                  <a:moveTo>
                    <a:pt x="13" y="1904"/>
                  </a:moveTo>
                  <a:cubicBezTo>
                    <a:pt x="13" y="860"/>
                    <a:pt x="896" y="13"/>
                    <a:pt x="1986" y="13"/>
                  </a:cubicBezTo>
                  <a:cubicBezTo>
                    <a:pt x="3073" y="13"/>
                    <a:pt x="3956" y="860"/>
                    <a:pt x="3956" y="1904"/>
                  </a:cubicBezTo>
                  <a:cubicBezTo>
                    <a:pt x="3956" y="2948"/>
                    <a:pt x="3073" y="3793"/>
                    <a:pt x="1986" y="3793"/>
                  </a:cubicBezTo>
                  <a:cubicBezTo>
                    <a:pt x="896" y="3793"/>
                    <a:pt x="13" y="2948"/>
                    <a:pt x="13" y="1904"/>
                  </a:cubicBezTo>
                </a:path>
              </a:pathLst>
            </a:custGeom>
            <a:noFill/>
            <a:ln w="16763" cap="flat">
              <a:solidFill>
                <a:srgbClr val="FDA103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8" name="path 608"/>
            <p:cNvSpPr/>
            <p:nvPr/>
          </p:nvSpPr>
          <p:spPr>
            <a:xfrm>
              <a:off x="631673" y="566961"/>
              <a:ext cx="1186935" cy="1044288"/>
            </a:xfrm>
            <a:custGeom>
              <a:avLst/>
              <a:gdLst/>
              <a:ahLst/>
              <a:cxnLst/>
              <a:rect l="0" t="0" r="0" b="0"/>
              <a:pathLst>
                <a:path w="1869" h="1644">
                  <a:moveTo>
                    <a:pt x="374" y="3"/>
                  </a:moveTo>
                  <a:lnTo>
                    <a:pt x="4" y="507"/>
                  </a:lnTo>
                  <a:moveTo>
                    <a:pt x="866" y="128"/>
                  </a:moveTo>
                  <a:lnTo>
                    <a:pt x="991" y="507"/>
                  </a:lnTo>
                  <a:moveTo>
                    <a:pt x="496" y="1640"/>
                  </a:moveTo>
                  <a:lnTo>
                    <a:pt x="866" y="1263"/>
                  </a:lnTo>
                  <a:moveTo>
                    <a:pt x="1497" y="1251"/>
                  </a:moveTo>
                  <a:lnTo>
                    <a:pt x="1867" y="1378"/>
                  </a:lnTo>
                </a:path>
              </a:pathLst>
            </a:custGeom>
            <a:noFill/>
            <a:ln w="7620" cap="flat">
              <a:solidFill>
                <a:srgbClr val="FDA103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10" name="textbox 610"/>
          <p:cNvSpPr/>
          <p:nvPr/>
        </p:nvSpPr>
        <p:spPr>
          <a:xfrm>
            <a:off x="524250" y="1112886"/>
            <a:ext cx="4067809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23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为什么按安全域设置备用需求？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2" name="path 612"/>
          <p:cNvSpPr/>
          <p:nvPr/>
        </p:nvSpPr>
        <p:spPr>
          <a:xfrm>
            <a:off x="4091939" y="4053839"/>
            <a:ext cx="2394203" cy="310895"/>
          </a:xfrm>
          <a:custGeom>
            <a:avLst/>
            <a:gdLst/>
            <a:ahLst/>
            <a:cxnLst/>
            <a:rect l="0" t="0" r="0" b="0"/>
            <a:pathLst>
              <a:path w="3770" h="489">
                <a:moveTo>
                  <a:pt x="19" y="470"/>
                </a:moveTo>
                <a:cubicBezTo>
                  <a:pt x="952" y="470"/>
                  <a:pt x="1884" y="357"/>
                  <a:pt x="1884" y="244"/>
                </a:cubicBezTo>
                <a:cubicBezTo>
                  <a:pt x="1884" y="132"/>
                  <a:pt x="2817" y="19"/>
                  <a:pt x="3751" y="19"/>
                </a:cubicBezTo>
              </a:path>
            </a:pathLst>
          </a:custGeom>
          <a:noFill/>
          <a:ln w="24383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34" name="group 134"/>
          <p:cNvGrpSpPr/>
          <p:nvPr/>
        </p:nvGrpSpPr>
        <p:grpSpPr>
          <a:xfrm rot="21600000">
            <a:off x="4939283" y="4701540"/>
            <a:ext cx="632460" cy="431291"/>
            <a:chOff x="0" y="0"/>
            <a:chExt cx="632460" cy="431291"/>
          </a:xfrm>
        </p:grpSpPr>
        <p:sp>
          <p:nvSpPr>
            <p:cNvPr id="614" name="path 614"/>
            <p:cNvSpPr/>
            <p:nvPr/>
          </p:nvSpPr>
          <p:spPr>
            <a:xfrm>
              <a:off x="59436" y="32003"/>
              <a:ext cx="573024" cy="394716"/>
            </a:xfrm>
            <a:custGeom>
              <a:avLst/>
              <a:gdLst/>
              <a:ahLst/>
              <a:cxnLst/>
              <a:rect l="0" t="0" r="0" b="0"/>
              <a:pathLst>
                <a:path w="902" h="621">
                  <a:moveTo>
                    <a:pt x="204" y="434"/>
                  </a:moveTo>
                  <a:lnTo>
                    <a:pt x="132" y="446"/>
                  </a:lnTo>
                  <a:lnTo>
                    <a:pt x="0" y="585"/>
                  </a:lnTo>
                  <a:lnTo>
                    <a:pt x="50" y="621"/>
                  </a:lnTo>
                  <a:lnTo>
                    <a:pt x="249" y="528"/>
                  </a:lnTo>
                  <a:lnTo>
                    <a:pt x="266" y="477"/>
                  </a:lnTo>
                  <a:lnTo>
                    <a:pt x="388" y="388"/>
                  </a:lnTo>
                  <a:lnTo>
                    <a:pt x="331" y="348"/>
                  </a:lnTo>
                  <a:lnTo>
                    <a:pt x="204" y="434"/>
                  </a:lnTo>
                  <a:close/>
                </a:path>
                <a:path w="902" h="621">
                  <a:moveTo>
                    <a:pt x="864" y="28"/>
                  </a:moveTo>
                  <a:lnTo>
                    <a:pt x="864" y="28"/>
                  </a:lnTo>
                  <a:lnTo>
                    <a:pt x="854" y="21"/>
                  </a:lnTo>
                  <a:lnTo>
                    <a:pt x="842" y="14"/>
                  </a:lnTo>
                  <a:lnTo>
                    <a:pt x="832" y="12"/>
                  </a:lnTo>
                  <a:lnTo>
                    <a:pt x="818" y="7"/>
                  </a:lnTo>
                  <a:lnTo>
                    <a:pt x="794" y="2"/>
                  </a:lnTo>
                  <a:lnTo>
                    <a:pt x="768" y="0"/>
                  </a:lnTo>
                  <a:lnTo>
                    <a:pt x="744" y="2"/>
                  </a:lnTo>
                  <a:lnTo>
                    <a:pt x="720" y="7"/>
                  </a:lnTo>
                  <a:lnTo>
                    <a:pt x="708" y="12"/>
                  </a:lnTo>
                  <a:lnTo>
                    <a:pt x="696" y="14"/>
                  </a:lnTo>
                  <a:lnTo>
                    <a:pt x="686" y="21"/>
                  </a:lnTo>
                  <a:lnTo>
                    <a:pt x="674" y="28"/>
                  </a:lnTo>
                  <a:lnTo>
                    <a:pt x="302" y="285"/>
                  </a:lnTo>
                  <a:lnTo>
                    <a:pt x="492" y="417"/>
                  </a:lnTo>
                  <a:lnTo>
                    <a:pt x="864" y="158"/>
                  </a:lnTo>
                  <a:lnTo>
                    <a:pt x="864" y="158"/>
                  </a:lnTo>
                  <a:lnTo>
                    <a:pt x="873" y="151"/>
                  </a:lnTo>
                  <a:lnTo>
                    <a:pt x="880" y="143"/>
                  </a:lnTo>
                  <a:lnTo>
                    <a:pt x="888" y="134"/>
                  </a:lnTo>
                  <a:lnTo>
                    <a:pt x="892" y="127"/>
                  </a:lnTo>
                  <a:lnTo>
                    <a:pt x="900" y="110"/>
                  </a:lnTo>
                  <a:lnTo>
                    <a:pt x="902" y="93"/>
                  </a:lnTo>
                  <a:lnTo>
                    <a:pt x="900" y="74"/>
                  </a:lnTo>
                  <a:lnTo>
                    <a:pt x="892" y="57"/>
                  </a:lnTo>
                  <a:lnTo>
                    <a:pt x="888" y="50"/>
                  </a:lnTo>
                  <a:lnTo>
                    <a:pt x="880" y="40"/>
                  </a:lnTo>
                  <a:lnTo>
                    <a:pt x="873" y="33"/>
                  </a:lnTo>
                  <a:lnTo>
                    <a:pt x="864" y="28"/>
                  </a:lnTo>
                  <a:lnTo>
                    <a:pt x="864" y="28"/>
                  </a:lnTo>
                  <a:close/>
                  <a:moveTo>
                    <a:pt x="468" y="276"/>
                  </a:moveTo>
                  <a:lnTo>
                    <a:pt x="468" y="276"/>
                  </a:lnTo>
                  <a:lnTo>
                    <a:pt x="458" y="280"/>
                  </a:lnTo>
                  <a:lnTo>
                    <a:pt x="448" y="283"/>
                  </a:lnTo>
                  <a:lnTo>
                    <a:pt x="441" y="280"/>
                  </a:lnTo>
                  <a:lnTo>
                    <a:pt x="432" y="276"/>
                  </a:lnTo>
                  <a:lnTo>
                    <a:pt x="432" y="276"/>
                  </a:lnTo>
                  <a:lnTo>
                    <a:pt x="427" y="271"/>
                  </a:lnTo>
                  <a:lnTo>
                    <a:pt x="427" y="266"/>
                  </a:lnTo>
                  <a:lnTo>
                    <a:pt x="427" y="259"/>
                  </a:lnTo>
                  <a:lnTo>
                    <a:pt x="432" y="254"/>
                  </a:lnTo>
                  <a:lnTo>
                    <a:pt x="722" y="52"/>
                  </a:lnTo>
                  <a:lnTo>
                    <a:pt x="722" y="52"/>
                  </a:lnTo>
                  <a:lnTo>
                    <a:pt x="732" y="48"/>
                  </a:lnTo>
                  <a:lnTo>
                    <a:pt x="741" y="45"/>
                  </a:lnTo>
                  <a:lnTo>
                    <a:pt x="748" y="48"/>
                  </a:lnTo>
                  <a:lnTo>
                    <a:pt x="758" y="52"/>
                  </a:lnTo>
                  <a:lnTo>
                    <a:pt x="758" y="52"/>
                  </a:lnTo>
                  <a:lnTo>
                    <a:pt x="763" y="57"/>
                  </a:lnTo>
                  <a:lnTo>
                    <a:pt x="763" y="64"/>
                  </a:lnTo>
                  <a:lnTo>
                    <a:pt x="763" y="69"/>
                  </a:lnTo>
                  <a:lnTo>
                    <a:pt x="758" y="76"/>
                  </a:lnTo>
                  <a:lnTo>
                    <a:pt x="468" y="276"/>
                  </a:lnTo>
                  <a:close/>
                  <a:moveTo>
                    <a:pt x="828" y="124"/>
                  </a:moveTo>
                  <a:lnTo>
                    <a:pt x="537" y="326"/>
                  </a:lnTo>
                  <a:lnTo>
                    <a:pt x="537" y="326"/>
                  </a:lnTo>
                  <a:lnTo>
                    <a:pt x="530" y="331"/>
                  </a:lnTo>
                  <a:lnTo>
                    <a:pt x="523" y="331"/>
                  </a:lnTo>
                  <a:lnTo>
                    <a:pt x="511" y="331"/>
                  </a:lnTo>
                  <a:lnTo>
                    <a:pt x="504" y="326"/>
                  </a:lnTo>
                  <a:lnTo>
                    <a:pt x="504" y="326"/>
                  </a:lnTo>
                  <a:lnTo>
                    <a:pt x="496" y="319"/>
                  </a:lnTo>
                  <a:lnTo>
                    <a:pt x="496" y="314"/>
                  </a:lnTo>
                  <a:lnTo>
                    <a:pt x="496" y="307"/>
                  </a:lnTo>
                  <a:lnTo>
                    <a:pt x="504" y="302"/>
                  </a:lnTo>
                  <a:lnTo>
                    <a:pt x="792" y="100"/>
                  </a:lnTo>
                  <a:lnTo>
                    <a:pt x="792" y="100"/>
                  </a:lnTo>
                  <a:lnTo>
                    <a:pt x="801" y="98"/>
                  </a:lnTo>
                  <a:lnTo>
                    <a:pt x="808" y="96"/>
                  </a:lnTo>
                  <a:lnTo>
                    <a:pt x="820" y="98"/>
                  </a:lnTo>
                  <a:lnTo>
                    <a:pt x="828" y="100"/>
                  </a:lnTo>
                  <a:lnTo>
                    <a:pt x="828" y="100"/>
                  </a:lnTo>
                  <a:lnTo>
                    <a:pt x="835" y="105"/>
                  </a:lnTo>
                  <a:lnTo>
                    <a:pt x="835" y="112"/>
                  </a:lnTo>
                  <a:lnTo>
                    <a:pt x="835" y="120"/>
                  </a:lnTo>
                  <a:lnTo>
                    <a:pt x="828" y="124"/>
                  </a:lnTo>
                  <a:lnTo>
                    <a:pt x="828" y="124"/>
                  </a:lnTo>
                  <a:close/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16" name="path 616"/>
            <p:cNvSpPr/>
            <p:nvPr/>
          </p:nvSpPr>
          <p:spPr>
            <a:xfrm>
              <a:off x="0" y="0"/>
              <a:ext cx="618744" cy="431291"/>
            </a:xfrm>
            <a:custGeom>
              <a:avLst/>
              <a:gdLst/>
              <a:ahLst/>
              <a:cxnLst/>
              <a:rect l="0" t="0" r="0" b="0"/>
              <a:pathLst>
                <a:path w="974" h="679">
                  <a:moveTo>
                    <a:pt x="936" y="523"/>
                  </a:moveTo>
                  <a:lnTo>
                    <a:pt x="936" y="523"/>
                  </a:lnTo>
                  <a:lnTo>
                    <a:pt x="746" y="398"/>
                  </a:lnTo>
                  <a:lnTo>
                    <a:pt x="573" y="518"/>
                  </a:lnTo>
                  <a:lnTo>
                    <a:pt x="573" y="518"/>
                  </a:lnTo>
                  <a:lnTo>
                    <a:pt x="681" y="597"/>
                  </a:lnTo>
                  <a:lnTo>
                    <a:pt x="751" y="652"/>
                  </a:lnTo>
                  <a:lnTo>
                    <a:pt x="751" y="652"/>
                  </a:lnTo>
                  <a:lnTo>
                    <a:pt x="751" y="652"/>
                  </a:lnTo>
                  <a:lnTo>
                    <a:pt x="760" y="657"/>
                  </a:lnTo>
                  <a:lnTo>
                    <a:pt x="770" y="664"/>
                  </a:lnTo>
                  <a:lnTo>
                    <a:pt x="796" y="671"/>
                  </a:lnTo>
                  <a:lnTo>
                    <a:pt x="818" y="676"/>
                  </a:lnTo>
                  <a:lnTo>
                    <a:pt x="844" y="679"/>
                  </a:lnTo>
                  <a:lnTo>
                    <a:pt x="868" y="676"/>
                  </a:lnTo>
                  <a:lnTo>
                    <a:pt x="892" y="671"/>
                  </a:lnTo>
                  <a:lnTo>
                    <a:pt x="916" y="664"/>
                  </a:lnTo>
                  <a:lnTo>
                    <a:pt x="928" y="657"/>
                  </a:lnTo>
                  <a:lnTo>
                    <a:pt x="936" y="652"/>
                  </a:lnTo>
                  <a:lnTo>
                    <a:pt x="936" y="652"/>
                  </a:lnTo>
                  <a:lnTo>
                    <a:pt x="945" y="645"/>
                  </a:lnTo>
                  <a:lnTo>
                    <a:pt x="952" y="638"/>
                  </a:lnTo>
                  <a:lnTo>
                    <a:pt x="964" y="621"/>
                  </a:lnTo>
                  <a:lnTo>
                    <a:pt x="972" y="604"/>
                  </a:lnTo>
                  <a:lnTo>
                    <a:pt x="974" y="587"/>
                  </a:lnTo>
                  <a:lnTo>
                    <a:pt x="969" y="571"/>
                  </a:lnTo>
                  <a:lnTo>
                    <a:pt x="964" y="554"/>
                  </a:lnTo>
                  <a:lnTo>
                    <a:pt x="950" y="537"/>
                  </a:lnTo>
                  <a:lnTo>
                    <a:pt x="945" y="530"/>
                  </a:lnTo>
                  <a:lnTo>
                    <a:pt x="936" y="523"/>
                  </a:lnTo>
                  <a:lnTo>
                    <a:pt x="936" y="523"/>
                  </a:lnTo>
                  <a:close/>
                  <a:moveTo>
                    <a:pt x="883" y="614"/>
                  </a:moveTo>
                  <a:lnTo>
                    <a:pt x="883" y="614"/>
                  </a:lnTo>
                  <a:lnTo>
                    <a:pt x="873" y="619"/>
                  </a:lnTo>
                  <a:lnTo>
                    <a:pt x="864" y="621"/>
                  </a:lnTo>
                  <a:lnTo>
                    <a:pt x="856" y="623"/>
                  </a:lnTo>
                  <a:lnTo>
                    <a:pt x="844" y="623"/>
                  </a:lnTo>
                  <a:lnTo>
                    <a:pt x="835" y="623"/>
                  </a:lnTo>
                  <a:lnTo>
                    <a:pt x="825" y="621"/>
                  </a:lnTo>
                  <a:lnTo>
                    <a:pt x="816" y="619"/>
                  </a:lnTo>
                  <a:lnTo>
                    <a:pt x="808" y="614"/>
                  </a:lnTo>
                  <a:lnTo>
                    <a:pt x="808" y="614"/>
                  </a:lnTo>
                  <a:lnTo>
                    <a:pt x="801" y="607"/>
                  </a:lnTo>
                  <a:lnTo>
                    <a:pt x="796" y="602"/>
                  </a:lnTo>
                  <a:lnTo>
                    <a:pt x="794" y="595"/>
                  </a:lnTo>
                  <a:lnTo>
                    <a:pt x="794" y="587"/>
                  </a:lnTo>
                  <a:lnTo>
                    <a:pt x="794" y="580"/>
                  </a:lnTo>
                  <a:lnTo>
                    <a:pt x="796" y="573"/>
                  </a:lnTo>
                  <a:lnTo>
                    <a:pt x="801" y="568"/>
                  </a:lnTo>
                  <a:lnTo>
                    <a:pt x="808" y="561"/>
                  </a:lnTo>
                  <a:lnTo>
                    <a:pt x="808" y="561"/>
                  </a:lnTo>
                  <a:lnTo>
                    <a:pt x="816" y="556"/>
                  </a:lnTo>
                  <a:lnTo>
                    <a:pt x="825" y="554"/>
                  </a:lnTo>
                  <a:lnTo>
                    <a:pt x="835" y="551"/>
                  </a:lnTo>
                  <a:lnTo>
                    <a:pt x="844" y="551"/>
                  </a:lnTo>
                  <a:lnTo>
                    <a:pt x="856" y="551"/>
                  </a:lnTo>
                  <a:lnTo>
                    <a:pt x="864" y="554"/>
                  </a:lnTo>
                  <a:lnTo>
                    <a:pt x="873" y="556"/>
                  </a:lnTo>
                  <a:lnTo>
                    <a:pt x="883" y="561"/>
                  </a:lnTo>
                  <a:lnTo>
                    <a:pt x="883" y="561"/>
                  </a:lnTo>
                  <a:lnTo>
                    <a:pt x="888" y="568"/>
                  </a:lnTo>
                  <a:lnTo>
                    <a:pt x="892" y="573"/>
                  </a:lnTo>
                  <a:lnTo>
                    <a:pt x="897" y="580"/>
                  </a:lnTo>
                  <a:lnTo>
                    <a:pt x="897" y="587"/>
                  </a:lnTo>
                  <a:lnTo>
                    <a:pt x="897" y="595"/>
                  </a:lnTo>
                  <a:lnTo>
                    <a:pt x="892" y="602"/>
                  </a:lnTo>
                  <a:lnTo>
                    <a:pt x="888" y="607"/>
                  </a:lnTo>
                  <a:lnTo>
                    <a:pt x="883" y="614"/>
                  </a:lnTo>
                  <a:lnTo>
                    <a:pt x="883" y="614"/>
                  </a:lnTo>
                  <a:close/>
                </a:path>
                <a:path w="974" h="679">
                  <a:moveTo>
                    <a:pt x="242" y="0"/>
                  </a:moveTo>
                  <a:lnTo>
                    <a:pt x="242" y="0"/>
                  </a:lnTo>
                  <a:lnTo>
                    <a:pt x="218" y="0"/>
                  </a:lnTo>
                  <a:lnTo>
                    <a:pt x="194" y="2"/>
                  </a:lnTo>
                  <a:lnTo>
                    <a:pt x="172" y="7"/>
                  </a:lnTo>
                  <a:lnTo>
                    <a:pt x="148" y="12"/>
                  </a:lnTo>
                  <a:lnTo>
                    <a:pt x="278" y="103"/>
                  </a:lnTo>
                  <a:lnTo>
                    <a:pt x="278" y="103"/>
                  </a:lnTo>
                  <a:lnTo>
                    <a:pt x="287" y="110"/>
                  </a:lnTo>
                  <a:lnTo>
                    <a:pt x="292" y="115"/>
                  </a:lnTo>
                  <a:lnTo>
                    <a:pt x="297" y="124"/>
                  </a:lnTo>
                  <a:lnTo>
                    <a:pt x="297" y="132"/>
                  </a:lnTo>
                  <a:lnTo>
                    <a:pt x="297" y="139"/>
                  </a:lnTo>
                  <a:lnTo>
                    <a:pt x="292" y="148"/>
                  </a:lnTo>
                  <a:lnTo>
                    <a:pt x="287" y="156"/>
                  </a:lnTo>
                  <a:lnTo>
                    <a:pt x="278" y="163"/>
                  </a:lnTo>
                  <a:lnTo>
                    <a:pt x="230" y="196"/>
                  </a:lnTo>
                  <a:lnTo>
                    <a:pt x="230" y="196"/>
                  </a:lnTo>
                  <a:lnTo>
                    <a:pt x="220" y="201"/>
                  </a:lnTo>
                  <a:lnTo>
                    <a:pt x="211" y="203"/>
                  </a:lnTo>
                  <a:lnTo>
                    <a:pt x="199" y="208"/>
                  </a:lnTo>
                  <a:lnTo>
                    <a:pt x="189" y="208"/>
                  </a:lnTo>
                  <a:lnTo>
                    <a:pt x="177" y="208"/>
                  </a:lnTo>
                  <a:lnTo>
                    <a:pt x="163" y="203"/>
                  </a:lnTo>
                  <a:lnTo>
                    <a:pt x="155" y="201"/>
                  </a:lnTo>
                  <a:lnTo>
                    <a:pt x="143" y="196"/>
                  </a:lnTo>
                  <a:lnTo>
                    <a:pt x="16" y="107"/>
                  </a:lnTo>
                  <a:lnTo>
                    <a:pt x="16" y="107"/>
                  </a:lnTo>
                  <a:lnTo>
                    <a:pt x="12" y="122"/>
                  </a:lnTo>
                  <a:lnTo>
                    <a:pt x="4" y="136"/>
                  </a:lnTo>
                  <a:lnTo>
                    <a:pt x="2" y="151"/>
                  </a:lnTo>
                  <a:lnTo>
                    <a:pt x="0" y="167"/>
                  </a:lnTo>
                  <a:lnTo>
                    <a:pt x="0" y="167"/>
                  </a:lnTo>
                  <a:lnTo>
                    <a:pt x="2" y="184"/>
                  </a:lnTo>
                  <a:lnTo>
                    <a:pt x="7" y="201"/>
                  </a:lnTo>
                  <a:lnTo>
                    <a:pt x="12" y="218"/>
                  </a:lnTo>
                  <a:lnTo>
                    <a:pt x="19" y="232"/>
                  </a:lnTo>
                  <a:lnTo>
                    <a:pt x="31" y="247"/>
                  </a:lnTo>
                  <a:lnTo>
                    <a:pt x="40" y="261"/>
                  </a:lnTo>
                  <a:lnTo>
                    <a:pt x="57" y="276"/>
                  </a:lnTo>
                  <a:lnTo>
                    <a:pt x="72" y="288"/>
                  </a:lnTo>
                  <a:lnTo>
                    <a:pt x="88" y="297"/>
                  </a:lnTo>
                  <a:lnTo>
                    <a:pt x="107" y="307"/>
                  </a:lnTo>
                  <a:lnTo>
                    <a:pt x="127" y="316"/>
                  </a:lnTo>
                  <a:lnTo>
                    <a:pt x="148" y="323"/>
                  </a:lnTo>
                  <a:lnTo>
                    <a:pt x="170" y="328"/>
                  </a:lnTo>
                  <a:lnTo>
                    <a:pt x="194" y="333"/>
                  </a:lnTo>
                  <a:lnTo>
                    <a:pt x="218" y="336"/>
                  </a:lnTo>
                  <a:lnTo>
                    <a:pt x="242" y="336"/>
                  </a:lnTo>
                  <a:lnTo>
                    <a:pt x="242" y="336"/>
                  </a:lnTo>
                  <a:lnTo>
                    <a:pt x="268" y="336"/>
                  </a:lnTo>
                  <a:lnTo>
                    <a:pt x="292" y="333"/>
                  </a:lnTo>
                  <a:lnTo>
                    <a:pt x="316" y="328"/>
                  </a:lnTo>
                  <a:lnTo>
                    <a:pt x="338" y="323"/>
                  </a:lnTo>
                  <a:lnTo>
                    <a:pt x="360" y="316"/>
                  </a:lnTo>
                  <a:lnTo>
                    <a:pt x="379" y="307"/>
                  </a:lnTo>
                  <a:lnTo>
                    <a:pt x="395" y="297"/>
                  </a:lnTo>
                  <a:lnTo>
                    <a:pt x="412" y="288"/>
                  </a:lnTo>
                  <a:lnTo>
                    <a:pt x="429" y="276"/>
                  </a:lnTo>
                  <a:lnTo>
                    <a:pt x="443" y="261"/>
                  </a:lnTo>
                  <a:lnTo>
                    <a:pt x="455" y="247"/>
                  </a:lnTo>
                  <a:lnTo>
                    <a:pt x="465" y="232"/>
                  </a:lnTo>
                  <a:lnTo>
                    <a:pt x="475" y="218"/>
                  </a:lnTo>
                  <a:lnTo>
                    <a:pt x="480" y="201"/>
                  </a:lnTo>
                  <a:lnTo>
                    <a:pt x="484" y="184"/>
                  </a:lnTo>
                  <a:lnTo>
                    <a:pt x="484" y="167"/>
                  </a:lnTo>
                  <a:lnTo>
                    <a:pt x="484" y="167"/>
                  </a:lnTo>
                  <a:lnTo>
                    <a:pt x="484" y="151"/>
                  </a:lnTo>
                  <a:lnTo>
                    <a:pt x="480" y="134"/>
                  </a:lnTo>
                  <a:lnTo>
                    <a:pt x="475" y="117"/>
                  </a:lnTo>
                  <a:lnTo>
                    <a:pt x="465" y="103"/>
                  </a:lnTo>
                  <a:lnTo>
                    <a:pt x="455" y="86"/>
                  </a:lnTo>
                  <a:lnTo>
                    <a:pt x="443" y="74"/>
                  </a:lnTo>
                  <a:lnTo>
                    <a:pt x="429" y="60"/>
                  </a:lnTo>
                  <a:lnTo>
                    <a:pt x="412" y="47"/>
                  </a:lnTo>
                  <a:lnTo>
                    <a:pt x="395" y="38"/>
                  </a:lnTo>
                  <a:lnTo>
                    <a:pt x="379" y="28"/>
                  </a:lnTo>
                  <a:lnTo>
                    <a:pt x="360" y="19"/>
                  </a:lnTo>
                  <a:lnTo>
                    <a:pt x="338" y="12"/>
                  </a:lnTo>
                  <a:lnTo>
                    <a:pt x="316" y="7"/>
                  </a:lnTo>
                  <a:lnTo>
                    <a:pt x="292" y="2"/>
                  </a:lnTo>
                  <a:lnTo>
                    <a:pt x="268" y="0"/>
                  </a:lnTo>
                  <a:lnTo>
                    <a:pt x="242" y="0"/>
                  </a:lnTo>
                  <a:lnTo>
                    <a:pt x="242" y="0"/>
                  </a:lnTo>
                  <a:close/>
                </a:path>
              </a:pathLst>
            </a:custGeom>
            <a:solidFill>
              <a:srgbClr val="6A717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18" name="textbox 618"/>
          <p:cNvSpPr/>
          <p:nvPr/>
        </p:nvSpPr>
        <p:spPr>
          <a:xfrm>
            <a:off x="653774" y="5381607"/>
            <a:ext cx="1111885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提供备用的电源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0" name="textbox 620"/>
          <p:cNvSpPr/>
          <p:nvPr/>
        </p:nvSpPr>
        <p:spPr>
          <a:xfrm>
            <a:off x="4671839" y="2199811"/>
            <a:ext cx="916305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整个区域网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36" name="group 136"/>
          <p:cNvGrpSpPr/>
          <p:nvPr/>
        </p:nvGrpSpPr>
        <p:grpSpPr>
          <a:xfrm rot="21600000">
            <a:off x="9028176" y="3593591"/>
            <a:ext cx="504443" cy="291084"/>
            <a:chOff x="0" y="0"/>
            <a:chExt cx="504443" cy="291084"/>
          </a:xfrm>
        </p:grpSpPr>
        <p:sp>
          <p:nvSpPr>
            <p:cNvPr id="622" name="path 622"/>
            <p:cNvSpPr/>
            <p:nvPr/>
          </p:nvSpPr>
          <p:spPr>
            <a:xfrm>
              <a:off x="57911" y="1524"/>
              <a:ext cx="387094" cy="196595"/>
            </a:xfrm>
            <a:custGeom>
              <a:avLst/>
              <a:gdLst/>
              <a:ahLst/>
              <a:cxnLst/>
              <a:rect l="0" t="0" r="0" b="0"/>
              <a:pathLst>
                <a:path w="609" h="309">
                  <a:moveTo>
                    <a:pt x="40" y="309"/>
                  </a:moveTo>
                  <a:lnTo>
                    <a:pt x="0" y="285"/>
                  </a:lnTo>
                  <a:lnTo>
                    <a:pt x="240" y="81"/>
                  </a:lnTo>
                  <a:lnTo>
                    <a:pt x="383" y="170"/>
                  </a:lnTo>
                  <a:lnTo>
                    <a:pt x="554" y="9"/>
                  </a:lnTo>
                  <a:lnTo>
                    <a:pt x="597" y="31"/>
                  </a:lnTo>
                  <a:lnTo>
                    <a:pt x="388" y="227"/>
                  </a:lnTo>
                  <a:lnTo>
                    <a:pt x="244" y="136"/>
                  </a:lnTo>
                  <a:lnTo>
                    <a:pt x="40" y="309"/>
                  </a:lnTo>
                  <a:lnTo>
                    <a:pt x="40" y="309"/>
                  </a:lnTo>
                  <a:close/>
                </a:path>
                <a:path w="609" h="309">
                  <a:moveTo>
                    <a:pt x="477" y="0"/>
                  </a:moveTo>
                  <a:lnTo>
                    <a:pt x="609" y="0"/>
                  </a:lnTo>
                  <a:lnTo>
                    <a:pt x="609" y="95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4" name="path 624"/>
            <p:cNvSpPr/>
            <p:nvPr/>
          </p:nvSpPr>
          <p:spPr>
            <a:xfrm>
              <a:off x="0" y="0"/>
              <a:ext cx="504443" cy="291084"/>
            </a:xfrm>
            <a:custGeom>
              <a:avLst/>
              <a:gdLst/>
              <a:ahLst/>
              <a:cxnLst/>
              <a:rect l="0" t="0" r="0" b="0"/>
              <a:pathLst>
                <a:path w="794" h="458">
                  <a:moveTo>
                    <a:pt x="794" y="458"/>
                  </a:moveTo>
                  <a:lnTo>
                    <a:pt x="0" y="458"/>
                  </a:lnTo>
                  <a:lnTo>
                    <a:pt x="0" y="0"/>
                  </a:lnTo>
                  <a:lnTo>
                    <a:pt x="45" y="0"/>
                  </a:lnTo>
                  <a:lnTo>
                    <a:pt x="45" y="427"/>
                  </a:lnTo>
                  <a:lnTo>
                    <a:pt x="794" y="427"/>
                  </a:lnTo>
                  <a:lnTo>
                    <a:pt x="794" y="458"/>
                  </a:lnTo>
                  <a:lnTo>
                    <a:pt x="794" y="458"/>
                  </a:lnTo>
                  <a:close/>
                </a:path>
                <a:path w="794" h="458">
                  <a:moveTo>
                    <a:pt x="127" y="336"/>
                  </a:moveTo>
                  <a:lnTo>
                    <a:pt x="215" y="336"/>
                  </a:lnTo>
                  <a:lnTo>
                    <a:pt x="215" y="434"/>
                  </a:lnTo>
                  <a:lnTo>
                    <a:pt x="127" y="434"/>
                  </a:lnTo>
                  <a:lnTo>
                    <a:pt x="127" y="336"/>
                  </a:lnTo>
                  <a:close/>
                  <a:moveTo>
                    <a:pt x="287" y="213"/>
                  </a:moveTo>
                  <a:lnTo>
                    <a:pt x="376" y="213"/>
                  </a:lnTo>
                  <a:lnTo>
                    <a:pt x="376" y="434"/>
                  </a:lnTo>
                  <a:lnTo>
                    <a:pt x="287" y="434"/>
                  </a:lnTo>
                  <a:lnTo>
                    <a:pt x="287" y="213"/>
                  </a:lnTo>
                  <a:close/>
                  <a:moveTo>
                    <a:pt x="451" y="276"/>
                  </a:moveTo>
                  <a:lnTo>
                    <a:pt x="540" y="276"/>
                  </a:lnTo>
                  <a:lnTo>
                    <a:pt x="540" y="434"/>
                  </a:lnTo>
                  <a:lnTo>
                    <a:pt x="451" y="434"/>
                  </a:lnTo>
                  <a:lnTo>
                    <a:pt x="451" y="276"/>
                  </a:lnTo>
                  <a:close/>
                  <a:moveTo>
                    <a:pt x="611" y="129"/>
                  </a:moveTo>
                  <a:lnTo>
                    <a:pt x="700" y="129"/>
                  </a:lnTo>
                  <a:lnTo>
                    <a:pt x="700" y="434"/>
                  </a:lnTo>
                  <a:lnTo>
                    <a:pt x="611" y="434"/>
                  </a:lnTo>
                  <a:lnTo>
                    <a:pt x="611" y="129"/>
                  </a:lnTo>
                  <a:close/>
                </a:path>
              </a:pathLst>
            </a:custGeom>
            <a:solidFill>
              <a:srgbClr val="6A717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26" name="path 626"/>
          <p:cNvSpPr/>
          <p:nvPr/>
        </p:nvSpPr>
        <p:spPr>
          <a:xfrm>
            <a:off x="1359408" y="4974335"/>
            <a:ext cx="684276" cy="170688"/>
          </a:xfrm>
          <a:custGeom>
            <a:avLst/>
            <a:gdLst/>
            <a:ahLst/>
            <a:cxnLst/>
            <a:rect l="0" t="0" r="0" b="0"/>
            <a:pathLst>
              <a:path w="1077" h="268">
                <a:moveTo>
                  <a:pt x="19" y="249"/>
                </a:moveTo>
                <a:cubicBezTo>
                  <a:pt x="278" y="249"/>
                  <a:pt x="540" y="191"/>
                  <a:pt x="540" y="134"/>
                </a:cubicBezTo>
                <a:cubicBezTo>
                  <a:pt x="540" y="76"/>
                  <a:pt x="799" y="19"/>
                  <a:pt x="1058" y="19"/>
                </a:cubicBezTo>
              </a:path>
            </a:pathLst>
          </a:custGeom>
          <a:noFill/>
          <a:ln w="24383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28" name="picture 6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picture 6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3652" y="1929384"/>
            <a:ext cx="10253471" cy="4562855"/>
          </a:xfrm>
          <a:prstGeom prst="rect">
            <a:avLst/>
          </a:prstGeom>
        </p:spPr>
      </p:pic>
      <p:sp>
        <p:nvSpPr>
          <p:cNvPr id="632" name="textbox 632"/>
          <p:cNvSpPr/>
          <p:nvPr/>
        </p:nvSpPr>
        <p:spPr>
          <a:xfrm>
            <a:off x="407024" y="3046581"/>
            <a:ext cx="4920615" cy="2826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52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38000"/>
              </a:lnSpc>
              <a:tabLst/>
            </a:pPr>
            <a:r>
              <a:rPr sz="13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基于申报信息以及电网运行边界条件，</a:t>
            </a:r>
            <a:r>
              <a:rPr sz="1300" b="1" kern="0" spc="-2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采用安全约束机组组合</a:t>
            </a:r>
            <a:r>
              <a:rPr sz="13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SCUC</a:t>
            </a:r>
            <a:r>
              <a:rPr sz="13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）和安全约束经济调度（</a:t>
            </a: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SCED</a:t>
            </a:r>
            <a:r>
              <a:rPr sz="13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）程序进</a:t>
            </a:r>
            <a:r>
              <a:rPr sz="13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行优化计算，</a:t>
            </a:r>
            <a:r>
              <a:rPr sz="1300" b="1" kern="0" spc="-2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</a:t>
            </a:r>
            <a:r>
              <a:rPr sz="13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清得到日前市场交易结果。简单而言，在保证电网安全的前提下，</a:t>
            </a:r>
            <a:r>
              <a:rPr sz="13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优先调用系统中报价最为便宜</a:t>
            </a:r>
            <a:r>
              <a:rPr sz="13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的机组，直至满足负荷需求。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9385" algn="l" rtl="0" eaLnBrk="0">
              <a:lnSpc>
                <a:spcPct val="84000"/>
              </a:lnSpc>
              <a:spcBef>
                <a:spcPts val="396"/>
              </a:spcBef>
              <a:tabLst/>
            </a:pPr>
            <a:r>
              <a:rPr sz="13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电力现货市场价格随着负荷需求、电网约束以及电源参与类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52400" algn="l" rtl="0" eaLnBrk="0">
              <a:lnSpc>
                <a:spcPct val="155000"/>
              </a:lnSpc>
              <a:spcBef>
                <a:spcPts val="23"/>
              </a:spcBef>
              <a:tabLst/>
            </a:pPr>
            <a:r>
              <a:rPr sz="13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型等因素变化而变化。并由于这</a:t>
            </a:r>
            <a:r>
              <a:rPr sz="13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些因素的不确定性，导致电</a:t>
            </a:r>
            <a:r>
              <a:rPr sz="13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3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力现货价格的大幅波动和跳跃。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34" name="textbox 634"/>
          <p:cNvSpPr/>
          <p:nvPr/>
        </p:nvSpPr>
        <p:spPr>
          <a:xfrm>
            <a:off x="522749" y="1112886"/>
            <a:ext cx="2724150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5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现货市场的出清机制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36" name="textbox 636"/>
          <p:cNvSpPr/>
          <p:nvPr/>
        </p:nvSpPr>
        <p:spPr>
          <a:xfrm>
            <a:off x="578192" y="2451529"/>
            <a:ext cx="295402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7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发电侧单边报价 或 发用两侧报价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38" name="path 638"/>
          <p:cNvSpPr/>
          <p:nvPr/>
        </p:nvSpPr>
        <p:spPr>
          <a:xfrm>
            <a:off x="508999" y="2810255"/>
            <a:ext cx="3022125" cy="36576"/>
          </a:xfrm>
          <a:custGeom>
            <a:avLst/>
            <a:gdLst/>
            <a:ahLst/>
            <a:cxnLst/>
            <a:rect l="0" t="0" r="0" b="0"/>
            <a:pathLst>
              <a:path w="4759" h="57">
                <a:moveTo>
                  <a:pt x="0" y="26"/>
                </a:moveTo>
                <a:lnTo>
                  <a:pt x="4759" y="31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40" name="picture 6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rect 642"/>
          <p:cNvSpPr/>
          <p:nvPr/>
        </p:nvSpPr>
        <p:spPr>
          <a:xfrm>
            <a:off x="643128" y="1976628"/>
            <a:ext cx="9813035" cy="2097023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44" name="table 644"/>
          <p:cNvGraphicFramePr>
            <a:graphicFrameLocks noGrp="1"/>
          </p:cNvGraphicFramePr>
          <p:nvPr/>
        </p:nvGraphicFramePr>
        <p:xfrm>
          <a:off x="530352" y="1929384"/>
          <a:ext cx="9815830" cy="209359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9815830"/>
              </a:tblGrid>
              <a:tr h="398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4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在满足当前输电网络设备约束条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件和各类其他资源工作特点的情况下，在节点增加单位负荷需求时的边际成本。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78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6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有效反映电力商品时间、空间价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值；在短期有效引导用电行为，在长期指引电网公司合理规划输电资源；节点电价机制是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83185" algn="l" rtl="0" eaLnBrk="0">
                        <a:lnSpc>
                          <a:spcPts val="2520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最为成熟的考虑安全约束的价格机制。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46" name="picture 6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618093" y="5568695"/>
            <a:ext cx="6350" cy="1217676"/>
          </a:xfrm>
          <a:prstGeom prst="rect">
            <a:avLst/>
          </a:prstGeom>
        </p:spPr>
      </p:pic>
      <p:grpSp>
        <p:nvGrpSpPr>
          <p:cNvPr id="138" name="group 138"/>
          <p:cNvGrpSpPr/>
          <p:nvPr/>
        </p:nvGrpSpPr>
        <p:grpSpPr>
          <a:xfrm rot="21600000">
            <a:off x="7167371" y="5675376"/>
            <a:ext cx="2842260" cy="928116"/>
            <a:chOff x="0" y="0"/>
            <a:chExt cx="2842260" cy="928116"/>
          </a:xfrm>
        </p:grpSpPr>
        <p:grpSp>
          <p:nvGrpSpPr>
            <p:cNvPr id="140" name="group 140"/>
            <p:cNvGrpSpPr/>
            <p:nvPr/>
          </p:nvGrpSpPr>
          <p:grpSpPr>
            <a:xfrm rot="21600000">
              <a:off x="0" y="0"/>
              <a:ext cx="2842260" cy="928116"/>
              <a:chOff x="0" y="0"/>
              <a:chExt cx="2842260" cy="928116"/>
            </a:xfrm>
          </p:grpSpPr>
          <p:sp>
            <p:nvSpPr>
              <p:cNvPr id="648" name="path 648"/>
              <p:cNvSpPr/>
              <p:nvPr/>
            </p:nvSpPr>
            <p:spPr>
              <a:xfrm>
                <a:off x="54864" y="48768"/>
                <a:ext cx="2787396" cy="879348"/>
              </a:xfrm>
              <a:custGeom>
                <a:avLst/>
                <a:gdLst/>
                <a:ahLst/>
                <a:cxnLst/>
                <a:rect l="0" t="0" r="0" b="0"/>
                <a:pathLst>
                  <a:path w="4389" h="1384">
                    <a:moveTo>
                      <a:pt x="0" y="693"/>
                    </a:moveTo>
                    <a:cubicBezTo>
                      <a:pt x="0" y="309"/>
                      <a:pt x="309" y="0"/>
                      <a:pt x="693" y="0"/>
                    </a:cubicBezTo>
                    <a:lnTo>
                      <a:pt x="3698" y="0"/>
                    </a:lnTo>
                    <a:cubicBezTo>
                      <a:pt x="4080" y="0"/>
                      <a:pt x="4389" y="309"/>
                      <a:pt x="4389" y="693"/>
                    </a:cubicBezTo>
                    <a:lnTo>
                      <a:pt x="4389" y="693"/>
                    </a:lnTo>
                    <a:cubicBezTo>
                      <a:pt x="4389" y="1075"/>
                      <a:pt x="4080" y="1384"/>
                      <a:pt x="3698" y="1384"/>
                    </a:cubicBezTo>
                    <a:lnTo>
                      <a:pt x="693" y="1384"/>
                    </a:lnTo>
                    <a:cubicBezTo>
                      <a:pt x="309" y="1384"/>
                      <a:pt x="0" y="1075"/>
                      <a:pt x="0" y="693"/>
                    </a:cubicBezTo>
                  </a:path>
                </a:pathLst>
              </a:custGeom>
              <a:solidFill>
                <a:srgbClr val="D9D9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0" name="path 650"/>
              <p:cNvSpPr/>
              <p:nvPr/>
            </p:nvSpPr>
            <p:spPr>
              <a:xfrm>
                <a:off x="1523" y="1523"/>
                <a:ext cx="2790443" cy="879348"/>
              </a:xfrm>
              <a:custGeom>
                <a:avLst/>
                <a:gdLst/>
                <a:ahLst/>
                <a:cxnLst/>
                <a:rect l="0" t="0" r="0" b="0"/>
                <a:pathLst>
                  <a:path w="4394" h="1384">
                    <a:moveTo>
                      <a:pt x="0" y="693"/>
                    </a:moveTo>
                    <a:cubicBezTo>
                      <a:pt x="0" y="309"/>
                      <a:pt x="311" y="0"/>
                      <a:pt x="693" y="0"/>
                    </a:cubicBezTo>
                    <a:lnTo>
                      <a:pt x="3700" y="0"/>
                    </a:lnTo>
                    <a:cubicBezTo>
                      <a:pt x="4084" y="0"/>
                      <a:pt x="4394" y="309"/>
                      <a:pt x="4394" y="693"/>
                    </a:cubicBezTo>
                    <a:lnTo>
                      <a:pt x="4394" y="693"/>
                    </a:lnTo>
                    <a:cubicBezTo>
                      <a:pt x="4394" y="1075"/>
                      <a:pt x="4084" y="1384"/>
                      <a:pt x="3700" y="1384"/>
                    </a:cubicBezTo>
                    <a:lnTo>
                      <a:pt x="693" y="1384"/>
                    </a:lnTo>
                    <a:cubicBezTo>
                      <a:pt x="311" y="1384"/>
                      <a:pt x="0" y="1075"/>
                      <a:pt x="0" y="693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2" name="path 652"/>
              <p:cNvSpPr/>
              <p:nvPr/>
            </p:nvSpPr>
            <p:spPr>
              <a:xfrm>
                <a:off x="0" y="0"/>
                <a:ext cx="2793491" cy="882396"/>
              </a:xfrm>
              <a:custGeom>
                <a:avLst/>
                <a:gdLst/>
                <a:ahLst/>
                <a:cxnLst/>
                <a:rect l="0" t="0" r="0" b="0"/>
                <a:pathLst>
                  <a:path w="4399" h="1389">
                    <a:moveTo>
                      <a:pt x="2" y="696"/>
                    </a:moveTo>
                    <a:cubicBezTo>
                      <a:pt x="2" y="312"/>
                      <a:pt x="314" y="2"/>
                      <a:pt x="695" y="2"/>
                    </a:cubicBezTo>
                    <a:lnTo>
                      <a:pt x="3703" y="2"/>
                    </a:lnTo>
                    <a:cubicBezTo>
                      <a:pt x="4087" y="2"/>
                      <a:pt x="4396" y="312"/>
                      <a:pt x="4396" y="696"/>
                    </a:cubicBezTo>
                    <a:lnTo>
                      <a:pt x="4396" y="696"/>
                    </a:lnTo>
                    <a:cubicBezTo>
                      <a:pt x="4396" y="1077"/>
                      <a:pt x="4087" y="1387"/>
                      <a:pt x="3703" y="1387"/>
                    </a:cubicBezTo>
                    <a:lnTo>
                      <a:pt x="695" y="1387"/>
                    </a:lnTo>
                    <a:cubicBezTo>
                      <a:pt x="314" y="1387"/>
                      <a:pt x="2" y="1077"/>
                      <a:pt x="2" y="696"/>
                    </a:cubicBezTo>
                  </a:path>
                </a:pathLst>
              </a:custGeom>
              <a:noFill/>
              <a:ln w="3048" cap="flat">
                <a:solidFill>
                  <a:srgbClr val="A6A6A6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54" name="textbox 654"/>
            <p:cNvSpPr/>
            <p:nvPr/>
          </p:nvSpPr>
          <p:spPr>
            <a:xfrm>
              <a:off x="-12700" y="-12700"/>
              <a:ext cx="2868295" cy="9696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515619" algn="l" rtl="0" eaLnBrk="0">
                <a:lnSpc>
                  <a:spcPct val="131000"/>
                </a:lnSpc>
                <a:spcBef>
                  <a:spcPts val="4"/>
                </a:spcBef>
                <a:tabLst/>
              </a:pPr>
              <a:r>
                <a:rPr sz="12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反映系统网损的价格，输配</a:t>
              </a:r>
              <a:r>
                <a:rPr sz="12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2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电价中已考虑网损，节点电</a:t>
              </a:r>
              <a:r>
                <a:rPr sz="12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200" b="1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价中不考虑网损。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656" name="picture 6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07336" y="5576316"/>
            <a:ext cx="6350" cy="1210055"/>
          </a:xfrm>
          <a:prstGeom prst="rect">
            <a:avLst/>
          </a:prstGeom>
        </p:spPr>
      </p:pic>
      <p:grpSp>
        <p:nvGrpSpPr>
          <p:cNvPr id="142" name="group 142"/>
          <p:cNvGrpSpPr/>
          <p:nvPr/>
        </p:nvGrpSpPr>
        <p:grpSpPr>
          <a:xfrm rot="21600000">
            <a:off x="643128" y="5635752"/>
            <a:ext cx="2674619" cy="929639"/>
            <a:chOff x="0" y="0"/>
            <a:chExt cx="2674619" cy="929639"/>
          </a:xfrm>
        </p:grpSpPr>
        <p:grpSp>
          <p:nvGrpSpPr>
            <p:cNvPr id="144" name="group 144"/>
            <p:cNvGrpSpPr/>
            <p:nvPr/>
          </p:nvGrpSpPr>
          <p:grpSpPr>
            <a:xfrm rot="21600000">
              <a:off x="0" y="0"/>
              <a:ext cx="2674619" cy="929639"/>
              <a:chOff x="0" y="0"/>
              <a:chExt cx="2674619" cy="929639"/>
            </a:xfrm>
          </p:grpSpPr>
          <p:sp>
            <p:nvSpPr>
              <p:cNvPr id="658" name="path 658"/>
              <p:cNvSpPr/>
              <p:nvPr/>
            </p:nvSpPr>
            <p:spPr>
              <a:xfrm>
                <a:off x="30479" y="50291"/>
                <a:ext cx="2644139" cy="879348"/>
              </a:xfrm>
              <a:custGeom>
                <a:avLst/>
                <a:gdLst/>
                <a:ahLst/>
                <a:cxnLst/>
                <a:rect l="0" t="0" r="0" b="0"/>
                <a:pathLst>
                  <a:path w="4163" h="1384">
                    <a:moveTo>
                      <a:pt x="0" y="691"/>
                    </a:moveTo>
                    <a:cubicBezTo>
                      <a:pt x="0" y="309"/>
                      <a:pt x="309" y="0"/>
                      <a:pt x="693" y="0"/>
                    </a:cubicBezTo>
                    <a:lnTo>
                      <a:pt x="3472" y="0"/>
                    </a:lnTo>
                    <a:cubicBezTo>
                      <a:pt x="3854" y="0"/>
                      <a:pt x="4163" y="309"/>
                      <a:pt x="4163" y="691"/>
                    </a:cubicBezTo>
                    <a:lnTo>
                      <a:pt x="4163" y="691"/>
                    </a:lnTo>
                    <a:cubicBezTo>
                      <a:pt x="4163" y="1072"/>
                      <a:pt x="3854" y="1384"/>
                      <a:pt x="3472" y="1384"/>
                    </a:cubicBezTo>
                    <a:lnTo>
                      <a:pt x="693" y="1384"/>
                    </a:lnTo>
                    <a:cubicBezTo>
                      <a:pt x="309" y="1384"/>
                      <a:pt x="0" y="1072"/>
                      <a:pt x="0" y="691"/>
                    </a:cubicBezTo>
                  </a:path>
                </a:pathLst>
              </a:custGeom>
              <a:solidFill>
                <a:srgbClr val="D9D9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0" name="path 660"/>
              <p:cNvSpPr/>
              <p:nvPr/>
            </p:nvSpPr>
            <p:spPr>
              <a:xfrm>
                <a:off x="1523" y="1523"/>
                <a:ext cx="2644140" cy="879348"/>
              </a:xfrm>
              <a:custGeom>
                <a:avLst/>
                <a:gdLst/>
                <a:ahLst/>
                <a:cxnLst/>
                <a:rect l="0" t="0" r="0" b="0"/>
                <a:pathLst>
                  <a:path w="4164" h="1384">
                    <a:moveTo>
                      <a:pt x="0" y="693"/>
                    </a:moveTo>
                    <a:cubicBezTo>
                      <a:pt x="0" y="312"/>
                      <a:pt x="311" y="0"/>
                      <a:pt x="693" y="0"/>
                    </a:cubicBezTo>
                    <a:lnTo>
                      <a:pt x="3472" y="0"/>
                    </a:lnTo>
                    <a:cubicBezTo>
                      <a:pt x="3854" y="0"/>
                      <a:pt x="4164" y="312"/>
                      <a:pt x="4164" y="693"/>
                    </a:cubicBezTo>
                    <a:lnTo>
                      <a:pt x="4164" y="693"/>
                    </a:lnTo>
                    <a:cubicBezTo>
                      <a:pt x="4164" y="1075"/>
                      <a:pt x="3854" y="1384"/>
                      <a:pt x="3472" y="1384"/>
                    </a:cubicBezTo>
                    <a:lnTo>
                      <a:pt x="693" y="1384"/>
                    </a:lnTo>
                    <a:cubicBezTo>
                      <a:pt x="311" y="1384"/>
                      <a:pt x="0" y="1075"/>
                      <a:pt x="0" y="693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2" name="path 662"/>
              <p:cNvSpPr/>
              <p:nvPr/>
            </p:nvSpPr>
            <p:spPr>
              <a:xfrm>
                <a:off x="0" y="0"/>
                <a:ext cx="2647188" cy="882396"/>
              </a:xfrm>
              <a:custGeom>
                <a:avLst/>
                <a:gdLst/>
                <a:ahLst/>
                <a:cxnLst/>
                <a:rect l="0" t="0" r="0" b="0"/>
                <a:pathLst>
                  <a:path w="4168" h="1389">
                    <a:moveTo>
                      <a:pt x="2" y="696"/>
                    </a:moveTo>
                    <a:cubicBezTo>
                      <a:pt x="2" y="314"/>
                      <a:pt x="314" y="2"/>
                      <a:pt x="695" y="2"/>
                    </a:cubicBezTo>
                    <a:lnTo>
                      <a:pt x="3475" y="2"/>
                    </a:lnTo>
                    <a:cubicBezTo>
                      <a:pt x="3856" y="2"/>
                      <a:pt x="4166" y="314"/>
                      <a:pt x="4166" y="696"/>
                    </a:cubicBezTo>
                    <a:lnTo>
                      <a:pt x="4166" y="696"/>
                    </a:lnTo>
                    <a:cubicBezTo>
                      <a:pt x="4166" y="1077"/>
                      <a:pt x="3856" y="1387"/>
                      <a:pt x="3475" y="1387"/>
                    </a:cubicBezTo>
                    <a:lnTo>
                      <a:pt x="695" y="1387"/>
                    </a:lnTo>
                    <a:cubicBezTo>
                      <a:pt x="314" y="1387"/>
                      <a:pt x="2" y="1077"/>
                      <a:pt x="2" y="696"/>
                    </a:cubicBezTo>
                  </a:path>
                </a:pathLst>
              </a:custGeom>
              <a:noFill/>
              <a:ln w="3048" cap="flat">
                <a:solidFill>
                  <a:srgbClr val="A6A6A6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64" name="textbox 664"/>
            <p:cNvSpPr/>
            <p:nvPr/>
          </p:nvSpPr>
          <p:spPr>
            <a:xfrm>
              <a:off x="-12700" y="-12700"/>
              <a:ext cx="2700020" cy="9550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8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86715" algn="l" rtl="0" eaLnBrk="0">
                <a:lnSpc>
                  <a:spcPct val="84000"/>
                </a:lnSpc>
                <a:tabLst/>
              </a:pPr>
              <a:r>
                <a:rPr sz="12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不考虑阻塞与网络的情况下，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388620" algn="l" rtl="0" eaLnBrk="0">
                <a:lnSpc>
                  <a:spcPts val="2206"/>
                </a:lnSpc>
                <a:tabLst/>
              </a:pPr>
              <a:r>
                <a:rPr sz="12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无约束最优调度的发电成本。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666" name="picture 6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64352" y="5570219"/>
            <a:ext cx="6350" cy="1216151"/>
          </a:xfrm>
          <a:prstGeom prst="rect">
            <a:avLst/>
          </a:prstGeom>
        </p:spPr>
      </p:pic>
      <p:sp>
        <p:nvSpPr>
          <p:cNvPr id="668" name="textbox 668"/>
          <p:cNvSpPr/>
          <p:nvPr/>
        </p:nvSpPr>
        <p:spPr>
          <a:xfrm>
            <a:off x="4030980" y="5708903"/>
            <a:ext cx="2586354" cy="879475"/>
          </a:xfrm>
          <a:prstGeom prst="rect">
            <a:avLst/>
          </a:prstGeom>
          <a:solidFill>
            <a:srgbClr val="D9D9D9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8155" algn="l" rtl="0" eaLnBrk="0">
              <a:lnSpc>
                <a:spcPct val="84000"/>
              </a:lnSpc>
              <a:spcBef>
                <a:spcPts val="1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反映输电线路阻塞对系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556259" algn="l" rtl="0" eaLnBrk="0">
              <a:lnSpc>
                <a:spcPts val="2205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统发电成本的影响。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46" name="group 146"/>
          <p:cNvGrpSpPr/>
          <p:nvPr/>
        </p:nvGrpSpPr>
        <p:grpSpPr>
          <a:xfrm rot="21600000">
            <a:off x="4005072" y="5660135"/>
            <a:ext cx="2590799" cy="882396"/>
            <a:chOff x="0" y="0"/>
            <a:chExt cx="2590799" cy="882396"/>
          </a:xfrm>
        </p:grpSpPr>
        <p:sp>
          <p:nvSpPr>
            <p:cNvPr id="670" name="path 670"/>
            <p:cNvSpPr/>
            <p:nvPr/>
          </p:nvSpPr>
          <p:spPr>
            <a:xfrm>
              <a:off x="1523" y="1524"/>
              <a:ext cx="2587751" cy="879348"/>
            </a:xfrm>
            <a:custGeom>
              <a:avLst/>
              <a:gdLst/>
              <a:ahLst/>
              <a:cxnLst/>
              <a:rect l="0" t="0" r="0" b="0"/>
              <a:pathLst>
                <a:path w="4075" h="1384">
                  <a:moveTo>
                    <a:pt x="0" y="691"/>
                  </a:moveTo>
                  <a:cubicBezTo>
                    <a:pt x="0" y="309"/>
                    <a:pt x="309" y="0"/>
                    <a:pt x="693" y="0"/>
                  </a:cubicBezTo>
                  <a:lnTo>
                    <a:pt x="3381" y="0"/>
                  </a:lnTo>
                  <a:cubicBezTo>
                    <a:pt x="3765" y="0"/>
                    <a:pt x="4075" y="309"/>
                    <a:pt x="4075" y="691"/>
                  </a:cubicBezTo>
                  <a:lnTo>
                    <a:pt x="4075" y="691"/>
                  </a:lnTo>
                  <a:cubicBezTo>
                    <a:pt x="4075" y="1075"/>
                    <a:pt x="3765" y="1384"/>
                    <a:pt x="3381" y="1384"/>
                  </a:cubicBezTo>
                  <a:lnTo>
                    <a:pt x="693" y="1384"/>
                  </a:lnTo>
                  <a:cubicBezTo>
                    <a:pt x="309" y="1384"/>
                    <a:pt x="0" y="1075"/>
                    <a:pt x="0" y="691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72" name="path 672"/>
            <p:cNvSpPr/>
            <p:nvPr/>
          </p:nvSpPr>
          <p:spPr>
            <a:xfrm>
              <a:off x="0" y="0"/>
              <a:ext cx="2590799" cy="882396"/>
            </a:xfrm>
            <a:custGeom>
              <a:avLst/>
              <a:gdLst/>
              <a:ahLst/>
              <a:cxnLst/>
              <a:rect l="0" t="0" r="0" b="0"/>
              <a:pathLst>
                <a:path w="4079" h="1389">
                  <a:moveTo>
                    <a:pt x="2" y="693"/>
                  </a:moveTo>
                  <a:cubicBezTo>
                    <a:pt x="2" y="312"/>
                    <a:pt x="312" y="2"/>
                    <a:pt x="695" y="2"/>
                  </a:cubicBezTo>
                  <a:lnTo>
                    <a:pt x="3383" y="2"/>
                  </a:lnTo>
                  <a:cubicBezTo>
                    <a:pt x="3767" y="2"/>
                    <a:pt x="4077" y="312"/>
                    <a:pt x="4077" y="693"/>
                  </a:cubicBezTo>
                  <a:lnTo>
                    <a:pt x="4077" y="693"/>
                  </a:lnTo>
                  <a:cubicBezTo>
                    <a:pt x="4077" y="1077"/>
                    <a:pt x="3767" y="1387"/>
                    <a:pt x="3383" y="1387"/>
                  </a:cubicBezTo>
                  <a:lnTo>
                    <a:pt x="695" y="1387"/>
                  </a:lnTo>
                  <a:cubicBezTo>
                    <a:pt x="312" y="1387"/>
                    <a:pt x="2" y="1077"/>
                    <a:pt x="2" y="693"/>
                  </a:cubicBezTo>
                </a:path>
              </a:pathLst>
            </a:custGeom>
            <a:noFill/>
            <a:ln w="3048" cap="flat">
              <a:solidFill>
                <a:srgbClr val="A6A6A6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674" name="picture 6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1856" y="5359907"/>
            <a:ext cx="9948671" cy="207264"/>
          </a:xfrm>
          <a:prstGeom prst="rect">
            <a:avLst/>
          </a:prstGeom>
        </p:spPr>
      </p:pic>
      <p:sp>
        <p:nvSpPr>
          <p:cNvPr id="676" name="textbox 676"/>
          <p:cNvSpPr/>
          <p:nvPr/>
        </p:nvSpPr>
        <p:spPr>
          <a:xfrm>
            <a:off x="4356431" y="4234595"/>
            <a:ext cx="2025650" cy="993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节点边际电价(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LMP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878839" algn="l" rtl="0" eaLnBrk="0">
              <a:lnSpc>
                <a:spcPts val="1950"/>
              </a:lnSpc>
              <a:spcBef>
                <a:spcPts val="1322"/>
              </a:spcBef>
              <a:tabLst/>
            </a:pPr>
            <a:r>
              <a:rPr sz="31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3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8295" algn="l" rtl="0" eaLnBrk="0">
              <a:lnSpc>
                <a:spcPct val="87000"/>
              </a:lnSpc>
              <a:tabLst/>
            </a:pPr>
            <a:r>
              <a:rPr sz="1500" b="1" kern="0" spc="7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输电阻塞成本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78" name="textbox 678"/>
          <p:cNvSpPr/>
          <p:nvPr/>
        </p:nvSpPr>
        <p:spPr>
          <a:xfrm>
            <a:off x="537160" y="1112886"/>
            <a:ext cx="3310254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电力现货市场的节点电价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0" name="textbox 680"/>
          <p:cNvSpPr/>
          <p:nvPr/>
        </p:nvSpPr>
        <p:spPr>
          <a:xfrm>
            <a:off x="531875" y="1929384"/>
            <a:ext cx="2204085" cy="311150"/>
          </a:xfrm>
          <a:prstGeom prst="rect">
            <a:avLst/>
          </a:pr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82879" algn="l" rtl="0" eaLnBrk="0">
              <a:lnSpc>
                <a:spcPct val="86000"/>
              </a:lnSpc>
              <a:spcBef>
                <a:spcPts val="5"/>
              </a:spcBef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节点电价：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2" name="textbox 682"/>
          <p:cNvSpPr/>
          <p:nvPr/>
        </p:nvSpPr>
        <p:spPr>
          <a:xfrm>
            <a:off x="531875" y="2851403"/>
            <a:ext cx="2204085" cy="311150"/>
          </a:xfrm>
          <a:prstGeom prst="rect">
            <a:avLst/>
          </a:pr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0029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优势：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4" name="textbox 684"/>
          <p:cNvSpPr/>
          <p:nvPr/>
        </p:nvSpPr>
        <p:spPr>
          <a:xfrm>
            <a:off x="1277864" y="5010124"/>
            <a:ext cx="1229994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7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系统能量价格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6" name="textbox 686"/>
          <p:cNvSpPr/>
          <p:nvPr/>
        </p:nvSpPr>
        <p:spPr>
          <a:xfrm>
            <a:off x="7937036" y="4949930"/>
            <a:ext cx="1221739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6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网络损耗成本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8" name="textbox 688"/>
          <p:cNvSpPr/>
          <p:nvPr/>
        </p:nvSpPr>
        <p:spPr>
          <a:xfrm>
            <a:off x="3371987" y="4862956"/>
            <a:ext cx="300990" cy="300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168"/>
              </a:lnSpc>
              <a:tabLst/>
            </a:pPr>
            <a:r>
              <a:rPr sz="3100" b="1" kern="0" spc="-21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sz="3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0" name="textbox 690"/>
          <p:cNvSpPr/>
          <p:nvPr/>
        </p:nvSpPr>
        <p:spPr>
          <a:xfrm>
            <a:off x="6765823" y="4794293"/>
            <a:ext cx="300990" cy="300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168"/>
              </a:lnSpc>
              <a:tabLst/>
            </a:pPr>
            <a:r>
              <a:rPr sz="3100" b="1" kern="0" spc="-21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sz="3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92" name="picture 6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694" name="path 694"/>
          <p:cNvSpPr/>
          <p:nvPr/>
        </p:nvSpPr>
        <p:spPr>
          <a:xfrm>
            <a:off x="10149839" y="5189219"/>
            <a:ext cx="170688" cy="231648"/>
          </a:xfrm>
          <a:custGeom>
            <a:avLst/>
            <a:gdLst/>
            <a:ahLst/>
            <a:cxnLst/>
            <a:rect l="0" t="0" r="0" b="0"/>
            <a:pathLst>
              <a:path w="268" h="364">
                <a:moveTo>
                  <a:pt x="19" y="19"/>
                </a:moveTo>
                <a:lnTo>
                  <a:pt x="249" y="345"/>
                </a:lnTo>
              </a:path>
            </a:pathLst>
          </a:custGeom>
          <a:noFill/>
          <a:ln w="24383" cap="rnd">
            <a:solidFill>
              <a:srgbClr val="A6A6A6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6" name="path 696"/>
          <p:cNvSpPr/>
          <p:nvPr/>
        </p:nvSpPr>
        <p:spPr>
          <a:xfrm>
            <a:off x="1726692" y="5347716"/>
            <a:ext cx="167640" cy="109728"/>
          </a:xfrm>
          <a:custGeom>
            <a:avLst/>
            <a:gdLst/>
            <a:ahLst/>
            <a:cxnLst/>
            <a:rect l="0" t="0" r="0" b="0"/>
            <a:pathLst>
              <a:path w="264" h="172">
                <a:moveTo>
                  <a:pt x="19" y="86"/>
                </a:moveTo>
                <a:cubicBezTo>
                  <a:pt x="19" y="48"/>
                  <a:pt x="69" y="19"/>
                  <a:pt x="132" y="19"/>
                </a:cubicBezTo>
                <a:cubicBezTo>
                  <a:pt x="194" y="19"/>
                  <a:pt x="244" y="48"/>
                  <a:pt x="244" y="86"/>
                </a:cubicBezTo>
                <a:cubicBezTo>
                  <a:pt x="244" y="124"/>
                  <a:pt x="194" y="153"/>
                  <a:pt x="132" y="153"/>
                </a:cubicBezTo>
                <a:cubicBezTo>
                  <a:pt x="69" y="153"/>
                  <a:pt x="19" y="124"/>
                  <a:pt x="19" y="86"/>
                </a:cubicBezTo>
              </a:path>
            </a:pathLst>
          </a:custGeom>
          <a:noFill/>
          <a:ln w="24383" cap="rnd">
            <a:solidFill>
              <a:srgbClr val="2F5597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8" name="path 698"/>
          <p:cNvSpPr/>
          <p:nvPr/>
        </p:nvSpPr>
        <p:spPr>
          <a:xfrm>
            <a:off x="5291327" y="5341619"/>
            <a:ext cx="152400" cy="111252"/>
          </a:xfrm>
          <a:custGeom>
            <a:avLst/>
            <a:gdLst/>
            <a:ahLst/>
            <a:cxnLst/>
            <a:rect l="0" t="0" r="0" b="0"/>
            <a:pathLst>
              <a:path w="240" h="175">
                <a:moveTo>
                  <a:pt x="19" y="86"/>
                </a:moveTo>
                <a:cubicBezTo>
                  <a:pt x="19" y="48"/>
                  <a:pt x="62" y="19"/>
                  <a:pt x="120" y="19"/>
                </a:cubicBezTo>
                <a:cubicBezTo>
                  <a:pt x="175" y="19"/>
                  <a:pt x="220" y="48"/>
                  <a:pt x="220" y="86"/>
                </a:cubicBezTo>
                <a:cubicBezTo>
                  <a:pt x="220" y="124"/>
                  <a:pt x="175" y="156"/>
                  <a:pt x="120" y="156"/>
                </a:cubicBezTo>
                <a:cubicBezTo>
                  <a:pt x="62" y="156"/>
                  <a:pt x="19" y="124"/>
                  <a:pt x="19" y="86"/>
                </a:cubicBezTo>
              </a:path>
            </a:pathLst>
          </a:custGeom>
          <a:noFill/>
          <a:ln w="24383" cap="rnd">
            <a:solidFill>
              <a:srgbClr val="2F5597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148"/>
          <p:cNvGrpSpPr/>
          <p:nvPr/>
        </p:nvGrpSpPr>
        <p:grpSpPr>
          <a:xfrm rot="21600000">
            <a:off x="3769614" y="2611373"/>
            <a:ext cx="475487" cy="475488"/>
            <a:chOff x="0" y="0"/>
            <a:chExt cx="475487" cy="475488"/>
          </a:xfrm>
        </p:grpSpPr>
        <p:grpSp>
          <p:nvGrpSpPr>
            <p:cNvPr id="150" name="group 150"/>
            <p:cNvGrpSpPr/>
            <p:nvPr/>
          </p:nvGrpSpPr>
          <p:grpSpPr>
            <a:xfrm rot="21600000">
              <a:off x="0" y="0"/>
              <a:ext cx="475487" cy="475488"/>
              <a:chOff x="0" y="0"/>
              <a:chExt cx="475487" cy="475488"/>
            </a:xfrm>
          </p:grpSpPr>
          <p:sp>
            <p:nvSpPr>
              <p:cNvPr id="700" name="path 700"/>
              <p:cNvSpPr/>
              <p:nvPr/>
            </p:nvSpPr>
            <p:spPr>
              <a:xfrm>
                <a:off x="3809" y="3810"/>
                <a:ext cx="467867" cy="467867"/>
              </a:xfrm>
              <a:custGeom>
                <a:avLst/>
                <a:gdLst/>
                <a:ahLst/>
                <a:cxnLst/>
                <a:rect l="0" t="0" r="0" b="0"/>
                <a:pathLst>
                  <a:path w="736" h="736">
                    <a:moveTo>
                      <a:pt x="0" y="367"/>
                    </a:moveTo>
                    <a:cubicBezTo>
                      <a:pt x="0" y="163"/>
                      <a:pt x="163" y="0"/>
                      <a:pt x="367" y="0"/>
                    </a:cubicBezTo>
                    <a:cubicBezTo>
                      <a:pt x="571" y="0"/>
                      <a:pt x="736" y="163"/>
                      <a:pt x="736" y="367"/>
                    </a:cubicBezTo>
                    <a:cubicBezTo>
                      <a:pt x="736" y="571"/>
                      <a:pt x="571" y="736"/>
                      <a:pt x="367" y="736"/>
                    </a:cubicBezTo>
                    <a:cubicBezTo>
                      <a:pt x="163" y="736"/>
                      <a:pt x="0" y="571"/>
                      <a:pt x="0" y="367"/>
                    </a:cubicBezTo>
                  </a:path>
                </a:pathLst>
              </a:custGeom>
              <a:solidFill>
                <a:srgbClr val="ED7D31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2" name="path 702"/>
              <p:cNvSpPr/>
              <p:nvPr/>
            </p:nvSpPr>
            <p:spPr>
              <a:xfrm>
                <a:off x="0" y="0"/>
                <a:ext cx="475487" cy="475488"/>
              </a:xfrm>
              <a:custGeom>
                <a:avLst/>
                <a:gdLst/>
                <a:ahLst/>
                <a:cxnLst/>
                <a:rect l="0" t="0" r="0" b="0"/>
                <a:pathLst>
                  <a:path w="748" h="748">
                    <a:moveTo>
                      <a:pt x="5" y="373"/>
                    </a:moveTo>
                    <a:cubicBezTo>
                      <a:pt x="5" y="169"/>
                      <a:pt x="169" y="6"/>
                      <a:pt x="373" y="6"/>
                    </a:cubicBezTo>
                    <a:cubicBezTo>
                      <a:pt x="577" y="6"/>
                      <a:pt x="742" y="169"/>
                      <a:pt x="742" y="373"/>
                    </a:cubicBezTo>
                    <a:cubicBezTo>
                      <a:pt x="742" y="577"/>
                      <a:pt x="577" y="742"/>
                      <a:pt x="373" y="742"/>
                    </a:cubicBezTo>
                    <a:cubicBezTo>
                      <a:pt x="169" y="742"/>
                      <a:pt x="5" y="577"/>
                      <a:pt x="5" y="373"/>
                    </a:cubicBezTo>
                  </a:path>
                </a:pathLst>
              </a:custGeom>
              <a:noFill/>
              <a:ln w="7620" cap="flat">
                <a:solidFill>
                  <a:srgbClr val="00006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04" name="textbox 704"/>
            <p:cNvSpPr/>
            <p:nvPr/>
          </p:nvSpPr>
          <p:spPr>
            <a:xfrm>
              <a:off x="-12700" y="-12700"/>
              <a:ext cx="501015" cy="507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6519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2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母线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706" name="picture 7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22376" y="2022347"/>
            <a:ext cx="8773668" cy="2631948"/>
          </a:xfrm>
          <a:prstGeom prst="rect">
            <a:avLst/>
          </a:prstGeom>
        </p:spPr>
      </p:pic>
      <p:sp>
        <p:nvSpPr>
          <p:cNvPr id="708" name="textbox 708"/>
          <p:cNvSpPr/>
          <p:nvPr/>
        </p:nvSpPr>
        <p:spPr>
          <a:xfrm>
            <a:off x="1675360" y="6011372"/>
            <a:ext cx="7507605" cy="419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04"/>
              </a:lnSpc>
              <a:tabLst/>
            </a:pP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母线i的    网损因子=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LF</a:t>
            </a:r>
            <a:r>
              <a:rPr sz="2100" b="1" kern="0" spc="0" baseline="-669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1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网损惩罚因子（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PF</a:t>
            </a:r>
            <a:r>
              <a:rPr sz="2100" b="1" kern="0" spc="0" baseline="-669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20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20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 /</a:t>
            </a:r>
            <a:r>
              <a:rPr sz="20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sz="20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1-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LF</a:t>
            </a:r>
            <a:r>
              <a:rPr sz="2100" b="1" kern="0" spc="0" baseline="-669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1300" b="1" kern="0" spc="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52" name="group 152"/>
          <p:cNvGrpSpPr/>
          <p:nvPr/>
        </p:nvGrpSpPr>
        <p:grpSpPr>
          <a:xfrm rot="21600000">
            <a:off x="6506718" y="2422398"/>
            <a:ext cx="475488" cy="475488"/>
            <a:chOff x="0" y="0"/>
            <a:chExt cx="475488" cy="475488"/>
          </a:xfrm>
        </p:grpSpPr>
        <p:grpSp>
          <p:nvGrpSpPr>
            <p:cNvPr id="154" name="group 154"/>
            <p:cNvGrpSpPr/>
            <p:nvPr/>
          </p:nvGrpSpPr>
          <p:grpSpPr>
            <a:xfrm rot="21600000">
              <a:off x="0" y="0"/>
              <a:ext cx="475488" cy="475488"/>
              <a:chOff x="0" y="0"/>
              <a:chExt cx="475488" cy="475488"/>
            </a:xfrm>
          </p:grpSpPr>
          <p:sp>
            <p:nvSpPr>
              <p:cNvPr id="710" name="path 710"/>
              <p:cNvSpPr/>
              <p:nvPr/>
            </p:nvSpPr>
            <p:spPr>
              <a:xfrm>
                <a:off x="3809" y="3810"/>
                <a:ext cx="467867" cy="467867"/>
              </a:xfrm>
              <a:custGeom>
                <a:avLst/>
                <a:gdLst/>
                <a:ahLst/>
                <a:cxnLst/>
                <a:rect l="0" t="0" r="0" b="0"/>
                <a:pathLst>
                  <a:path w="736" h="736">
                    <a:moveTo>
                      <a:pt x="0" y="367"/>
                    </a:moveTo>
                    <a:cubicBezTo>
                      <a:pt x="0" y="163"/>
                      <a:pt x="163" y="0"/>
                      <a:pt x="367" y="0"/>
                    </a:cubicBezTo>
                    <a:cubicBezTo>
                      <a:pt x="571" y="0"/>
                      <a:pt x="736" y="163"/>
                      <a:pt x="736" y="367"/>
                    </a:cubicBezTo>
                    <a:cubicBezTo>
                      <a:pt x="736" y="571"/>
                      <a:pt x="571" y="736"/>
                      <a:pt x="367" y="736"/>
                    </a:cubicBezTo>
                    <a:cubicBezTo>
                      <a:pt x="163" y="736"/>
                      <a:pt x="0" y="571"/>
                      <a:pt x="0" y="367"/>
                    </a:cubicBezTo>
                  </a:path>
                </a:pathLst>
              </a:custGeom>
              <a:solidFill>
                <a:srgbClr val="ED7D31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path 712"/>
              <p:cNvSpPr/>
              <p:nvPr/>
            </p:nvSpPr>
            <p:spPr>
              <a:xfrm>
                <a:off x="0" y="0"/>
                <a:ext cx="475488" cy="475488"/>
              </a:xfrm>
              <a:custGeom>
                <a:avLst/>
                <a:gdLst/>
                <a:ahLst/>
                <a:cxnLst/>
                <a:rect l="0" t="0" r="0" b="0"/>
                <a:pathLst>
                  <a:path w="748" h="748">
                    <a:moveTo>
                      <a:pt x="5" y="373"/>
                    </a:moveTo>
                    <a:cubicBezTo>
                      <a:pt x="5" y="169"/>
                      <a:pt x="169" y="6"/>
                      <a:pt x="373" y="6"/>
                    </a:cubicBezTo>
                    <a:cubicBezTo>
                      <a:pt x="577" y="6"/>
                      <a:pt x="742" y="169"/>
                      <a:pt x="742" y="373"/>
                    </a:cubicBezTo>
                    <a:cubicBezTo>
                      <a:pt x="742" y="577"/>
                      <a:pt x="577" y="742"/>
                      <a:pt x="373" y="742"/>
                    </a:cubicBezTo>
                    <a:cubicBezTo>
                      <a:pt x="169" y="742"/>
                      <a:pt x="5" y="577"/>
                      <a:pt x="5" y="373"/>
                    </a:cubicBezTo>
                  </a:path>
                </a:pathLst>
              </a:custGeom>
              <a:noFill/>
              <a:ln w="7620" cap="flat">
                <a:solidFill>
                  <a:srgbClr val="00006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14" name="textbox 714"/>
            <p:cNvSpPr/>
            <p:nvPr/>
          </p:nvSpPr>
          <p:spPr>
            <a:xfrm>
              <a:off x="-12700" y="-12700"/>
              <a:ext cx="501015" cy="507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6519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12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母线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56" name="group 156"/>
          <p:cNvGrpSpPr/>
          <p:nvPr/>
        </p:nvGrpSpPr>
        <p:grpSpPr>
          <a:xfrm rot="21600000">
            <a:off x="6448806" y="3813809"/>
            <a:ext cx="475488" cy="475488"/>
            <a:chOff x="0" y="0"/>
            <a:chExt cx="475488" cy="475488"/>
          </a:xfrm>
        </p:grpSpPr>
        <p:sp>
          <p:nvSpPr>
            <p:cNvPr id="716" name="path 716"/>
            <p:cNvSpPr/>
            <p:nvPr/>
          </p:nvSpPr>
          <p:spPr>
            <a:xfrm>
              <a:off x="3809" y="3810"/>
              <a:ext cx="467868" cy="467867"/>
            </a:xfrm>
            <a:custGeom>
              <a:avLst/>
              <a:gdLst/>
              <a:ahLst/>
              <a:cxnLst/>
              <a:rect l="0" t="0" r="0" b="0"/>
              <a:pathLst>
                <a:path w="736" h="736">
                  <a:moveTo>
                    <a:pt x="0" y="367"/>
                  </a:moveTo>
                  <a:cubicBezTo>
                    <a:pt x="0" y="165"/>
                    <a:pt x="165" y="0"/>
                    <a:pt x="369" y="0"/>
                  </a:cubicBezTo>
                  <a:cubicBezTo>
                    <a:pt x="571" y="0"/>
                    <a:pt x="736" y="165"/>
                    <a:pt x="736" y="367"/>
                  </a:cubicBezTo>
                  <a:cubicBezTo>
                    <a:pt x="736" y="571"/>
                    <a:pt x="571" y="736"/>
                    <a:pt x="369" y="736"/>
                  </a:cubicBezTo>
                  <a:cubicBezTo>
                    <a:pt x="165" y="736"/>
                    <a:pt x="0" y="571"/>
                    <a:pt x="0" y="367"/>
                  </a:cubicBezTo>
                </a:path>
              </a:pathLst>
            </a:custGeom>
            <a:solidFill>
              <a:srgbClr val="C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18" name="path 718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0" t="0" r="0" b="0"/>
              <a:pathLst>
                <a:path w="748" h="748">
                  <a:moveTo>
                    <a:pt x="5" y="373"/>
                  </a:moveTo>
                  <a:cubicBezTo>
                    <a:pt x="5" y="171"/>
                    <a:pt x="171" y="6"/>
                    <a:pt x="375" y="6"/>
                  </a:cubicBezTo>
                  <a:cubicBezTo>
                    <a:pt x="577" y="6"/>
                    <a:pt x="742" y="171"/>
                    <a:pt x="742" y="373"/>
                  </a:cubicBezTo>
                  <a:cubicBezTo>
                    <a:pt x="742" y="577"/>
                    <a:pt x="577" y="742"/>
                    <a:pt x="375" y="742"/>
                  </a:cubicBezTo>
                  <a:cubicBezTo>
                    <a:pt x="171" y="742"/>
                    <a:pt x="5" y="577"/>
                    <a:pt x="5" y="373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58" name="group 158"/>
          <p:cNvGrpSpPr/>
          <p:nvPr/>
        </p:nvGrpSpPr>
        <p:grpSpPr>
          <a:xfrm rot="21600000">
            <a:off x="6852666" y="2776416"/>
            <a:ext cx="1376293" cy="1109021"/>
            <a:chOff x="0" y="0"/>
            <a:chExt cx="1376293" cy="1109021"/>
          </a:xfrm>
        </p:grpSpPr>
        <p:grpSp>
          <p:nvGrpSpPr>
            <p:cNvPr id="160" name="group 160"/>
            <p:cNvGrpSpPr/>
            <p:nvPr/>
          </p:nvGrpSpPr>
          <p:grpSpPr>
            <a:xfrm rot="21600000">
              <a:off x="0" y="0"/>
              <a:ext cx="1376293" cy="1109021"/>
              <a:chOff x="0" y="0"/>
              <a:chExt cx="1376293" cy="1109021"/>
            </a:xfrm>
          </p:grpSpPr>
          <p:sp>
            <p:nvSpPr>
              <p:cNvPr id="720" name="path 720"/>
              <p:cNvSpPr/>
              <p:nvPr/>
            </p:nvSpPr>
            <p:spPr>
              <a:xfrm>
                <a:off x="5333" y="571"/>
                <a:ext cx="1370388" cy="1103115"/>
              </a:xfrm>
              <a:custGeom>
                <a:avLst/>
                <a:gdLst/>
                <a:ahLst/>
                <a:cxnLst/>
                <a:rect l="0" t="0" r="0" b="0"/>
                <a:pathLst>
                  <a:path w="2158" h="1737">
                    <a:moveTo>
                      <a:pt x="0" y="1737"/>
                    </a:moveTo>
                    <a:lnTo>
                      <a:pt x="866" y="863"/>
                    </a:lnTo>
                    <a:cubicBezTo>
                      <a:pt x="628" y="628"/>
                      <a:pt x="691" y="292"/>
                      <a:pt x="1005" y="114"/>
                    </a:cubicBezTo>
                    <a:cubicBezTo>
                      <a:pt x="1320" y="-62"/>
                      <a:pt x="1768" y="-14"/>
                      <a:pt x="2006" y="220"/>
                    </a:cubicBezTo>
                    <a:cubicBezTo>
                      <a:pt x="2244" y="455"/>
                      <a:pt x="2181" y="791"/>
                      <a:pt x="1867" y="969"/>
                    </a:cubicBezTo>
                    <a:cubicBezTo>
                      <a:pt x="1634" y="1098"/>
                      <a:pt x="1317" y="1110"/>
                      <a:pt x="1068" y="1000"/>
                    </a:cubicBezTo>
                    <a:lnTo>
                      <a:pt x="0" y="1737"/>
                    </a:lnTo>
                    <a:close/>
                  </a:path>
                </a:pathLst>
              </a:custGeom>
              <a:solidFill>
                <a:srgbClr val="D9D9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2" name="path 722"/>
              <p:cNvSpPr/>
              <p:nvPr/>
            </p:nvSpPr>
            <p:spPr>
              <a:xfrm>
                <a:off x="0" y="0"/>
                <a:ext cx="1376293" cy="1109021"/>
              </a:xfrm>
              <a:custGeom>
                <a:avLst/>
                <a:gdLst/>
                <a:ahLst/>
                <a:cxnLst/>
                <a:rect l="0" t="0" r="0" b="0"/>
                <a:pathLst>
                  <a:path w="2167" h="1746">
                    <a:moveTo>
                      <a:pt x="8" y="1738"/>
                    </a:moveTo>
                    <a:lnTo>
                      <a:pt x="874" y="864"/>
                    </a:lnTo>
                    <a:cubicBezTo>
                      <a:pt x="637" y="629"/>
                      <a:pt x="699" y="293"/>
                      <a:pt x="1014" y="115"/>
                    </a:cubicBezTo>
                    <a:cubicBezTo>
                      <a:pt x="1328" y="-61"/>
                      <a:pt x="1777" y="-13"/>
                      <a:pt x="2014" y="221"/>
                    </a:cubicBezTo>
                    <a:cubicBezTo>
                      <a:pt x="2252" y="456"/>
                      <a:pt x="2190" y="792"/>
                      <a:pt x="1875" y="970"/>
                    </a:cubicBezTo>
                    <a:cubicBezTo>
                      <a:pt x="1642" y="1099"/>
                      <a:pt x="1325" y="1111"/>
                      <a:pt x="1076" y="1001"/>
                    </a:cubicBezTo>
                    <a:lnTo>
                      <a:pt x="8" y="1738"/>
                    </a:lnTo>
                    <a:close/>
                  </a:path>
                </a:pathLst>
              </a:custGeom>
              <a:noFill/>
              <a:ln w="10668" cap="flat">
                <a:solidFill>
                  <a:srgbClr val="41719C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24" name="textbox 724"/>
            <p:cNvSpPr/>
            <p:nvPr/>
          </p:nvSpPr>
          <p:spPr>
            <a:xfrm>
              <a:off x="-12700" y="-12700"/>
              <a:ext cx="1402080" cy="11391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728344" algn="l" rtl="0" eaLnBrk="0">
                <a:lnSpc>
                  <a:spcPct val="88000"/>
                </a:lnSpc>
                <a:spcBef>
                  <a:spcPts val="2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参考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730250" algn="l" rtl="0" eaLnBrk="0">
                <a:lnSpc>
                  <a:spcPct val="87000"/>
                </a:lnSpc>
                <a:spcBef>
                  <a:spcPts val="324"/>
                </a:spcBef>
                <a:tabLst/>
              </a:pPr>
              <a:r>
                <a:rPr sz="1500" b="1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母线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62" name="group 162"/>
          <p:cNvGrpSpPr/>
          <p:nvPr/>
        </p:nvGrpSpPr>
        <p:grpSpPr>
          <a:xfrm rot="21600000">
            <a:off x="4929378" y="2455926"/>
            <a:ext cx="475487" cy="473964"/>
            <a:chOff x="0" y="0"/>
            <a:chExt cx="475487" cy="473964"/>
          </a:xfrm>
        </p:grpSpPr>
        <p:sp>
          <p:nvSpPr>
            <p:cNvPr id="726" name="path 726"/>
            <p:cNvSpPr/>
            <p:nvPr/>
          </p:nvSpPr>
          <p:spPr>
            <a:xfrm>
              <a:off x="3809" y="3810"/>
              <a:ext cx="467867" cy="466343"/>
            </a:xfrm>
            <a:custGeom>
              <a:avLst/>
              <a:gdLst/>
              <a:ahLst/>
              <a:cxnLst/>
              <a:rect l="0" t="0" r="0" b="0"/>
              <a:pathLst>
                <a:path w="736" h="734">
                  <a:moveTo>
                    <a:pt x="0" y="367"/>
                  </a:moveTo>
                  <a:cubicBezTo>
                    <a:pt x="0" y="163"/>
                    <a:pt x="163" y="0"/>
                    <a:pt x="367" y="0"/>
                  </a:cubicBezTo>
                  <a:cubicBezTo>
                    <a:pt x="571" y="0"/>
                    <a:pt x="736" y="163"/>
                    <a:pt x="736" y="367"/>
                  </a:cubicBezTo>
                  <a:cubicBezTo>
                    <a:pt x="736" y="571"/>
                    <a:pt x="571" y="734"/>
                    <a:pt x="367" y="734"/>
                  </a:cubicBezTo>
                  <a:cubicBezTo>
                    <a:pt x="163" y="734"/>
                    <a:pt x="0" y="571"/>
                    <a:pt x="0" y="367"/>
                  </a:cubicBezTo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28" name="path 728"/>
            <p:cNvSpPr/>
            <p:nvPr/>
          </p:nvSpPr>
          <p:spPr>
            <a:xfrm>
              <a:off x="0" y="0"/>
              <a:ext cx="475487" cy="473964"/>
            </a:xfrm>
            <a:custGeom>
              <a:avLst/>
              <a:gdLst/>
              <a:ahLst/>
              <a:cxnLst/>
              <a:rect l="0" t="0" r="0" b="0"/>
              <a:pathLst>
                <a:path w="748" h="746">
                  <a:moveTo>
                    <a:pt x="5" y="373"/>
                  </a:moveTo>
                  <a:cubicBezTo>
                    <a:pt x="5" y="169"/>
                    <a:pt x="169" y="6"/>
                    <a:pt x="373" y="6"/>
                  </a:cubicBezTo>
                  <a:cubicBezTo>
                    <a:pt x="577" y="6"/>
                    <a:pt x="742" y="169"/>
                    <a:pt x="742" y="373"/>
                  </a:cubicBezTo>
                  <a:cubicBezTo>
                    <a:pt x="742" y="577"/>
                    <a:pt x="577" y="740"/>
                    <a:pt x="373" y="740"/>
                  </a:cubicBezTo>
                  <a:cubicBezTo>
                    <a:pt x="169" y="740"/>
                    <a:pt x="5" y="577"/>
                    <a:pt x="5" y="373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64" name="group 164"/>
          <p:cNvGrpSpPr/>
          <p:nvPr/>
        </p:nvGrpSpPr>
        <p:grpSpPr>
          <a:xfrm rot="21600000">
            <a:off x="4644390" y="3541014"/>
            <a:ext cx="475487" cy="473964"/>
            <a:chOff x="0" y="0"/>
            <a:chExt cx="475487" cy="473964"/>
          </a:xfrm>
        </p:grpSpPr>
        <p:sp>
          <p:nvSpPr>
            <p:cNvPr id="730" name="path 730"/>
            <p:cNvSpPr/>
            <p:nvPr/>
          </p:nvSpPr>
          <p:spPr>
            <a:xfrm>
              <a:off x="3809" y="3810"/>
              <a:ext cx="467867" cy="466343"/>
            </a:xfrm>
            <a:custGeom>
              <a:avLst/>
              <a:gdLst/>
              <a:ahLst/>
              <a:cxnLst/>
              <a:rect l="0" t="0" r="0" b="0"/>
              <a:pathLst>
                <a:path w="736" h="734">
                  <a:moveTo>
                    <a:pt x="0" y="367"/>
                  </a:moveTo>
                  <a:cubicBezTo>
                    <a:pt x="0" y="163"/>
                    <a:pt x="165" y="0"/>
                    <a:pt x="369" y="0"/>
                  </a:cubicBezTo>
                  <a:cubicBezTo>
                    <a:pt x="571" y="0"/>
                    <a:pt x="736" y="163"/>
                    <a:pt x="736" y="367"/>
                  </a:cubicBezTo>
                  <a:cubicBezTo>
                    <a:pt x="736" y="571"/>
                    <a:pt x="571" y="734"/>
                    <a:pt x="369" y="734"/>
                  </a:cubicBezTo>
                  <a:cubicBezTo>
                    <a:pt x="165" y="734"/>
                    <a:pt x="0" y="571"/>
                    <a:pt x="0" y="367"/>
                  </a:cubicBezTo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2" name="path 732"/>
            <p:cNvSpPr/>
            <p:nvPr/>
          </p:nvSpPr>
          <p:spPr>
            <a:xfrm>
              <a:off x="0" y="0"/>
              <a:ext cx="475487" cy="473964"/>
            </a:xfrm>
            <a:custGeom>
              <a:avLst/>
              <a:gdLst/>
              <a:ahLst/>
              <a:cxnLst/>
              <a:rect l="0" t="0" r="0" b="0"/>
              <a:pathLst>
                <a:path w="748" h="746">
                  <a:moveTo>
                    <a:pt x="5" y="373"/>
                  </a:moveTo>
                  <a:cubicBezTo>
                    <a:pt x="5" y="169"/>
                    <a:pt x="171" y="6"/>
                    <a:pt x="375" y="6"/>
                  </a:cubicBezTo>
                  <a:cubicBezTo>
                    <a:pt x="577" y="6"/>
                    <a:pt x="742" y="169"/>
                    <a:pt x="742" y="373"/>
                  </a:cubicBezTo>
                  <a:cubicBezTo>
                    <a:pt x="742" y="577"/>
                    <a:pt x="577" y="740"/>
                    <a:pt x="375" y="740"/>
                  </a:cubicBezTo>
                  <a:cubicBezTo>
                    <a:pt x="171" y="740"/>
                    <a:pt x="5" y="577"/>
                    <a:pt x="5" y="373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66" name="group 166"/>
          <p:cNvGrpSpPr/>
          <p:nvPr/>
        </p:nvGrpSpPr>
        <p:grpSpPr>
          <a:xfrm rot="21600000">
            <a:off x="4036314" y="3081839"/>
            <a:ext cx="475487" cy="672534"/>
            <a:chOff x="0" y="0"/>
            <a:chExt cx="475487" cy="672534"/>
          </a:xfrm>
        </p:grpSpPr>
        <p:sp>
          <p:nvSpPr>
            <p:cNvPr id="734" name="path 734"/>
            <p:cNvSpPr/>
            <p:nvPr/>
          </p:nvSpPr>
          <p:spPr>
            <a:xfrm>
              <a:off x="3809" y="200856"/>
              <a:ext cx="467867" cy="467867"/>
            </a:xfrm>
            <a:custGeom>
              <a:avLst/>
              <a:gdLst/>
              <a:ahLst/>
              <a:cxnLst/>
              <a:rect l="0" t="0" r="0" b="0"/>
              <a:pathLst>
                <a:path w="736" h="736">
                  <a:moveTo>
                    <a:pt x="0" y="369"/>
                  </a:moveTo>
                  <a:cubicBezTo>
                    <a:pt x="0" y="165"/>
                    <a:pt x="165" y="0"/>
                    <a:pt x="367" y="0"/>
                  </a:cubicBezTo>
                  <a:cubicBezTo>
                    <a:pt x="571" y="0"/>
                    <a:pt x="736" y="165"/>
                    <a:pt x="736" y="369"/>
                  </a:cubicBezTo>
                  <a:cubicBezTo>
                    <a:pt x="736" y="571"/>
                    <a:pt x="571" y="736"/>
                    <a:pt x="367" y="736"/>
                  </a:cubicBezTo>
                  <a:cubicBezTo>
                    <a:pt x="165" y="736"/>
                    <a:pt x="0" y="571"/>
                    <a:pt x="0" y="369"/>
                  </a:cubicBezTo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6" name="path 736"/>
            <p:cNvSpPr/>
            <p:nvPr/>
          </p:nvSpPr>
          <p:spPr>
            <a:xfrm>
              <a:off x="0" y="197046"/>
              <a:ext cx="475487" cy="475488"/>
            </a:xfrm>
            <a:custGeom>
              <a:avLst/>
              <a:gdLst/>
              <a:ahLst/>
              <a:cxnLst/>
              <a:rect l="0" t="0" r="0" b="0"/>
              <a:pathLst>
                <a:path w="748" h="748">
                  <a:moveTo>
                    <a:pt x="5" y="375"/>
                  </a:moveTo>
                  <a:cubicBezTo>
                    <a:pt x="5" y="171"/>
                    <a:pt x="171" y="5"/>
                    <a:pt x="373" y="5"/>
                  </a:cubicBezTo>
                  <a:cubicBezTo>
                    <a:pt x="577" y="5"/>
                    <a:pt x="742" y="171"/>
                    <a:pt x="742" y="375"/>
                  </a:cubicBezTo>
                  <a:cubicBezTo>
                    <a:pt x="742" y="577"/>
                    <a:pt x="577" y="742"/>
                    <a:pt x="373" y="742"/>
                  </a:cubicBezTo>
                  <a:cubicBezTo>
                    <a:pt x="171" y="742"/>
                    <a:pt x="5" y="577"/>
                    <a:pt x="5" y="375"/>
                  </a:cubicBezTo>
                </a:path>
              </a:pathLst>
            </a:custGeom>
            <a:noFill/>
            <a:ln w="7620" cap="flat">
              <a:solidFill>
                <a:srgbClr val="00006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8" name="path 738"/>
            <p:cNvSpPr/>
            <p:nvPr/>
          </p:nvSpPr>
          <p:spPr>
            <a:xfrm>
              <a:off x="67254" y="0"/>
              <a:ext cx="74279" cy="202070"/>
            </a:xfrm>
            <a:custGeom>
              <a:avLst/>
              <a:gdLst/>
              <a:ahLst/>
              <a:cxnLst/>
              <a:rect l="0" t="0" r="0" b="0"/>
              <a:pathLst>
                <a:path w="116" h="318">
                  <a:moveTo>
                    <a:pt x="5" y="1"/>
                  </a:moveTo>
                  <a:lnTo>
                    <a:pt x="111" y="316"/>
                  </a:lnTo>
                </a:path>
              </a:pathLst>
            </a:custGeom>
            <a:noFill/>
            <a:ln w="762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40" name="textbox 740"/>
          <p:cNvSpPr/>
          <p:nvPr/>
        </p:nvSpPr>
        <p:spPr>
          <a:xfrm>
            <a:off x="4434643" y="2603703"/>
            <a:ext cx="900430" cy="1268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14629" algn="l" rtl="0" eaLnBrk="0">
              <a:lnSpc>
                <a:spcPct val="86000"/>
              </a:lnSpc>
              <a:spcBef>
                <a:spcPts val="3"/>
              </a:spcBef>
              <a:tabLst>
                <a:tab pos="294640" algn="l"/>
              </a:tabLst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2" name="path 742"/>
          <p:cNvSpPr/>
          <p:nvPr/>
        </p:nvSpPr>
        <p:spPr>
          <a:xfrm>
            <a:off x="4447343" y="3673800"/>
            <a:ext cx="202069" cy="74279"/>
          </a:xfrm>
          <a:custGeom>
            <a:avLst/>
            <a:gdLst/>
            <a:ahLst/>
            <a:cxnLst/>
            <a:rect l="0" t="0" r="0" b="0"/>
            <a:pathLst>
              <a:path w="318" h="116">
                <a:moveTo>
                  <a:pt x="1" y="5"/>
                </a:moveTo>
                <a:lnTo>
                  <a:pt x="316" y="111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4" name="textbox 744"/>
          <p:cNvSpPr/>
          <p:nvPr/>
        </p:nvSpPr>
        <p:spPr>
          <a:xfrm>
            <a:off x="535959" y="1111685"/>
            <a:ext cx="3311525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6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网损因子和网损惩罚因子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46" name="table 746"/>
          <p:cNvGraphicFramePr>
            <a:graphicFrameLocks noGrp="1"/>
          </p:cNvGraphicFramePr>
          <p:nvPr/>
        </p:nvGraphicFramePr>
        <p:xfrm>
          <a:off x="6393941" y="5063489"/>
          <a:ext cx="1418589" cy="574039"/>
        </p:xfrm>
        <a:graphic>
          <a:graphicData uri="http://schemas.openxmlformats.org/drawingml/2006/table">
            <a:tbl>
              <a:tblPr/>
              <a:tblGrid>
                <a:gridCol w="1418589"/>
              </a:tblGrid>
              <a:tr h="5676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2415" indent="-165100" algn="l" rtl="0" eaLnBrk="0">
                        <a:lnSpc>
                          <a:spcPct val="10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到达参考母线</a:t>
                      </a: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有功1</a:t>
                      </a:r>
                      <a:r>
                        <a:rPr sz="2400" b="1" kern="0" spc="50" baseline="2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2400" b="1" kern="0" spc="0" baseline="2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LF</a:t>
                      </a:r>
                      <a:r>
                        <a:rPr sz="1600" b="1" kern="0" spc="0" baseline="-1953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</a:t>
                      </a:r>
                      <a:endParaRPr sz="1600" baseline="-19533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8" name="textbox 748"/>
          <p:cNvSpPr/>
          <p:nvPr/>
        </p:nvSpPr>
        <p:spPr>
          <a:xfrm>
            <a:off x="6520025" y="3963122"/>
            <a:ext cx="621030" cy="1124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ts val="6756"/>
              </a:lnSpc>
              <a:spcBef>
                <a:spcPts val="654"/>
              </a:spcBef>
              <a:tabLst/>
            </a:pPr>
            <a:r>
              <a:rPr sz="8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\</a:t>
            </a:r>
            <a:endParaRPr sz="86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750" name="table 750"/>
          <p:cNvGraphicFramePr>
            <a:graphicFrameLocks noGrp="1"/>
          </p:cNvGraphicFramePr>
          <p:nvPr/>
        </p:nvGraphicFramePr>
        <p:xfrm>
          <a:off x="2437637" y="5075682"/>
          <a:ext cx="1122680" cy="574039"/>
        </p:xfrm>
        <a:graphic>
          <a:graphicData uri="http://schemas.openxmlformats.org/drawingml/2006/table">
            <a:tbl>
              <a:tblPr/>
              <a:tblGrid>
                <a:gridCol w="1122680"/>
              </a:tblGrid>
              <a:tr h="5676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289" indent="-62230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注入1兆瓦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有功出力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52" name="table 752"/>
          <p:cNvGraphicFramePr>
            <a:graphicFrameLocks noGrp="1"/>
          </p:cNvGraphicFramePr>
          <p:nvPr/>
        </p:nvGraphicFramePr>
        <p:xfrm>
          <a:off x="4458461" y="5092445"/>
          <a:ext cx="1122679" cy="574039"/>
        </p:xfrm>
        <a:graphic>
          <a:graphicData uri="http://schemas.openxmlformats.org/drawingml/2006/table">
            <a:tbl>
              <a:tblPr/>
              <a:tblGrid>
                <a:gridCol w="1122679"/>
              </a:tblGrid>
              <a:tr h="5676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1775" indent="-61594" algn="l" rtl="0" eaLnBrk="0">
                        <a:lnSpc>
                          <a:spcPct val="11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网络损耗</a:t>
                      </a:r>
                      <a:r>
                        <a:rPr sz="15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有功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LF</a:t>
                      </a:r>
                      <a:r>
                        <a:rPr sz="1600" b="1" kern="0" spc="0" baseline="-1953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</a:t>
                      </a:r>
                      <a:endParaRPr sz="1600" baseline="-19533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68" name="group 168"/>
          <p:cNvGrpSpPr/>
          <p:nvPr/>
        </p:nvGrpSpPr>
        <p:grpSpPr>
          <a:xfrm rot="21600000">
            <a:off x="2538221" y="3143249"/>
            <a:ext cx="475488" cy="475488"/>
            <a:chOff x="0" y="0"/>
            <a:chExt cx="475488" cy="475488"/>
          </a:xfrm>
        </p:grpSpPr>
        <p:grpSp>
          <p:nvGrpSpPr>
            <p:cNvPr id="170" name="group 170"/>
            <p:cNvGrpSpPr/>
            <p:nvPr/>
          </p:nvGrpSpPr>
          <p:grpSpPr>
            <a:xfrm rot="21600000">
              <a:off x="0" y="0"/>
              <a:ext cx="475488" cy="475488"/>
              <a:chOff x="0" y="0"/>
              <a:chExt cx="475488" cy="475488"/>
            </a:xfrm>
          </p:grpSpPr>
          <p:sp>
            <p:nvSpPr>
              <p:cNvPr id="754" name="path 754"/>
              <p:cNvSpPr/>
              <p:nvPr/>
            </p:nvSpPr>
            <p:spPr>
              <a:xfrm>
                <a:off x="3810" y="3810"/>
                <a:ext cx="467867" cy="467867"/>
              </a:xfrm>
              <a:custGeom>
                <a:avLst/>
                <a:gdLst/>
                <a:ahLst/>
                <a:cxnLst/>
                <a:rect l="0" t="0" r="0" b="0"/>
                <a:pathLst>
                  <a:path w="736" h="736">
                    <a:moveTo>
                      <a:pt x="0" y="367"/>
                    </a:moveTo>
                    <a:cubicBezTo>
                      <a:pt x="0" y="163"/>
                      <a:pt x="163" y="0"/>
                      <a:pt x="367" y="0"/>
                    </a:cubicBezTo>
                    <a:cubicBezTo>
                      <a:pt x="571" y="0"/>
                      <a:pt x="736" y="163"/>
                      <a:pt x="736" y="367"/>
                    </a:cubicBezTo>
                    <a:cubicBezTo>
                      <a:pt x="736" y="571"/>
                      <a:pt x="571" y="736"/>
                      <a:pt x="367" y="736"/>
                    </a:cubicBezTo>
                    <a:cubicBezTo>
                      <a:pt x="163" y="736"/>
                      <a:pt x="0" y="571"/>
                      <a:pt x="0" y="367"/>
                    </a:cubicBezTo>
                  </a:path>
                </a:pathLst>
              </a:custGeom>
              <a:solidFill>
                <a:srgbClr val="ED7D31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6" name="path 756"/>
              <p:cNvSpPr/>
              <p:nvPr/>
            </p:nvSpPr>
            <p:spPr>
              <a:xfrm>
                <a:off x="0" y="0"/>
                <a:ext cx="475488" cy="475488"/>
              </a:xfrm>
              <a:custGeom>
                <a:avLst/>
                <a:gdLst/>
                <a:ahLst/>
                <a:cxnLst/>
                <a:rect l="0" t="0" r="0" b="0"/>
                <a:pathLst>
                  <a:path w="748" h="748">
                    <a:moveTo>
                      <a:pt x="6" y="373"/>
                    </a:moveTo>
                    <a:cubicBezTo>
                      <a:pt x="6" y="169"/>
                      <a:pt x="169" y="6"/>
                      <a:pt x="373" y="6"/>
                    </a:cubicBezTo>
                    <a:cubicBezTo>
                      <a:pt x="577" y="6"/>
                      <a:pt x="742" y="169"/>
                      <a:pt x="742" y="373"/>
                    </a:cubicBezTo>
                    <a:cubicBezTo>
                      <a:pt x="742" y="577"/>
                      <a:pt x="577" y="742"/>
                      <a:pt x="373" y="742"/>
                    </a:cubicBezTo>
                    <a:cubicBezTo>
                      <a:pt x="169" y="742"/>
                      <a:pt x="6" y="577"/>
                      <a:pt x="6" y="373"/>
                    </a:cubicBezTo>
                  </a:path>
                </a:pathLst>
              </a:custGeom>
              <a:noFill/>
              <a:ln w="7620" cap="flat">
                <a:solidFill>
                  <a:srgbClr val="00006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8" name="textbox 758"/>
            <p:cNvSpPr/>
            <p:nvPr/>
          </p:nvSpPr>
          <p:spPr>
            <a:xfrm>
              <a:off x="-12700" y="-12700"/>
              <a:ext cx="501015" cy="507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6519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12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母线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760" name="path 760"/>
          <p:cNvSpPr/>
          <p:nvPr/>
        </p:nvSpPr>
        <p:spPr>
          <a:xfrm>
            <a:off x="2950925" y="3012337"/>
            <a:ext cx="889093" cy="264873"/>
          </a:xfrm>
          <a:custGeom>
            <a:avLst/>
            <a:gdLst/>
            <a:ahLst/>
            <a:cxnLst/>
            <a:rect l="0" t="0" r="0" b="0"/>
            <a:pathLst>
              <a:path w="1400" h="417">
                <a:moveTo>
                  <a:pt x="1398" y="5"/>
                </a:moveTo>
                <a:lnTo>
                  <a:pt x="1" y="411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72" name="group 172"/>
          <p:cNvGrpSpPr/>
          <p:nvPr/>
        </p:nvGrpSpPr>
        <p:grpSpPr>
          <a:xfrm rot="21600000">
            <a:off x="6314693" y="3211829"/>
            <a:ext cx="475488" cy="475488"/>
            <a:chOff x="0" y="0"/>
            <a:chExt cx="475488" cy="475488"/>
          </a:xfrm>
        </p:grpSpPr>
        <p:grpSp>
          <p:nvGrpSpPr>
            <p:cNvPr id="174" name="group 174"/>
            <p:cNvGrpSpPr/>
            <p:nvPr/>
          </p:nvGrpSpPr>
          <p:grpSpPr>
            <a:xfrm rot="21600000">
              <a:off x="0" y="0"/>
              <a:ext cx="475488" cy="475488"/>
              <a:chOff x="0" y="0"/>
              <a:chExt cx="475488" cy="475488"/>
            </a:xfrm>
          </p:grpSpPr>
          <p:sp>
            <p:nvSpPr>
              <p:cNvPr id="762" name="path 762"/>
              <p:cNvSpPr/>
              <p:nvPr/>
            </p:nvSpPr>
            <p:spPr>
              <a:xfrm>
                <a:off x="3809" y="3809"/>
                <a:ext cx="467868" cy="467867"/>
              </a:xfrm>
              <a:custGeom>
                <a:avLst/>
                <a:gdLst/>
                <a:ahLst/>
                <a:cxnLst/>
                <a:rect l="0" t="0" r="0" b="0"/>
                <a:pathLst>
                  <a:path w="736" h="736">
                    <a:moveTo>
                      <a:pt x="0" y="369"/>
                    </a:moveTo>
                    <a:cubicBezTo>
                      <a:pt x="0" y="165"/>
                      <a:pt x="165" y="0"/>
                      <a:pt x="369" y="0"/>
                    </a:cubicBezTo>
                    <a:cubicBezTo>
                      <a:pt x="573" y="0"/>
                      <a:pt x="736" y="165"/>
                      <a:pt x="736" y="369"/>
                    </a:cubicBezTo>
                    <a:cubicBezTo>
                      <a:pt x="736" y="571"/>
                      <a:pt x="573" y="736"/>
                      <a:pt x="369" y="736"/>
                    </a:cubicBezTo>
                    <a:cubicBezTo>
                      <a:pt x="165" y="736"/>
                      <a:pt x="0" y="571"/>
                      <a:pt x="0" y="369"/>
                    </a:cubicBezTo>
                  </a:path>
                </a:pathLst>
              </a:custGeom>
              <a:solidFill>
                <a:srgbClr val="ED7D31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4" name="path 764"/>
              <p:cNvSpPr/>
              <p:nvPr/>
            </p:nvSpPr>
            <p:spPr>
              <a:xfrm>
                <a:off x="0" y="0"/>
                <a:ext cx="475488" cy="475488"/>
              </a:xfrm>
              <a:custGeom>
                <a:avLst/>
                <a:gdLst/>
                <a:ahLst/>
                <a:cxnLst/>
                <a:rect l="0" t="0" r="0" b="0"/>
                <a:pathLst>
                  <a:path w="748" h="748">
                    <a:moveTo>
                      <a:pt x="5" y="375"/>
                    </a:moveTo>
                    <a:cubicBezTo>
                      <a:pt x="5" y="171"/>
                      <a:pt x="171" y="5"/>
                      <a:pt x="375" y="5"/>
                    </a:cubicBezTo>
                    <a:cubicBezTo>
                      <a:pt x="579" y="5"/>
                      <a:pt x="742" y="171"/>
                      <a:pt x="742" y="375"/>
                    </a:cubicBezTo>
                    <a:cubicBezTo>
                      <a:pt x="742" y="577"/>
                      <a:pt x="579" y="742"/>
                      <a:pt x="375" y="742"/>
                    </a:cubicBezTo>
                    <a:cubicBezTo>
                      <a:pt x="171" y="742"/>
                      <a:pt x="5" y="577"/>
                      <a:pt x="5" y="375"/>
                    </a:cubicBezTo>
                  </a:path>
                </a:pathLst>
              </a:custGeom>
              <a:noFill/>
              <a:ln w="7620" cap="flat">
                <a:solidFill>
                  <a:srgbClr val="00006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66" name="textbox 766"/>
            <p:cNvSpPr/>
            <p:nvPr/>
          </p:nvSpPr>
          <p:spPr>
            <a:xfrm>
              <a:off x="-12700" y="-12700"/>
              <a:ext cx="501015" cy="507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7789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2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母线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76" name="group 176"/>
          <p:cNvGrpSpPr/>
          <p:nvPr/>
        </p:nvGrpSpPr>
        <p:grpSpPr>
          <a:xfrm rot="21600000">
            <a:off x="5714238" y="3612641"/>
            <a:ext cx="475487" cy="475488"/>
            <a:chOff x="0" y="0"/>
            <a:chExt cx="475487" cy="475488"/>
          </a:xfrm>
        </p:grpSpPr>
        <p:grpSp>
          <p:nvGrpSpPr>
            <p:cNvPr id="178" name="group 178"/>
            <p:cNvGrpSpPr/>
            <p:nvPr/>
          </p:nvGrpSpPr>
          <p:grpSpPr>
            <a:xfrm rot="21600000">
              <a:off x="0" y="0"/>
              <a:ext cx="475487" cy="475488"/>
              <a:chOff x="0" y="0"/>
              <a:chExt cx="475487" cy="475488"/>
            </a:xfrm>
          </p:grpSpPr>
          <p:sp>
            <p:nvSpPr>
              <p:cNvPr id="768" name="path 768"/>
              <p:cNvSpPr/>
              <p:nvPr/>
            </p:nvSpPr>
            <p:spPr>
              <a:xfrm>
                <a:off x="3809" y="3809"/>
                <a:ext cx="467867" cy="467867"/>
              </a:xfrm>
              <a:custGeom>
                <a:avLst/>
                <a:gdLst/>
                <a:ahLst/>
                <a:cxnLst/>
                <a:rect l="0" t="0" r="0" b="0"/>
                <a:pathLst>
                  <a:path w="736" h="736">
                    <a:moveTo>
                      <a:pt x="0" y="369"/>
                    </a:moveTo>
                    <a:cubicBezTo>
                      <a:pt x="0" y="165"/>
                      <a:pt x="165" y="0"/>
                      <a:pt x="367" y="0"/>
                    </a:cubicBezTo>
                    <a:cubicBezTo>
                      <a:pt x="571" y="0"/>
                      <a:pt x="736" y="165"/>
                      <a:pt x="736" y="369"/>
                    </a:cubicBezTo>
                    <a:cubicBezTo>
                      <a:pt x="736" y="573"/>
                      <a:pt x="571" y="736"/>
                      <a:pt x="367" y="736"/>
                    </a:cubicBezTo>
                    <a:cubicBezTo>
                      <a:pt x="165" y="736"/>
                      <a:pt x="0" y="573"/>
                      <a:pt x="0" y="369"/>
                    </a:cubicBezTo>
                  </a:path>
                </a:pathLst>
              </a:custGeom>
              <a:solidFill>
                <a:srgbClr val="ED7D31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0" name="path 770"/>
              <p:cNvSpPr/>
              <p:nvPr/>
            </p:nvSpPr>
            <p:spPr>
              <a:xfrm>
                <a:off x="0" y="0"/>
                <a:ext cx="475487" cy="475488"/>
              </a:xfrm>
              <a:custGeom>
                <a:avLst/>
                <a:gdLst/>
                <a:ahLst/>
                <a:cxnLst/>
                <a:rect l="0" t="0" r="0" b="0"/>
                <a:pathLst>
                  <a:path w="748" h="748">
                    <a:moveTo>
                      <a:pt x="5" y="375"/>
                    </a:moveTo>
                    <a:cubicBezTo>
                      <a:pt x="5" y="171"/>
                      <a:pt x="171" y="5"/>
                      <a:pt x="373" y="5"/>
                    </a:cubicBezTo>
                    <a:cubicBezTo>
                      <a:pt x="577" y="5"/>
                      <a:pt x="742" y="171"/>
                      <a:pt x="742" y="375"/>
                    </a:cubicBezTo>
                    <a:cubicBezTo>
                      <a:pt x="742" y="579"/>
                      <a:pt x="577" y="742"/>
                      <a:pt x="373" y="742"/>
                    </a:cubicBezTo>
                    <a:cubicBezTo>
                      <a:pt x="171" y="742"/>
                      <a:pt x="5" y="579"/>
                      <a:pt x="5" y="375"/>
                    </a:cubicBezTo>
                  </a:path>
                </a:pathLst>
              </a:custGeom>
              <a:noFill/>
              <a:ln w="7620" cap="flat">
                <a:solidFill>
                  <a:srgbClr val="00006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72" name="textbox 772"/>
            <p:cNvSpPr/>
            <p:nvPr/>
          </p:nvSpPr>
          <p:spPr>
            <a:xfrm>
              <a:off x="-12700" y="-12700"/>
              <a:ext cx="501015" cy="507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6519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12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母线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80" name="group 180"/>
          <p:cNvGrpSpPr/>
          <p:nvPr/>
        </p:nvGrpSpPr>
        <p:grpSpPr>
          <a:xfrm rot="21600000">
            <a:off x="3501390" y="3813809"/>
            <a:ext cx="475487" cy="475488"/>
            <a:chOff x="0" y="0"/>
            <a:chExt cx="475487" cy="475488"/>
          </a:xfrm>
        </p:grpSpPr>
        <p:grpSp>
          <p:nvGrpSpPr>
            <p:cNvPr id="182" name="group 182"/>
            <p:cNvGrpSpPr/>
            <p:nvPr/>
          </p:nvGrpSpPr>
          <p:grpSpPr>
            <a:xfrm rot="21600000">
              <a:off x="0" y="0"/>
              <a:ext cx="475487" cy="475488"/>
              <a:chOff x="0" y="0"/>
              <a:chExt cx="475487" cy="475488"/>
            </a:xfrm>
          </p:grpSpPr>
          <p:sp>
            <p:nvSpPr>
              <p:cNvPr id="774" name="path 774"/>
              <p:cNvSpPr/>
              <p:nvPr/>
            </p:nvSpPr>
            <p:spPr>
              <a:xfrm>
                <a:off x="3809" y="3810"/>
                <a:ext cx="467867" cy="467867"/>
              </a:xfrm>
              <a:custGeom>
                <a:avLst/>
                <a:gdLst/>
                <a:ahLst/>
                <a:cxnLst/>
                <a:rect l="0" t="0" r="0" b="0"/>
                <a:pathLst>
                  <a:path w="736" h="736">
                    <a:moveTo>
                      <a:pt x="0" y="367"/>
                    </a:moveTo>
                    <a:cubicBezTo>
                      <a:pt x="0" y="165"/>
                      <a:pt x="165" y="0"/>
                      <a:pt x="369" y="0"/>
                    </a:cubicBezTo>
                    <a:cubicBezTo>
                      <a:pt x="571" y="0"/>
                      <a:pt x="736" y="165"/>
                      <a:pt x="736" y="367"/>
                    </a:cubicBezTo>
                    <a:cubicBezTo>
                      <a:pt x="736" y="571"/>
                      <a:pt x="571" y="736"/>
                      <a:pt x="369" y="736"/>
                    </a:cubicBezTo>
                    <a:cubicBezTo>
                      <a:pt x="165" y="736"/>
                      <a:pt x="0" y="571"/>
                      <a:pt x="0" y="367"/>
                    </a:cubicBezTo>
                  </a:path>
                </a:pathLst>
              </a:custGeom>
              <a:solidFill>
                <a:srgbClr val="00000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6" name="path 776"/>
              <p:cNvSpPr/>
              <p:nvPr/>
            </p:nvSpPr>
            <p:spPr>
              <a:xfrm>
                <a:off x="0" y="0"/>
                <a:ext cx="475487" cy="475488"/>
              </a:xfrm>
              <a:custGeom>
                <a:avLst/>
                <a:gdLst/>
                <a:ahLst/>
                <a:cxnLst/>
                <a:rect l="0" t="0" r="0" b="0"/>
                <a:pathLst>
                  <a:path w="748" h="748">
                    <a:moveTo>
                      <a:pt x="5" y="373"/>
                    </a:moveTo>
                    <a:cubicBezTo>
                      <a:pt x="5" y="171"/>
                      <a:pt x="171" y="6"/>
                      <a:pt x="375" y="6"/>
                    </a:cubicBezTo>
                    <a:cubicBezTo>
                      <a:pt x="577" y="6"/>
                      <a:pt x="742" y="171"/>
                      <a:pt x="742" y="373"/>
                    </a:cubicBezTo>
                    <a:cubicBezTo>
                      <a:pt x="742" y="577"/>
                      <a:pt x="577" y="742"/>
                      <a:pt x="375" y="742"/>
                    </a:cubicBezTo>
                    <a:cubicBezTo>
                      <a:pt x="171" y="742"/>
                      <a:pt x="5" y="577"/>
                      <a:pt x="5" y="373"/>
                    </a:cubicBezTo>
                  </a:path>
                </a:pathLst>
              </a:custGeom>
              <a:noFill/>
              <a:ln w="7620" cap="flat">
                <a:solidFill>
                  <a:srgbClr val="00006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78" name="textbox 778"/>
            <p:cNvSpPr/>
            <p:nvPr/>
          </p:nvSpPr>
          <p:spPr>
            <a:xfrm>
              <a:off x="-12700" y="-12700"/>
              <a:ext cx="501015" cy="507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7789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2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母线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84" name="group 184"/>
          <p:cNvGrpSpPr/>
          <p:nvPr/>
        </p:nvGrpSpPr>
        <p:grpSpPr>
          <a:xfrm rot="21600000">
            <a:off x="5513070" y="3079241"/>
            <a:ext cx="475487" cy="473964"/>
            <a:chOff x="0" y="0"/>
            <a:chExt cx="475487" cy="473964"/>
          </a:xfrm>
        </p:grpSpPr>
        <p:grpSp>
          <p:nvGrpSpPr>
            <p:cNvPr id="186" name="group 186"/>
            <p:cNvGrpSpPr/>
            <p:nvPr/>
          </p:nvGrpSpPr>
          <p:grpSpPr>
            <a:xfrm rot="21600000">
              <a:off x="0" y="0"/>
              <a:ext cx="475487" cy="473964"/>
              <a:chOff x="0" y="0"/>
              <a:chExt cx="475487" cy="473964"/>
            </a:xfrm>
          </p:grpSpPr>
          <p:sp>
            <p:nvSpPr>
              <p:cNvPr id="780" name="path 780"/>
              <p:cNvSpPr/>
              <p:nvPr/>
            </p:nvSpPr>
            <p:spPr>
              <a:xfrm>
                <a:off x="3809" y="3810"/>
                <a:ext cx="467867" cy="466343"/>
              </a:xfrm>
              <a:custGeom>
                <a:avLst/>
                <a:gdLst/>
                <a:ahLst/>
                <a:cxnLst/>
                <a:rect l="0" t="0" r="0" b="0"/>
                <a:pathLst>
                  <a:path w="736" h="734">
                    <a:moveTo>
                      <a:pt x="0" y="367"/>
                    </a:moveTo>
                    <a:cubicBezTo>
                      <a:pt x="0" y="163"/>
                      <a:pt x="165" y="0"/>
                      <a:pt x="369" y="0"/>
                    </a:cubicBezTo>
                    <a:cubicBezTo>
                      <a:pt x="573" y="0"/>
                      <a:pt x="736" y="163"/>
                      <a:pt x="736" y="367"/>
                    </a:cubicBezTo>
                    <a:cubicBezTo>
                      <a:pt x="736" y="571"/>
                      <a:pt x="573" y="734"/>
                      <a:pt x="369" y="734"/>
                    </a:cubicBezTo>
                    <a:cubicBezTo>
                      <a:pt x="165" y="734"/>
                      <a:pt x="0" y="571"/>
                      <a:pt x="0" y="367"/>
                    </a:cubicBezTo>
                  </a:path>
                </a:pathLst>
              </a:custGeom>
              <a:solidFill>
                <a:srgbClr val="ED7D31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2" name="path 782"/>
              <p:cNvSpPr/>
              <p:nvPr/>
            </p:nvSpPr>
            <p:spPr>
              <a:xfrm>
                <a:off x="0" y="0"/>
                <a:ext cx="475487" cy="473964"/>
              </a:xfrm>
              <a:custGeom>
                <a:avLst/>
                <a:gdLst/>
                <a:ahLst/>
                <a:cxnLst/>
                <a:rect l="0" t="0" r="0" b="0"/>
                <a:pathLst>
                  <a:path w="748" h="746">
                    <a:moveTo>
                      <a:pt x="5" y="373"/>
                    </a:moveTo>
                    <a:cubicBezTo>
                      <a:pt x="5" y="169"/>
                      <a:pt x="171" y="6"/>
                      <a:pt x="375" y="6"/>
                    </a:cubicBezTo>
                    <a:cubicBezTo>
                      <a:pt x="579" y="6"/>
                      <a:pt x="742" y="169"/>
                      <a:pt x="742" y="373"/>
                    </a:cubicBezTo>
                    <a:cubicBezTo>
                      <a:pt x="742" y="577"/>
                      <a:pt x="579" y="740"/>
                      <a:pt x="375" y="740"/>
                    </a:cubicBezTo>
                    <a:cubicBezTo>
                      <a:pt x="171" y="740"/>
                      <a:pt x="5" y="577"/>
                      <a:pt x="5" y="373"/>
                    </a:cubicBezTo>
                  </a:path>
                </a:pathLst>
              </a:custGeom>
              <a:noFill/>
              <a:ln w="7620" cap="flat">
                <a:solidFill>
                  <a:srgbClr val="00006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4" name="textbox 784"/>
            <p:cNvSpPr/>
            <p:nvPr/>
          </p:nvSpPr>
          <p:spPr>
            <a:xfrm>
              <a:off x="-12700" y="-12700"/>
              <a:ext cx="501015" cy="5060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7789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2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母线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786" name="path 786"/>
          <p:cNvSpPr/>
          <p:nvPr/>
        </p:nvSpPr>
        <p:spPr>
          <a:xfrm>
            <a:off x="3823716" y="5180075"/>
            <a:ext cx="400811" cy="400812"/>
          </a:xfrm>
          <a:custGeom>
            <a:avLst/>
            <a:gdLst/>
            <a:ahLst/>
            <a:cxnLst/>
            <a:rect l="0" t="0" r="0" b="0"/>
            <a:pathLst>
              <a:path w="631" h="631">
                <a:moveTo>
                  <a:pt x="0" y="156"/>
                </a:moveTo>
                <a:lnTo>
                  <a:pt x="314" y="156"/>
                </a:lnTo>
                <a:lnTo>
                  <a:pt x="314" y="0"/>
                </a:lnTo>
                <a:lnTo>
                  <a:pt x="631" y="314"/>
                </a:lnTo>
                <a:lnTo>
                  <a:pt x="314" y="631"/>
                </a:lnTo>
                <a:lnTo>
                  <a:pt x="314" y="472"/>
                </a:lnTo>
                <a:lnTo>
                  <a:pt x="0" y="472"/>
                </a:lnTo>
                <a:lnTo>
                  <a:pt x="0" y="156"/>
                </a:lnTo>
                <a:close/>
              </a:path>
            </a:pathLst>
          </a:cu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8" name="path 788"/>
          <p:cNvSpPr/>
          <p:nvPr/>
        </p:nvSpPr>
        <p:spPr>
          <a:xfrm>
            <a:off x="5786628" y="5177028"/>
            <a:ext cx="400811" cy="400811"/>
          </a:xfrm>
          <a:custGeom>
            <a:avLst/>
            <a:gdLst/>
            <a:ahLst/>
            <a:cxnLst/>
            <a:rect l="0" t="0" r="0" b="0"/>
            <a:pathLst>
              <a:path w="631" h="631">
                <a:moveTo>
                  <a:pt x="0" y="158"/>
                </a:moveTo>
                <a:lnTo>
                  <a:pt x="316" y="158"/>
                </a:lnTo>
                <a:lnTo>
                  <a:pt x="316" y="0"/>
                </a:lnTo>
                <a:lnTo>
                  <a:pt x="631" y="316"/>
                </a:lnTo>
                <a:lnTo>
                  <a:pt x="316" y="631"/>
                </a:lnTo>
                <a:lnTo>
                  <a:pt x="316" y="475"/>
                </a:lnTo>
                <a:lnTo>
                  <a:pt x="0" y="475"/>
                </a:lnTo>
                <a:lnTo>
                  <a:pt x="0" y="158"/>
                </a:lnTo>
                <a:close/>
              </a:path>
            </a:pathLst>
          </a:cu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0" name="path 790"/>
          <p:cNvSpPr/>
          <p:nvPr/>
        </p:nvSpPr>
        <p:spPr>
          <a:xfrm>
            <a:off x="2832353" y="4748022"/>
            <a:ext cx="326135" cy="326135"/>
          </a:xfrm>
          <a:custGeom>
            <a:avLst/>
            <a:gdLst/>
            <a:ahLst/>
            <a:cxnLst/>
            <a:rect l="0" t="0" r="0" b="0"/>
            <a:pathLst>
              <a:path w="513" h="513">
                <a:moveTo>
                  <a:pt x="8" y="255"/>
                </a:moveTo>
                <a:cubicBezTo>
                  <a:pt x="8" y="118"/>
                  <a:pt x="118" y="8"/>
                  <a:pt x="255" y="8"/>
                </a:cubicBezTo>
                <a:cubicBezTo>
                  <a:pt x="394" y="8"/>
                  <a:pt x="505" y="118"/>
                  <a:pt x="505" y="255"/>
                </a:cubicBezTo>
                <a:cubicBezTo>
                  <a:pt x="505" y="394"/>
                  <a:pt x="394" y="505"/>
                  <a:pt x="255" y="505"/>
                </a:cubicBezTo>
                <a:cubicBezTo>
                  <a:pt x="118" y="505"/>
                  <a:pt x="8" y="394"/>
                  <a:pt x="8" y="255"/>
                </a:cubicBezTo>
              </a:path>
            </a:pathLst>
          </a:custGeom>
          <a:noFill/>
          <a:ln w="10668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2" name="textbox 792"/>
          <p:cNvSpPr/>
          <p:nvPr/>
        </p:nvSpPr>
        <p:spPr>
          <a:xfrm>
            <a:off x="3477255" y="4311562"/>
            <a:ext cx="484505" cy="224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母线i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94" name="path 794"/>
          <p:cNvSpPr/>
          <p:nvPr/>
        </p:nvSpPr>
        <p:spPr>
          <a:xfrm>
            <a:off x="5326579" y="2871733"/>
            <a:ext cx="248013" cy="277856"/>
          </a:xfrm>
          <a:custGeom>
            <a:avLst/>
            <a:gdLst/>
            <a:ahLst/>
            <a:cxnLst/>
            <a:rect l="0" t="0" r="0" b="0"/>
            <a:pathLst>
              <a:path w="390" h="437">
                <a:moveTo>
                  <a:pt x="4" y="3"/>
                </a:moveTo>
                <a:lnTo>
                  <a:pt x="386" y="433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6" name="path 796"/>
          <p:cNvSpPr/>
          <p:nvPr/>
        </p:nvSpPr>
        <p:spPr>
          <a:xfrm>
            <a:off x="5022368" y="2893623"/>
            <a:ext cx="91385" cy="701944"/>
          </a:xfrm>
          <a:custGeom>
            <a:avLst/>
            <a:gdLst/>
            <a:ahLst/>
            <a:cxnLst/>
            <a:rect l="0" t="0" r="0" b="0"/>
            <a:pathLst>
              <a:path w="143" h="1105">
                <a:moveTo>
                  <a:pt x="5" y="1104"/>
                </a:moveTo>
                <a:lnTo>
                  <a:pt x="137" y="0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8" name="textbox 798"/>
          <p:cNvSpPr/>
          <p:nvPr/>
        </p:nvSpPr>
        <p:spPr>
          <a:xfrm>
            <a:off x="4107510" y="3428235"/>
            <a:ext cx="334009" cy="183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母线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00" name="picture 8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802" name="path 802"/>
          <p:cNvSpPr/>
          <p:nvPr/>
        </p:nvSpPr>
        <p:spPr>
          <a:xfrm>
            <a:off x="3903317" y="3680814"/>
            <a:ext cx="206555" cy="206555"/>
          </a:xfrm>
          <a:custGeom>
            <a:avLst/>
            <a:gdLst/>
            <a:ahLst/>
            <a:cxnLst/>
            <a:rect l="0" t="0" r="0" b="0"/>
            <a:pathLst>
              <a:path w="325" h="325">
                <a:moveTo>
                  <a:pt x="4" y="321"/>
                </a:moveTo>
                <a:lnTo>
                  <a:pt x="321" y="4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4" name="path 804"/>
          <p:cNvSpPr/>
          <p:nvPr/>
        </p:nvSpPr>
        <p:spPr>
          <a:xfrm>
            <a:off x="2994659" y="4038600"/>
            <a:ext cx="510540" cy="33527"/>
          </a:xfrm>
          <a:custGeom>
            <a:avLst/>
            <a:gdLst/>
            <a:ahLst/>
            <a:cxnLst/>
            <a:rect l="0" t="0" r="0" b="0"/>
            <a:pathLst>
              <a:path w="804" h="52">
                <a:moveTo>
                  <a:pt x="784" y="52"/>
                </a:moveTo>
                <a:lnTo>
                  <a:pt x="784" y="19"/>
                </a:lnTo>
                <a:lnTo>
                  <a:pt x="0" y="19"/>
                </a:lnTo>
              </a:path>
            </a:pathLst>
          </a:custGeom>
          <a:noFill/>
          <a:ln w="24383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6" name="path 806"/>
          <p:cNvSpPr/>
          <p:nvPr/>
        </p:nvSpPr>
        <p:spPr>
          <a:xfrm>
            <a:off x="2982467" y="4050791"/>
            <a:ext cx="24384" cy="693420"/>
          </a:xfrm>
          <a:custGeom>
            <a:avLst/>
            <a:gdLst/>
            <a:ahLst/>
            <a:cxnLst/>
            <a:rect l="0" t="0" r="0" b="0"/>
            <a:pathLst>
              <a:path w="38" h="1092">
                <a:moveTo>
                  <a:pt x="19" y="0"/>
                </a:moveTo>
                <a:lnTo>
                  <a:pt x="19" y="1092"/>
                </a:lnTo>
              </a:path>
            </a:pathLst>
          </a:custGeom>
          <a:noFill/>
          <a:ln w="24383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8" name="textbox 808"/>
          <p:cNvSpPr/>
          <p:nvPr/>
        </p:nvSpPr>
        <p:spPr>
          <a:xfrm>
            <a:off x="2888333" y="4842310"/>
            <a:ext cx="250825" cy="87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88"/>
              </a:lnSpc>
              <a:tabLst/>
            </a:pPr>
            <a:r>
              <a:rPr sz="400" b="1" kern="0" spc="14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~</a:t>
            </a:r>
            <a:endParaRPr sz="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0" name="path 810"/>
          <p:cNvSpPr/>
          <p:nvPr/>
        </p:nvSpPr>
        <p:spPr>
          <a:xfrm>
            <a:off x="6583320" y="3681803"/>
            <a:ext cx="73870" cy="137519"/>
          </a:xfrm>
          <a:custGeom>
            <a:avLst/>
            <a:gdLst/>
            <a:ahLst/>
            <a:cxnLst/>
            <a:rect l="0" t="0" r="0" b="0"/>
            <a:pathLst>
              <a:path w="116" h="216">
                <a:moveTo>
                  <a:pt x="5" y="2"/>
                </a:moveTo>
                <a:lnTo>
                  <a:pt x="110" y="213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2" name="path 812"/>
          <p:cNvSpPr/>
          <p:nvPr/>
        </p:nvSpPr>
        <p:spPr>
          <a:xfrm>
            <a:off x="5848456" y="3550025"/>
            <a:ext cx="28743" cy="90179"/>
          </a:xfrm>
          <a:custGeom>
            <a:avLst/>
            <a:gdLst/>
            <a:ahLst/>
            <a:cxnLst/>
            <a:rect l="0" t="0" r="0" b="0"/>
            <a:pathLst>
              <a:path w="45" h="142">
                <a:moveTo>
                  <a:pt x="39" y="140"/>
                </a:moveTo>
                <a:lnTo>
                  <a:pt x="5" y="1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textbox 814"/>
          <p:cNvSpPr/>
          <p:nvPr/>
        </p:nvSpPr>
        <p:spPr>
          <a:xfrm>
            <a:off x="3080794" y="4647597"/>
            <a:ext cx="4841875" cy="1729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4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如何确定#1机组、#2机组中标电价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958"/>
              </a:spcBef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4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如何确定负荷A、负荷B中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标电价？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4000"/>
              </a:lnSpc>
              <a:spcBef>
                <a:spcPts val="369"/>
              </a:spcBef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√</a:t>
            </a:r>
            <a:r>
              <a:rPr sz="12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统一按 200元/MWh</a:t>
            </a:r>
            <a:r>
              <a:rPr sz="12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出清结算，对#2机组不公平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ts val="2208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√</a:t>
            </a: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统一按</a:t>
            </a:r>
            <a:r>
              <a:rPr sz="12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500元/MWh</a:t>
            </a:r>
            <a:r>
              <a:rPr sz="12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出清结算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，对负荷A不公平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√</a:t>
            </a:r>
            <a:r>
              <a:rPr sz="12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节点1按 200元/MWh</a:t>
            </a:r>
            <a:r>
              <a:rPr sz="12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出清结算，节点2按</a:t>
            </a: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500元/MWh</a:t>
            </a:r>
            <a:r>
              <a:rPr sz="12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出清结算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816" name="table 816"/>
          <p:cNvGraphicFramePr>
            <a:graphicFrameLocks noGrp="1"/>
          </p:cNvGraphicFramePr>
          <p:nvPr/>
        </p:nvGraphicFramePr>
        <p:xfrm>
          <a:off x="3985259" y="2438400"/>
          <a:ext cx="3108959" cy="94742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4432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6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039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潮流：</a:t>
                      </a:r>
                      <a:r>
                        <a:rPr sz="1200" b="1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sz="12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MW造成阻塞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2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35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线路容量：</a:t>
                      </a:r>
                      <a:r>
                        <a:rPr sz="1200" b="1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sz="12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</a:t>
                      </a: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18" name="textbox 818"/>
          <p:cNvSpPr/>
          <p:nvPr/>
        </p:nvSpPr>
        <p:spPr>
          <a:xfrm>
            <a:off x="8440971" y="4722801"/>
            <a:ext cx="1135380" cy="1661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7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000" b="1" kern="0" spc="10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——问题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2000" b="1" kern="0" spc="10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——方法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0" name="textbox 820"/>
          <p:cNvSpPr/>
          <p:nvPr/>
        </p:nvSpPr>
        <p:spPr>
          <a:xfrm>
            <a:off x="1191260" y="2029459"/>
            <a:ext cx="1473835" cy="787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ct val="78000"/>
              </a:lnSpc>
              <a:tabLst/>
            </a:pPr>
            <a:r>
              <a:rPr sz="500" kern="0" spc="9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,-""</a:t>
            </a: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2"/>
              </a:spcBef>
              <a:tabLst/>
            </a:pPr>
            <a:r>
              <a:rPr sz="900" kern="0" spc="9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,"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14"/>
              </a:lnSpc>
              <a:spcBef>
                <a:spcPts val="1"/>
              </a:spcBef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#1机组—</a:t>
            </a:r>
            <a:r>
              <a:rPr sz="1200" b="1" kern="0" spc="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200</a:t>
            </a:r>
            <a:r>
              <a:rPr sz="1200" b="1" kern="0" spc="13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22" name="picture 8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618219" y="2033015"/>
            <a:ext cx="909828" cy="21335"/>
          </a:xfrm>
          <a:prstGeom prst="rect">
            <a:avLst/>
          </a:prstGeom>
        </p:spPr>
      </p:pic>
      <p:pic>
        <p:nvPicPr>
          <p:cNvPr id="824" name="picture 8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86600" y="2033015"/>
            <a:ext cx="1524000" cy="10667"/>
          </a:xfrm>
          <a:prstGeom prst="rect">
            <a:avLst/>
          </a:prstGeom>
        </p:spPr>
      </p:pic>
      <p:sp>
        <p:nvSpPr>
          <p:cNvPr id="826" name="textbox 826"/>
          <p:cNvSpPr/>
          <p:nvPr/>
        </p:nvSpPr>
        <p:spPr>
          <a:xfrm>
            <a:off x="7562088" y="1816608"/>
            <a:ext cx="1748154" cy="45910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1914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容量：</a:t>
            </a:r>
            <a:r>
              <a:rPr sz="1200" b="1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</a:t>
            </a: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82550" algn="l" rtl="0" eaLnBrk="0">
              <a:lnSpc>
                <a:spcPct val="86000"/>
              </a:lnSpc>
              <a:spcBef>
                <a:spcPts val="241"/>
              </a:spcBef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报价：</a:t>
            </a:r>
            <a:r>
              <a:rPr sz="1200" b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500元/MWh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28" name="picture 8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85743" y="2033015"/>
            <a:ext cx="603504" cy="21335"/>
          </a:xfrm>
          <a:prstGeom prst="rect">
            <a:avLst/>
          </a:prstGeom>
        </p:spPr>
      </p:pic>
      <p:pic>
        <p:nvPicPr>
          <p:cNvPr id="830" name="picture 8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55648" y="2031364"/>
            <a:ext cx="1522475" cy="6350"/>
          </a:xfrm>
          <a:prstGeom prst="rect">
            <a:avLst/>
          </a:prstGeom>
        </p:spPr>
      </p:pic>
      <p:sp>
        <p:nvSpPr>
          <p:cNvPr id="832" name="textbox 832"/>
          <p:cNvSpPr/>
          <p:nvPr/>
        </p:nvSpPr>
        <p:spPr>
          <a:xfrm>
            <a:off x="1819655" y="1856232"/>
            <a:ext cx="1577975" cy="45910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1914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容量：</a:t>
            </a:r>
            <a:r>
              <a:rPr sz="1200" b="1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200</a:t>
            </a: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82550" algn="l" rtl="0" eaLnBrk="0">
              <a:lnSpc>
                <a:spcPct val="86000"/>
              </a:lnSpc>
              <a:spcBef>
                <a:spcPts val="241"/>
              </a:spcBef>
              <a:tabLst/>
            </a:pPr>
            <a:r>
              <a:rPr sz="1200" b="1" kern="0" spc="-2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报价：</a:t>
            </a:r>
            <a:r>
              <a:rPr sz="1200" b="1" kern="0" spc="-25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2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200元/MW</a:t>
            </a:r>
            <a:r>
              <a:rPr sz="1200" b="1" kern="0" spc="-3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4" name="textbox 834"/>
          <p:cNvSpPr/>
          <p:nvPr/>
        </p:nvSpPr>
        <p:spPr>
          <a:xfrm>
            <a:off x="525151" y="1115853"/>
            <a:ext cx="2421254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节点电价形成原理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6" name="path 836"/>
          <p:cNvSpPr/>
          <p:nvPr/>
        </p:nvSpPr>
        <p:spPr>
          <a:xfrm>
            <a:off x="1443227" y="5811011"/>
            <a:ext cx="816863" cy="757427"/>
          </a:xfrm>
          <a:custGeom>
            <a:avLst/>
            <a:gdLst/>
            <a:ahLst/>
            <a:cxnLst/>
            <a:rect l="0" t="0" r="0" b="0"/>
            <a:pathLst>
              <a:path w="1286" h="1192">
                <a:moveTo>
                  <a:pt x="383" y="0"/>
                </a:moveTo>
                <a:lnTo>
                  <a:pt x="0" y="247"/>
                </a:lnTo>
                <a:lnTo>
                  <a:pt x="244" y="458"/>
                </a:lnTo>
                <a:lnTo>
                  <a:pt x="633" y="208"/>
                </a:lnTo>
                <a:lnTo>
                  <a:pt x="383" y="0"/>
                </a:lnTo>
                <a:lnTo>
                  <a:pt x="383" y="0"/>
                </a:lnTo>
                <a:close/>
                <a:moveTo>
                  <a:pt x="902" y="0"/>
                </a:moveTo>
                <a:lnTo>
                  <a:pt x="1286" y="249"/>
                </a:lnTo>
                <a:lnTo>
                  <a:pt x="1039" y="458"/>
                </a:lnTo>
                <a:lnTo>
                  <a:pt x="657" y="208"/>
                </a:lnTo>
                <a:lnTo>
                  <a:pt x="902" y="0"/>
                </a:lnTo>
                <a:lnTo>
                  <a:pt x="902" y="0"/>
                </a:lnTo>
                <a:close/>
                <a:moveTo>
                  <a:pt x="383" y="914"/>
                </a:moveTo>
                <a:lnTo>
                  <a:pt x="16" y="688"/>
                </a:lnTo>
                <a:lnTo>
                  <a:pt x="240" y="489"/>
                </a:lnTo>
                <a:lnTo>
                  <a:pt x="604" y="722"/>
                </a:lnTo>
                <a:lnTo>
                  <a:pt x="383" y="914"/>
                </a:lnTo>
                <a:lnTo>
                  <a:pt x="383" y="914"/>
                </a:lnTo>
                <a:close/>
                <a:moveTo>
                  <a:pt x="897" y="911"/>
                </a:moveTo>
                <a:lnTo>
                  <a:pt x="1269" y="686"/>
                </a:lnTo>
                <a:lnTo>
                  <a:pt x="1046" y="489"/>
                </a:lnTo>
                <a:lnTo>
                  <a:pt x="681" y="717"/>
                </a:lnTo>
                <a:lnTo>
                  <a:pt x="897" y="911"/>
                </a:lnTo>
                <a:lnTo>
                  <a:pt x="897" y="911"/>
                </a:lnTo>
                <a:close/>
                <a:moveTo>
                  <a:pt x="652" y="734"/>
                </a:moveTo>
                <a:lnTo>
                  <a:pt x="652" y="1192"/>
                </a:lnTo>
                <a:lnTo>
                  <a:pt x="1027" y="952"/>
                </a:lnTo>
                <a:lnTo>
                  <a:pt x="1027" y="880"/>
                </a:lnTo>
                <a:lnTo>
                  <a:pt x="902" y="948"/>
                </a:lnTo>
                <a:lnTo>
                  <a:pt x="652" y="734"/>
                </a:lnTo>
                <a:lnTo>
                  <a:pt x="652" y="734"/>
                </a:lnTo>
                <a:close/>
                <a:moveTo>
                  <a:pt x="626" y="734"/>
                </a:moveTo>
                <a:lnTo>
                  <a:pt x="626" y="1192"/>
                </a:lnTo>
                <a:lnTo>
                  <a:pt x="256" y="952"/>
                </a:lnTo>
                <a:lnTo>
                  <a:pt x="256" y="880"/>
                </a:lnTo>
                <a:lnTo>
                  <a:pt x="383" y="948"/>
                </a:lnTo>
                <a:lnTo>
                  <a:pt x="626" y="734"/>
                </a:lnTo>
                <a:lnTo>
                  <a:pt x="626" y="734"/>
                </a:lnTo>
                <a:close/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38" name="picture 8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431035" y="4564380"/>
            <a:ext cx="702563" cy="693419"/>
          </a:xfrm>
          <a:prstGeom prst="rect">
            <a:avLst/>
          </a:prstGeom>
        </p:spPr>
      </p:pic>
      <p:sp>
        <p:nvSpPr>
          <p:cNvPr id="840" name="textbox 840"/>
          <p:cNvSpPr/>
          <p:nvPr/>
        </p:nvSpPr>
        <p:spPr>
          <a:xfrm>
            <a:off x="2080934" y="4401772"/>
            <a:ext cx="758825" cy="591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850"/>
              </a:lnSpc>
              <a:tabLst/>
            </a:pPr>
            <a:r>
              <a:rPr sz="3100" b="1" kern="0" spc="-20" dirty="0">
                <a:solidFill>
                  <a:srgbClr val="7F7F7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?</a:t>
            </a:r>
            <a:endParaRPr sz="3100" dirty="0">
              <a:latin typeface="Calibri"/>
              <a:ea typeface="Calibri"/>
              <a:cs typeface="Calibri"/>
            </a:endParaRPr>
          </a:p>
          <a:p>
            <a:pPr marL="210820" algn="l" rtl="0" eaLnBrk="0">
              <a:lnSpc>
                <a:spcPct val="88000"/>
              </a:lnSpc>
              <a:spcBef>
                <a:spcPts val="78"/>
              </a:spcBef>
              <a:tabLst/>
            </a:pPr>
            <a:r>
              <a:rPr sz="500" kern="0" spc="10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●----------国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textbox 842"/>
          <p:cNvSpPr/>
          <p:nvPr/>
        </p:nvSpPr>
        <p:spPr>
          <a:xfrm>
            <a:off x="1754125" y="3647268"/>
            <a:ext cx="1203325" cy="366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负荷A：</a:t>
            </a:r>
            <a:r>
              <a:rPr sz="10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</a:t>
            </a:r>
            <a:r>
              <a:rPr sz="10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报价：</a:t>
            </a:r>
            <a:r>
              <a:rPr sz="1000" b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600元/MWh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4" name="textbox 844"/>
          <p:cNvSpPr/>
          <p:nvPr/>
        </p:nvSpPr>
        <p:spPr>
          <a:xfrm>
            <a:off x="7961425" y="3618324"/>
            <a:ext cx="1203325" cy="366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负荷B：</a:t>
            </a:r>
            <a:r>
              <a:rPr sz="10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150</a:t>
            </a: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报价：</a:t>
            </a:r>
            <a:r>
              <a:rPr sz="1000" b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600元/MWh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6" name="path 846"/>
          <p:cNvSpPr/>
          <p:nvPr/>
        </p:nvSpPr>
        <p:spPr>
          <a:xfrm>
            <a:off x="4465319" y="2692908"/>
            <a:ext cx="2151888" cy="126491"/>
          </a:xfrm>
          <a:custGeom>
            <a:avLst/>
            <a:gdLst/>
            <a:ahLst/>
            <a:cxnLst/>
            <a:rect l="0" t="0" r="0" b="0"/>
            <a:pathLst>
              <a:path w="3388" h="199">
                <a:moveTo>
                  <a:pt x="0" y="47"/>
                </a:moveTo>
                <a:lnTo>
                  <a:pt x="2642" y="47"/>
                </a:lnTo>
                <a:lnTo>
                  <a:pt x="2642" y="0"/>
                </a:lnTo>
                <a:lnTo>
                  <a:pt x="3388" y="98"/>
                </a:lnTo>
                <a:lnTo>
                  <a:pt x="2642" y="199"/>
                </a:lnTo>
                <a:lnTo>
                  <a:pt x="2642" y="148"/>
                </a:lnTo>
                <a:lnTo>
                  <a:pt x="0" y="148"/>
                </a:lnTo>
                <a:lnTo>
                  <a:pt x="0" y="47"/>
                </a:lnTo>
                <a:close/>
              </a:path>
            </a:pathLst>
          </a:custGeom>
          <a:solidFill>
            <a:srgbClr val="54823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48" name="picture 8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470148" y="3188969"/>
            <a:ext cx="527303" cy="387858"/>
          </a:xfrm>
          <a:prstGeom prst="rect">
            <a:avLst/>
          </a:prstGeom>
        </p:spPr>
      </p:pic>
      <p:pic>
        <p:nvPicPr>
          <p:cNvPr id="850" name="picture 8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071360" y="3188969"/>
            <a:ext cx="527303" cy="387858"/>
          </a:xfrm>
          <a:prstGeom prst="rect">
            <a:avLst/>
          </a:prstGeom>
        </p:spPr>
      </p:pic>
      <p:grpSp>
        <p:nvGrpSpPr>
          <p:cNvPr id="188" name="group 188"/>
          <p:cNvGrpSpPr/>
          <p:nvPr/>
        </p:nvGrpSpPr>
        <p:grpSpPr>
          <a:xfrm rot="21600000">
            <a:off x="7575041" y="2507741"/>
            <a:ext cx="591311" cy="281940"/>
            <a:chOff x="0" y="0"/>
            <a:chExt cx="591311" cy="281940"/>
          </a:xfrm>
        </p:grpSpPr>
        <p:sp>
          <p:nvSpPr>
            <p:cNvPr id="852" name="path 852"/>
            <p:cNvSpPr/>
            <p:nvPr/>
          </p:nvSpPr>
          <p:spPr>
            <a:xfrm>
              <a:off x="0" y="0"/>
              <a:ext cx="591311" cy="281940"/>
            </a:xfrm>
            <a:custGeom>
              <a:avLst/>
              <a:gdLst/>
              <a:ahLst/>
              <a:cxnLst/>
              <a:rect l="0" t="0" r="0" b="0"/>
              <a:pathLst>
                <a:path w="931" h="444">
                  <a:moveTo>
                    <a:pt x="13" y="222"/>
                  </a:moveTo>
                  <a:cubicBezTo>
                    <a:pt x="13" y="106"/>
                    <a:pt x="217" y="13"/>
                    <a:pt x="466" y="13"/>
                  </a:cubicBezTo>
                  <a:cubicBezTo>
                    <a:pt x="716" y="13"/>
                    <a:pt x="917" y="106"/>
                    <a:pt x="917" y="222"/>
                  </a:cubicBezTo>
                  <a:cubicBezTo>
                    <a:pt x="917" y="337"/>
                    <a:pt x="716" y="430"/>
                    <a:pt x="466" y="430"/>
                  </a:cubicBezTo>
                  <a:cubicBezTo>
                    <a:pt x="217" y="430"/>
                    <a:pt x="13" y="337"/>
                    <a:pt x="13" y="222"/>
                  </a:cubicBezTo>
                </a:path>
              </a:pathLst>
            </a:custGeom>
            <a:noFill/>
            <a:ln w="16763" cap="flat">
              <a:solidFill>
                <a:srgbClr val="0D426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54" name="textbox 854"/>
            <p:cNvSpPr/>
            <p:nvPr/>
          </p:nvSpPr>
          <p:spPr>
            <a:xfrm>
              <a:off x="-12700" y="-12700"/>
              <a:ext cx="617219" cy="3498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22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66065" algn="l" rtl="0" eaLnBrk="0">
                <a:lnSpc>
                  <a:spcPts val="572"/>
                </a:lnSpc>
                <a:tabLst/>
              </a:pPr>
              <a:r>
                <a:rPr sz="12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~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90" name="group 190"/>
          <p:cNvGrpSpPr/>
          <p:nvPr/>
        </p:nvGrpSpPr>
        <p:grpSpPr>
          <a:xfrm rot="21600000">
            <a:off x="2914649" y="2507741"/>
            <a:ext cx="589788" cy="281940"/>
            <a:chOff x="0" y="0"/>
            <a:chExt cx="589788" cy="281940"/>
          </a:xfrm>
        </p:grpSpPr>
        <p:sp>
          <p:nvSpPr>
            <p:cNvPr id="856" name="path 856"/>
            <p:cNvSpPr/>
            <p:nvPr/>
          </p:nvSpPr>
          <p:spPr>
            <a:xfrm>
              <a:off x="0" y="0"/>
              <a:ext cx="589788" cy="281940"/>
            </a:xfrm>
            <a:custGeom>
              <a:avLst/>
              <a:gdLst/>
              <a:ahLst/>
              <a:cxnLst/>
              <a:rect l="0" t="0" r="0" b="0"/>
              <a:pathLst>
                <a:path w="928" h="444">
                  <a:moveTo>
                    <a:pt x="13" y="222"/>
                  </a:moveTo>
                  <a:cubicBezTo>
                    <a:pt x="13" y="106"/>
                    <a:pt x="214" y="13"/>
                    <a:pt x="464" y="13"/>
                  </a:cubicBezTo>
                  <a:cubicBezTo>
                    <a:pt x="714" y="13"/>
                    <a:pt x="915" y="106"/>
                    <a:pt x="915" y="222"/>
                  </a:cubicBezTo>
                  <a:cubicBezTo>
                    <a:pt x="915" y="337"/>
                    <a:pt x="714" y="430"/>
                    <a:pt x="464" y="430"/>
                  </a:cubicBezTo>
                  <a:cubicBezTo>
                    <a:pt x="214" y="430"/>
                    <a:pt x="13" y="337"/>
                    <a:pt x="13" y="222"/>
                  </a:cubicBezTo>
                </a:path>
              </a:pathLst>
            </a:custGeom>
            <a:noFill/>
            <a:ln w="16763" cap="flat">
              <a:solidFill>
                <a:srgbClr val="FDA10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58" name="textbox 858"/>
            <p:cNvSpPr/>
            <p:nvPr/>
          </p:nvSpPr>
          <p:spPr>
            <a:xfrm>
              <a:off x="-12700" y="-12700"/>
              <a:ext cx="615315" cy="3498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22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64795" algn="l" rtl="0" eaLnBrk="0">
                <a:lnSpc>
                  <a:spcPts val="572"/>
                </a:lnSpc>
                <a:tabLst/>
              </a:pPr>
              <a:r>
                <a:rPr sz="12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~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92" name="group 192"/>
          <p:cNvGrpSpPr/>
          <p:nvPr/>
        </p:nvGrpSpPr>
        <p:grpSpPr>
          <a:xfrm rot="21600000">
            <a:off x="7464552" y="3585972"/>
            <a:ext cx="254508" cy="628649"/>
            <a:chOff x="0" y="0"/>
            <a:chExt cx="254508" cy="628649"/>
          </a:xfrm>
        </p:grpSpPr>
        <p:sp>
          <p:nvSpPr>
            <p:cNvPr id="860" name="path 860"/>
            <p:cNvSpPr/>
            <p:nvPr/>
          </p:nvSpPr>
          <p:spPr>
            <a:xfrm>
              <a:off x="0" y="0"/>
              <a:ext cx="239268" cy="294131"/>
            </a:xfrm>
            <a:custGeom>
              <a:avLst/>
              <a:gdLst/>
              <a:ahLst/>
              <a:cxnLst/>
              <a:rect l="0" t="0" r="0" b="0"/>
              <a:pathLst>
                <a:path w="376" h="463">
                  <a:moveTo>
                    <a:pt x="19" y="19"/>
                  </a:moveTo>
                  <a:lnTo>
                    <a:pt x="357" y="19"/>
                  </a:lnTo>
                  <a:lnTo>
                    <a:pt x="357" y="443"/>
                  </a:lnTo>
                  <a:lnTo>
                    <a:pt x="19" y="443"/>
                  </a:lnTo>
                  <a:lnTo>
                    <a:pt x="19" y="19"/>
                  </a:lnTo>
                  <a:close/>
                </a:path>
              </a:pathLst>
            </a:custGeom>
            <a:noFill/>
            <a:ln w="24383" cap="flat">
              <a:solidFill>
                <a:srgbClr val="0D426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2" name="path 862"/>
            <p:cNvSpPr/>
            <p:nvPr/>
          </p:nvSpPr>
          <p:spPr>
            <a:xfrm>
              <a:off x="126493" y="307709"/>
              <a:ext cx="27429" cy="270023"/>
            </a:xfrm>
            <a:custGeom>
              <a:avLst/>
              <a:gdLst/>
              <a:ahLst/>
              <a:cxnLst/>
              <a:rect l="0" t="0" r="0" b="0"/>
              <a:pathLst>
                <a:path w="43" h="425">
                  <a:moveTo>
                    <a:pt x="23" y="0"/>
                  </a:moveTo>
                  <a:lnTo>
                    <a:pt x="19" y="425"/>
                  </a:lnTo>
                </a:path>
              </a:pathLst>
            </a:custGeom>
            <a:noFill/>
            <a:ln w="24383" cap="flat">
              <a:solidFill>
                <a:srgbClr val="0D426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4" name="path 864"/>
            <p:cNvSpPr/>
            <p:nvPr/>
          </p:nvSpPr>
          <p:spPr>
            <a:xfrm>
              <a:off x="1523" y="558545"/>
              <a:ext cx="252984" cy="70103"/>
            </a:xfrm>
            <a:custGeom>
              <a:avLst/>
              <a:gdLst/>
              <a:ahLst/>
              <a:cxnLst/>
              <a:rect l="0" t="0" r="0" b="0"/>
              <a:pathLst>
                <a:path w="398" h="110">
                  <a:moveTo>
                    <a:pt x="0" y="5"/>
                  </a:moveTo>
                  <a:lnTo>
                    <a:pt x="398" y="5"/>
                  </a:lnTo>
                  <a:moveTo>
                    <a:pt x="74" y="104"/>
                  </a:moveTo>
                  <a:lnTo>
                    <a:pt x="350" y="104"/>
                  </a:lnTo>
                </a:path>
              </a:pathLst>
            </a:custGeom>
            <a:noFill/>
            <a:ln w="762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94" name="group 194"/>
          <p:cNvGrpSpPr/>
          <p:nvPr/>
        </p:nvGrpSpPr>
        <p:grpSpPr>
          <a:xfrm rot="21600000">
            <a:off x="3380231" y="3582923"/>
            <a:ext cx="254508" cy="604266"/>
            <a:chOff x="0" y="0"/>
            <a:chExt cx="254508" cy="604266"/>
          </a:xfrm>
        </p:grpSpPr>
        <p:sp>
          <p:nvSpPr>
            <p:cNvPr id="866" name="path 866"/>
            <p:cNvSpPr/>
            <p:nvPr/>
          </p:nvSpPr>
          <p:spPr>
            <a:xfrm>
              <a:off x="4572" y="0"/>
              <a:ext cx="239267" cy="294132"/>
            </a:xfrm>
            <a:custGeom>
              <a:avLst/>
              <a:gdLst/>
              <a:ahLst/>
              <a:cxnLst/>
              <a:rect l="0" t="0" r="0" b="0"/>
              <a:pathLst>
                <a:path w="376" h="463">
                  <a:moveTo>
                    <a:pt x="19" y="19"/>
                  </a:moveTo>
                  <a:lnTo>
                    <a:pt x="357" y="19"/>
                  </a:lnTo>
                  <a:lnTo>
                    <a:pt x="357" y="444"/>
                  </a:lnTo>
                  <a:lnTo>
                    <a:pt x="19" y="444"/>
                  </a:lnTo>
                  <a:lnTo>
                    <a:pt x="19" y="19"/>
                  </a:lnTo>
                  <a:close/>
                </a:path>
              </a:pathLst>
            </a:custGeom>
            <a:noFill/>
            <a:ln w="24383" cap="flat">
              <a:solidFill>
                <a:srgbClr val="FDA103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8" name="path 868"/>
            <p:cNvSpPr/>
            <p:nvPr/>
          </p:nvSpPr>
          <p:spPr>
            <a:xfrm>
              <a:off x="120397" y="281802"/>
              <a:ext cx="27430" cy="270023"/>
            </a:xfrm>
            <a:custGeom>
              <a:avLst/>
              <a:gdLst/>
              <a:ahLst/>
              <a:cxnLst/>
              <a:rect l="0" t="0" r="0" b="0"/>
              <a:pathLst>
                <a:path w="43" h="425">
                  <a:moveTo>
                    <a:pt x="23" y="0"/>
                  </a:moveTo>
                  <a:lnTo>
                    <a:pt x="19" y="425"/>
                  </a:lnTo>
                </a:path>
              </a:pathLst>
            </a:custGeom>
            <a:noFill/>
            <a:ln w="24383" cap="flat">
              <a:solidFill>
                <a:srgbClr val="FDA10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70" name="path 870"/>
            <p:cNvSpPr/>
            <p:nvPr/>
          </p:nvSpPr>
          <p:spPr>
            <a:xfrm>
              <a:off x="0" y="534162"/>
              <a:ext cx="254508" cy="70103"/>
            </a:xfrm>
            <a:custGeom>
              <a:avLst/>
              <a:gdLst/>
              <a:ahLst/>
              <a:cxnLst/>
              <a:rect l="0" t="0" r="0" b="0"/>
              <a:pathLst>
                <a:path w="400" h="110">
                  <a:moveTo>
                    <a:pt x="0" y="5"/>
                  </a:moveTo>
                  <a:lnTo>
                    <a:pt x="400" y="5"/>
                  </a:lnTo>
                  <a:moveTo>
                    <a:pt x="74" y="104"/>
                  </a:moveTo>
                  <a:lnTo>
                    <a:pt x="352" y="104"/>
                  </a:lnTo>
                </a:path>
              </a:pathLst>
            </a:custGeom>
            <a:noFill/>
            <a:ln w="762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72" name="textbox 872"/>
          <p:cNvSpPr/>
          <p:nvPr/>
        </p:nvSpPr>
        <p:spPr>
          <a:xfrm>
            <a:off x="8314217" y="2518826"/>
            <a:ext cx="753109" cy="23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#2机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200" b="1" kern="0" spc="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96" name="group 196"/>
          <p:cNvGrpSpPr/>
          <p:nvPr/>
        </p:nvGrpSpPr>
        <p:grpSpPr>
          <a:xfrm rot="21600000">
            <a:off x="3561588" y="2767583"/>
            <a:ext cx="384047" cy="252983"/>
            <a:chOff x="0" y="0"/>
            <a:chExt cx="384047" cy="252983"/>
          </a:xfrm>
        </p:grpSpPr>
        <p:sp>
          <p:nvSpPr>
            <p:cNvPr id="874" name="path 874"/>
            <p:cNvSpPr/>
            <p:nvPr/>
          </p:nvSpPr>
          <p:spPr>
            <a:xfrm>
              <a:off x="0" y="0"/>
              <a:ext cx="384047" cy="252983"/>
            </a:xfrm>
            <a:custGeom>
              <a:avLst/>
              <a:gdLst/>
              <a:ahLst/>
              <a:cxnLst/>
              <a:rect l="0" t="0" r="0" b="0"/>
              <a:pathLst>
                <a:path w="604" h="398">
                  <a:moveTo>
                    <a:pt x="19" y="199"/>
                  </a:moveTo>
                  <a:cubicBezTo>
                    <a:pt x="19" y="100"/>
                    <a:pt x="146" y="19"/>
                    <a:pt x="302" y="19"/>
                  </a:cubicBezTo>
                  <a:cubicBezTo>
                    <a:pt x="458" y="19"/>
                    <a:pt x="585" y="100"/>
                    <a:pt x="585" y="199"/>
                  </a:cubicBezTo>
                  <a:cubicBezTo>
                    <a:pt x="585" y="297"/>
                    <a:pt x="458" y="379"/>
                    <a:pt x="302" y="379"/>
                  </a:cubicBezTo>
                  <a:cubicBezTo>
                    <a:pt x="146" y="379"/>
                    <a:pt x="19" y="297"/>
                    <a:pt x="19" y="199"/>
                  </a:cubicBezTo>
                </a:path>
              </a:pathLst>
            </a:custGeom>
            <a:noFill/>
            <a:ln w="24383" cap="flat">
              <a:solidFill>
                <a:srgbClr val="FDA10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76" name="textbox 876"/>
            <p:cNvSpPr/>
            <p:nvPr/>
          </p:nvSpPr>
          <p:spPr>
            <a:xfrm>
              <a:off x="-12700" y="-12700"/>
              <a:ext cx="409575" cy="2787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75895" algn="l" rtl="0" eaLnBrk="0">
                <a:lnSpc>
                  <a:spcPts val="1392"/>
                </a:lnSpc>
                <a:spcBef>
                  <a:spcPts val="3"/>
                </a:spcBef>
                <a:tabLst/>
              </a:pPr>
              <a:r>
                <a:rPr sz="10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98" name="group 198"/>
          <p:cNvGrpSpPr/>
          <p:nvPr/>
        </p:nvGrpSpPr>
        <p:grpSpPr>
          <a:xfrm rot="21600000">
            <a:off x="7141463" y="2787396"/>
            <a:ext cx="384047" cy="252983"/>
            <a:chOff x="0" y="0"/>
            <a:chExt cx="384047" cy="252983"/>
          </a:xfrm>
        </p:grpSpPr>
        <p:sp>
          <p:nvSpPr>
            <p:cNvPr id="878" name="path 878"/>
            <p:cNvSpPr/>
            <p:nvPr/>
          </p:nvSpPr>
          <p:spPr>
            <a:xfrm>
              <a:off x="0" y="0"/>
              <a:ext cx="384047" cy="252983"/>
            </a:xfrm>
            <a:custGeom>
              <a:avLst/>
              <a:gdLst/>
              <a:ahLst/>
              <a:cxnLst/>
              <a:rect l="0" t="0" r="0" b="0"/>
              <a:pathLst>
                <a:path w="604" h="398">
                  <a:moveTo>
                    <a:pt x="19" y="199"/>
                  </a:moveTo>
                  <a:cubicBezTo>
                    <a:pt x="19" y="100"/>
                    <a:pt x="146" y="19"/>
                    <a:pt x="302" y="19"/>
                  </a:cubicBezTo>
                  <a:cubicBezTo>
                    <a:pt x="458" y="19"/>
                    <a:pt x="585" y="100"/>
                    <a:pt x="585" y="199"/>
                  </a:cubicBezTo>
                  <a:cubicBezTo>
                    <a:pt x="585" y="297"/>
                    <a:pt x="458" y="379"/>
                    <a:pt x="302" y="379"/>
                  </a:cubicBezTo>
                  <a:cubicBezTo>
                    <a:pt x="146" y="379"/>
                    <a:pt x="19" y="297"/>
                    <a:pt x="19" y="199"/>
                  </a:cubicBezTo>
                </a:path>
              </a:pathLst>
            </a:custGeom>
            <a:noFill/>
            <a:ln w="24383" cap="flat">
              <a:solidFill>
                <a:srgbClr val="0D426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0" name="textbox 880"/>
            <p:cNvSpPr/>
            <p:nvPr/>
          </p:nvSpPr>
          <p:spPr>
            <a:xfrm>
              <a:off x="-12700" y="-12700"/>
              <a:ext cx="409575" cy="2787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70179" algn="l" rtl="0" eaLnBrk="0">
                <a:lnSpc>
                  <a:spcPts val="1392"/>
                </a:lnSpc>
                <a:spcBef>
                  <a:spcPts val="3"/>
                </a:spcBef>
                <a:tabLst/>
              </a:pPr>
              <a:r>
                <a:rPr sz="10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882" name="picture 88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884" name="picture 88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841235" y="2042159"/>
            <a:ext cx="237744" cy="169164"/>
          </a:xfrm>
          <a:prstGeom prst="rect">
            <a:avLst/>
          </a:prstGeom>
        </p:spPr>
      </p:pic>
      <p:pic>
        <p:nvPicPr>
          <p:cNvPr id="886" name="picture 88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496055" y="2592323"/>
            <a:ext cx="501396" cy="74676"/>
          </a:xfrm>
          <a:prstGeom prst="rect">
            <a:avLst/>
          </a:prstGeom>
        </p:spPr>
      </p:pic>
      <p:pic>
        <p:nvPicPr>
          <p:cNvPr id="888" name="picture 88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082027" y="2592324"/>
            <a:ext cx="501395" cy="74676"/>
          </a:xfrm>
          <a:prstGeom prst="rect">
            <a:avLst/>
          </a:prstGeom>
        </p:spPr>
      </p:pic>
      <p:sp>
        <p:nvSpPr>
          <p:cNvPr id="890" name="textbox 890"/>
          <p:cNvSpPr/>
          <p:nvPr/>
        </p:nvSpPr>
        <p:spPr>
          <a:xfrm>
            <a:off x="9102343" y="2564062"/>
            <a:ext cx="339725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1200" b="1" kern="0" spc="-4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92" name="picture 89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330195" y="6156959"/>
            <a:ext cx="533400" cy="67055"/>
          </a:xfrm>
          <a:prstGeom prst="rect">
            <a:avLst/>
          </a:prstGeom>
        </p:spPr>
      </p:pic>
      <p:pic>
        <p:nvPicPr>
          <p:cNvPr id="894" name="picture 89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040879" y="4235195"/>
            <a:ext cx="1520952" cy="21335"/>
          </a:xfrm>
          <a:prstGeom prst="rect">
            <a:avLst/>
          </a:prstGeom>
        </p:spPr>
      </p:pic>
      <p:pic>
        <p:nvPicPr>
          <p:cNvPr id="896" name="picture 89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786371" y="2217420"/>
            <a:ext cx="53340" cy="289560"/>
          </a:xfrm>
          <a:prstGeom prst="rect">
            <a:avLst/>
          </a:prstGeom>
        </p:spPr>
      </p:pic>
      <p:pic>
        <p:nvPicPr>
          <p:cNvPr id="898" name="picture 89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147445" y="2362200"/>
            <a:ext cx="6350" cy="1522475"/>
          </a:xfrm>
          <a:prstGeom prst="rect">
            <a:avLst/>
          </a:prstGeom>
        </p:spPr>
      </p:pic>
      <p:pic>
        <p:nvPicPr>
          <p:cNvPr id="900" name="picture 90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9777855" y="2407920"/>
            <a:ext cx="6350" cy="1522476"/>
          </a:xfrm>
          <a:prstGeom prst="rect">
            <a:avLst/>
          </a:prstGeom>
        </p:spPr>
      </p:pic>
      <p:pic>
        <p:nvPicPr>
          <p:cNvPr id="902" name="picture 90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8570975" y="4247388"/>
            <a:ext cx="909828" cy="9144"/>
          </a:xfrm>
          <a:prstGeom prst="rect">
            <a:avLst/>
          </a:prstGeom>
        </p:spPr>
      </p:pic>
      <p:pic>
        <p:nvPicPr>
          <p:cNvPr id="904" name="picture 90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1152144" y="2217420"/>
            <a:ext cx="48767" cy="137159"/>
          </a:xfrm>
          <a:prstGeom prst="rect">
            <a:avLst/>
          </a:prstGeom>
        </p:spPr>
      </p:pic>
      <p:pic>
        <p:nvPicPr>
          <p:cNvPr id="906" name="picture 90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1402079" y="4235195"/>
            <a:ext cx="295655" cy="21335"/>
          </a:xfrm>
          <a:prstGeom prst="rect">
            <a:avLst/>
          </a:prstGeom>
        </p:spPr>
      </p:pic>
      <p:pic>
        <p:nvPicPr>
          <p:cNvPr id="908" name="picture 90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238500" y="4247388"/>
            <a:ext cx="603503" cy="9144"/>
          </a:xfrm>
          <a:prstGeom prst="rect">
            <a:avLst/>
          </a:prstGeom>
        </p:spPr>
      </p:pic>
      <p:pic>
        <p:nvPicPr>
          <p:cNvPr id="910" name="picture 91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1706879" y="4251832"/>
            <a:ext cx="1522476" cy="6350"/>
          </a:xfrm>
          <a:prstGeom prst="rect">
            <a:avLst/>
          </a:prstGeom>
        </p:spPr>
      </p:pic>
      <p:pic>
        <p:nvPicPr>
          <p:cNvPr id="912" name="picture 91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449324" y="2033015"/>
            <a:ext cx="297180" cy="10667"/>
          </a:xfrm>
          <a:prstGeom prst="rect">
            <a:avLst/>
          </a:prstGeom>
        </p:spPr>
      </p:pic>
      <p:pic>
        <p:nvPicPr>
          <p:cNvPr id="914" name="picture 91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4140581" y="2407920"/>
            <a:ext cx="6350" cy="144779"/>
          </a:xfrm>
          <a:prstGeom prst="rect">
            <a:avLst/>
          </a:prstGeom>
        </p:spPr>
      </p:pic>
      <p:pic>
        <p:nvPicPr>
          <p:cNvPr id="916" name="picture 91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4140581" y="2560319"/>
            <a:ext cx="6350" cy="144779"/>
          </a:xfrm>
          <a:prstGeom prst="rect">
            <a:avLst/>
          </a:prstGeom>
        </p:spPr>
      </p:pic>
      <p:pic>
        <p:nvPicPr>
          <p:cNvPr id="918" name="picture 91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784720" y="2822447"/>
            <a:ext cx="6350" cy="144779"/>
          </a:xfrm>
          <a:prstGeom prst="rect">
            <a:avLst/>
          </a:prstGeom>
        </p:spPr>
      </p:pic>
      <p:pic>
        <p:nvPicPr>
          <p:cNvPr id="920" name="picture 92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784720" y="2668523"/>
            <a:ext cx="6350" cy="144779"/>
          </a:xfrm>
          <a:prstGeom prst="rect">
            <a:avLst/>
          </a:prstGeom>
        </p:spPr>
      </p:pic>
      <p:pic>
        <p:nvPicPr>
          <p:cNvPr id="922" name="picture 92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6784720" y="2516123"/>
            <a:ext cx="6350" cy="144779"/>
          </a:xfrm>
          <a:prstGeom prst="rect">
            <a:avLst/>
          </a:prstGeom>
        </p:spPr>
      </p:pic>
      <p:pic>
        <p:nvPicPr>
          <p:cNvPr id="924" name="picture 92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6784720" y="3128772"/>
            <a:ext cx="6350" cy="144779"/>
          </a:xfrm>
          <a:prstGeom prst="rect">
            <a:avLst/>
          </a:prstGeom>
        </p:spPr>
      </p:pic>
      <p:pic>
        <p:nvPicPr>
          <p:cNvPr id="926" name="picture 92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6784720" y="3281172"/>
            <a:ext cx="6350" cy="144779"/>
          </a:xfrm>
          <a:prstGeom prst="rect">
            <a:avLst/>
          </a:prstGeom>
        </p:spPr>
      </p:pic>
      <p:pic>
        <p:nvPicPr>
          <p:cNvPr id="928" name="picture 928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6784720" y="2974847"/>
            <a:ext cx="6350" cy="144779"/>
          </a:xfrm>
          <a:prstGeom prst="rect">
            <a:avLst/>
          </a:prstGeom>
        </p:spPr>
      </p:pic>
      <p:pic>
        <p:nvPicPr>
          <p:cNvPr id="930" name="picture 93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6784720" y="3433572"/>
            <a:ext cx="6350" cy="144779"/>
          </a:xfrm>
          <a:prstGeom prst="rect">
            <a:avLst/>
          </a:prstGeom>
        </p:spPr>
      </p:pic>
      <p:pic>
        <p:nvPicPr>
          <p:cNvPr id="932" name="picture 93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6784720" y="3587495"/>
            <a:ext cx="6350" cy="144779"/>
          </a:xfrm>
          <a:prstGeom prst="rect">
            <a:avLst/>
          </a:prstGeom>
        </p:spPr>
      </p:pic>
      <p:pic>
        <p:nvPicPr>
          <p:cNvPr id="934" name="picture 93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6784720" y="3739895"/>
            <a:ext cx="6350" cy="144779"/>
          </a:xfrm>
          <a:prstGeom prst="rect">
            <a:avLst/>
          </a:prstGeom>
        </p:spPr>
      </p:pic>
      <p:pic>
        <p:nvPicPr>
          <p:cNvPr id="936" name="picture 93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4140581" y="3633216"/>
            <a:ext cx="6350" cy="144779"/>
          </a:xfrm>
          <a:prstGeom prst="rect">
            <a:avLst/>
          </a:prstGeom>
        </p:spPr>
      </p:pic>
      <p:pic>
        <p:nvPicPr>
          <p:cNvPr id="938" name="picture 93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4140581" y="3326891"/>
            <a:ext cx="6350" cy="144779"/>
          </a:xfrm>
          <a:prstGeom prst="rect">
            <a:avLst/>
          </a:prstGeom>
        </p:spPr>
      </p:pic>
      <p:pic>
        <p:nvPicPr>
          <p:cNvPr id="940" name="picture 94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4140581" y="3172967"/>
            <a:ext cx="6350" cy="144779"/>
          </a:xfrm>
          <a:prstGeom prst="rect">
            <a:avLst/>
          </a:prstGeom>
        </p:spPr>
      </p:pic>
      <p:pic>
        <p:nvPicPr>
          <p:cNvPr id="942" name="picture 94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4140581" y="3020567"/>
            <a:ext cx="6350" cy="144779"/>
          </a:xfrm>
          <a:prstGeom prst="rect">
            <a:avLst/>
          </a:prstGeom>
        </p:spPr>
      </p:pic>
      <p:pic>
        <p:nvPicPr>
          <p:cNvPr id="944" name="picture 944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4140581" y="3479291"/>
            <a:ext cx="6350" cy="144779"/>
          </a:xfrm>
          <a:prstGeom prst="rect">
            <a:avLst/>
          </a:prstGeom>
        </p:spPr>
      </p:pic>
      <p:pic>
        <p:nvPicPr>
          <p:cNvPr id="946" name="picture 94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4140581" y="2866643"/>
            <a:ext cx="6350" cy="144779"/>
          </a:xfrm>
          <a:prstGeom prst="rect">
            <a:avLst/>
          </a:prstGeom>
        </p:spPr>
      </p:pic>
      <p:pic>
        <p:nvPicPr>
          <p:cNvPr id="948" name="picture 948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4140581" y="2714243"/>
            <a:ext cx="6350" cy="1447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textbox 950"/>
          <p:cNvSpPr/>
          <p:nvPr/>
        </p:nvSpPr>
        <p:spPr>
          <a:xfrm>
            <a:off x="3088254" y="5691943"/>
            <a:ext cx="7153909" cy="902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51"/>
              </a:lnSpc>
              <a:tabLst/>
            </a:pP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负荷B购电费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4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500</a:t>
            </a:r>
            <a:r>
              <a:rPr sz="14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</a:t>
            </a:r>
            <a:r>
              <a:rPr sz="14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150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4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75000</a:t>
            </a: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1590" indent="-8889" algn="l" rtl="0" eaLnBrk="0">
              <a:lnSpc>
                <a:spcPct val="98000"/>
              </a:lnSpc>
              <a:tabLst/>
            </a:pPr>
            <a:r>
              <a:rPr sz="2100" b="1" kern="0" spc="10" baseline="744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负荷B的150</a:t>
            </a:r>
            <a:r>
              <a:rPr sz="2100" b="1" kern="0" spc="0" baseline="744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r>
              <a:rPr sz="2100" b="1" kern="0" spc="10" baseline="744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中有100</a:t>
            </a:r>
            <a:r>
              <a:rPr sz="2100" b="1" kern="0" spc="0" baseline="744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r>
              <a:rPr sz="2100" b="1" kern="0" spc="10" baseline="744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是#1机组提供</a:t>
            </a:r>
            <a:r>
              <a:rPr sz="2100" b="1" kern="0" spc="0" baseline="744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的，售价是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0" baseline="744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200元/MWh</a:t>
            </a:r>
            <a:r>
              <a:rPr sz="1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baseline="-19533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——阻塞盈余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出现了阻塞盈余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 （500-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200）</a:t>
            </a:r>
            <a:r>
              <a:rPr sz="1400" b="1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×100</a:t>
            </a:r>
            <a:r>
              <a:rPr sz="1400" b="1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30000元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2" name="path 952"/>
          <p:cNvSpPr/>
          <p:nvPr/>
        </p:nvSpPr>
        <p:spPr>
          <a:xfrm>
            <a:off x="3819144" y="2488691"/>
            <a:ext cx="24383" cy="947927"/>
          </a:xfrm>
          <a:custGeom>
            <a:avLst/>
            <a:gdLst/>
            <a:ahLst/>
            <a:cxnLst/>
            <a:rect l="0" t="0" r="0" b="0"/>
            <a:pathLst>
              <a:path w="38" h="1492">
                <a:moveTo>
                  <a:pt x="19" y="0"/>
                </a:moveTo>
                <a:lnTo>
                  <a:pt x="19" y="1492"/>
                </a:lnTo>
              </a:path>
            </a:pathLst>
          </a:custGeom>
          <a:noFill/>
          <a:ln w="24383" cap="flat">
            <a:solidFill>
              <a:srgbClr val="FDA103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4" name="path 954"/>
          <p:cNvSpPr/>
          <p:nvPr/>
        </p:nvSpPr>
        <p:spPr>
          <a:xfrm>
            <a:off x="6903719" y="2488691"/>
            <a:ext cx="24384" cy="947927"/>
          </a:xfrm>
          <a:custGeom>
            <a:avLst/>
            <a:gdLst/>
            <a:ahLst/>
            <a:cxnLst/>
            <a:rect l="0" t="0" r="0" b="0"/>
            <a:pathLst>
              <a:path w="38" h="1492">
                <a:moveTo>
                  <a:pt x="19" y="0"/>
                </a:moveTo>
                <a:lnTo>
                  <a:pt x="19" y="1492"/>
                </a:lnTo>
              </a:path>
            </a:pathLst>
          </a:custGeom>
          <a:noFill/>
          <a:ln w="24383" cap="flat">
            <a:solidFill>
              <a:srgbClr val="0D426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6" name="textbox 956"/>
          <p:cNvSpPr/>
          <p:nvPr/>
        </p:nvSpPr>
        <p:spPr>
          <a:xfrm>
            <a:off x="3317240" y="2399791"/>
            <a:ext cx="4112895" cy="848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39"/>
              </a:lnSpc>
              <a:spcBef>
                <a:spcPts val="3"/>
              </a:spcBef>
              <a:tabLst/>
            </a:pPr>
            <a:r>
              <a:rPr sz="4800" kern="0" spc="20" dirty="0">
                <a:solidFill>
                  <a:srgbClr val="FDA103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4800" kern="0" spc="500" dirty="0">
                <a:solidFill>
                  <a:srgbClr val="FDA103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b="1" kern="0" spc="20" baseline="1738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潮流：</a:t>
            </a:r>
            <a:r>
              <a:rPr sz="1100" b="1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20" baseline="1738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100</a:t>
            </a:r>
            <a:r>
              <a:rPr sz="11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0" baseline="1738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r>
              <a:rPr sz="1800" b="1" kern="0" spc="20" baseline="1738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造成阻塞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61669" algn="l" rtl="0" eaLnBrk="0">
              <a:lnSpc>
                <a:spcPct val="87000"/>
              </a:lnSpc>
              <a:spcBef>
                <a:spcPts val="1"/>
              </a:spcBef>
              <a:tabLst>
                <a:tab pos="1221739" algn="l"/>
              </a:tabLst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线路容量：</a:t>
            </a:r>
            <a:r>
              <a:rPr sz="1200" b="1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100</a:t>
            </a: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58" name="picture 9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17495" y="3025139"/>
            <a:ext cx="6350" cy="144779"/>
          </a:xfrm>
          <a:prstGeom prst="rect">
            <a:avLst/>
          </a:prstGeom>
        </p:spPr>
      </p:pic>
      <p:pic>
        <p:nvPicPr>
          <p:cNvPr id="960" name="picture 9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74465" y="3070859"/>
            <a:ext cx="6350" cy="144779"/>
          </a:xfrm>
          <a:prstGeom prst="rect">
            <a:avLst/>
          </a:prstGeom>
        </p:spPr>
      </p:pic>
      <p:pic>
        <p:nvPicPr>
          <p:cNvPr id="962" name="picture 9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912931" y="2642616"/>
            <a:ext cx="501395" cy="74676"/>
          </a:xfrm>
          <a:prstGeom prst="rect">
            <a:avLst/>
          </a:prstGeom>
        </p:spPr>
      </p:pic>
      <p:pic>
        <p:nvPicPr>
          <p:cNvPr id="964" name="picture 9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17275" y="2412491"/>
            <a:ext cx="6350" cy="298704"/>
          </a:xfrm>
          <a:prstGeom prst="rect">
            <a:avLst/>
          </a:prstGeom>
        </p:spPr>
      </p:pic>
      <p:sp>
        <p:nvSpPr>
          <p:cNvPr id="966" name="textbox 966"/>
          <p:cNvSpPr/>
          <p:nvPr/>
        </p:nvSpPr>
        <p:spPr>
          <a:xfrm>
            <a:off x="3116393" y="4527139"/>
            <a:ext cx="3360420" cy="859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节点1电价</a:t>
            </a:r>
            <a:r>
              <a:rPr sz="14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 200元/MWh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48000"/>
              </a:lnSpc>
              <a:spcBef>
                <a:spcPts val="142"/>
              </a:spcBef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节点2电价格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500元/M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Wh对购售电四方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就都公平了</a:t>
            </a:r>
            <a:r>
              <a:rPr sz="14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？对谁仍然不公平？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8" name="textbox 968"/>
          <p:cNvSpPr/>
          <p:nvPr/>
        </p:nvSpPr>
        <p:spPr>
          <a:xfrm>
            <a:off x="1023620" y="2079752"/>
            <a:ext cx="1475105" cy="787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7475" algn="l" rtl="0" eaLnBrk="0">
              <a:lnSpc>
                <a:spcPct val="78000"/>
              </a:lnSpc>
              <a:tabLst/>
            </a:pPr>
            <a:r>
              <a:rPr sz="500" kern="0" spc="18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,""</a:t>
            </a: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2"/>
              </a:spcBef>
              <a:tabLst/>
            </a:pPr>
            <a:r>
              <a:rPr sz="900" kern="0" spc="17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,'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14"/>
              </a:lnSpc>
              <a:spcBef>
                <a:spcPts val="2"/>
              </a:spcBef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#1机组—</a:t>
            </a:r>
            <a:r>
              <a:rPr sz="1200" b="1" kern="0" spc="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200</a:t>
            </a:r>
            <a:r>
              <a:rPr sz="1200" b="1" kern="0" spc="13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70" name="picture 9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50580" y="2083308"/>
            <a:ext cx="909827" cy="21335"/>
          </a:xfrm>
          <a:prstGeom prst="rect">
            <a:avLst/>
          </a:prstGeom>
        </p:spPr>
      </p:pic>
      <p:pic>
        <p:nvPicPr>
          <p:cNvPr id="972" name="picture 9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920483" y="2083308"/>
            <a:ext cx="1522477" cy="9144"/>
          </a:xfrm>
          <a:prstGeom prst="rect">
            <a:avLst/>
          </a:prstGeom>
        </p:spPr>
      </p:pic>
      <p:sp>
        <p:nvSpPr>
          <p:cNvPr id="974" name="textbox 974"/>
          <p:cNvSpPr/>
          <p:nvPr/>
        </p:nvSpPr>
        <p:spPr>
          <a:xfrm>
            <a:off x="7394447" y="1866900"/>
            <a:ext cx="1748154" cy="45910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1914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容量：</a:t>
            </a:r>
            <a:r>
              <a:rPr sz="1200" b="1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</a:t>
            </a: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82550" algn="l" rtl="0" eaLnBrk="0">
              <a:lnSpc>
                <a:spcPct val="86000"/>
              </a:lnSpc>
              <a:spcBef>
                <a:spcPts val="241"/>
              </a:spcBef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报价：</a:t>
            </a:r>
            <a:r>
              <a:rPr sz="1200" b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500元/MWh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76" name="picture 97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88008" y="2081657"/>
            <a:ext cx="1522475" cy="6350"/>
          </a:xfrm>
          <a:prstGeom prst="rect">
            <a:avLst/>
          </a:prstGeom>
        </p:spPr>
      </p:pic>
      <p:pic>
        <p:nvPicPr>
          <p:cNvPr id="978" name="picture 97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119627" y="2083308"/>
            <a:ext cx="601980" cy="21335"/>
          </a:xfrm>
          <a:prstGeom prst="rect">
            <a:avLst/>
          </a:prstGeom>
        </p:spPr>
      </p:pic>
      <p:sp>
        <p:nvSpPr>
          <p:cNvPr id="980" name="textbox 980"/>
          <p:cNvSpPr/>
          <p:nvPr/>
        </p:nvSpPr>
        <p:spPr>
          <a:xfrm>
            <a:off x="1652015" y="1905000"/>
            <a:ext cx="1577975" cy="45910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1914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容量：</a:t>
            </a:r>
            <a:r>
              <a:rPr sz="1200" b="1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200</a:t>
            </a: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82550" algn="l" rtl="0" eaLnBrk="0">
              <a:lnSpc>
                <a:spcPct val="86000"/>
              </a:lnSpc>
              <a:spcBef>
                <a:spcPts val="240"/>
              </a:spcBef>
              <a:tabLst/>
            </a:pPr>
            <a:r>
              <a:rPr sz="1200" b="1" kern="0" spc="-2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报价：</a:t>
            </a:r>
            <a:r>
              <a:rPr sz="1200" b="1" kern="0" spc="-25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2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200元/MW</a:t>
            </a:r>
            <a:r>
              <a:rPr sz="1200" b="1" kern="0" spc="-3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2" name="path 982"/>
          <p:cNvSpPr/>
          <p:nvPr/>
        </p:nvSpPr>
        <p:spPr>
          <a:xfrm>
            <a:off x="1443227" y="5811011"/>
            <a:ext cx="816863" cy="757427"/>
          </a:xfrm>
          <a:custGeom>
            <a:avLst/>
            <a:gdLst/>
            <a:ahLst/>
            <a:cxnLst/>
            <a:rect l="0" t="0" r="0" b="0"/>
            <a:pathLst>
              <a:path w="1286" h="1192">
                <a:moveTo>
                  <a:pt x="383" y="0"/>
                </a:moveTo>
                <a:lnTo>
                  <a:pt x="0" y="247"/>
                </a:lnTo>
                <a:lnTo>
                  <a:pt x="244" y="458"/>
                </a:lnTo>
                <a:lnTo>
                  <a:pt x="633" y="208"/>
                </a:lnTo>
                <a:lnTo>
                  <a:pt x="383" y="0"/>
                </a:lnTo>
                <a:lnTo>
                  <a:pt x="383" y="0"/>
                </a:lnTo>
                <a:close/>
                <a:moveTo>
                  <a:pt x="902" y="0"/>
                </a:moveTo>
                <a:lnTo>
                  <a:pt x="1286" y="249"/>
                </a:lnTo>
                <a:lnTo>
                  <a:pt x="1039" y="458"/>
                </a:lnTo>
                <a:lnTo>
                  <a:pt x="657" y="208"/>
                </a:lnTo>
                <a:lnTo>
                  <a:pt x="902" y="0"/>
                </a:lnTo>
                <a:lnTo>
                  <a:pt x="902" y="0"/>
                </a:lnTo>
                <a:close/>
                <a:moveTo>
                  <a:pt x="383" y="914"/>
                </a:moveTo>
                <a:lnTo>
                  <a:pt x="16" y="688"/>
                </a:lnTo>
                <a:lnTo>
                  <a:pt x="240" y="489"/>
                </a:lnTo>
                <a:lnTo>
                  <a:pt x="604" y="722"/>
                </a:lnTo>
                <a:lnTo>
                  <a:pt x="383" y="914"/>
                </a:lnTo>
                <a:lnTo>
                  <a:pt x="383" y="914"/>
                </a:lnTo>
                <a:close/>
                <a:moveTo>
                  <a:pt x="897" y="911"/>
                </a:moveTo>
                <a:lnTo>
                  <a:pt x="1269" y="686"/>
                </a:lnTo>
                <a:lnTo>
                  <a:pt x="1046" y="489"/>
                </a:lnTo>
                <a:lnTo>
                  <a:pt x="681" y="717"/>
                </a:lnTo>
                <a:lnTo>
                  <a:pt x="897" y="911"/>
                </a:lnTo>
                <a:lnTo>
                  <a:pt x="897" y="911"/>
                </a:lnTo>
                <a:close/>
                <a:moveTo>
                  <a:pt x="652" y="734"/>
                </a:moveTo>
                <a:lnTo>
                  <a:pt x="652" y="1192"/>
                </a:lnTo>
                <a:lnTo>
                  <a:pt x="1027" y="952"/>
                </a:lnTo>
                <a:lnTo>
                  <a:pt x="1027" y="880"/>
                </a:lnTo>
                <a:lnTo>
                  <a:pt x="902" y="948"/>
                </a:lnTo>
                <a:lnTo>
                  <a:pt x="652" y="734"/>
                </a:lnTo>
                <a:lnTo>
                  <a:pt x="652" y="734"/>
                </a:lnTo>
                <a:close/>
                <a:moveTo>
                  <a:pt x="626" y="734"/>
                </a:moveTo>
                <a:lnTo>
                  <a:pt x="626" y="1192"/>
                </a:lnTo>
                <a:lnTo>
                  <a:pt x="256" y="952"/>
                </a:lnTo>
                <a:lnTo>
                  <a:pt x="256" y="880"/>
                </a:lnTo>
                <a:lnTo>
                  <a:pt x="383" y="948"/>
                </a:lnTo>
                <a:lnTo>
                  <a:pt x="626" y="734"/>
                </a:lnTo>
                <a:lnTo>
                  <a:pt x="626" y="734"/>
                </a:lnTo>
                <a:close/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84" name="picture 98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831335" y="2871215"/>
            <a:ext cx="3084576" cy="190500"/>
          </a:xfrm>
          <a:prstGeom prst="rect">
            <a:avLst/>
          </a:prstGeom>
        </p:spPr>
      </p:pic>
      <p:graphicFrame>
        <p:nvGraphicFramePr>
          <p:cNvPr id="986" name="table 986"/>
          <p:cNvGraphicFramePr>
            <a:graphicFrameLocks noGrp="1"/>
          </p:cNvGraphicFramePr>
          <p:nvPr/>
        </p:nvGraphicFramePr>
        <p:xfrm>
          <a:off x="3217164" y="3633216"/>
          <a:ext cx="238759" cy="294004"/>
        </p:xfrm>
        <a:graphic>
          <a:graphicData uri="http://schemas.openxmlformats.org/drawingml/2006/table">
            <a:tbl>
              <a:tblPr/>
              <a:tblGrid>
                <a:gridCol w="238759"/>
              </a:tblGrid>
              <a:tr h="271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88" name="picture 98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214116" y="3239261"/>
            <a:ext cx="617219" cy="945779"/>
          </a:xfrm>
          <a:prstGeom prst="rect">
            <a:avLst/>
          </a:prstGeom>
        </p:spPr>
      </p:pic>
      <p:pic>
        <p:nvPicPr>
          <p:cNvPr id="990" name="picture 99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903719" y="3239261"/>
            <a:ext cx="547115" cy="974735"/>
          </a:xfrm>
          <a:prstGeom prst="rect">
            <a:avLst/>
          </a:prstGeom>
        </p:spPr>
      </p:pic>
      <p:pic>
        <p:nvPicPr>
          <p:cNvPr id="992" name="picture 99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3976116" y="2718816"/>
            <a:ext cx="2645663" cy="190499"/>
          </a:xfrm>
          <a:prstGeom prst="rect">
            <a:avLst/>
          </a:prstGeom>
        </p:spPr>
      </p:pic>
      <p:pic>
        <p:nvPicPr>
          <p:cNvPr id="994" name="picture 99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431035" y="4564380"/>
            <a:ext cx="702563" cy="693419"/>
          </a:xfrm>
          <a:prstGeom prst="rect">
            <a:avLst/>
          </a:prstGeom>
        </p:spPr>
      </p:pic>
      <p:sp>
        <p:nvSpPr>
          <p:cNvPr id="996" name="textbox 996"/>
          <p:cNvSpPr/>
          <p:nvPr/>
        </p:nvSpPr>
        <p:spPr>
          <a:xfrm>
            <a:off x="2080934" y="4401772"/>
            <a:ext cx="758825" cy="591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850"/>
              </a:lnSpc>
              <a:tabLst/>
            </a:pPr>
            <a:r>
              <a:rPr sz="3100" b="1" kern="0" spc="-20" dirty="0">
                <a:solidFill>
                  <a:srgbClr val="7F7F7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?</a:t>
            </a:r>
            <a:endParaRPr sz="3100" dirty="0">
              <a:latin typeface="Calibri"/>
              <a:ea typeface="Calibri"/>
              <a:cs typeface="Calibri"/>
            </a:endParaRPr>
          </a:p>
          <a:p>
            <a:pPr marL="210820" algn="l" rtl="0" eaLnBrk="0">
              <a:lnSpc>
                <a:spcPct val="88000"/>
              </a:lnSpc>
              <a:spcBef>
                <a:spcPts val="78"/>
              </a:spcBef>
              <a:tabLst/>
            </a:pPr>
            <a:r>
              <a:rPr sz="500" kern="0" spc="10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●----------国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8" name="textbox 998"/>
          <p:cNvSpPr/>
          <p:nvPr/>
        </p:nvSpPr>
        <p:spPr>
          <a:xfrm>
            <a:off x="7793784" y="3668616"/>
            <a:ext cx="1203325" cy="366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负荷B：</a:t>
            </a:r>
            <a:r>
              <a:rPr sz="10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150</a:t>
            </a: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报价：</a:t>
            </a:r>
            <a:r>
              <a:rPr sz="1000" b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600元/MWh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0" name="textbox 1000"/>
          <p:cNvSpPr/>
          <p:nvPr/>
        </p:nvSpPr>
        <p:spPr>
          <a:xfrm>
            <a:off x="1587991" y="3697560"/>
            <a:ext cx="1203325" cy="366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负荷A：</a:t>
            </a:r>
            <a:r>
              <a:rPr sz="10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</a:t>
            </a:r>
            <a:r>
              <a:rPr sz="10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报价：</a:t>
            </a:r>
            <a:r>
              <a:rPr sz="1000" b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600元/MWh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2" name="textbox 1002"/>
          <p:cNvSpPr/>
          <p:nvPr/>
        </p:nvSpPr>
        <p:spPr>
          <a:xfrm>
            <a:off x="8523257" y="4719422"/>
            <a:ext cx="1395730" cy="286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000" b="1" kern="0" spc="7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——?</a:t>
            </a:r>
            <a:r>
              <a:rPr sz="2000" b="1" kern="0" spc="54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7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公平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4" name="textbox 1004"/>
          <p:cNvSpPr/>
          <p:nvPr/>
        </p:nvSpPr>
        <p:spPr>
          <a:xfrm>
            <a:off x="534758" y="1115553"/>
            <a:ext cx="1210944" cy="328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4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阻塞盈余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00" name="group 200"/>
          <p:cNvGrpSpPr/>
          <p:nvPr/>
        </p:nvGrpSpPr>
        <p:grpSpPr>
          <a:xfrm rot="21600000">
            <a:off x="2747009" y="2558033"/>
            <a:ext cx="591311" cy="281940"/>
            <a:chOff x="0" y="0"/>
            <a:chExt cx="591311" cy="281940"/>
          </a:xfrm>
        </p:grpSpPr>
        <p:sp>
          <p:nvSpPr>
            <p:cNvPr id="1006" name="path 1006"/>
            <p:cNvSpPr/>
            <p:nvPr/>
          </p:nvSpPr>
          <p:spPr>
            <a:xfrm>
              <a:off x="0" y="0"/>
              <a:ext cx="591311" cy="281940"/>
            </a:xfrm>
            <a:custGeom>
              <a:avLst/>
              <a:gdLst/>
              <a:ahLst/>
              <a:cxnLst/>
              <a:rect l="0" t="0" r="0" b="0"/>
              <a:pathLst>
                <a:path w="931" h="444">
                  <a:moveTo>
                    <a:pt x="13" y="222"/>
                  </a:moveTo>
                  <a:cubicBezTo>
                    <a:pt x="13" y="106"/>
                    <a:pt x="214" y="13"/>
                    <a:pt x="464" y="13"/>
                  </a:cubicBezTo>
                  <a:cubicBezTo>
                    <a:pt x="714" y="13"/>
                    <a:pt x="917" y="106"/>
                    <a:pt x="917" y="222"/>
                  </a:cubicBezTo>
                  <a:cubicBezTo>
                    <a:pt x="917" y="337"/>
                    <a:pt x="714" y="430"/>
                    <a:pt x="464" y="430"/>
                  </a:cubicBezTo>
                  <a:cubicBezTo>
                    <a:pt x="214" y="430"/>
                    <a:pt x="13" y="337"/>
                    <a:pt x="13" y="222"/>
                  </a:cubicBezTo>
                </a:path>
              </a:pathLst>
            </a:custGeom>
            <a:noFill/>
            <a:ln w="16763" cap="flat">
              <a:solidFill>
                <a:srgbClr val="FDA10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08" name="textbox 1008"/>
            <p:cNvSpPr/>
            <p:nvPr/>
          </p:nvSpPr>
          <p:spPr>
            <a:xfrm>
              <a:off x="-12700" y="-12700"/>
              <a:ext cx="617219" cy="3498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3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66065" algn="l" rtl="0" eaLnBrk="0">
                <a:lnSpc>
                  <a:spcPts val="572"/>
                </a:lnSpc>
                <a:tabLst/>
              </a:pPr>
              <a:r>
                <a:rPr sz="12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~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02" name="group 202"/>
          <p:cNvGrpSpPr/>
          <p:nvPr/>
        </p:nvGrpSpPr>
        <p:grpSpPr>
          <a:xfrm rot="21600000">
            <a:off x="7408926" y="2558033"/>
            <a:ext cx="589788" cy="281940"/>
            <a:chOff x="0" y="0"/>
            <a:chExt cx="589788" cy="281940"/>
          </a:xfrm>
        </p:grpSpPr>
        <p:sp>
          <p:nvSpPr>
            <p:cNvPr id="1010" name="path 1010"/>
            <p:cNvSpPr/>
            <p:nvPr/>
          </p:nvSpPr>
          <p:spPr>
            <a:xfrm>
              <a:off x="0" y="0"/>
              <a:ext cx="589788" cy="281940"/>
            </a:xfrm>
            <a:custGeom>
              <a:avLst/>
              <a:gdLst/>
              <a:ahLst/>
              <a:cxnLst/>
              <a:rect l="0" t="0" r="0" b="0"/>
              <a:pathLst>
                <a:path w="928" h="444">
                  <a:moveTo>
                    <a:pt x="13" y="222"/>
                  </a:moveTo>
                  <a:cubicBezTo>
                    <a:pt x="13" y="106"/>
                    <a:pt x="214" y="13"/>
                    <a:pt x="464" y="13"/>
                  </a:cubicBezTo>
                  <a:cubicBezTo>
                    <a:pt x="713" y="13"/>
                    <a:pt x="915" y="106"/>
                    <a:pt x="915" y="222"/>
                  </a:cubicBezTo>
                  <a:cubicBezTo>
                    <a:pt x="915" y="337"/>
                    <a:pt x="713" y="430"/>
                    <a:pt x="464" y="430"/>
                  </a:cubicBezTo>
                  <a:cubicBezTo>
                    <a:pt x="214" y="430"/>
                    <a:pt x="13" y="337"/>
                    <a:pt x="13" y="222"/>
                  </a:cubicBezTo>
                </a:path>
              </a:pathLst>
            </a:custGeom>
            <a:noFill/>
            <a:ln w="16763" cap="flat">
              <a:solidFill>
                <a:srgbClr val="0D426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12" name="textbox 1012"/>
            <p:cNvSpPr/>
            <p:nvPr/>
          </p:nvSpPr>
          <p:spPr>
            <a:xfrm>
              <a:off x="-12700" y="-12700"/>
              <a:ext cx="615315" cy="3498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3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66065" algn="l" rtl="0" eaLnBrk="0">
                <a:lnSpc>
                  <a:spcPts val="572"/>
                </a:lnSpc>
                <a:tabLst/>
              </a:pPr>
              <a:r>
                <a:rPr sz="12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~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014" name="textbox 1014"/>
          <p:cNvSpPr/>
          <p:nvPr/>
        </p:nvSpPr>
        <p:spPr>
          <a:xfrm>
            <a:off x="8146614" y="2567556"/>
            <a:ext cx="753109" cy="23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#2机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200" b="1" kern="0" spc="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04" name="group 204"/>
          <p:cNvGrpSpPr/>
          <p:nvPr/>
        </p:nvGrpSpPr>
        <p:grpSpPr>
          <a:xfrm rot="21600000">
            <a:off x="3393948" y="2817876"/>
            <a:ext cx="384047" cy="252983"/>
            <a:chOff x="0" y="0"/>
            <a:chExt cx="384047" cy="252983"/>
          </a:xfrm>
        </p:grpSpPr>
        <p:sp>
          <p:nvSpPr>
            <p:cNvPr id="1016" name="path 1016"/>
            <p:cNvSpPr/>
            <p:nvPr/>
          </p:nvSpPr>
          <p:spPr>
            <a:xfrm>
              <a:off x="0" y="0"/>
              <a:ext cx="384047" cy="252983"/>
            </a:xfrm>
            <a:custGeom>
              <a:avLst/>
              <a:gdLst/>
              <a:ahLst/>
              <a:cxnLst/>
              <a:rect l="0" t="0" r="0" b="0"/>
              <a:pathLst>
                <a:path w="604" h="398">
                  <a:moveTo>
                    <a:pt x="19" y="199"/>
                  </a:moveTo>
                  <a:cubicBezTo>
                    <a:pt x="19" y="100"/>
                    <a:pt x="146" y="19"/>
                    <a:pt x="302" y="19"/>
                  </a:cubicBezTo>
                  <a:cubicBezTo>
                    <a:pt x="458" y="19"/>
                    <a:pt x="585" y="100"/>
                    <a:pt x="585" y="199"/>
                  </a:cubicBezTo>
                  <a:cubicBezTo>
                    <a:pt x="585" y="297"/>
                    <a:pt x="458" y="379"/>
                    <a:pt x="302" y="379"/>
                  </a:cubicBezTo>
                  <a:cubicBezTo>
                    <a:pt x="146" y="379"/>
                    <a:pt x="19" y="297"/>
                    <a:pt x="19" y="199"/>
                  </a:cubicBezTo>
                </a:path>
              </a:pathLst>
            </a:custGeom>
            <a:noFill/>
            <a:ln w="24383" cap="flat">
              <a:solidFill>
                <a:srgbClr val="FDA10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18" name="textbox 1018"/>
            <p:cNvSpPr/>
            <p:nvPr/>
          </p:nvSpPr>
          <p:spPr>
            <a:xfrm>
              <a:off x="-12700" y="-12700"/>
              <a:ext cx="409575" cy="2787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77164" algn="l" rtl="0" eaLnBrk="0">
                <a:lnSpc>
                  <a:spcPts val="1392"/>
                </a:lnSpc>
                <a:spcBef>
                  <a:spcPts val="3"/>
                </a:spcBef>
                <a:tabLst/>
              </a:pPr>
              <a:r>
                <a:rPr sz="10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06" name="group 206"/>
          <p:cNvGrpSpPr/>
          <p:nvPr/>
        </p:nvGrpSpPr>
        <p:grpSpPr>
          <a:xfrm rot="21600000">
            <a:off x="6973823" y="2837688"/>
            <a:ext cx="384047" cy="251459"/>
            <a:chOff x="0" y="0"/>
            <a:chExt cx="384047" cy="251459"/>
          </a:xfrm>
        </p:grpSpPr>
        <p:sp>
          <p:nvSpPr>
            <p:cNvPr id="1020" name="path 1020"/>
            <p:cNvSpPr/>
            <p:nvPr/>
          </p:nvSpPr>
          <p:spPr>
            <a:xfrm>
              <a:off x="0" y="0"/>
              <a:ext cx="384047" cy="251459"/>
            </a:xfrm>
            <a:custGeom>
              <a:avLst/>
              <a:gdLst/>
              <a:ahLst/>
              <a:cxnLst/>
              <a:rect l="0" t="0" r="0" b="0"/>
              <a:pathLst>
                <a:path w="604" h="395">
                  <a:moveTo>
                    <a:pt x="19" y="199"/>
                  </a:moveTo>
                  <a:cubicBezTo>
                    <a:pt x="19" y="98"/>
                    <a:pt x="146" y="19"/>
                    <a:pt x="302" y="19"/>
                  </a:cubicBezTo>
                  <a:cubicBezTo>
                    <a:pt x="458" y="19"/>
                    <a:pt x="585" y="98"/>
                    <a:pt x="585" y="199"/>
                  </a:cubicBezTo>
                  <a:cubicBezTo>
                    <a:pt x="585" y="297"/>
                    <a:pt x="458" y="376"/>
                    <a:pt x="302" y="376"/>
                  </a:cubicBezTo>
                  <a:cubicBezTo>
                    <a:pt x="146" y="376"/>
                    <a:pt x="19" y="297"/>
                    <a:pt x="19" y="199"/>
                  </a:cubicBezTo>
                </a:path>
              </a:pathLst>
            </a:custGeom>
            <a:noFill/>
            <a:ln w="24383" cap="flat">
              <a:solidFill>
                <a:srgbClr val="0D426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22" name="textbox 1022"/>
            <p:cNvSpPr/>
            <p:nvPr/>
          </p:nvSpPr>
          <p:spPr>
            <a:xfrm>
              <a:off x="-12700" y="-12700"/>
              <a:ext cx="409575" cy="2768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6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72085" algn="l" rtl="0" eaLnBrk="0">
                <a:lnSpc>
                  <a:spcPts val="1392"/>
                </a:lnSpc>
                <a:spcBef>
                  <a:spcPts val="1"/>
                </a:spcBef>
                <a:tabLst/>
              </a:pPr>
              <a:r>
                <a:rPr sz="10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aphicFrame>
        <p:nvGraphicFramePr>
          <p:cNvPr id="1024" name="table 1024"/>
          <p:cNvGraphicFramePr>
            <a:graphicFrameLocks noGrp="1"/>
          </p:cNvGraphicFramePr>
          <p:nvPr/>
        </p:nvGraphicFramePr>
        <p:xfrm>
          <a:off x="7296911" y="3634739"/>
          <a:ext cx="238759" cy="295275"/>
        </p:xfrm>
        <a:graphic>
          <a:graphicData uri="http://schemas.openxmlformats.org/drawingml/2006/table">
            <a:tbl>
              <a:tblPr/>
              <a:tblGrid>
                <a:gridCol w="238759"/>
              </a:tblGrid>
              <a:tr h="273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path 1026"/>
          <p:cNvSpPr/>
          <p:nvPr/>
        </p:nvSpPr>
        <p:spPr>
          <a:xfrm>
            <a:off x="3261359" y="4231386"/>
            <a:ext cx="4293107" cy="13715"/>
          </a:xfrm>
          <a:custGeom>
            <a:avLst/>
            <a:gdLst/>
            <a:ahLst/>
            <a:cxnLst/>
            <a:rect l="0" t="0" r="0" b="0"/>
            <a:pathLst>
              <a:path w="6760" h="21">
                <a:moveTo>
                  <a:pt x="0" y="15"/>
                </a:moveTo>
                <a:lnTo>
                  <a:pt x="275" y="15"/>
                </a:lnTo>
                <a:moveTo>
                  <a:pt x="6362" y="5"/>
                </a:moveTo>
                <a:lnTo>
                  <a:pt x="6760" y="5"/>
                </a:lnTo>
              </a:path>
            </a:pathLst>
          </a:custGeom>
          <a:noFill/>
          <a:ln w="762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28" name="picture 10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1030" name="textbox 1030"/>
          <p:cNvSpPr/>
          <p:nvPr/>
        </p:nvSpPr>
        <p:spPr>
          <a:xfrm>
            <a:off x="8934645" y="2612792"/>
            <a:ext cx="339725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1200" b="1" kern="0" spc="-4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32" name="picture 103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330195" y="6156959"/>
            <a:ext cx="533400" cy="67055"/>
          </a:xfrm>
          <a:prstGeom prst="rect">
            <a:avLst/>
          </a:prstGeom>
        </p:spPr>
      </p:pic>
      <p:pic>
        <p:nvPicPr>
          <p:cNvPr id="1034" name="picture 10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873239" y="4285488"/>
            <a:ext cx="1062228" cy="21335"/>
          </a:xfrm>
          <a:prstGeom prst="rect">
            <a:avLst/>
          </a:prstGeom>
        </p:spPr>
      </p:pic>
      <p:pic>
        <p:nvPicPr>
          <p:cNvPr id="1036" name="picture 10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7944611" y="4297679"/>
            <a:ext cx="1368552" cy="9144"/>
          </a:xfrm>
          <a:prstGeom prst="rect">
            <a:avLst/>
          </a:prstGeom>
        </p:spPr>
      </p:pic>
      <p:pic>
        <p:nvPicPr>
          <p:cNvPr id="1038" name="picture 10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980566" y="2412491"/>
            <a:ext cx="6350" cy="1522476"/>
          </a:xfrm>
          <a:prstGeom prst="rect">
            <a:avLst/>
          </a:prstGeom>
        </p:spPr>
      </p:pic>
      <p:pic>
        <p:nvPicPr>
          <p:cNvPr id="1040" name="picture 104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9610978" y="2458211"/>
            <a:ext cx="6350" cy="1522476"/>
          </a:xfrm>
          <a:prstGeom prst="rect">
            <a:avLst/>
          </a:prstGeom>
        </p:spPr>
      </p:pic>
      <p:pic>
        <p:nvPicPr>
          <p:cNvPr id="1042" name="picture 104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984504" y="2267711"/>
            <a:ext cx="50291" cy="137159"/>
          </a:xfrm>
          <a:prstGeom prst="rect">
            <a:avLst/>
          </a:prstGeom>
        </p:spPr>
      </p:pic>
      <p:pic>
        <p:nvPicPr>
          <p:cNvPr id="1044" name="picture 104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1235964" y="4285488"/>
            <a:ext cx="295655" cy="21335"/>
          </a:xfrm>
          <a:prstGeom prst="rect">
            <a:avLst/>
          </a:prstGeom>
        </p:spPr>
      </p:pic>
      <p:pic>
        <p:nvPicPr>
          <p:cNvPr id="1046" name="picture 104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3070860" y="4297679"/>
            <a:ext cx="605027" cy="9144"/>
          </a:xfrm>
          <a:prstGeom prst="rect">
            <a:avLst/>
          </a:prstGeom>
        </p:spPr>
      </p:pic>
      <p:pic>
        <p:nvPicPr>
          <p:cNvPr id="1048" name="picture 104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539240" y="4302125"/>
            <a:ext cx="1524000" cy="6350"/>
          </a:xfrm>
          <a:prstGeom prst="rect">
            <a:avLst/>
          </a:prstGeom>
        </p:spPr>
      </p:pic>
      <p:pic>
        <p:nvPicPr>
          <p:cNvPr id="1050" name="picture 105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3972941" y="3377183"/>
            <a:ext cx="6350" cy="603504"/>
          </a:xfrm>
          <a:prstGeom prst="rect">
            <a:avLst/>
          </a:prstGeom>
        </p:spPr>
      </p:pic>
      <p:pic>
        <p:nvPicPr>
          <p:cNvPr id="1052" name="picture 105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1281684" y="2083308"/>
            <a:ext cx="297180" cy="9144"/>
          </a:xfrm>
          <a:prstGeom prst="rect">
            <a:avLst/>
          </a:prstGeom>
        </p:spPr>
      </p:pic>
      <p:pic>
        <p:nvPicPr>
          <p:cNvPr id="1054" name="picture 105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617842" y="3331463"/>
            <a:ext cx="6350" cy="603504"/>
          </a:xfrm>
          <a:prstGeom prst="rect">
            <a:avLst/>
          </a:prstGeom>
        </p:spPr>
      </p:pic>
      <p:pic>
        <p:nvPicPr>
          <p:cNvPr id="1056" name="picture 105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3974465" y="3223259"/>
            <a:ext cx="6350" cy="144779"/>
          </a:xfrm>
          <a:prstGeom prst="rect">
            <a:avLst/>
          </a:prstGeom>
        </p:spPr>
      </p:pic>
      <p:pic>
        <p:nvPicPr>
          <p:cNvPr id="1058" name="picture 105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6617842" y="3177539"/>
            <a:ext cx="6350" cy="1447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picture 10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6340" y="2214371"/>
            <a:ext cx="5138927" cy="2386584"/>
          </a:xfrm>
          <a:prstGeom prst="rect">
            <a:avLst/>
          </a:prstGeom>
        </p:spPr>
      </p:pic>
      <p:grpSp>
        <p:nvGrpSpPr>
          <p:cNvPr id="208" name="group 208"/>
          <p:cNvGrpSpPr/>
          <p:nvPr/>
        </p:nvGrpSpPr>
        <p:grpSpPr>
          <a:xfrm rot="21600000">
            <a:off x="2612135" y="2037588"/>
            <a:ext cx="6726935" cy="2977895"/>
            <a:chOff x="0" y="0"/>
            <a:chExt cx="6726935" cy="2977895"/>
          </a:xfrm>
        </p:grpSpPr>
        <p:sp>
          <p:nvSpPr>
            <p:cNvPr id="1062" name="path 1062"/>
            <p:cNvSpPr/>
            <p:nvPr/>
          </p:nvSpPr>
          <p:spPr>
            <a:xfrm>
              <a:off x="0" y="0"/>
              <a:ext cx="6726935" cy="2977895"/>
            </a:xfrm>
            <a:custGeom>
              <a:avLst/>
              <a:gdLst/>
              <a:ahLst/>
              <a:cxnLst/>
              <a:rect l="0" t="0" r="0" b="0"/>
              <a:pathLst>
                <a:path w="10593" h="4689">
                  <a:moveTo>
                    <a:pt x="0" y="4559"/>
                  </a:moveTo>
                  <a:lnTo>
                    <a:pt x="362" y="4559"/>
                  </a:lnTo>
                  <a:lnTo>
                    <a:pt x="362" y="4689"/>
                  </a:lnTo>
                  <a:lnTo>
                    <a:pt x="0" y="4689"/>
                  </a:lnTo>
                  <a:lnTo>
                    <a:pt x="0" y="4559"/>
                  </a:lnTo>
                  <a:close/>
                  <a:moveTo>
                    <a:pt x="8827" y="0"/>
                  </a:moveTo>
                  <a:lnTo>
                    <a:pt x="10593" y="0"/>
                  </a:lnTo>
                  <a:lnTo>
                    <a:pt x="10593" y="3933"/>
                  </a:lnTo>
                  <a:lnTo>
                    <a:pt x="8827" y="3933"/>
                  </a:lnTo>
                  <a:lnTo>
                    <a:pt x="8827" y="0"/>
                  </a:lnTo>
                  <a:close/>
                </a:path>
              </a:pathLst>
            </a:custGeom>
            <a:solidFill>
              <a:srgbClr val="54823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64" name="textbox 1064"/>
            <p:cNvSpPr/>
            <p:nvPr/>
          </p:nvSpPr>
          <p:spPr>
            <a:xfrm>
              <a:off x="-12700" y="-12700"/>
              <a:ext cx="6752590" cy="30105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91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11555" algn="l" rtl="0" eaLnBrk="0">
                <a:lnSpc>
                  <a:spcPts val="248"/>
                </a:lnSpc>
                <a:tabLst/>
              </a:pPr>
              <a:r>
                <a:rPr sz="1100" b="1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……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  <a:p>
              <a:pPr marL="2961639" algn="l" rtl="0" eaLnBrk="0">
                <a:lnSpc>
                  <a:spcPct val="79000"/>
                </a:lnSpc>
                <a:spcBef>
                  <a:spcPts val="49"/>
                </a:spcBef>
                <a:tabLst/>
              </a:pPr>
              <a:r>
                <a:rPr sz="10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24点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marL="321945" algn="l" rtl="0" eaLnBrk="0">
                <a:lnSpc>
                  <a:spcPct val="79000"/>
                </a:lnSpc>
                <a:spcBef>
                  <a:spcPts val="5"/>
                </a:spcBef>
                <a:tabLst/>
              </a:pPr>
              <a:r>
                <a:rPr sz="900" b="1" kern="0" spc="50" dirty="0">
                  <a:solidFill>
                    <a:srgbClr val="54823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实时节点电价     </a:t>
              </a:r>
              <a:r>
                <a:rPr sz="1000" kern="0" spc="0" dirty="0">
                  <a:solidFill>
                    <a:srgbClr val="09416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mm</a:t>
              </a:r>
              <a:r>
                <a:rPr sz="1000" kern="0" spc="10" dirty="0">
                  <a:solidFill>
                    <a:srgbClr val="09416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900" b="1" kern="0" spc="50" dirty="0">
                  <a:solidFill>
                    <a:srgbClr val="09416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合约电价</a:t>
              </a:r>
              <a:endParaRPr sz="9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066" name="textbox 1066"/>
          <p:cNvSpPr/>
          <p:nvPr/>
        </p:nvSpPr>
        <p:spPr>
          <a:xfrm>
            <a:off x="1275079" y="2123693"/>
            <a:ext cx="1029969" cy="2906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5725" algn="l" rtl="0" eaLnBrk="0">
              <a:lnSpc>
                <a:spcPct val="86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兆瓦时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3995" algn="l" rtl="0" eaLnBrk="0">
              <a:lnSpc>
                <a:spcPct val="87000"/>
              </a:lnSpc>
              <a:spcBef>
                <a:spcPts val="308"/>
              </a:spcBef>
              <a:tabLst/>
            </a:pP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1点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42570" algn="l" rtl="0" eaLnBrk="0">
              <a:lnSpc>
                <a:spcPct val="88000"/>
              </a:lnSpc>
              <a:spcBef>
                <a:spcPts val="5"/>
              </a:spcBef>
              <a:tabLst>
                <a:tab pos="299720" algn="l"/>
              </a:tabLst>
            </a:pPr>
            <a:r>
              <a:rPr sz="900" b="1" kern="0" spc="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b="1" kern="0" spc="3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日前节点电价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68" name="picture 10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87779" y="4934711"/>
            <a:ext cx="230124" cy="82295"/>
          </a:xfrm>
          <a:prstGeom prst="rect">
            <a:avLst/>
          </a:prstGeom>
        </p:spPr>
      </p:pic>
      <p:sp>
        <p:nvSpPr>
          <p:cNvPr id="1070" name="textbox 1070"/>
          <p:cNvSpPr/>
          <p:nvPr/>
        </p:nvSpPr>
        <p:spPr>
          <a:xfrm>
            <a:off x="995172" y="5756147"/>
            <a:ext cx="8703944" cy="320040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66992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日前市场价格主要受相对稳定的电力供需关系影响，在短期内有一定可预测性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2" name="textbox 1072"/>
          <p:cNvSpPr/>
          <p:nvPr/>
        </p:nvSpPr>
        <p:spPr>
          <a:xfrm>
            <a:off x="999744" y="6173723"/>
            <a:ext cx="8703944" cy="318770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649605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合约市场价格受日前市场价格走势</a:t>
            </a: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决定，用来平抑现货价格波动对电费的影响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4" name="textbox 1074"/>
          <p:cNvSpPr/>
          <p:nvPr/>
        </p:nvSpPr>
        <p:spPr>
          <a:xfrm>
            <a:off x="1005839" y="5337047"/>
            <a:ext cx="8703944" cy="318770"/>
          </a:xfrm>
          <a:prstGeom prst="rect">
            <a:avLst/>
          </a:prstGeom>
          <a:solidFill>
            <a:srgbClr val="54823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678815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实时市场价格可能受意</a:t>
            </a: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外影响（如机组跳机、电网故障等</a:t>
            </a:r>
            <a:r>
              <a:rPr sz="1200" b="1" kern="0" spc="-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200" b="1" kern="0" spc="-1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不确定性最高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10" name="group 210"/>
          <p:cNvGrpSpPr/>
          <p:nvPr/>
        </p:nvGrpSpPr>
        <p:grpSpPr>
          <a:xfrm rot="21600000">
            <a:off x="8217407" y="2441447"/>
            <a:ext cx="1121664" cy="2449068"/>
            <a:chOff x="0" y="0"/>
            <a:chExt cx="1121664" cy="2449068"/>
          </a:xfrm>
        </p:grpSpPr>
        <p:pic>
          <p:nvPicPr>
            <p:cNvPr id="1076" name="picture 10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21664" cy="2449068"/>
            </a:xfrm>
            <a:prstGeom prst="rect">
              <a:avLst/>
            </a:prstGeom>
          </p:spPr>
        </p:pic>
        <p:sp>
          <p:nvSpPr>
            <p:cNvPr id="1078" name="textbox 1078"/>
            <p:cNvSpPr/>
            <p:nvPr/>
          </p:nvSpPr>
          <p:spPr>
            <a:xfrm>
              <a:off x="-12700" y="-12700"/>
              <a:ext cx="1147444" cy="24758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6689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0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日前价格结算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306704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0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合约结算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aphicFrame>
        <p:nvGraphicFramePr>
          <p:cNvPr id="1080" name="table 1080"/>
          <p:cNvGraphicFramePr>
            <a:graphicFrameLocks noGrp="1"/>
          </p:cNvGraphicFramePr>
          <p:nvPr/>
        </p:nvGraphicFramePr>
        <p:xfrm>
          <a:off x="9339071" y="2429255"/>
          <a:ext cx="664209" cy="2454275"/>
        </p:xfrm>
        <a:graphic>
          <a:graphicData uri="http://schemas.openxmlformats.org/drawingml/2006/table">
            <a:tbl>
              <a:tblPr/>
              <a:tblGrid>
                <a:gridCol w="400684"/>
                <a:gridCol w="263525"/>
              </a:tblGrid>
              <a:tr h="2454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eaVert">
                    <a:lnL>
                      <a:noFill/>
                    </a:lnL>
                    <a:lnR w="666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eaVert">
                    <a:lnL w="666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82" name="textbox 1082"/>
          <p:cNvSpPr/>
          <p:nvPr/>
        </p:nvSpPr>
        <p:spPr>
          <a:xfrm>
            <a:off x="522749" y="1112586"/>
            <a:ext cx="4225290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现货市场体系中的电费结算机制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4" name="path 1084"/>
          <p:cNvSpPr/>
          <p:nvPr/>
        </p:nvSpPr>
        <p:spPr>
          <a:xfrm>
            <a:off x="8935211" y="5879592"/>
            <a:ext cx="1441703" cy="789430"/>
          </a:xfrm>
          <a:custGeom>
            <a:avLst/>
            <a:gdLst/>
            <a:ahLst/>
            <a:cxnLst/>
            <a:rect l="0" t="0" r="0" b="0"/>
            <a:pathLst>
              <a:path w="2270" h="1243">
                <a:moveTo>
                  <a:pt x="2270" y="1243"/>
                </a:moveTo>
                <a:lnTo>
                  <a:pt x="0" y="1243"/>
                </a:lnTo>
                <a:lnTo>
                  <a:pt x="9" y="1238"/>
                </a:lnTo>
                <a:lnTo>
                  <a:pt x="2270" y="1238"/>
                </a:lnTo>
                <a:lnTo>
                  <a:pt x="2270" y="0"/>
                </a:lnTo>
                <a:lnTo>
                  <a:pt x="2270" y="0"/>
                </a:lnTo>
                <a:lnTo>
                  <a:pt x="2270" y="1243"/>
                </a:lnTo>
                <a:close/>
              </a:path>
            </a:pathLst>
          </a:cu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6" name="path 1086"/>
          <p:cNvSpPr/>
          <p:nvPr/>
        </p:nvSpPr>
        <p:spPr>
          <a:xfrm>
            <a:off x="8932826" y="5879592"/>
            <a:ext cx="1449423" cy="794764"/>
          </a:xfrm>
          <a:custGeom>
            <a:avLst/>
            <a:gdLst/>
            <a:ahLst/>
            <a:cxnLst/>
            <a:rect l="0" t="0" r="0" b="0"/>
            <a:pathLst>
              <a:path w="2282" h="1251">
                <a:moveTo>
                  <a:pt x="2274" y="1243"/>
                </a:moveTo>
                <a:lnTo>
                  <a:pt x="3" y="1243"/>
                </a:lnTo>
                <a:lnTo>
                  <a:pt x="13" y="1238"/>
                </a:lnTo>
                <a:lnTo>
                  <a:pt x="2274" y="1238"/>
                </a:lnTo>
                <a:lnTo>
                  <a:pt x="2274" y="0"/>
                </a:lnTo>
                <a:lnTo>
                  <a:pt x="2274" y="0"/>
                </a:lnTo>
                <a:lnTo>
                  <a:pt x="2274" y="1243"/>
                </a:lnTo>
                <a:close/>
              </a:path>
            </a:pathLst>
          </a:custGeom>
          <a:noFill/>
          <a:ln w="10668" cap="flat">
            <a:solidFill>
              <a:srgbClr val="41719C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8" name="path 1088"/>
          <p:cNvSpPr/>
          <p:nvPr/>
        </p:nvSpPr>
        <p:spPr>
          <a:xfrm>
            <a:off x="7552944" y="4872989"/>
            <a:ext cx="664463" cy="10667"/>
          </a:xfrm>
          <a:custGeom>
            <a:avLst/>
            <a:gdLst/>
            <a:ahLst/>
            <a:cxnLst/>
            <a:rect l="0" t="0" r="0" b="0"/>
            <a:pathLst>
              <a:path w="1046" h="16">
                <a:moveTo>
                  <a:pt x="0" y="8"/>
                </a:moveTo>
                <a:lnTo>
                  <a:pt x="1046" y="8"/>
                </a:lnTo>
              </a:path>
            </a:pathLst>
          </a:custGeom>
          <a:noFill/>
          <a:ln w="10668" cap="flat">
            <a:solidFill>
              <a:srgbClr val="094161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90" name="picture 10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767828" y="2060447"/>
            <a:ext cx="65532" cy="2831591"/>
          </a:xfrm>
          <a:prstGeom prst="rect">
            <a:avLst/>
          </a:prstGeom>
        </p:spPr>
      </p:pic>
      <p:sp>
        <p:nvSpPr>
          <p:cNvPr id="1092" name="textbox 1092"/>
          <p:cNvSpPr/>
          <p:nvPr/>
        </p:nvSpPr>
        <p:spPr>
          <a:xfrm>
            <a:off x="7591044" y="2593847"/>
            <a:ext cx="405765" cy="1701164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5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实际发  （用）  电量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4" name="rect 1094"/>
          <p:cNvSpPr/>
          <p:nvPr/>
        </p:nvSpPr>
        <p:spPr>
          <a:xfrm>
            <a:off x="9555480" y="3043427"/>
            <a:ext cx="405383" cy="12954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96" name="textbox 1096"/>
          <p:cNvSpPr/>
          <p:nvPr/>
        </p:nvSpPr>
        <p:spPr>
          <a:xfrm>
            <a:off x="9623115" y="3249024"/>
            <a:ext cx="227329" cy="1020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51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前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标</a:t>
            </a:r>
            <a:r>
              <a:rPr sz="15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8" name="textbox 1098"/>
          <p:cNvSpPr/>
          <p:nvPr/>
        </p:nvSpPr>
        <p:spPr>
          <a:xfrm>
            <a:off x="9626160" y="3062340"/>
            <a:ext cx="224154" cy="1005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55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</a:t>
            </a: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0" name="textbox 1100"/>
          <p:cNvSpPr/>
          <p:nvPr/>
        </p:nvSpPr>
        <p:spPr>
          <a:xfrm>
            <a:off x="8368251" y="2183537"/>
            <a:ext cx="826769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0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实时价格结算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02" name="picture 11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1104" name="textbox 1104"/>
          <p:cNvSpPr/>
          <p:nvPr/>
        </p:nvSpPr>
        <p:spPr>
          <a:xfrm>
            <a:off x="1039764" y="4256542"/>
            <a:ext cx="120650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32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1106" name="path 1106"/>
          <p:cNvSpPr/>
          <p:nvPr/>
        </p:nvSpPr>
        <p:spPr>
          <a:xfrm>
            <a:off x="304800" y="5836919"/>
            <a:ext cx="1773935" cy="845819"/>
          </a:xfrm>
          <a:custGeom>
            <a:avLst/>
            <a:gdLst/>
            <a:ahLst/>
            <a:cxnLst/>
            <a:rect l="0" t="0" r="0" b="0"/>
            <a:pathLst>
              <a:path w="2793" h="1331">
                <a:moveTo>
                  <a:pt x="0" y="1331"/>
                </a:moveTo>
                <a:lnTo>
                  <a:pt x="0" y="0"/>
                </a:lnTo>
                <a:lnTo>
                  <a:pt x="4" y="2"/>
                </a:lnTo>
                <a:lnTo>
                  <a:pt x="4" y="1331"/>
                </a:lnTo>
                <a:lnTo>
                  <a:pt x="2793" y="1331"/>
                </a:lnTo>
                <a:lnTo>
                  <a:pt x="2793" y="1331"/>
                </a:lnTo>
                <a:lnTo>
                  <a:pt x="0" y="1331"/>
                </a:lnTo>
                <a:close/>
              </a:path>
            </a:pathLst>
          </a:cu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8" name="path 1108"/>
          <p:cNvSpPr/>
          <p:nvPr/>
        </p:nvSpPr>
        <p:spPr>
          <a:xfrm>
            <a:off x="304800" y="6677405"/>
            <a:ext cx="1773935" cy="10667"/>
          </a:xfrm>
          <a:custGeom>
            <a:avLst/>
            <a:gdLst/>
            <a:ahLst/>
            <a:cxnLst/>
            <a:rect l="0" t="0" r="0" b="0"/>
            <a:pathLst>
              <a:path w="2793" h="16">
                <a:moveTo>
                  <a:pt x="4" y="8"/>
                </a:moveTo>
                <a:lnTo>
                  <a:pt x="2793" y="8"/>
                </a:lnTo>
                <a:lnTo>
                  <a:pt x="2793" y="8"/>
                </a:lnTo>
                <a:lnTo>
                  <a:pt x="0" y="8"/>
                </a:lnTo>
              </a:path>
            </a:pathLst>
          </a:custGeom>
          <a:noFill/>
          <a:ln w="10668" cap="flat">
            <a:solidFill>
              <a:srgbClr val="41719C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10" name="path 1110"/>
          <p:cNvSpPr/>
          <p:nvPr/>
        </p:nvSpPr>
        <p:spPr>
          <a:xfrm>
            <a:off x="299465" y="5832149"/>
            <a:ext cx="13715" cy="850590"/>
          </a:xfrm>
          <a:custGeom>
            <a:avLst/>
            <a:gdLst/>
            <a:ahLst/>
            <a:cxnLst/>
            <a:rect l="0" t="0" r="0" b="0"/>
            <a:pathLst>
              <a:path w="21" h="1339">
                <a:moveTo>
                  <a:pt x="8" y="1339"/>
                </a:moveTo>
                <a:lnTo>
                  <a:pt x="8" y="7"/>
                </a:lnTo>
                <a:lnTo>
                  <a:pt x="13" y="9"/>
                </a:lnTo>
                <a:lnTo>
                  <a:pt x="13" y="1339"/>
                </a:lnTo>
              </a:path>
            </a:pathLst>
          </a:custGeom>
          <a:noFill/>
          <a:ln w="10668" cap="flat">
            <a:solidFill>
              <a:srgbClr val="41719C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12" name="path 1112"/>
          <p:cNvSpPr/>
          <p:nvPr/>
        </p:nvSpPr>
        <p:spPr>
          <a:xfrm>
            <a:off x="7581900" y="2039873"/>
            <a:ext cx="664464" cy="10667"/>
          </a:xfrm>
          <a:custGeom>
            <a:avLst/>
            <a:gdLst/>
            <a:ahLst/>
            <a:cxnLst/>
            <a:rect l="0" t="0" r="0" b="0"/>
            <a:pathLst>
              <a:path w="1046" h="16">
                <a:moveTo>
                  <a:pt x="0" y="8"/>
                </a:moveTo>
                <a:lnTo>
                  <a:pt x="1046" y="8"/>
                </a:lnTo>
              </a:path>
            </a:pathLst>
          </a:custGeom>
          <a:noFill/>
          <a:ln w="10668" cap="flat">
            <a:solidFill>
              <a:srgbClr val="094161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4" name="picture 1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48337" y="5228844"/>
            <a:ext cx="1275778" cy="39623"/>
          </a:xfrm>
          <a:prstGeom prst="rect">
            <a:avLst/>
          </a:prstGeom>
        </p:spPr>
      </p:pic>
      <p:pic>
        <p:nvPicPr>
          <p:cNvPr id="1116" name="picture 1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37831" y="4323588"/>
            <a:ext cx="243840" cy="917448"/>
          </a:xfrm>
          <a:prstGeom prst="rect">
            <a:avLst/>
          </a:prstGeom>
        </p:spPr>
      </p:pic>
      <p:grpSp>
        <p:nvGrpSpPr>
          <p:cNvPr id="212" name="group 212"/>
          <p:cNvGrpSpPr/>
          <p:nvPr/>
        </p:nvGrpSpPr>
        <p:grpSpPr>
          <a:xfrm rot="21600000">
            <a:off x="3188208" y="5219700"/>
            <a:ext cx="5753100" cy="693419"/>
            <a:chOff x="0" y="0"/>
            <a:chExt cx="5753100" cy="693419"/>
          </a:xfrm>
        </p:grpSpPr>
        <p:pic>
          <p:nvPicPr>
            <p:cNvPr id="1118" name="picture 11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753100" cy="693419"/>
            </a:xfrm>
            <a:prstGeom prst="rect">
              <a:avLst/>
            </a:prstGeom>
          </p:spPr>
        </p:pic>
        <p:sp>
          <p:nvSpPr>
            <p:cNvPr id="1120" name="textbox 1120"/>
            <p:cNvSpPr/>
            <p:nvPr/>
          </p:nvSpPr>
          <p:spPr>
            <a:xfrm>
              <a:off x="-12700" y="-12700"/>
              <a:ext cx="5779134" cy="7264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44905" algn="l" rtl="0" eaLnBrk="0">
                <a:lnSpc>
                  <a:spcPct val="87000"/>
                </a:lnSpc>
                <a:spcBef>
                  <a:spcPts val="6"/>
                </a:spcBef>
                <a:tabLst/>
              </a:pPr>
              <a:r>
                <a:rPr sz="1700" b="1" kern="0" spc="30" dirty="0">
                  <a:solidFill>
                    <a:srgbClr val="44546A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金融对冲            </a:t>
              </a:r>
              <a:r>
                <a:rPr sz="1700" b="1" kern="0" spc="20" dirty="0">
                  <a:solidFill>
                    <a:srgbClr val="44546A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物理对冲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122" name="textbox 1122"/>
          <p:cNvSpPr/>
          <p:nvPr/>
        </p:nvSpPr>
        <p:spPr>
          <a:xfrm>
            <a:off x="8343900" y="2657855"/>
            <a:ext cx="1128394" cy="341629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实时市场</a:t>
            </a:r>
            <a:endParaRPr sz="17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1124" name="table 1124"/>
          <p:cNvGraphicFramePr>
            <a:graphicFrameLocks noGrp="1"/>
          </p:cNvGraphicFramePr>
          <p:nvPr/>
        </p:nvGraphicFramePr>
        <p:xfrm>
          <a:off x="8249411" y="2974847"/>
          <a:ext cx="1316355" cy="2288539"/>
        </p:xfrm>
        <a:graphic>
          <a:graphicData uri="http://schemas.openxmlformats.org/drawingml/2006/table">
            <a:tbl>
              <a:tblPr/>
              <a:tblGrid>
                <a:gridCol w="1316355"/>
              </a:tblGrid>
              <a:tr h="22631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5904" algn="l" rtl="0" eaLnBrk="0">
                        <a:lnSpc>
                          <a:spcPts val="478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—— ——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0515" algn="l" rtl="0" eaLnBrk="0">
                        <a:lnSpc>
                          <a:spcPts val="478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—— ——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26" name="picture 11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444496" y="2970275"/>
            <a:ext cx="1860803" cy="227076"/>
          </a:xfrm>
          <a:prstGeom prst="rect">
            <a:avLst/>
          </a:prstGeom>
        </p:spPr>
      </p:pic>
      <p:pic>
        <p:nvPicPr>
          <p:cNvPr id="1128" name="picture 11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079492" y="2982467"/>
            <a:ext cx="284988" cy="886967"/>
          </a:xfrm>
          <a:prstGeom prst="rect">
            <a:avLst/>
          </a:prstGeom>
        </p:spPr>
      </p:pic>
      <p:grpSp>
        <p:nvGrpSpPr>
          <p:cNvPr id="214" name="group 214"/>
          <p:cNvGrpSpPr/>
          <p:nvPr/>
        </p:nvGrpSpPr>
        <p:grpSpPr>
          <a:xfrm rot="21600000">
            <a:off x="2785871" y="2281488"/>
            <a:ext cx="3913631" cy="749747"/>
            <a:chOff x="0" y="0"/>
            <a:chExt cx="3913631" cy="749747"/>
          </a:xfrm>
        </p:grpSpPr>
        <p:pic>
          <p:nvPicPr>
            <p:cNvPr id="1130" name="picture 113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111191"/>
              <a:ext cx="3913631" cy="638555"/>
            </a:xfrm>
            <a:prstGeom prst="rect">
              <a:avLst/>
            </a:prstGeom>
          </p:spPr>
        </p:pic>
        <p:sp>
          <p:nvSpPr>
            <p:cNvPr id="1132" name="textbox 1132"/>
            <p:cNvSpPr/>
            <p:nvPr/>
          </p:nvSpPr>
          <p:spPr>
            <a:xfrm>
              <a:off x="-12700" y="-12700"/>
              <a:ext cx="3939540" cy="7766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38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47494" algn="l" rtl="0" eaLnBrk="0">
                <a:lnSpc>
                  <a:spcPct val="87000"/>
                </a:lnSpc>
                <a:tabLst/>
              </a:pPr>
              <a:r>
                <a:rPr sz="1700" b="1" kern="0" spc="40" dirty="0">
                  <a:solidFill>
                    <a:srgbClr val="44546A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金融对冲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3189" algn="l" rtl="0" eaLnBrk="0">
                <a:lnSpc>
                  <a:spcPct val="86000"/>
                </a:lnSpc>
                <a:spcBef>
                  <a:spcPts val="4"/>
                </a:spcBef>
                <a:tabLst/>
              </a:pPr>
              <a:r>
                <a:rPr sz="1600" b="1" kern="0" spc="-2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合约市场</a:t>
              </a:r>
              <a:r>
                <a:rPr sz="1600" kern="0" spc="-2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         </a:t>
              </a:r>
              <a:r>
                <a:rPr sz="1600" b="1" kern="0" spc="-2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日前</a:t>
              </a:r>
              <a:r>
                <a:rPr sz="1600" b="1" kern="0" spc="-3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市场</a:t>
              </a:r>
              <a:endParaRPr sz="1600" dirty="0">
                <a:latin typeface="SimSun"/>
                <a:ea typeface="SimSun"/>
                <a:cs typeface="SimSun"/>
              </a:endParaRPr>
            </a:p>
          </p:txBody>
        </p:sp>
      </p:grpSp>
      <p:sp>
        <p:nvSpPr>
          <p:cNvPr id="1134" name="textbox 1134"/>
          <p:cNvSpPr/>
          <p:nvPr/>
        </p:nvSpPr>
        <p:spPr>
          <a:xfrm>
            <a:off x="522749" y="1112886"/>
            <a:ext cx="3924934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现货市场体系中两种风险对冲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6" name="textbox 1136"/>
          <p:cNvSpPr/>
          <p:nvPr/>
        </p:nvSpPr>
        <p:spPr>
          <a:xfrm>
            <a:off x="791319" y="3419607"/>
            <a:ext cx="577850" cy="1356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发电侧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6034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400" b="1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用电侧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38" name="picture 11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692461" y="4192523"/>
            <a:ext cx="638746" cy="1071372"/>
          </a:xfrm>
          <a:prstGeom prst="rect">
            <a:avLst/>
          </a:prstGeom>
        </p:spPr>
      </p:pic>
      <p:pic>
        <p:nvPicPr>
          <p:cNvPr id="1140" name="picture 11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381244" y="2970275"/>
            <a:ext cx="1894331" cy="309372"/>
          </a:xfrm>
          <a:prstGeom prst="rect">
            <a:avLst/>
          </a:prstGeom>
        </p:spPr>
      </p:pic>
      <p:pic>
        <p:nvPicPr>
          <p:cNvPr id="1142" name="picture 11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255520" y="4926900"/>
            <a:ext cx="1423606" cy="336995"/>
          </a:xfrm>
          <a:prstGeom prst="rect">
            <a:avLst/>
          </a:prstGeom>
        </p:spPr>
      </p:pic>
      <p:sp>
        <p:nvSpPr>
          <p:cNvPr id="1144" name="textbox 1144"/>
          <p:cNvSpPr/>
          <p:nvPr/>
        </p:nvSpPr>
        <p:spPr>
          <a:xfrm>
            <a:off x="2787700" y="4451011"/>
            <a:ext cx="915035" cy="417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39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对冲日前市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场价格风险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6" name="textbox 1146"/>
          <p:cNvSpPr/>
          <p:nvPr/>
        </p:nvSpPr>
        <p:spPr>
          <a:xfrm>
            <a:off x="5724454" y="4437342"/>
            <a:ext cx="915035" cy="417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对冲实时市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场价格风险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textbox 1148"/>
          <p:cNvSpPr/>
          <p:nvPr/>
        </p:nvSpPr>
        <p:spPr>
          <a:xfrm>
            <a:off x="2764802" y="3277554"/>
            <a:ext cx="915035" cy="417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33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对冲日前市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场价格风险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0" name="textbox 1150"/>
          <p:cNvSpPr/>
          <p:nvPr/>
        </p:nvSpPr>
        <p:spPr>
          <a:xfrm>
            <a:off x="5721682" y="3277911"/>
            <a:ext cx="916305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3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94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全电量竞争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不存在对冲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52" name="picture 11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291583" y="3211067"/>
            <a:ext cx="39623" cy="960120"/>
          </a:xfrm>
          <a:prstGeom prst="rect">
            <a:avLst/>
          </a:prstGeom>
        </p:spPr>
      </p:pic>
      <p:pic>
        <p:nvPicPr>
          <p:cNvPr id="1154" name="picture 115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079492" y="3892296"/>
            <a:ext cx="21335" cy="1001267"/>
          </a:xfrm>
          <a:prstGeom prst="rect">
            <a:avLst/>
          </a:prstGeom>
        </p:spPr>
      </p:pic>
      <p:pic>
        <p:nvPicPr>
          <p:cNvPr id="1156" name="picture 115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257287" y="3297935"/>
            <a:ext cx="24383" cy="1004316"/>
          </a:xfrm>
          <a:prstGeom prst="rect">
            <a:avLst/>
          </a:prstGeom>
        </p:spPr>
      </p:pic>
      <p:pic>
        <p:nvPicPr>
          <p:cNvPr id="1158" name="picture 115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318004" y="3951731"/>
            <a:ext cx="6256018" cy="21336"/>
          </a:xfrm>
          <a:prstGeom prst="rect">
            <a:avLst/>
          </a:prstGeom>
        </p:spPr>
      </p:pic>
      <p:sp>
        <p:nvSpPr>
          <p:cNvPr id="1160" name="path 1160"/>
          <p:cNvSpPr/>
          <p:nvPr/>
        </p:nvSpPr>
        <p:spPr>
          <a:xfrm>
            <a:off x="4491227" y="3619500"/>
            <a:ext cx="461772" cy="751331"/>
          </a:xfrm>
          <a:custGeom>
            <a:avLst/>
            <a:gdLst/>
            <a:ahLst/>
            <a:cxnLst/>
            <a:rect l="0" t="0" r="0" b="0"/>
            <a:pathLst>
              <a:path w="727" h="1183">
                <a:moveTo>
                  <a:pt x="0" y="297"/>
                </a:moveTo>
                <a:lnTo>
                  <a:pt x="364" y="297"/>
                </a:lnTo>
                <a:lnTo>
                  <a:pt x="364" y="0"/>
                </a:lnTo>
                <a:lnTo>
                  <a:pt x="727" y="592"/>
                </a:lnTo>
                <a:lnTo>
                  <a:pt x="364" y="1183"/>
                </a:lnTo>
                <a:lnTo>
                  <a:pt x="364" y="888"/>
                </a:lnTo>
                <a:lnTo>
                  <a:pt x="0" y="888"/>
                </a:lnTo>
                <a:lnTo>
                  <a:pt x="0" y="297"/>
                </a:lnTo>
                <a:close/>
              </a:path>
            </a:pathLst>
          </a:custGeom>
          <a:solidFill>
            <a:srgbClr val="54823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2" name="path 1162"/>
          <p:cNvSpPr/>
          <p:nvPr/>
        </p:nvSpPr>
        <p:spPr>
          <a:xfrm>
            <a:off x="7542276" y="3619500"/>
            <a:ext cx="461771" cy="751331"/>
          </a:xfrm>
          <a:custGeom>
            <a:avLst/>
            <a:gdLst/>
            <a:ahLst/>
            <a:cxnLst/>
            <a:rect l="0" t="0" r="0" b="0"/>
            <a:pathLst>
              <a:path w="727" h="1183">
                <a:moveTo>
                  <a:pt x="0" y="297"/>
                </a:moveTo>
                <a:lnTo>
                  <a:pt x="364" y="297"/>
                </a:lnTo>
                <a:lnTo>
                  <a:pt x="364" y="0"/>
                </a:lnTo>
                <a:lnTo>
                  <a:pt x="727" y="592"/>
                </a:lnTo>
                <a:lnTo>
                  <a:pt x="364" y="1183"/>
                </a:lnTo>
                <a:lnTo>
                  <a:pt x="364" y="888"/>
                </a:lnTo>
                <a:lnTo>
                  <a:pt x="0" y="888"/>
                </a:lnTo>
                <a:lnTo>
                  <a:pt x="0" y="297"/>
                </a:lnTo>
                <a:close/>
              </a:path>
            </a:pathLst>
          </a:custGeom>
          <a:solidFill>
            <a:srgbClr val="54823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64" name="picture 116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079491" y="4893563"/>
            <a:ext cx="657034" cy="374904"/>
          </a:xfrm>
          <a:prstGeom prst="rect">
            <a:avLst/>
          </a:prstGeom>
        </p:spPr>
      </p:pic>
      <p:sp>
        <p:nvSpPr>
          <p:cNvPr id="1166" name="path 1166"/>
          <p:cNvSpPr/>
          <p:nvPr/>
        </p:nvSpPr>
        <p:spPr>
          <a:xfrm>
            <a:off x="1586484" y="4482083"/>
            <a:ext cx="452628" cy="405383"/>
          </a:xfrm>
          <a:custGeom>
            <a:avLst/>
            <a:gdLst/>
            <a:ahLst/>
            <a:cxnLst/>
            <a:rect l="0" t="0" r="0" b="0"/>
            <a:pathLst>
              <a:path w="712" h="638">
                <a:moveTo>
                  <a:pt x="693" y="283"/>
                </a:moveTo>
                <a:cubicBezTo>
                  <a:pt x="705" y="283"/>
                  <a:pt x="712" y="290"/>
                  <a:pt x="712" y="300"/>
                </a:cubicBezTo>
                <a:cubicBezTo>
                  <a:pt x="712" y="312"/>
                  <a:pt x="705" y="319"/>
                  <a:pt x="693" y="319"/>
                </a:cubicBezTo>
                <a:cubicBezTo>
                  <a:pt x="648" y="319"/>
                  <a:pt x="648" y="319"/>
                  <a:pt x="648" y="319"/>
                </a:cubicBezTo>
                <a:cubicBezTo>
                  <a:pt x="638" y="319"/>
                  <a:pt x="628" y="312"/>
                  <a:pt x="628" y="300"/>
                </a:cubicBezTo>
                <a:cubicBezTo>
                  <a:pt x="628" y="295"/>
                  <a:pt x="631" y="292"/>
                  <a:pt x="635" y="288"/>
                </a:cubicBezTo>
                <a:cubicBezTo>
                  <a:pt x="638" y="285"/>
                  <a:pt x="643" y="283"/>
                  <a:pt x="648" y="283"/>
                </a:cubicBezTo>
                <a:lnTo>
                  <a:pt x="693" y="283"/>
                </a:lnTo>
                <a:close/>
              </a:path>
              <a:path w="712" h="638">
                <a:moveTo>
                  <a:pt x="619" y="100"/>
                </a:moveTo>
                <a:cubicBezTo>
                  <a:pt x="626" y="108"/>
                  <a:pt x="626" y="120"/>
                  <a:pt x="619" y="127"/>
                </a:cubicBezTo>
                <a:cubicBezTo>
                  <a:pt x="588" y="156"/>
                  <a:pt x="588" y="156"/>
                  <a:pt x="588" y="156"/>
                </a:cubicBezTo>
                <a:cubicBezTo>
                  <a:pt x="580" y="163"/>
                  <a:pt x="568" y="163"/>
                  <a:pt x="559" y="156"/>
                </a:cubicBezTo>
                <a:cubicBezTo>
                  <a:pt x="556" y="153"/>
                  <a:pt x="554" y="148"/>
                  <a:pt x="554" y="144"/>
                </a:cubicBezTo>
                <a:cubicBezTo>
                  <a:pt x="554" y="139"/>
                  <a:pt x="556" y="134"/>
                  <a:pt x="559" y="132"/>
                </a:cubicBezTo>
                <a:cubicBezTo>
                  <a:pt x="592" y="100"/>
                  <a:pt x="592" y="100"/>
                  <a:pt x="592" y="100"/>
                </a:cubicBezTo>
                <a:cubicBezTo>
                  <a:pt x="599" y="93"/>
                  <a:pt x="611" y="93"/>
                  <a:pt x="619" y="100"/>
                </a:cubicBezTo>
              </a:path>
              <a:path w="712" h="638">
                <a:moveTo>
                  <a:pt x="604" y="321"/>
                </a:moveTo>
                <a:cubicBezTo>
                  <a:pt x="604" y="405"/>
                  <a:pt x="556" y="477"/>
                  <a:pt x="487" y="518"/>
                </a:cubicBezTo>
                <a:cubicBezTo>
                  <a:pt x="228" y="518"/>
                  <a:pt x="228" y="518"/>
                  <a:pt x="228" y="518"/>
                </a:cubicBezTo>
                <a:cubicBezTo>
                  <a:pt x="158" y="477"/>
                  <a:pt x="112" y="405"/>
                  <a:pt x="112" y="321"/>
                </a:cubicBezTo>
                <a:cubicBezTo>
                  <a:pt x="112" y="196"/>
                  <a:pt x="223" y="93"/>
                  <a:pt x="357" y="93"/>
                </a:cubicBezTo>
                <a:cubicBezTo>
                  <a:pt x="494" y="93"/>
                  <a:pt x="604" y="196"/>
                  <a:pt x="604" y="321"/>
                </a:cubicBezTo>
                <a:moveTo>
                  <a:pt x="453" y="247"/>
                </a:moveTo>
                <a:cubicBezTo>
                  <a:pt x="453" y="204"/>
                  <a:pt x="453" y="204"/>
                  <a:pt x="453" y="204"/>
                </a:cubicBezTo>
                <a:cubicBezTo>
                  <a:pt x="453" y="189"/>
                  <a:pt x="436" y="175"/>
                  <a:pt x="415" y="175"/>
                </a:cubicBezTo>
                <a:cubicBezTo>
                  <a:pt x="381" y="175"/>
                  <a:pt x="381" y="175"/>
                  <a:pt x="381" y="175"/>
                </a:cubicBezTo>
                <a:cubicBezTo>
                  <a:pt x="381" y="160"/>
                  <a:pt x="381" y="160"/>
                  <a:pt x="381" y="160"/>
                </a:cubicBezTo>
                <a:cubicBezTo>
                  <a:pt x="333" y="160"/>
                  <a:pt x="333" y="160"/>
                  <a:pt x="333" y="160"/>
                </a:cubicBezTo>
                <a:cubicBezTo>
                  <a:pt x="333" y="175"/>
                  <a:pt x="333" y="175"/>
                  <a:pt x="333" y="175"/>
                </a:cubicBezTo>
                <a:cubicBezTo>
                  <a:pt x="302" y="175"/>
                  <a:pt x="302" y="175"/>
                  <a:pt x="302" y="175"/>
                </a:cubicBezTo>
                <a:cubicBezTo>
                  <a:pt x="280" y="175"/>
                  <a:pt x="263" y="189"/>
                  <a:pt x="263" y="204"/>
                </a:cubicBezTo>
                <a:cubicBezTo>
                  <a:pt x="263" y="288"/>
                  <a:pt x="263" y="288"/>
                  <a:pt x="263" y="288"/>
                </a:cubicBezTo>
                <a:cubicBezTo>
                  <a:pt x="263" y="304"/>
                  <a:pt x="280" y="316"/>
                  <a:pt x="302" y="316"/>
                </a:cubicBezTo>
                <a:cubicBezTo>
                  <a:pt x="333" y="316"/>
                  <a:pt x="333" y="316"/>
                  <a:pt x="333" y="316"/>
                </a:cubicBezTo>
                <a:cubicBezTo>
                  <a:pt x="333" y="405"/>
                  <a:pt x="333" y="405"/>
                  <a:pt x="333" y="405"/>
                </a:cubicBezTo>
                <a:cubicBezTo>
                  <a:pt x="321" y="405"/>
                  <a:pt x="321" y="405"/>
                  <a:pt x="321" y="405"/>
                </a:cubicBezTo>
                <a:cubicBezTo>
                  <a:pt x="309" y="405"/>
                  <a:pt x="297" y="398"/>
                  <a:pt x="297" y="388"/>
                </a:cubicBezTo>
                <a:cubicBezTo>
                  <a:pt x="297" y="362"/>
                  <a:pt x="297" y="362"/>
                  <a:pt x="297" y="362"/>
                </a:cubicBezTo>
                <a:cubicBezTo>
                  <a:pt x="261" y="362"/>
                  <a:pt x="261" y="362"/>
                  <a:pt x="261" y="362"/>
                </a:cubicBezTo>
                <a:cubicBezTo>
                  <a:pt x="261" y="403"/>
                  <a:pt x="261" y="403"/>
                  <a:pt x="261" y="403"/>
                </a:cubicBezTo>
                <a:cubicBezTo>
                  <a:pt x="261" y="420"/>
                  <a:pt x="280" y="432"/>
                  <a:pt x="302" y="432"/>
                </a:cubicBezTo>
                <a:cubicBezTo>
                  <a:pt x="333" y="432"/>
                  <a:pt x="333" y="432"/>
                  <a:pt x="333" y="432"/>
                </a:cubicBezTo>
                <a:cubicBezTo>
                  <a:pt x="333" y="448"/>
                  <a:pt x="333" y="448"/>
                  <a:pt x="333" y="448"/>
                </a:cubicBezTo>
                <a:cubicBezTo>
                  <a:pt x="381" y="448"/>
                  <a:pt x="381" y="448"/>
                  <a:pt x="381" y="448"/>
                </a:cubicBezTo>
                <a:cubicBezTo>
                  <a:pt x="381" y="432"/>
                  <a:pt x="381" y="432"/>
                  <a:pt x="381" y="432"/>
                </a:cubicBezTo>
                <a:cubicBezTo>
                  <a:pt x="415" y="432"/>
                  <a:pt x="415" y="432"/>
                  <a:pt x="415" y="432"/>
                </a:cubicBezTo>
                <a:cubicBezTo>
                  <a:pt x="436" y="432"/>
                  <a:pt x="453" y="420"/>
                  <a:pt x="453" y="403"/>
                </a:cubicBezTo>
                <a:cubicBezTo>
                  <a:pt x="453" y="321"/>
                  <a:pt x="453" y="321"/>
                  <a:pt x="453" y="321"/>
                </a:cubicBezTo>
                <a:cubicBezTo>
                  <a:pt x="453" y="304"/>
                  <a:pt x="436" y="290"/>
                  <a:pt x="415" y="290"/>
                </a:cubicBezTo>
                <a:cubicBezTo>
                  <a:pt x="381" y="290"/>
                  <a:pt x="381" y="290"/>
                  <a:pt x="381" y="290"/>
                </a:cubicBezTo>
                <a:cubicBezTo>
                  <a:pt x="381" y="201"/>
                  <a:pt x="381" y="201"/>
                  <a:pt x="381" y="201"/>
                </a:cubicBezTo>
                <a:cubicBezTo>
                  <a:pt x="393" y="201"/>
                  <a:pt x="393" y="201"/>
                  <a:pt x="393" y="201"/>
                </a:cubicBezTo>
                <a:cubicBezTo>
                  <a:pt x="408" y="201"/>
                  <a:pt x="417" y="211"/>
                  <a:pt x="417" y="220"/>
                </a:cubicBezTo>
                <a:cubicBezTo>
                  <a:pt x="417" y="247"/>
                  <a:pt x="417" y="247"/>
                  <a:pt x="417" y="247"/>
                </a:cubicBezTo>
                <a:lnTo>
                  <a:pt x="453" y="247"/>
                </a:lnTo>
                <a:close/>
              </a:path>
              <a:path w="712" h="638">
                <a:moveTo>
                  <a:pt x="448" y="537"/>
                </a:moveTo>
                <a:cubicBezTo>
                  <a:pt x="463" y="537"/>
                  <a:pt x="472" y="542"/>
                  <a:pt x="472" y="549"/>
                </a:cubicBezTo>
                <a:cubicBezTo>
                  <a:pt x="472" y="556"/>
                  <a:pt x="463" y="561"/>
                  <a:pt x="448" y="561"/>
                </a:cubicBezTo>
                <a:cubicBezTo>
                  <a:pt x="266" y="561"/>
                  <a:pt x="266" y="561"/>
                  <a:pt x="266" y="561"/>
                </a:cubicBezTo>
                <a:cubicBezTo>
                  <a:pt x="251" y="561"/>
                  <a:pt x="242" y="556"/>
                  <a:pt x="242" y="549"/>
                </a:cubicBezTo>
                <a:cubicBezTo>
                  <a:pt x="242" y="544"/>
                  <a:pt x="244" y="542"/>
                  <a:pt x="249" y="540"/>
                </a:cubicBezTo>
                <a:cubicBezTo>
                  <a:pt x="251" y="537"/>
                  <a:pt x="259" y="537"/>
                  <a:pt x="266" y="537"/>
                </a:cubicBezTo>
                <a:lnTo>
                  <a:pt x="448" y="537"/>
                </a:lnTo>
                <a:close/>
              </a:path>
              <a:path w="712" h="638">
                <a:moveTo>
                  <a:pt x="427" y="576"/>
                </a:moveTo>
                <a:cubicBezTo>
                  <a:pt x="441" y="576"/>
                  <a:pt x="451" y="580"/>
                  <a:pt x="451" y="588"/>
                </a:cubicBezTo>
                <a:cubicBezTo>
                  <a:pt x="451" y="595"/>
                  <a:pt x="441" y="600"/>
                  <a:pt x="427" y="600"/>
                </a:cubicBezTo>
                <a:cubicBezTo>
                  <a:pt x="287" y="600"/>
                  <a:pt x="287" y="600"/>
                  <a:pt x="287" y="600"/>
                </a:cubicBezTo>
                <a:cubicBezTo>
                  <a:pt x="275" y="600"/>
                  <a:pt x="263" y="595"/>
                  <a:pt x="263" y="588"/>
                </a:cubicBezTo>
                <a:cubicBezTo>
                  <a:pt x="263" y="583"/>
                  <a:pt x="266" y="580"/>
                  <a:pt x="271" y="578"/>
                </a:cubicBezTo>
                <a:cubicBezTo>
                  <a:pt x="275" y="576"/>
                  <a:pt x="280" y="576"/>
                  <a:pt x="287" y="576"/>
                </a:cubicBezTo>
                <a:lnTo>
                  <a:pt x="427" y="576"/>
                </a:lnTo>
                <a:close/>
              </a:path>
              <a:path w="712" h="638">
                <a:moveTo>
                  <a:pt x="403" y="611"/>
                </a:moveTo>
                <a:cubicBezTo>
                  <a:pt x="417" y="611"/>
                  <a:pt x="427" y="619"/>
                  <a:pt x="427" y="626"/>
                </a:cubicBezTo>
                <a:cubicBezTo>
                  <a:pt x="427" y="633"/>
                  <a:pt x="417" y="638"/>
                  <a:pt x="403" y="638"/>
                </a:cubicBezTo>
                <a:cubicBezTo>
                  <a:pt x="311" y="638"/>
                  <a:pt x="311" y="638"/>
                  <a:pt x="311" y="638"/>
                </a:cubicBezTo>
                <a:cubicBezTo>
                  <a:pt x="299" y="638"/>
                  <a:pt x="287" y="633"/>
                  <a:pt x="287" y="626"/>
                </a:cubicBezTo>
                <a:cubicBezTo>
                  <a:pt x="287" y="621"/>
                  <a:pt x="290" y="619"/>
                  <a:pt x="295" y="616"/>
                </a:cubicBezTo>
                <a:cubicBezTo>
                  <a:pt x="299" y="614"/>
                  <a:pt x="304" y="611"/>
                  <a:pt x="311" y="611"/>
                </a:cubicBezTo>
                <a:lnTo>
                  <a:pt x="403" y="611"/>
                </a:lnTo>
                <a:close/>
              </a:path>
              <a:path w="712" h="638">
                <a:moveTo>
                  <a:pt x="417" y="336"/>
                </a:moveTo>
                <a:cubicBezTo>
                  <a:pt x="417" y="388"/>
                  <a:pt x="417" y="388"/>
                  <a:pt x="417" y="388"/>
                </a:cubicBezTo>
                <a:cubicBezTo>
                  <a:pt x="417" y="398"/>
                  <a:pt x="405" y="405"/>
                  <a:pt x="393" y="405"/>
                </a:cubicBezTo>
                <a:cubicBezTo>
                  <a:pt x="381" y="405"/>
                  <a:pt x="381" y="405"/>
                  <a:pt x="381" y="405"/>
                </a:cubicBezTo>
                <a:cubicBezTo>
                  <a:pt x="381" y="316"/>
                  <a:pt x="381" y="316"/>
                  <a:pt x="381" y="316"/>
                </a:cubicBezTo>
                <a:cubicBezTo>
                  <a:pt x="393" y="316"/>
                  <a:pt x="393" y="316"/>
                  <a:pt x="393" y="316"/>
                </a:cubicBezTo>
                <a:cubicBezTo>
                  <a:pt x="405" y="316"/>
                  <a:pt x="417" y="326"/>
                  <a:pt x="417" y="336"/>
                </a:cubicBezTo>
              </a:path>
              <a:path w="712" h="638">
                <a:moveTo>
                  <a:pt x="376" y="19"/>
                </a:moveTo>
                <a:cubicBezTo>
                  <a:pt x="376" y="60"/>
                  <a:pt x="376" y="60"/>
                  <a:pt x="376" y="60"/>
                </a:cubicBezTo>
                <a:cubicBezTo>
                  <a:pt x="376" y="72"/>
                  <a:pt x="369" y="79"/>
                  <a:pt x="357" y="79"/>
                </a:cubicBezTo>
                <a:cubicBezTo>
                  <a:pt x="352" y="79"/>
                  <a:pt x="348" y="76"/>
                  <a:pt x="343" y="74"/>
                </a:cubicBezTo>
                <a:cubicBezTo>
                  <a:pt x="340" y="69"/>
                  <a:pt x="338" y="67"/>
                  <a:pt x="338" y="60"/>
                </a:cubicBezTo>
                <a:cubicBezTo>
                  <a:pt x="338" y="19"/>
                  <a:pt x="338" y="19"/>
                  <a:pt x="338" y="19"/>
                </a:cubicBezTo>
                <a:cubicBezTo>
                  <a:pt x="338" y="9"/>
                  <a:pt x="348" y="0"/>
                  <a:pt x="357" y="0"/>
                </a:cubicBezTo>
                <a:cubicBezTo>
                  <a:pt x="369" y="0"/>
                  <a:pt x="376" y="9"/>
                  <a:pt x="376" y="19"/>
                </a:cubicBezTo>
              </a:path>
              <a:path w="712" h="638">
                <a:moveTo>
                  <a:pt x="333" y="201"/>
                </a:moveTo>
                <a:cubicBezTo>
                  <a:pt x="333" y="290"/>
                  <a:pt x="333" y="290"/>
                  <a:pt x="333" y="290"/>
                </a:cubicBezTo>
                <a:cubicBezTo>
                  <a:pt x="321" y="290"/>
                  <a:pt x="321" y="290"/>
                  <a:pt x="321" y="290"/>
                </a:cubicBezTo>
                <a:cubicBezTo>
                  <a:pt x="309" y="290"/>
                  <a:pt x="297" y="283"/>
                  <a:pt x="297" y="273"/>
                </a:cubicBezTo>
                <a:cubicBezTo>
                  <a:pt x="297" y="220"/>
                  <a:pt x="297" y="220"/>
                  <a:pt x="297" y="220"/>
                </a:cubicBezTo>
                <a:cubicBezTo>
                  <a:pt x="297" y="211"/>
                  <a:pt x="309" y="201"/>
                  <a:pt x="321" y="201"/>
                </a:cubicBezTo>
                <a:lnTo>
                  <a:pt x="333" y="201"/>
                </a:lnTo>
                <a:close/>
              </a:path>
              <a:path w="712" h="638">
                <a:moveTo>
                  <a:pt x="151" y="131"/>
                </a:moveTo>
                <a:cubicBezTo>
                  <a:pt x="153" y="134"/>
                  <a:pt x="156" y="139"/>
                  <a:pt x="156" y="143"/>
                </a:cubicBezTo>
                <a:cubicBezTo>
                  <a:pt x="156" y="148"/>
                  <a:pt x="153" y="153"/>
                  <a:pt x="151" y="155"/>
                </a:cubicBezTo>
                <a:cubicBezTo>
                  <a:pt x="144" y="163"/>
                  <a:pt x="131" y="163"/>
                  <a:pt x="122" y="155"/>
                </a:cubicBezTo>
                <a:cubicBezTo>
                  <a:pt x="91" y="127"/>
                  <a:pt x="91" y="127"/>
                  <a:pt x="91" y="127"/>
                </a:cubicBezTo>
                <a:cubicBezTo>
                  <a:pt x="84" y="119"/>
                  <a:pt x="84" y="107"/>
                  <a:pt x="91" y="100"/>
                </a:cubicBezTo>
                <a:cubicBezTo>
                  <a:pt x="98" y="93"/>
                  <a:pt x="112" y="93"/>
                  <a:pt x="120" y="100"/>
                </a:cubicBezTo>
                <a:lnTo>
                  <a:pt x="151" y="131"/>
                </a:lnTo>
                <a:close/>
              </a:path>
              <a:path w="712" h="638">
                <a:moveTo>
                  <a:pt x="64" y="283"/>
                </a:moveTo>
                <a:cubicBezTo>
                  <a:pt x="74" y="283"/>
                  <a:pt x="84" y="290"/>
                  <a:pt x="84" y="300"/>
                </a:cubicBezTo>
                <a:cubicBezTo>
                  <a:pt x="84" y="312"/>
                  <a:pt x="74" y="319"/>
                  <a:pt x="64" y="319"/>
                </a:cubicBezTo>
                <a:cubicBezTo>
                  <a:pt x="19" y="319"/>
                  <a:pt x="19" y="319"/>
                  <a:pt x="19" y="319"/>
                </a:cubicBezTo>
                <a:cubicBezTo>
                  <a:pt x="9" y="319"/>
                  <a:pt x="0" y="312"/>
                  <a:pt x="0" y="300"/>
                </a:cubicBezTo>
                <a:cubicBezTo>
                  <a:pt x="0" y="295"/>
                  <a:pt x="2" y="292"/>
                  <a:pt x="4" y="288"/>
                </a:cubicBezTo>
                <a:cubicBezTo>
                  <a:pt x="9" y="285"/>
                  <a:pt x="14" y="283"/>
                  <a:pt x="19" y="283"/>
                </a:cubicBezTo>
                <a:lnTo>
                  <a:pt x="64" y="283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68" name="picture 116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255520" y="3022092"/>
            <a:ext cx="181355" cy="908303"/>
          </a:xfrm>
          <a:prstGeom prst="rect">
            <a:avLst/>
          </a:prstGeom>
        </p:spPr>
      </p:pic>
      <p:sp>
        <p:nvSpPr>
          <p:cNvPr id="1170" name="path 1170"/>
          <p:cNvSpPr/>
          <p:nvPr/>
        </p:nvSpPr>
        <p:spPr>
          <a:xfrm>
            <a:off x="1609344" y="3352800"/>
            <a:ext cx="408432" cy="266700"/>
          </a:xfrm>
          <a:custGeom>
            <a:avLst/>
            <a:gdLst/>
            <a:ahLst/>
            <a:cxnLst/>
            <a:rect l="0" t="0" r="0" b="0"/>
            <a:pathLst>
              <a:path w="643" h="420">
                <a:moveTo>
                  <a:pt x="225" y="0"/>
                </a:moveTo>
                <a:moveTo>
                  <a:pt x="225" y="0"/>
                </a:moveTo>
                <a:lnTo>
                  <a:pt x="225" y="0"/>
                </a:lnTo>
                <a:lnTo>
                  <a:pt x="261" y="4"/>
                </a:lnTo>
                <a:lnTo>
                  <a:pt x="292" y="19"/>
                </a:lnTo>
                <a:lnTo>
                  <a:pt x="292" y="19"/>
                </a:lnTo>
                <a:lnTo>
                  <a:pt x="309" y="14"/>
                </a:lnTo>
                <a:lnTo>
                  <a:pt x="333" y="12"/>
                </a:lnTo>
                <a:lnTo>
                  <a:pt x="333" y="12"/>
                </a:lnTo>
                <a:lnTo>
                  <a:pt x="367" y="14"/>
                </a:lnTo>
                <a:lnTo>
                  <a:pt x="391" y="28"/>
                </a:lnTo>
                <a:lnTo>
                  <a:pt x="391" y="28"/>
                </a:lnTo>
                <a:lnTo>
                  <a:pt x="417" y="19"/>
                </a:lnTo>
                <a:lnTo>
                  <a:pt x="439" y="14"/>
                </a:lnTo>
                <a:lnTo>
                  <a:pt x="439" y="14"/>
                </a:lnTo>
                <a:lnTo>
                  <a:pt x="465" y="14"/>
                </a:lnTo>
                <a:lnTo>
                  <a:pt x="470" y="19"/>
                </a:lnTo>
                <a:lnTo>
                  <a:pt x="496" y="35"/>
                </a:lnTo>
                <a:lnTo>
                  <a:pt x="496" y="35"/>
                </a:lnTo>
                <a:lnTo>
                  <a:pt x="518" y="28"/>
                </a:lnTo>
                <a:lnTo>
                  <a:pt x="518" y="28"/>
                </a:lnTo>
                <a:lnTo>
                  <a:pt x="544" y="35"/>
                </a:lnTo>
                <a:lnTo>
                  <a:pt x="563" y="40"/>
                </a:lnTo>
                <a:lnTo>
                  <a:pt x="568" y="47"/>
                </a:lnTo>
                <a:lnTo>
                  <a:pt x="576" y="64"/>
                </a:lnTo>
                <a:lnTo>
                  <a:pt x="576" y="64"/>
                </a:lnTo>
                <a:lnTo>
                  <a:pt x="568" y="76"/>
                </a:lnTo>
                <a:lnTo>
                  <a:pt x="554" y="88"/>
                </a:lnTo>
                <a:lnTo>
                  <a:pt x="554" y="88"/>
                </a:lnTo>
                <a:lnTo>
                  <a:pt x="563" y="98"/>
                </a:lnTo>
                <a:lnTo>
                  <a:pt x="563" y="98"/>
                </a:lnTo>
                <a:lnTo>
                  <a:pt x="563" y="103"/>
                </a:lnTo>
                <a:lnTo>
                  <a:pt x="448" y="103"/>
                </a:lnTo>
                <a:lnTo>
                  <a:pt x="448" y="103"/>
                </a:lnTo>
                <a:lnTo>
                  <a:pt x="448" y="98"/>
                </a:lnTo>
                <a:lnTo>
                  <a:pt x="448" y="98"/>
                </a:lnTo>
                <a:lnTo>
                  <a:pt x="448" y="88"/>
                </a:lnTo>
                <a:lnTo>
                  <a:pt x="448" y="88"/>
                </a:lnTo>
                <a:lnTo>
                  <a:pt x="439" y="88"/>
                </a:lnTo>
                <a:lnTo>
                  <a:pt x="439" y="88"/>
                </a:lnTo>
                <a:lnTo>
                  <a:pt x="422" y="84"/>
                </a:lnTo>
                <a:lnTo>
                  <a:pt x="398" y="74"/>
                </a:lnTo>
                <a:lnTo>
                  <a:pt x="398" y="74"/>
                </a:lnTo>
                <a:lnTo>
                  <a:pt x="391" y="88"/>
                </a:lnTo>
                <a:lnTo>
                  <a:pt x="372" y="93"/>
                </a:lnTo>
                <a:lnTo>
                  <a:pt x="350" y="98"/>
                </a:lnTo>
                <a:lnTo>
                  <a:pt x="333" y="103"/>
                </a:lnTo>
                <a:lnTo>
                  <a:pt x="333" y="103"/>
                </a:lnTo>
                <a:lnTo>
                  <a:pt x="302" y="98"/>
                </a:lnTo>
                <a:lnTo>
                  <a:pt x="283" y="88"/>
                </a:lnTo>
                <a:lnTo>
                  <a:pt x="283" y="88"/>
                </a:lnTo>
                <a:lnTo>
                  <a:pt x="261" y="98"/>
                </a:lnTo>
                <a:lnTo>
                  <a:pt x="225" y="103"/>
                </a:lnTo>
                <a:lnTo>
                  <a:pt x="225" y="103"/>
                </a:lnTo>
                <a:lnTo>
                  <a:pt x="194" y="98"/>
                </a:lnTo>
                <a:lnTo>
                  <a:pt x="172" y="88"/>
                </a:lnTo>
                <a:lnTo>
                  <a:pt x="153" y="74"/>
                </a:lnTo>
                <a:lnTo>
                  <a:pt x="146" y="52"/>
                </a:lnTo>
                <a:lnTo>
                  <a:pt x="146" y="52"/>
                </a:lnTo>
                <a:lnTo>
                  <a:pt x="153" y="35"/>
                </a:lnTo>
                <a:lnTo>
                  <a:pt x="172" y="14"/>
                </a:lnTo>
                <a:lnTo>
                  <a:pt x="194" y="4"/>
                </a:lnTo>
                <a:lnTo>
                  <a:pt x="225" y="0"/>
                </a:lnTo>
                <a:lnTo>
                  <a:pt x="225" y="0"/>
                </a:lnTo>
                <a:close/>
                <a:moveTo>
                  <a:pt x="235" y="215"/>
                </a:moveTo>
                <a:moveTo>
                  <a:pt x="235" y="215"/>
                </a:moveTo>
                <a:lnTo>
                  <a:pt x="302" y="215"/>
                </a:lnTo>
                <a:lnTo>
                  <a:pt x="302" y="268"/>
                </a:lnTo>
                <a:lnTo>
                  <a:pt x="235" y="268"/>
                </a:lnTo>
                <a:lnTo>
                  <a:pt x="235" y="215"/>
                </a:lnTo>
                <a:lnTo>
                  <a:pt x="235" y="215"/>
                </a:lnTo>
                <a:close/>
                <a:moveTo>
                  <a:pt x="448" y="117"/>
                </a:moveTo>
                <a:moveTo>
                  <a:pt x="448" y="117"/>
                </a:moveTo>
                <a:lnTo>
                  <a:pt x="448" y="175"/>
                </a:lnTo>
                <a:lnTo>
                  <a:pt x="177" y="175"/>
                </a:lnTo>
                <a:lnTo>
                  <a:pt x="177" y="215"/>
                </a:lnTo>
                <a:lnTo>
                  <a:pt x="57" y="215"/>
                </a:lnTo>
                <a:lnTo>
                  <a:pt x="57" y="391"/>
                </a:lnTo>
                <a:lnTo>
                  <a:pt x="0" y="391"/>
                </a:lnTo>
                <a:lnTo>
                  <a:pt x="0" y="420"/>
                </a:lnTo>
                <a:lnTo>
                  <a:pt x="643" y="420"/>
                </a:lnTo>
                <a:lnTo>
                  <a:pt x="643" y="391"/>
                </a:lnTo>
                <a:lnTo>
                  <a:pt x="595" y="391"/>
                </a:lnTo>
                <a:lnTo>
                  <a:pt x="563" y="117"/>
                </a:lnTo>
                <a:lnTo>
                  <a:pt x="448" y="117"/>
                </a:lnTo>
                <a:close/>
                <a:moveTo>
                  <a:pt x="340" y="215"/>
                </a:moveTo>
                <a:moveTo>
                  <a:pt x="340" y="215"/>
                </a:moveTo>
                <a:lnTo>
                  <a:pt x="407" y="215"/>
                </a:lnTo>
                <a:lnTo>
                  <a:pt x="407" y="268"/>
                </a:lnTo>
                <a:lnTo>
                  <a:pt x="340" y="268"/>
                </a:lnTo>
                <a:lnTo>
                  <a:pt x="340" y="215"/>
                </a:lnTo>
                <a:lnTo>
                  <a:pt x="340" y="215"/>
                </a:lnTo>
                <a:close/>
                <a:moveTo>
                  <a:pt x="88" y="244"/>
                </a:moveTo>
                <a:moveTo>
                  <a:pt x="88" y="244"/>
                </a:moveTo>
                <a:lnTo>
                  <a:pt x="163" y="244"/>
                </a:lnTo>
                <a:lnTo>
                  <a:pt x="163" y="304"/>
                </a:lnTo>
                <a:lnTo>
                  <a:pt x="88" y="304"/>
                </a:lnTo>
                <a:lnTo>
                  <a:pt x="88" y="244"/>
                </a:lnTo>
                <a:lnTo>
                  <a:pt x="88" y="244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72" name="picture 117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1174" name="picture 117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255520" y="3953255"/>
            <a:ext cx="21335" cy="957072"/>
          </a:xfrm>
          <a:prstGeom prst="rect">
            <a:avLst/>
          </a:prstGeom>
        </p:spPr>
      </p:pic>
      <p:pic>
        <p:nvPicPr>
          <p:cNvPr id="1176" name="picture 117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8593835" y="3953255"/>
            <a:ext cx="993647" cy="19811"/>
          </a:xfrm>
          <a:prstGeom prst="rect">
            <a:avLst/>
          </a:prstGeom>
        </p:spPr>
      </p:pic>
      <p:pic>
        <p:nvPicPr>
          <p:cNvPr id="1178" name="picture 117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9456229" y="5152453"/>
            <a:ext cx="70485" cy="720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0" name="picture 11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3315" y="4887468"/>
            <a:ext cx="4334256" cy="1043940"/>
          </a:xfrm>
          <a:prstGeom prst="rect">
            <a:avLst/>
          </a:prstGeom>
        </p:spPr>
      </p:pic>
      <p:pic>
        <p:nvPicPr>
          <p:cNvPr id="1182" name="picture 11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991100" y="5129783"/>
            <a:ext cx="1059179" cy="10667"/>
          </a:xfrm>
          <a:prstGeom prst="rect">
            <a:avLst/>
          </a:prstGeom>
        </p:spPr>
      </p:pic>
      <p:pic>
        <p:nvPicPr>
          <p:cNvPr id="1184" name="picture 11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3211" y="3989831"/>
            <a:ext cx="77723" cy="2249424"/>
          </a:xfrm>
          <a:prstGeom prst="rect">
            <a:avLst/>
          </a:prstGeom>
        </p:spPr>
      </p:pic>
      <p:pic>
        <p:nvPicPr>
          <p:cNvPr id="1186" name="picture 11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0267" y="6201155"/>
            <a:ext cx="9922764" cy="67056"/>
          </a:xfrm>
          <a:prstGeom prst="rect">
            <a:avLst/>
          </a:prstGeom>
        </p:spPr>
      </p:pic>
      <p:sp>
        <p:nvSpPr>
          <p:cNvPr id="1188" name="path 1188"/>
          <p:cNvSpPr/>
          <p:nvPr/>
        </p:nvSpPr>
        <p:spPr>
          <a:xfrm>
            <a:off x="9951718" y="5864352"/>
            <a:ext cx="6096" cy="373379"/>
          </a:xfrm>
          <a:custGeom>
            <a:avLst/>
            <a:gdLst/>
            <a:ahLst/>
            <a:cxnLst/>
            <a:rect l="0" t="0" r="0" b="0"/>
            <a:pathLst>
              <a:path w="9" h="587">
                <a:moveTo>
                  <a:pt x="4" y="4"/>
                </a:moveTo>
                <a:lnTo>
                  <a:pt x="4" y="583"/>
                </a:lnTo>
              </a:path>
            </a:pathLst>
          </a:custGeom>
          <a:noFill/>
          <a:ln w="6096" cap="sq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90" name="picture 11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025895" y="4091177"/>
            <a:ext cx="3934206" cy="2087879"/>
          </a:xfrm>
          <a:prstGeom prst="rect">
            <a:avLst/>
          </a:prstGeom>
        </p:spPr>
      </p:pic>
      <p:sp>
        <p:nvSpPr>
          <p:cNvPr id="1192" name="path 1192"/>
          <p:cNvSpPr/>
          <p:nvPr/>
        </p:nvSpPr>
        <p:spPr>
          <a:xfrm>
            <a:off x="4451603" y="4399788"/>
            <a:ext cx="1970531" cy="493776"/>
          </a:xfrm>
          <a:custGeom>
            <a:avLst/>
            <a:gdLst/>
            <a:ahLst/>
            <a:cxnLst/>
            <a:rect l="0" t="0" r="0" b="0"/>
            <a:pathLst>
              <a:path w="3103" h="777">
                <a:moveTo>
                  <a:pt x="4" y="772"/>
                </a:moveTo>
                <a:lnTo>
                  <a:pt x="4" y="4"/>
                </a:lnTo>
                <a:lnTo>
                  <a:pt x="3098" y="4"/>
                </a:lnTo>
                <a:lnTo>
                  <a:pt x="3098" y="676"/>
                </a:lnTo>
              </a:path>
            </a:pathLst>
          </a:custGeom>
          <a:noFill/>
          <a:ln w="6096" cap="sq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94" name="picture 11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26363" y="4402835"/>
            <a:ext cx="9328403" cy="1525524"/>
          </a:xfrm>
          <a:prstGeom prst="rect">
            <a:avLst/>
          </a:prstGeom>
        </p:spPr>
      </p:pic>
      <p:sp>
        <p:nvSpPr>
          <p:cNvPr id="1196" name="textbox 1196"/>
          <p:cNvSpPr/>
          <p:nvPr/>
        </p:nvSpPr>
        <p:spPr>
          <a:xfrm>
            <a:off x="6323134" y="1847450"/>
            <a:ext cx="4119879" cy="1407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4970" indent="-382270" algn="l" rtl="0" eaLnBrk="0">
              <a:lnSpc>
                <a:spcPct val="127000"/>
              </a:lnSpc>
              <a:tabLst/>
            </a:pP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①    差价合约是一种</a:t>
            </a: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避免和控制风险的金融手段，</a:t>
            </a:r>
            <a:r>
              <a:rPr sz="1000" b="1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其本质是对现货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（日前）价格的对赌。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14325" indent="-302259" algn="l" rtl="0" eaLnBrk="0">
              <a:lnSpc>
                <a:spcPct val="127000"/>
              </a:lnSpc>
              <a:spcBef>
                <a:spcPts val="864"/>
              </a:spcBef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②    电量将稳定地按照合约价格结算，</a:t>
            </a:r>
            <a:r>
              <a:rPr sz="1000" b="1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合约电量以外增发（或少发）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的电量将以现货（日前）市场节点价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格结算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09245" indent="-296545" algn="l" rtl="0" eaLnBrk="0">
              <a:lnSpc>
                <a:spcPct val="126000"/>
              </a:lnSpc>
              <a:spcBef>
                <a:spcPts val="6"/>
              </a:spcBef>
              <a:tabLst/>
            </a:pP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③    当某一时段的合约量、交割节点与现货</a:t>
            </a: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完全一致时，将实现完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全对冲，</a:t>
            </a:r>
            <a:r>
              <a:rPr sz="1000" b="1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即电费完全不受现货（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日前）价格波动的影响。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8" name="textbox 1198"/>
          <p:cNvSpPr/>
          <p:nvPr/>
        </p:nvSpPr>
        <p:spPr>
          <a:xfrm>
            <a:off x="3182323" y="2030224"/>
            <a:ext cx="2386964" cy="998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7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indent="-635" algn="l" rtl="0" eaLnBrk="0">
              <a:lnSpc>
                <a:spcPct val="143000"/>
              </a:lnSpc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情况二：现货市场价格为0.6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kWh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A的收益=100*0.6+100*（0.5-0</a:t>
            </a: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.6）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交易双方补齐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03"/>
              </a:lnSpc>
              <a:spcBef>
                <a:spcPts val="1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差价电费=100*（0.5-0.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6）</a:t>
            </a:r>
            <a:r>
              <a:rPr sz="1100" b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=-10元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0" name="textbox 1200"/>
          <p:cNvSpPr/>
          <p:nvPr/>
        </p:nvSpPr>
        <p:spPr>
          <a:xfrm>
            <a:off x="329404" y="2008875"/>
            <a:ext cx="2386964" cy="998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7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indent="-635" algn="l" rtl="0" eaLnBrk="0">
              <a:lnSpc>
                <a:spcPct val="143000"/>
              </a:lnSpc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情况一：现货市场价格为0.4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kWh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A的收益=100*0.4+100*（0.5-0</a:t>
            </a: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.4）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交易双方补齐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03"/>
              </a:lnSpc>
              <a:spcBef>
                <a:spcPts val="1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差价电费=100*（0.5-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0.4）</a:t>
            </a:r>
            <a:r>
              <a:rPr sz="1100" b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=10元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02" name="picture 12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991611" y="1847088"/>
            <a:ext cx="2996184" cy="205740"/>
          </a:xfrm>
          <a:prstGeom prst="rect">
            <a:avLst/>
          </a:prstGeom>
        </p:spPr>
      </p:pic>
      <p:sp>
        <p:nvSpPr>
          <p:cNvPr id="1204" name="textbox 1204"/>
          <p:cNvSpPr/>
          <p:nvPr/>
        </p:nvSpPr>
        <p:spPr>
          <a:xfrm>
            <a:off x="850858" y="4163683"/>
            <a:ext cx="1304925" cy="317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000" b="1" kern="0" spc="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Pc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－合约电价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91"/>
              </a:spcBef>
              <a:tabLst/>
            </a:pPr>
            <a:r>
              <a:rPr sz="1000" b="1" kern="0" spc="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Pm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－现货市场出清价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6" name="textbox 1206"/>
          <p:cNvSpPr/>
          <p:nvPr/>
        </p:nvSpPr>
        <p:spPr>
          <a:xfrm>
            <a:off x="523350" y="1068314"/>
            <a:ext cx="122237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3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差价合约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08" name="picture 120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46303" y="1847088"/>
            <a:ext cx="246888" cy="1344167"/>
          </a:xfrm>
          <a:prstGeom prst="rect">
            <a:avLst/>
          </a:prstGeom>
        </p:spPr>
      </p:pic>
      <p:sp>
        <p:nvSpPr>
          <p:cNvPr id="1210" name="textbox 1210"/>
          <p:cNvSpPr/>
          <p:nvPr/>
        </p:nvSpPr>
        <p:spPr>
          <a:xfrm>
            <a:off x="3063074" y="4087500"/>
            <a:ext cx="1000760" cy="291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6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2400" b="1" kern="0" spc="0" dirty="0">
                <a:solidFill>
                  <a:srgbClr val="FDA103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</a:t>
            </a:r>
            <a:r>
              <a:rPr sz="1500" b="1" kern="0" spc="0" dirty="0">
                <a:solidFill>
                  <a:srgbClr val="FDA103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</a:t>
            </a:r>
            <a:r>
              <a:rPr sz="1500" b="1" kern="0" spc="3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的曲线</a:t>
            </a:r>
            <a:endParaRPr sz="1500" dirty="0">
              <a:latin typeface="SimSun"/>
              <a:ea typeface="SimSun"/>
              <a:cs typeface="SimSun"/>
            </a:endParaRPr>
          </a:p>
        </p:txBody>
      </p:sp>
      <p:sp>
        <p:nvSpPr>
          <p:cNvPr id="1212" name="textbox 1212"/>
          <p:cNvSpPr/>
          <p:nvPr/>
        </p:nvSpPr>
        <p:spPr>
          <a:xfrm>
            <a:off x="8186763" y="4120929"/>
            <a:ext cx="971550" cy="291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4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2400" b="1" kern="0" spc="0" dirty="0">
                <a:solidFill>
                  <a:srgbClr val="094161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Pc</a:t>
            </a:r>
            <a:r>
              <a:rPr sz="1500" b="1" kern="0" spc="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的曲线</a:t>
            </a:r>
            <a:endParaRPr sz="1500" dirty="0">
              <a:latin typeface="SimSun"/>
              <a:ea typeface="SimSun"/>
              <a:cs typeface="SimSun"/>
            </a:endParaRPr>
          </a:p>
        </p:txBody>
      </p:sp>
      <p:sp>
        <p:nvSpPr>
          <p:cNvPr id="1214" name="textbox 1214"/>
          <p:cNvSpPr/>
          <p:nvPr/>
        </p:nvSpPr>
        <p:spPr>
          <a:xfrm>
            <a:off x="4654269" y="5632410"/>
            <a:ext cx="127190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购买者付给电厂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6" name="textbox 1216"/>
          <p:cNvSpPr/>
          <p:nvPr/>
        </p:nvSpPr>
        <p:spPr>
          <a:xfrm>
            <a:off x="4733628" y="4541252"/>
            <a:ext cx="126238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电厂付给购买者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8" name="textbox 1218"/>
          <p:cNvSpPr/>
          <p:nvPr/>
        </p:nvSpPr>
        <p:spPr>
          <a:xfrm>
            <a:off x="220385" y="4026753"/>
            <a:ext cx="224154" cy="494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50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500" b="1" kern="0" spc="3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价格</a:t>
            </a:r>
            <a:endParaRPr sz="1500" dirty="0">
              <a:latin typeface="SimSun"/>
              <a:ea typeface="SimSun"/>
              <a:cs typeface="SimSun"/>
            </a:endParaRPr>
          </a:p>
        </p:txBody>
      </p:sp>
      <p:sp>
        <p:nvSpPr>
          <p:cNvPr id="1220" name="textbox 1220"/>
          <p:cNvSpPr/>
          <p:nvPr/>
        </p:nvSpPr>
        <p:spPr>
          <a:xfrm>
            <a:off x="9700093" y="6262534"/>
            <a:ext cx="407669" cy="283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26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时间</a:t>
            </a:r>
            <a:endParaRPr sz="1500" dirty="0">
              <a:latin typeface="SimSun"/>
              <a:ea typeface="SimSun"/>
              <a:cs typeface="SimSun"/>
            </a:endParaRPr>
          </a:p>
        </p:txBody>
      </p:sp>
      <p:pic>
        <p:nvPicPr>
          <p:cNvPr id="1222" name="picture 12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737860" y="2996184"/>
            <a:ext cx="248411" cy="195071"/>
          </a:xfrm>
          <a:prstGeom prst="rect">
            <a:avLst/>
          </a:prstGeom>
        </p:spPr>
      </p:pic>
      <p:pic>
        <p:nvPicPr>
          <p:cNvPr id="1224" name="picture 12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1226" name="picture 12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737092" y="4436364"/>
            <a:ext cx="65532" cy="560832"/>
          </a:xfrm>
          <a:prstGeom prst="rect">
            <a:avLst/>
          </a:prstGeom>
        </p:spPr>
      </p:pic>
      <p:pic>
        <p:nvPicPr>
          <p:cNvPr id="1228" name="picture 12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344233" y="3177349"/>
            <a:ext cx="2610802" cy="13906"/>
          </a:xfrm>
          <a:prstGeom prst="rect">
            <a:avLst/>
          </a:prstGeom>
        </p:spPr>
      </p:pic>
      <p:pic>
        <p:nvPicPr>
          <p:cNvPr id="1230" name="picture 12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19100" y="1847088"/>
            <a:ext cx="2546604" cy="9144"/>
          </a:xfrm>
          <a:prstGeom prst="rect">
            <a:avLst/>
          </a:prstGeom>
        </p:spPr>
      </p:pic>
      <p:pic>
        <p:nvPicPr>
          <p:cNvPr id="1232" name="picture 12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2980944" y="3183635"/>
            <a:ext cx="2731007" cy="7620"/>
          </a:xfrm>
          <a:prstGeom prst="rect">
            <a:avLst/>
          </a:prstGeom>
        </p:spPr>
      </p:pic>
      <p:pic>
        <p:nvPicPr>
          <p:cNvPr id="1234" name="picture 12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980175" y="2078735"/>
            <a:ext cx="9144" cy="8930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textbox 1236"/>
          <p:cNvSpPr/>
          <p:nvPr/>
        </p:nvSpPr>
        <p:spPr>
          <a:xfrm>
            <a:off x="880300" y="3175277"/>
            <a:ext cx="3000375" cy="1357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18210" algn="l" rtl="0" eaLnBrk="0">
              <a:lnSpc>
                <a:spcPct val="83000"/>
              </a:lnSpc>
              <a:tabLst/>
            </a:pP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</a:t>
            </a:r>
            <a:r>
              <a:rPr sz="4200" b="1" kern="0" spc="8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 sz="4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1"/>
              </a:spcBef>
              <a:tabLst/>
            </a:pPr>
            <a:r>
              <a:rPr sz="4200" b="1" kern="0" spc="-2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 sz="4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16" name="group 216"/>
          <p:cNvGrpSpPr/>
          <p:nvPr/>
        </p:nvGrpSpPr>
        <p:grpSpPr>
          <a:xfrm rot="21600000">
            <a:off x="4762500" y="900683"/>
            <a:ext cx="4724400" cy="559308"/>
            <a:chOff x="0" y="0"/>
            <a:chExt cx="4724400" cy="559308"/>
          </a:xfrm>
        </p:grpSpPr>
        <p:pic>
          <p:nvPicPr>
            <p:cNvPr id="1238" name="picture 12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1240" name="textbox 1240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9254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307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集中式现货市场的典型设计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242" name="path 1242"/>
            <p:cNvSpPr/>
            <p:nvPr/>
          </p:nvSpPr>
          <p:spPr>
            <a:xfrm>
              <a:off x="897775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9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18" name="group 218"/>
          <p:cNvGrpSpPr/>
          <p:nvPr/>
        </p:nvGrpSpPr>
        <p:grpSpPr>
          <a:xfrm rot="21600000">
            <a:off x="4762500" y="3128771"/>
            <a:ext cx="4724400" cy="559308"/>
            <a:chOff x="0" y="0"/>
            <a:chExt cx="4724400" cy="559308"/>
          </a:xfrm>
        </p:grpSpPr>
        <p:pic>
          <p:nvPicPr>
            <p:cNvPr id="1244" name="picture 12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1246" name="textbox 1246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68934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40" baseline="3586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发电企业现货市场交易策略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248" name="path 1248"/>
            <p:cNvSpPr/>
            <p:nvPr/>
          </p:nvSpPr>
          <p:spPr>
            <a:xfrm>
              <a:off x="878776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6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0" name="group 220"/>
          <p:cNvGrpSpPr/>
          <p:nvPr/>
        </p:nvGrpSpPr>
        <p:grpSpPr>
          <a:xfrm rot="21600000">
            <a:off x="4762500" y="1642871"/>
            <a:ext cx="4724400" cy="559308"/>
            <a:chOff x="0" y="0"/>
            <a:chExt cx="4724400" cy="559308"/>
          </a:xfrm>
        </p:grpSpPr>
        <p:pic>
          <p:nvPicPr>
            <p:cNvPr id="1250" name="picture 12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1252" name="textbox 1252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8459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典型省份电力现货市场设计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254" name="path 1254"/>
            <p:cNvSpPr/>
            <p:nvPr/>
          </p:nvSpPr>
          <p:spPr>
            <a:xfrm>
              <a:off x="887107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2" name="group 222"/>
          <p:cNvGrpSpPr/>
          <p:nvPr/>
        </p:nvGrpSpPr>
        <p:grpSpPr>
          <a:xfrm rot="21600000">
            <a:off x="4762500" y="3870959"/>
            <a:ext cx="4724400" cy="559308"/>
            <a:chOff x="0" y="0"/>
            <a:chExt cx="4724400" cy="559308"/>
          </a:xfrm>
        </p:grpSpPr>
        <p:pic>
          <p:nvPicPr>
            <p:cNvPr id="1256" name="picture 125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1258" name="textbox 1258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671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4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售电公司现货市场交易策略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260" name="path 1260"/>
            <p:cNvSpPr/>
            <p:nvPr/>
          </p:nvSpPr>
          <p:spPr>
            <a:xfrm>
              <a:off x="895641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4" name="group 224"/>
          <p:cNvGrpSpPr/>
          <p:nvPr/>
        </p:nvGrpSpPr>
        <p:grpSpPr>
          <a:xfrm rot="21600000">
            <a:off x="4762500" y="6099047"/>
            <a:ext cx="4724400" cy="559307"/>
            <a:chOff x="0" y="0"/>
            <a:chExt cx="4724400" cy="559307"/>
          </a:xfrm>
        </p:grpSpPr>
        <p:pic>
          <p:nvPicPr>
            <p:cNvPr id="1262" name="picture 126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1264" name="textbox 1264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592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40" baseline="3345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量化交易在电力现货的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实践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266" name="path 1266"/>
            <p:cNvSpPr/>
            <p:nvPr/>
          </p:nvSpPr>
          <p:spPr>
            <a:xfrm>
              <a:off x="885710" y="192023"/>
              <a:ext cx="185928" cy="175260"/>
            </a:xfrm>
            <a:custGeom>
              <a:avLst/>
              <a:gdLst/>
              <a:ahLst/>
              <a:cxnLst/>
              <a:rect l="0" t="0" r="0" b="0"/>
              <a:pathLst>
                <a:path w="292" h="276">
                  <a:moveTo>
                    <a:pt x="0" y="0"/>
                  </a:moveTo>
                  <a:lnTo>
                    <a:pt x="292" y="139"/>
                  </a:lnTo>
                  <a:lnTo>
                    <a:pt x="0" y="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6" name="group 226"/>
          <p:cNvGrpSpPr/>
          <p:nvPr/>
        </p:nvGrpSpPr>
        <p:grpSpPr>
          <a:xfrm rot="21600000">
            <a:off x="4762500" y="5356860"/>
            <a:ext cx="4724400" cy="559307"/>
            <a:chOff x="0" y="0"/>
            <a:chExt cx="4724400" cy="559307"/>
          </a:xfrm>
        </p:grpSpPr>
        <p:pic>
          <p:nvPicPr>
            <p:cNvPr id="1268" name="picture 126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1270" name="textbox 1270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719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20" baseline="450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试结算案例分析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272" name="path 1272"/>
            <p:cNvSpPr/>
            <p:nvPr/>
          </p:nvSpPr>
          <p:spPr>
            <a:xfrm>
              <a:off x="884504" y="192023"/>
              <a:ext cx="185928" cy="173736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8" name="group 228"/>
          <p:cNvGrpSpPr/>
          <p:nvPr/>
        </p:nvGrpSpPr>
        <p:grpSpPr>
          <a:xfrm rot="21600000">
            <a:off x="4762500" y="4614671"/>
            <a:ext cx="4724400" cy="557783"/>
            <a:chOff x="0" y="0"/>
            <a:chExt cx="4724400" cy="557783"/>
          </a:xfrm>
        </p:grpSpPr>
        <p:pic>
          <p:nvPicPr>
            <p:cNvPr id="1274" name="picture 127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1276" name="textbox 1276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7909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20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中长期合约交易策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278" name="path 1278"/>
            <p:cNvSpPr/>
            <p:nvPr/>
          </p:nvSpPr>
          <p:spPr>
            <a:xfrm>
              <a:off x="881290" y="192024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30" name="group 230"/>
          <p:cNvGrpSpPr/>
          <p:nvPr/>
        </p:nvGrpSpPr>
        <p:grpSpPr>
          <a:xfrm rot="21600000">
            <a:off x="4762500" y="2386584"/>
            <a:ext cx="4724400" cy="557783"/>
            <a:chOff x="0" y="0"/>
            <a:chExt cx="4724400" cy="557783"/>
          </a:xfrm>
        </p:grpSpPr>
        <p:pic>
          <p:nvPicPr>
            <p:cNvPr id="1280" name="picture 128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1282" name="textbox 1282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84809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2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  <a:r>
                <a:rPr sz="20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电力市场的经济学原理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284" name="path 1284"/>
            <p:cNvSpPr/>
            <p:nvPr/>
          </p:nvSpPr>
          <p:spPr>
            <a:xfrm>
              <a:off x="892505" y="192023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286" name="path 1286"/>
          <p:cNvSpPr/>
          <p:nvPr/>
        </p:nvSpPr>
        <p:spPr>
          <a:xfrm>
            <a:off x="4271771" y="835152"/>
            <a:ext cx="6096" cy="5890259"/>
          </a:xfrm>
          <a:custGeom>
            <a:avLst/>
            <a:gdLst/>
            <a:ahLst/>
            <a:cxnLst/>
            <a:rect l="0" t="0" r="0" b="0"/>
            <a:pathLst>
              <a:path w="9" h="9275">
                <a:moveTo>
                  <a:pt x="4" y="0"/>
                </a:moveTo>
                <a:lnTo>
                  <a:pt x="4" y="9275"/>
                </a:ln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picture 12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59880" y="1955292"/>
            <a:ext cx="3713987" cy="4529327"/>
          </a:xfrm>
          <a:prstGeom prst="rect">
            <a:avLst/>
          </a:prstGeom>
        </p:spPr>
      </p:pic>
      <p:graphicFrame>
        <p:nvGraphicFramePr>
          <p:cNvPr id="1290" name="table 1290"/>
          <p:cNvGraphicFramePr>
            <a:graphicFrameLocks noGrp="1"/>
          </p:cNvGraphicFramePr>
          <p:nvPr/>
        </p:nvGraphicFramePr>
        <p:xfrm>
          <a:off x="454152" y="2977133"/>
          <a:ext cx="5142864" cy="1338579"/>
        </p:xfrm>
        <a:graphic>
          <a:graphicData uri="http://schemas.openxmlformats.org/drawingml/2006/table">
            <a:tbl>
              <a:tblPr/>
              <a:tblGrid>
                <a:gridCol w="1420495"/>
                <a:gridCol w="1334769"/>
                <a:gridCol w="2387600"/>
              </a:tblGrid>
              <a:tr h="2457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640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交易方式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941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基数合约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5194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市场合约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3"/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双边交易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147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仅关停电量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0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最小合约周期为周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613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集中竞争交易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534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年、月、周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91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99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挂牌交易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4365" algn="l" rtl="0" eaLnBrk="0">
                        <a:lnSpc>
                          <a:spcPts val="690"/>
                        </a:lnSpc>
                        <a:tabLst/>
                      </a:pPr>
                      <a:r>
                        <a:rPr sz="1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40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每周、最小合约周期为周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292" name="path 1292"/>
          <p:cNvSpPr/>
          <p:nvPr/>
        </p:nvSpPr>
        <p:spPr>
          <a:xfrm>
            <a:off x="7845551" y="4226052"/>
            <a:ext cx="2523744" cy="1953767"/>
          </a:xfrm>
          <a:custGeom>
            <a:avLst/>
            <a:gdLst/>
            <a:ahLst/>
            <a:cxnLst/>
            <a:rect l="0" t="0" r="0" b="0"/>
            <a:pathLst>
              <a:path w="3974" h="3076">
                <a:moveTo>
                  <a:pt x="0" y="4"/>
                </a:moveTo>
                <a:lnTo>
                  <a:pt x="3974" y="4"/>
                </a:lnTo>
                <a:moveTo>
                  <a:pt x="0" y="3071"/>
                </a:moveTo>
                <a:lnTo>
                  <a:pt x="3974" y="3071"/>
                </a:lnTo>
              </a:path>
            </a:pathLst>
          </a:custGeom>
          <a:noFill/>
          <a:ln w="6096" cap="flat">
            <a:solidFill>
              <a:srgbClr val="17324D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94" name="picture 12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0601" y="5827585"/>
            <a:ext cx="5660516" cy="657034"/>
          </a:xfrm>
          <a:prstGeom prst="rect">
            <a:avLst/>
          </a:prstGeom>
        </p:spPr>
      </p:pic>
      <p:sp>
        <p:nvSpPr>
          <p:cNvPr id="1296" name="textbox 1296"/>
          <p:cNvSpPr/>
          <p:nvPr/>
        </p:nvSpPr>
        <p:spPr>
          <a:xfrm>
            <a:off x="509015" y="5364480"/>
            <a:ext cx="2593975" cy="734694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7630" algn="l" rtl="0" eaLnBrk="0">
              <a:lnSpc>
                <a:spcPct val="88000"/>
              </a:lnSpc>
              <a:tabLst/>
            </a:pPr>
            <a:r>
              <a:rPr sz="10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电能量市场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7241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8" name="path 1298"/>
          <p:cNvSpPr/>
          <p:nvPr/>
        </p:nvSpPr>
        <p:spPr>
          <a:xfrm>
            <a:off x="1584121" y="5730239"/>
            <a:ext cx="417575" cy="147827"/>
          </a:xfrm>
          <a:custGeom>
            <a:avLst/>
            <a:gdLst/>
            <a:ahLst/>
            <a:cxnLst/>
            <a:rect l="0" t="0" r="0" b="0"/>
            <a:pathLst>
              <a:path w="657" h="232">
                <a:moveTo>
                  <a:pt x="0" y="57"/>
                </a:moveTo>
                <a:lnTo>
                  <a:pt x="540" y="57"/>
                </a:lnTo>
                <a:lnTo>
                  <a:pt x="540" y="0"/>
                </a:lnTo>
                <a:lnTo>
                  <a:pt x="657" y="117"/>
                </a:lnTo>
                <a:lnTo>
                  <a:pt x="540" y="232"/>
                </a:lnTo>
                <a:lnTo>
                  <a:pt x="540" y="175"/>
                </a:lnTo>
                <a:lnTo>
                  <a:pt x="0" y="175"/>
                </a:lnTo>
                <a:lnTo>
                  <a:pt x="0" y="5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00" name="picture 13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7009" y="1981200"/>
            <a:ext cx="5242941" cy="242506"/>
          </a:xfrm>
          <a:prstGeom prst="rect">
            <a:avLst/>
          </a:prstGeom>
        </p:spPr>
      </p:pic>
      <p:sp>
        <p:nvSpPr>
          <p:cNvPr id="1302" name="textbox 1302"/>
          <p:cNvSpPr/>
          <p:nvPr/>
        </p:nvSpPr>
        <p:spPr>
          <a:xfrm>
            <a:off x="523350" y="1112886"/>
            <a:ext cx="3924300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集中式电力现货市场基本架构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04" name="textbox 1304"/>
          <p:cNvSpPr/>
          <p:nvPr/>
        </p:nvSpPr>
        <p:spPr>
          <a:xfrm>
            <a:off x="4070603" y="5364480"/>
            <a:ext cx="1509394" cy="734694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8779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调频市场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06" name="textbox 1306"/>
          <p:cNvSpPr/>
          <p:nvPr/>
        </p:nvSpPr>
        <p:spPr>
          <a:xfrm>
            <a:off x="8135556" y="4538916"/>
            <a:ext cx="1707514" cy="584834"/>
          </a:xfrm>
          <a:prstGeom prst="roundRect">
            <a:avLst>
              <a:gd name="adj" fmla="val 18230"/>
            </a:avLst>
          </a:prstGeom>
          <a:noFill/>
          <a:ln w="9525" cap="flat">
            <a:solidFill>
              <a:srgbClr val="D9D9D9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7359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零售交易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08" name="textbox 1308"/>
          <p:cNvSpPr/>
          <p:nvPr/>
        </p:nvSpPr>
        <p:spPr>
          <a:xfrm>
            <a:off x="8135556" y="5538660"/>
            <a:ext cx="1739900" cy="456565"/>
          </a:xfrm>
          <a:prstGeom prst="roundRect">
            <a:avLst>
              <a:gd name="adj" fmla="val 18685"/>
            </a:avLst>
          </a:prstGeom>
          <a:noFill/>
          <a:ln w="9525" cap="flat">
            <a:solidFill>
              <a:srgbClr val="DBDBD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534669" algn="l" rtl="0" eaLnBrk="0">
              <a:lnSpc>
                <a:spcPct val="88000"/>
              </a:lnSpc>
              <a:spcBef>
                <a:spcPts val="7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零售用户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10" name="picture 13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39268" y="2218753"/>
            <a:ext cx="212026" cy="3511486"/>
          </a:xfrm>
          <a:prstGeom prst="rect">
            <a:avLst/>
          </a:prstGeom>
        </p:spPr>
      </p:pic>
      <p:grpSp>
        <p:nvGrpSpPr>
          <p:cNvPr id="232" name="group 232"/>
          <p:cNvGrpSpPr/>
          <p:nvPr/>
        </p:nvGrpSpPr>
        <p:grpSpPr>
          <a:xfrm rot="21600000">
            <a:off x="6941058" y="2465069"/>
            <a:ext cx="801623" cy="803147"/>
            <a:chOff x="0" y="0"/>
            <a:chExt cx="801623" cy="803147"/>
          </a:xfrm>
        </p:grpSpPr>
        <p:sp>
          <p:nvSpPr>
            <p:cNvPr id="1312" name="path 1312"/>
            <p:cNvSpPr/>
            <p:nvPr/>
          </p:nvSpPr>
          <p:spPr>
            <a:xfrm>
              <a:off x="5333" y="5333"/>
              <a:ext cx="790956" cy="792480"/>
            </a:xfrm>
            <a:custGeom>
              <a:avLst/>
              <a:gdLst/>
              <a:ahLst/>
              <a:cxnLst/>
              <a:rect l="0" t="0" r="0" b="0"/>
              <a:pathLst>
                <a:path w="1245" h="1248">
                  <a:moveTo>
                    <a:pt x="0" y="624"/>
                  </a:moveTo>
                  <a:cubicBezTo>
                    <a:pt x="0" y="280"/>
                    <a:pt x="278" y="0"/>
                    <a:pt x="621" y="0"/>
                  </a:cubicBezTo>
                  <a:cubicBezTo>
                    <a:pt x="967" y="0"/>
                    <a:pt x="1245" y="280"/>
                    <a:pt x="1245" y="624"/>
                  </a:cubicBezTo>
                  <a:cubicBezTo>
                    <a:pt x="1245" y="967"/>
                    <a:pt x="967" y="1248"/>
                    <a:pt x="621" y="1248"/>
                  </a:cubicBezTo>
                  <a:cubicBezTo>
                    <a:pt x="278" y="1248"/>
                    <a:pt x="0" y="967"/>
                    <a:pt x="0" y="624"/>
                  </a:cubicBezTo>
                </a:path>
              </a:pathLst>
            </a:custGeom>
            <a:solidFill>
              <a:srgbClr val="09416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14" name="path 1314"/>
            <p:cNvSpPr/>
            <p:nvPr/>
          </p:nvSpPr>
          <p:spPr>
            <a:xfrm>
              <a:off x="0" y="0"/>
              <a:ext cx="801623" cy="803147"/>
            </a:xfrm>
            <a:custGeom>
              <a:avLst/>
              <a:gdLst/>
              <a:ahLst/>
              <a:cxnLst/>
              <a:rect l="0" t="0" r="0" b="0"/>
              <a:pathLst>
                <a:path w="1262" h="1264">
                  <a:moveTo>
                    <a:pt x="8" y="632"/>
                  </a:moveTo>
                  <a:cubicBezTo>
                    <a:pt x="8" y="289"/>
                    <a:pt x="286" y="8"/>
                    <a:pt x="630" y="8"/>
                  </a:cubicBezTo>
                  <a:cubicBezTo>
                    <a:pt x="975" y="8"/>
                    <a:pt x="1254" y="289"/>
                    <a:pt x="1254" y="632"/>
                  </a:cubicBezTo>
                  <a:cubicBezTo>
                    <a:pt x="1254" y="975"/>
                    <a:pt x="975" y="1256"/>
                    <a:pt x="630" y="1256"/>
                  </a:cubicBezTo>
                  <a:cubicBezTo>
                    <a:pt x="286" y="1256"/>
                    <a:pt x="8" y="975"/>
                    <a:pt x="8" y="632"/>
                  </a:cubicBez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16" name="path 1316"/>
            <p:cNvSpPr/>
            <p:nvPr/>
          </p:nvSpPr>
          <p:spPr>
            <a:xfrm>
              <a:off x="166877" y="230886"/>
              <a:ext cx="510540" cy="359663"/>
            </a:xfrm>
            <a:custGeom>
              <a:avLst/>
              <a:gdLst/>
              <a:ahLst/>
              <a:cxnLst/>
              <a:rect l="0" t="0" r="0" b="0"/>
              <a:pathLst>
                <a:path w="804" h="566">
                  <a:moveTo>
                    <a:pt x="0" y="566"/>
                  </a:moveTo>
                  <a:lnTo>
                    <a:pt x="86" y="566"/>
                  </a:lnTo>
                  <a:lnTo>
                    <a:pt x="381" y="566"/>
                  </a:lnTo>
                  <a:lnTo>
                    <a:pt x="417" y="566"/>
                  </a:lnTo>
                  <a:lnTo>
                    <a:pt x="734" y="566"/>
                  </a:lnTo>
                  <a:lnTo>
                    <a:pt x="804" y="566"/>
                  </a:lnTo>
                  <a:lnTo>
                    <a:pt x="804" y="525"/>
                  </a:lnTo>
                  <a:lnTo>
                    <a:pt x="734" y="525"/>
                  </a:lnTo>
                  <a:lnTo>
                    <a:pt x="734" y="187"/>
                  </a:lnTo>
                  <a:lnTo>
                    <a:pt x="417" y="187"/>
                  </a:lnTo>
                  <a:lnTo>
                    <a:pt x="417" y="0"/>
                  </a:lnTo>
                  <a:lnTo>
                    <a:pt x="86" y="0"/>
                  </a:lnTo>
                  <a:lnTo>
                    <a:pt x="86" y="525"/>
                  </a:lnTo>
                  <a:lnTo>
                    <a:pt x="0" y="525"/>
                  </a:lnTo>
                  <a:lnTo>
                    <a:pt x="0" y="566"/>
                  </a:lnTo>
                  <a:lnTo>
                    <a:pt x="0" y="566"/>
                  </a:lnTo>
                  <a:close/>
                  <a:moveTo>
                    <a:pt x="446" y="280"/>
                  </a:moveTo>
                  <a:lnTo>
                    <a:pt x="446" y="280"/>
                  </a:lnTo>
                  <a:lnTo>
                    <a:pt x="676" y="280"/>
                  </a:lnTo>
                  <a:lnTo>
                    <a:pt x="676" y="280"/>
                  </a:lnTo>
                  <a:lnTo>
                    <a:pt x="676" y="309"/>
                  </a:lnTo>
                  <a:lnTo>
                    <a:pt x="676" y="309"/>
                  </a:lnTo>
                  <a:lnTo>
                    <a:pt x="446" y="309"/>
                  </a:lnTo>
                  <a:lnTo>
                    <a:pt x="446" y="309"/>
                  </a:lnTo>
                  <a:lnTo>
                    <a:pt x="446" y="280"/>
                  </a:lnTo>
                  <a:lnTo>
                    <a:pt x="446" y="280"/>
                  </a:lnTo>
                  <a:close/>
                  <a:moveTo>
                    <a:pt x="191" y="444"/>
                  </a:moveTo>
                  <a:lnTo>
                    <a:pt x="191" y="444"/>
                  </a:lnTo>
                  <a:lnTo>
                    <a:pt x="213" y="444"/>
                  </a:lnTo>
                  <a:lnTo>
                    <a:pt x="213" y="444"/>
                  </a:lnTo>
                  <a:lnTo>
                    <a:pt x="213" y="472"/>
                  </a:lnTo>
                  <a:lnTo>
                    <a:pt x="213" y="472"/>
                  </a:lnTo>
                  <a:lnTo>
                    <a:pt x="191" y="472"/>
                  </a:lnTo>
                  <a:lnTo>
                    <a:pt x="191" y="472"/>
                  </a:lnTo>
                  <a:lnTo>
                    <a:pt x="191" y="444"/>
                  </a:lnTo>
                  <a:lnTo>
                    <a:pt x="191" y="444"/>
                  </a:lnTo>
                  <a:close/>
                  <a:moveTo>
                    <a:pt x="139" y="444"/>
                  </a:moveTo>
                  <a:lnTo>
                    <a:pt x="168" y="444"/>
                  </a:lnTo>
                  <a:lnTo>
                    <a:pt x="168" y="472"/>
                  </a:lnTo>
                  <a:lnTo>
                    <a:pt x="139" y="472"/>
                  </a:lnTo>
                  <a:lnTo>
                    <a:pt x="139" y="444"/>
                  </a:lnTo>
                  <a:lnTo>
                    <a:pt x="139" y="444"/>
                  </a:lnTo>
                  <a:close/>
                  <a:moveTo>
                    <a:pt x="230" y="444"/>
                  </a:moveTo>
                  <a:lnTo>
                    <a:pt x="230" y="444"/>
                  </a:lnTo>
                  <a:lnTo>
                    <a:pt x="266" y="444"/>
                  </a:lnTo>
                  <a:lnTo>
                    <a:pt x="266" y="444"/>
                  </a:lnTo>
                  <a:lnTo>
                    <a:pt x="266" y="472"/>
                  </a:lnTo>
                  <a:lnTo>
                    <a:pt x="266" y="472"/>
                  </a:lnTo>
                  <a:lnTo>
                    <a:pt x="230" y="472"/>
                  </a:lnTo>
                  <a:lnTo>
                    <a:pt x="230" y="472"/>
                  </a:lnTo>
                  <a:lnTo>
                    <a:pt x="230" y="444"/>
                  </a:lnTo>
                  <a:lnTo>
                    <a:pt x="230" y="444"/>
                  </a:lnTo>
                  <a:close/>
                  <a:moveTo>
                    <a:pt x="290" y="444"/>
                  </a:moveTo>
                  <a:lnTo>
                    <a:pt x="290" y="444"/>
                  </a:lnTo>
                  <a:lnTo>
                    <a:pt x="307" y="444"/>
                  </a:lnTo>
                  <a:lnTo>
                    <a:pt x="307" y="444"/>
                  </a:lnTo>
                  <a:lnTo>
                    <a:pt x="307" y="472"/>
                  </a:lnTo>
                  <a:lnTo>
                    <a:pt x="307" y="472"/>
                  </a:lnTo>
                  <a:lnTo>
                    <a:pt x="290" y="472"/>
                  </a:lnTo>
                  <a:lnTo>
                    <a:pt x="290" y="472"/>
                  </a:lnTo>
                  <a:lnTo>
                    <a:pt x="290" y="444"/>
                  </a:lnTo>
                  <a:lnTo>
                    <a:pt x="290" y="444"/>
                  </a:lnTo>
                  <a:close/>
                  <a:moveTo>
                    <a:pt x="331" y="444"/>
                  </a:moveTo>
                  <a:lnTo>
                    <a:pt x="352" y="444"/>
                  </a:lnTo>
                  <a:lnTo>
                    <a:pt x="352" y="472"/>
                  </a:lnTo>
                  <a:lnTo>
                    <a:pt x="331" y="472"/>
                  </a:lnTo>
                  <a:lnTo>
                    <a:pt x="331" y="444"/>
                  </a:lnTo>
                  <a:lnTo>
                    <a:pt x="331" y="444"/>
                  </a:lnTo>
                  <a:close/>
                  <a:moveTo>
                    <a:pt x="191" y="112"/>
                  </a:moveTo>
                  <a:lnTo>
                    <a:pt x="191" y="112"/>
                  </a:lnTo>
                  <a:lnTo>
                    <a:pt x="213" y="112"/>
                  </a:lnTo>
                  <a:lnTo>
                    <a:pt x="213" y="112"/>
                  </a:lnTo>
                  <a:lnTo>
                    <a:pt x="213" y="136"/>
                  </a:lnTo>
                  <a:lnTo>
                    <a:pt x="213" y="136"/>
                  </a:lnTo>
                  <a:lnTo>
                    <a:pt x="191" y="136"/>
                  </a:lnTo>
                  <a:lnTo>
                    <a:pt x="191" y="136"/>
                  </a:lnTo>
                  <a:lnTo>
                    <a:pt x="191" y="112"/>
                  </a:lnTo>
                  <a:lnTo>
                    <a:pt x="191" y="112"/>
                  </a:lnTo>
                  <a:close/>
                  <a:moveTo>
                    <a:pt x="139" y="112"/>
                  </a:moveTo>
                  <a:lnTo>
                    <a:pt x="139" y="112"/>
                  </a:lnTo>
                  <a:lnTo>
                    <a:pt x="168" y="112"/>
                  </a:lnTo>
                  <a:lnTo>
                    <a:pt x="168" y="112"/>
                  </a:lnTo>
                  <a:lnTo>
                    <a:pt x="168" y="136"/>
                  </a:lnTo>
                  <a:lnTo>
                    <a:pt x="168" y="136"/>
                  </a:lnTo>
                  <a:lnTo>
                    <a:pt x="139" y="136"/>
                  </a:lnTo>
                  <a:lnTo>
                    <a:pt x="139" y="136"/>
                  </a:lnTo>
                  <a:lnTo>
                    <a:pt x="139" y="112"/>
                  </a:lnTo>
                  <a:lnTo>
                    <a:pt x="139" y="112"/>
                  </a:lnTo>
                  <a:close/>
                  <a:moveTo>
                    <a:pt x="230" y="112"/>
                  </a:moveTo>
                  <a:lnTo>
                    <a:pt x="230" y="112"/>
                  </a:lnTo>
                  <a:lnTo>
                    <a:pt x="266" y="112"/>
                  </a:lnTo>
                  <a:lnTo>
                    <a:pt x="266" y="112"/>
                  </a:lnTo>
                  <a:lnTo>
                    <a:pt x="266" y="136"/>
                  </a:lnTo>
                  <a:lnTo>
                    <a:pt x="266" y="136"/>
                  </a:lnTo>
                  <a:lnTo>
                    <a:pt x="230" y="136"/>
                  </a:lnTo>
                  <a:lnTo>
                    <a:pt x="230" y="136"/>
                  </a:lnTo>
                  <a:lnTo>
                    <a:pt x="230" y="112"/>
                  </a:lnTo>
                  <a:lnTo>
                    <a:pt x="230" y="112"/>
                  </a:lnTo>
                  <a:close/>
                  <a:moveTo>
                    <a:pt x="290" y="112"/>
                  </a:moveTo>
                  <a:lnTo>
                    <a:pt x="290" y="112"/>
                  </a:lnTo>
                  <a:lnTo>
                    <a:pt x="307" y="112"/>
                  </a:lnTo>
                  <a:lnTo>
                    <a:pt x="307" y="112"/>
                  </a:lnTo>
                  <a:lnTo>
                    <a:pt x="307" y="136"/>
                  </a:lnTo>
                  <a:lnTo>
                    <a:pt x="307" y="136"/>
                  </a:lnTo>
                  <a:lnTo>
                    <a:pt x="290" y="136"/>
                  </a:lnTo>
                  <a:lnTo>
                    <a:pt x="290" y="136"/>
                  </a:lnTo>
                  <a:lnTo>
                    <a:pt x="290" y="112"/>
                  </a:lnTo>
                  <a:lnTo>
                    <a:pt x="290" y="112"/>
                  </a:lnTo>
                  <a:close/>
                  <a:moveTo>
                    <a:pt x="331" y="112"/>
                  </a:moveTo>
                  <a:lnTo>
                    <a:pt x="331" y="112"/>
                  </a:lnTo>
                  <a:lnTo>
                    <a:pt x="352" y="112"/>
                  </a:lnTo>
                  <a:lnTo>
                    <a:pt x="352" y="112"/>
                  </a:lnTo>
                  <a:lnTo>
                    <a:pt x="352" y="136"/>
                  </a:lnTo>
                  <a:lnTo>
                    <a:pt x="352" y="136"/>
                  </a:lnTo>
                  <a:lnTo>
                    <a:pt x="331" y="136"/>
                  </a:lnTo>
                  <a:lnTo>
                    <a:pt x="331" y="136"/>
                  </a:lnTo>
                  <a:lnTo>
                    <a:pt x="331" y="112"/>
                  </a:lnTo>
                  <a:lnTo>
                    <a:pt x="331" y="112"/>
                  </a:lnTo>
                  <a:close/>
                  <a:moveTo>
                    <a:pt x="191" y="177"/>
                  </a:moveTo>
                  <a:lnTo>
                    <a:pt x="191" y="177"/>
                  </a:lnTo>
                  <a:lnTo>
                    <a:pt x="213" y="177"/>
                  </a:lnTo>
                  <a:lnTo>
                    <a:pt x="213" y="177"/>
                  </a:lnTo>
                  <a:lnTo>
                    <a:pt x="213" y="206"/>
                  </a:lnTo>
                  <a:lnTo>
                    <a:pt x="213" y="206"/>
                  </a:lnTo>
                  <a:lnTo>
                    <a:pt x="191" y="206"/>
                  </a:lnTo>
                  <a:lnTo>
                    <a:pt x="191" y="206"/>
                  </a:lnTo>
                  <a:lnTo>
                    <a:pt x="191" y="177"/>
                  </a:lnTo>
                  <a:lnTo>
                    <a:pt x="191" y="177"/>
                  </a:lnTo>
                  <a:close/>
                  <a:moveTo>
                    <a:pt x="139" y="177"/>
                  </a:moveTo>
                  <a:lnTo>
                    <a:pt x="139" y="177"/>
                  </a:lnTo>
                  <a:lnTo>
                    <a:pt x="168" y="177"/>
                  </a:lnTo>
                  <a:lnTo>
                    <a:pt x="168" y="177"/>
                  </a:lnTo>
                  <a:lnTo>
                    <a:pt x="168" y="206"/>
                  </a:lnTo>
                  <a:lnTo>
                    <a:pt x="168" y="206"/>
                  </a:lnTo>
                  <a:lnTo>
                    <a:pt x="139" y="206"/>
                  </a:lnTo>
                  <a:lnTo>
                    <a:pt x="139" y="206"/>
                  </a:lnTo>
                  <a:lnTo>
                    <a:pt x="139" y="177"/>
                  </a:lnTo>
                  <a:lnTo>
                    <a:pt x="139" y="177"/>
                  </a:lnTo>
                  <a:close/>
                  <a:moveTo>
                    <a:pt x="230" y="177"/>
                  </a:moveTo>
                  <a:lnTo>
                    <a:pt x="230" y="177"/>
                  </a:lnTo>
                  <a:lnTo>
                    <a:pt x="266" y="177"/>
                  </a:lnTo>
                  <a:lnTo>
                    <a:pt x="266" y="177"/>
                  </a:lnTo>
                  <a:lnTo>
                    <a:pt x="266" y="206"/>
                  </a:lnTo>
                  <a:lnTo>
                    <a:pt x="266" y="206"/>
                  </a:lnTo>
                  <a:lnTo>
                    <a:pt x="230" y="206"/>
                  </a:lnTo>
                  <a:lnTo>
                    <a:pt x="230" y="206"/>
                  </a:lnTo>
                  <a:lnTo>
                    <a:pt x="230" y="177"/>
                  </a:lnTo>
                  <a:lnTo>
                    <a:pt x="230" y="177"/>
                  </a:lnTo>
                  <a:close/>
                  <a:moveTo>
                    <a:pt x="290" y="177"/>
                  </a:moveTo>
                  <a:lnTo>
                    <a:pt x="290" y="177"/>
                  </a:lnTo>
                  <a:lnTo>
                    <a:pt x="307" y="177"/>
                  </a:lnTo>
                  <a:lnTo>
                    <a:pt x="307" y="177"/>
                  </a:lnTo>
                  <a:lnTo>
                    <a:pt x="307" y="206"/>
                  </a:lnTo>
                  <a:lnTo>
                    <a:pt x="307" y="206"/>
                  </a:lnTo>
                  <a:lnTo>
                    <a:pt x="290" y="206"/>
                  </a:lnTo>
                  <a:lnTo>
                    <a:pt x="290" y="206"/>
                  </a:lnTo>
                  <a:lnTo>
                    <a:pt x="290" y="177"/>
                  </a:lnTo>
                  <a:lnTo>
                    <a:pt x="290" y="177"/>
                  </a:lnTo>
                  <a:close/>
                  <a:moveTo>
                    <a:pt x="331" y="177"/>
                  </a:moveTo>
                  <a:lnTo>
                    <a:pt x="331" y="177"/>
                  </a:lnTo>
                  <a:lnTo>
                    <a:pt x="352" y="177"/>
                  </a:lnTo>
                  <a:lnTo>
                    <a:pt x="352" y="177"/>
                  </a:lnTo>
                  <a:lnTo>
                    <a:pt x="352" y="206"/>
                  </a:lnTo>
                  <a:lnTo>
                    <a:pt x="352" y="206"/>
                  </a:lnTo>
                  <a:lnTo>
                    <a:pt x="331" y="206"/>
                  </a:lnTo>
                  <a:lnTo>
                    <a:pt x="331" y="206"/>
                  </a:lnTo>
                  <a:lnTo>
                    <a:pt x="331" y="177"/>
                  </a:lnTo>
                  <a:lnTo>
                    <a:pt x="331" y="177"/>
                  </a:lnTo>
                  <a:close/>
                  <a:moveTo>
                    <a:pt x="191" y="237"/>
                  </a:moveTo>
                  <a:lnTo>
                    <a:pt x="191" y="237"/>
                  </a:lnTo>
                  <a:lnTo>
                    <a:pt x="213" y="237"/>
                  </a:lnTo>
                  <a:lnTo>
                    <a:pt x="213" y="237"/>
                  </a:lnTo>
                  <a:lnTo>
                    <a:pt x="213" y="271"/>
                  </a:lnTo>
                  <a:lnTo>
                    <a:pt x="213" y="271"/>
                  </a:lnTo>
                  <a:lnTo>
                    <a:pt x="191" y="271"/>
                  </a:lnTo>
                  <a:lnTo>
                    <a:pt x="191" y="271"/>
                  </a:lnTo>
                  <a:lnTo>
                    <a:pt x="191" y="237"/>
                  </a:lnTo>
                  <a:lnTo>
                    <a:pt x="191" y="237"/>
                  </a:lnTo>
                  <a:close/>
                  <a:moveTo>
                    <a:pt x="139" y="237"/>
                  </a:moveTo>
                  <a:lnTo>
                    <a:pt x="139" y="237"/>
                  </a:lnTo>
                  <a:lnTo>
                    <a:pt x="168" y="237"/>
                  </a:lnTo>
                  <a:lnTo>
                    <a:pt x="168" y="237"/>
                  </a:lnTo>
                  <a:lnTo>
                    <a:pt x="168" y="271"/>
                  </a:lnTo>
                  <a:lnTo>
                    <a:pt x="168" y="271"/>
                  </a:lnTo>
                  <a:lnTo>
                    <a:pt x="139" y="271"/>
                  </a:lnTo>
                  <a:lnTo>
                    <a:pt x="139" y="271"/>
                  </a:lnTo>
                  <a:lnTo>
                    <a:pt x="139" y="237"/>
                  </a:lnTo>
                  <a:lnTo>
                    <a:pt x="139" y="237"/>
                  </a:lnTo>
                  <a:close/>
                  <a:moveTo>
                    <a:pt x="230" y="237"/>
                  </a:moveTo>
                  <a:lnTo>
                    <a:pt x="230" y="237"/>
                  </a:lnTo>
                  <a:lnTo>
                    <a:pt x="266" y="237"/>
                  </a:lnTo>
                  <a:lnTo>
                    <a:pt x="266" y="237"/>
                  </a:lnTo>
                  <a:lnTo>
                    <a:pt x="266" y="271"/>
                  </a:lnTo>
                  <a:lnTo>
                    <a:pt x="266" y="271"/>
                  </a:lnTo>
                  <a:lnTo>
                    <a:pt x="230" y="271"/>
                  </a:lnTo>
                  <a:lnTo>
                    <a:pt x="230" y="271"/>
                  </a:lnTo>
                  <a:lnTo>
                    <a:pt x="230" y="237"/>
                  </a:lnTo>
                  <a:lnTo>
                    <a:pt x="230" y="237"/>
                  </a:lnTo>
                  <a:close/>
                  <a:moveTo>
                    <a:pt x="290" y="237"/>
                  </a:moveTo>
                  <a:lnTo>
                    <a:pt x="290" y="237"/>
                  </a:lnTo>
                  <a:lnTo>
                    <a:pt x="307" y="237"/>
                  </a:lnTo>
                  <a:lnTo>
                    <a:pt x="307" y="237"/>
                  </a:lnTo>
                  <a:lnTo>
                    <a:pt x="307" y="271"/>
                  </a:lnTo>
                  <a:lnTo>
                    <a:pt x="307" y="271"/>
                  </a:lnTo>
                  <a:lnTo>
                    <a:pt x="290" y="271"/>
                  </a:lnTo>
                  <a:lnTo>
                    <a:pt x="290" y="271"/>
                  </a:lnTo>
                  <a:lnTo>
                    <a:pt x="290" y="237"/>
                  </a:lnTo>
                  <a:lnTo>
                    <a:pt x="290" y="237"/>
                  </a:lnTo>
                  <a:close/>
                  <a:moveTo>
                    <a:pt x="331" y="237"/>
                  </a:moveTo>
                  <a:lnTo>
                    <a:pt x="331" y="237"/>
                  </a:lnTo>
                  <a:lnTo>
                    <a:pt x="352" y="237"/>
                  </a:lnTo>
                  <a:lnTo>
                    <a:pt x="352" y="237"/>
                  </a:lnTo>
                  <a:lnTo>
                    <a:pt x="352" y="271"/>
                  </a:lnTo>
                  <a:lnTo>
                    <a:pt x="352" y="271"/>
                  </a:lnTo>
                  <a:lnTo>
                    <a:pt x="331" y="271"/>
                  </a:lnTo>
                  <a:lnTo>
                    <a:pt x="331" y="271"/>
                  </a:lnTo>
                  <a:lnTo>
                    <a:pt x="331" y="237"/>
                  </a:lnTo>
                  <a:lnTo>
                    <a:pt x="331" y="237"/>
                  </a:lnTo>
                  <a:close/>
                  <a:moveTo>
                    <a:pt x="191" y="309"/>
                  </a:moveTo>
                  <a:lnTo>
                    <a:pt x="191" y="309"/>
                  </a:lnTo>
                  <a:lnTo>
                    <a:pt x="213" y="309"/>
                  </a:lnTo>
                  <a:lnTo>
                    <a:pt x="213" y="309"/>
                  </a:lnTo>
                  <a:lnTo>
                    <a:pt x="213" y="333"/>
                  </a:lnTo>
                  <a:lnTo>
                    <a:pt x="213" y="333"/>
                  </a:lnTo>
                  <a:lnTo>
                    <a:pt x="191" y="333"/>
                  </a:lnTo>
                  <a:lnTo>
                    <a:pt x="191" y="333"/>
                  </a:lnTo>
                  <a:lnTo>
                    <a:pt x="191" y="309"/>
                  </a:lnTo>
                  <a:lnTo>
                    <a:pt x="191" y="309"/>
                  </a:lnTo>
                  <a:close/>
                  <a:moveTo>
                    <a:pt x="139" y="309"/>
                  </a:moveTo>
                  <a:lnTo>
                    <a:pt x="139" y="309"/>
                  </a:lnTo>
                  <a:lnTo>
                    <a:pt x="168" y="309"/>
                  </a:lnTo>
                  <a:lnTo>
                    <a:pt x="168" y="309"/>
                  </a:lnTo>
                  <a:lnTo>
                    <a:pt x="168" y="333"/>
                  </a:lnTo>
                  <a:lnTo>
                    <a:pt x="168" y="333"/>
                  </a:lnTo>
                  <a:lnTo>
                    <a:pt x="139" y="333"/>
                  </a:lnTo>
                  <a:lnTo>
                    <a:pt x="139" y="333"/>
                  </a:lnTo>
                  <a:lnTo>
                    <a:pt x="139" y="309"/>
                  </a:lnTo>
                  <a:lnTo>
                    <a:pt x="139" y="309"/>
                  </a:lnTo>
                  <a:close/>
                  <a:moveTo>
                    <a:pt x="230" y="309"/>
                  </a:moveTo>
                  <a:lnTo>
                    <a:pt x="230" y="309"/>
                  </a:lnTo>
                  <a:lnTo>
                    <a:pt x="266" y="309"/>
                  </a:lnTo>
                  <a:lnTo>
                    <a:pt x="266" y="309"/>
                  </a:lnTo>
                  <a:lnTo>
                    <a:pt x="266" y="333"/>
                  </a:lnTo>
                  <a:lnTo>
                    <a:pt x="266" y="333"/>
                  </a:lnTo>
                  <a:lnTo>
                    <a:pt x="230" y="333"/>
                  </a:lnTo>
                  <a:lnTo>
                    <a:pt x="230" y="333"/>
                  </a:lnTo>
                  <a:lnTo>
                    <a:pt x="230" y="309"/>
                  </a:lnTo>
                  <a:lnTo>
                    <a:pt x="230" y="309"/>
                  </a:lnTo>
                  <a:close/>
                  <a:moveTo>
                    <a:pt x="290" y="309"/>
                  </a:moveTo>
                  <a:lnTo>
                    <a:pt x="290" y="309"/>
                  </a:lnTo>
                  <a:lnTo>
                    <a:pt x="307" y="309"/>
                  </a:lnTo>
                  <a:lnTo>
                    <a:pt x="307" y="309"/>
                  </a:lnTo>
                  <a:lnTo>
                    <a:pt x="307" y="333"/>
                  </a:lnTo>
                  <a:lnTo>
                    <a:pt x="307" y="333"/>
                  </a:lnTo>
                  <a:lnTo>
                    <a:pt x="290" y="333"/>
                  </a:lnTo>
                  <a:lnTo>
                    <a:pt x="290" y="333"/>
                  </a:lnTo>
                  <a:lnTo>
                    <a:pt x="290" y="309"/>
                  </a:lnTo>
                  <a:lnTo>
                    <a:pt x="290" y="309"/>
                  </a:lnTo>
                  <a:close/>
                  <a:moveTo>
                    <a:pt x="331" y="309"/>
                  </a:moveTo>
                  <a:lnTo>
                    <a:pt x="331" y="309"/>
                  </a:lnTo>
                  <a:lnTo>
                    <a:pt x="352" y="309"/>
                  </a:lnTo>
                  <a:lnTo>
                    <a:pt x="352" y="309"/>
                  </a:lnTo>
                  <a:lnTo>
                    <a:pt x="352" y="333"/>
                  </a:lnTo>
                  <a:lnTo>
                    <a:pt x="352" y="333"/>
                  </a:lnTo>
                  <a:lnTo>
                    <a:pt x="331" y="333"/>
                  </a:lnTo>
                  <a:lnTo>
                    <a:pt x="331" y="333"/>
                  </a:lnTo>
                  <a:lnTo>
                    <a:pt x="331" y="309"/>
                  </a:lnTo>
                  <a:lnTo>
                    <a:pt x="331" y="309"/>
                  </a:lnTo>
                  <a:close/>
                  <a:moveTo>
                    <a:pt x="191" y="374"/>
                  </a:moveTo>
                  <a:lnTo>
                    <a:pt x="191" y="374"/>
                  </a:lnTo>
                  <a:lnTo>
                    <a:pt x="213" y="374"/>
                  </a:lnTo>
                  <a:lnTo>
                    <a:pt x="213" y="374"/>
                  </a:lnTo>
                  <a:lnTo>
                    <a:pt x="213" y="403"/>
                  </a:lnTo>
                  <a:lnTo>
                    <a:pt x="213" y="403"/>
                  </a:lnTo>
                  <a:lnTo>
                    <a:pt x="191" y="403"/>
                  </a:lnTo>
                  <a:lnTo>
                    <a:pt x="191" y="403"/>
                  </a:lnTo>
                  <a:lnTo>
                    <a:pt x="191" y="374"/>
                  </a:lnTo>
                  <a:lnTo>
                    <a:pt x="191" y="374"/>
                  </a:lnTo>
                  <a:close/>
                  <a:moveTo>
                    <a:pt x="139" y="374"/>
                  </a:moveTo>
                  <a:lnTo>
                    <a:pt x="139" y="374"/>
                  </a:lnTo>
                  <a:lnTo>
                    <a:pt x="168" y="374"/>
                  </a:lnTo>
                  <a:lnTo>
                    <a:pt x="168" y="374"/>
                  </a:lnTo>
                  <a:lnTo>
                    <a:pt x="168" y="403"/>
                  </a:lnTo>
                  <a:lnTo>
                    <a:pt x="168" y="403"/>
                  </a:lnTo>
                  <a:lnTo>
                    <a:pt x="139" y="403"/>
                  </a:lnTo>
                  <a:lnTo>
                    <a:pt x="139" y="403"/>
                  </a:lnTo>
                  <a:lnTo>
                    <a:pt x="139" y="374"/>
                  </a:lnTo>
                  <a:lnTo>
                    <a:pt x="139" y="374"/>
                  </a:lnTo>
                  <a:close/>
                  <a:moveTo>
                    <a:pt x="230" y="374"/>
                  </a:moveTo>
                  <a:lnTo>
                    <a:pt x="230" y="374"/>
                  </a:lnTo>
                  <a:lnTo>
                    <a:pt x="266" y="374"/>
                  </a:lnTo>
                  <a:lnTo>
                    <a:pt x="266" y="374"/>
                  </a:lnTo>
                  <a:lnTo>
                    <a:pt x="266" y="403"/>
                  </a:lnTo>
                  <a:lnTo>
                    <a:pt x="266" y="403"/>
                  </a:lnTo>
                  <a:lnTo>
                    <a:pt x="230" y="403"/>
                  </a:lnTo>
                  <a:lnTo>
                    <a:pt x="230" y="403"/>
                  </a:lnTo>
                  <a:lnTo>
                    <a:pt x="230" y="374"/>
                  </a:lnTo>
                  <a:lnTo>
                    <a:pt x="230" y="374"/>
                  </a:lnTo>
                  <a:close/>
                  <a:moveTo>
                    <a:pt x="290" y="374"/>
                  </a:moveTo>
                  <a:lnTo>
                    <a:pt x="290" y="374"/>
                  </a:lnTo>
                  <a:lnTo>
                    <a:pt x="307" y="374"/>
                  </a:lnTo>
                  <a:lnTo>
                    <a:pt x="307" y="374"/>
                  </a:lnTo>
                  <a:lnTo>
                    <a:pt x="307" y="403"/>
                  </a:lnTo>
                  <a:lnTo>
                    <a:pt x="307" y="403"/>
                  </a:lnTo>
                  <a:lnTo>
                    <a:pt x="290" y="403"/>
                  </a:lnTo>
                  <a:lnTo>
                    <a:pt x="290" y="403"/>
                  </a:lnTo>
                  <a:lnTo>
                    <a:pt x="290" y="374"/>
                  </a:lnTo>
                  <a:lnTo>
                    <a:pt x="290" y="374"/>
                  </a:lnTo>
                  <a:close/>
                  <a:moveTo>
                    <a:pt x="331" y="374"/>
                  </a:moveTo>
                  <a:lnTo>
                    <a:pt x="331" y="374"/>
                  </a:lnTo>
                  <a:lnTo>
                    <a:pt x="352" y="374"/>
                  </a:lnTo>
                  <a:lnTo>
                    <a:pt x="352" y="374"/>
                  </a:lnTo>
                  <a:lnTo>
                    <a:pt x="352" y="403"/>
                  </a:lnTo>
                  <a:lnTo>
                    <a:pt x="352" y="403"/>
                  </a:lnTo>
                  <a:lnTo>
                    <a:pt x="331" y="403"/>
                  </a:lnTo>
                  <a:lnTo>
                    <a:pt x="331" y="403"/>
                  </a:lnTo>
                  <a:lnTo>
                    <a:pt x="331" y="374"/>
                  </a:lnTo>
                  <a:lnTo>
                    <a:pt x="331" y="374"/>
                  </a:lnTo>
                  <a:close/>
                  <a:moveTo>
                    <a:pt x="191" y="40"/>
                  </a:moveTo>
                  <a:lnTo>
                    <a:pt x="191" y="40"/>
                  </a:lnTo>
                  <a:lnTo>
                    <a:pt x="213" y="40"/>
                  </a:lnTo>
                  <a:lnTo>
                    <a:pt x="213" y="40"/>
                  </a:lnTo>
                  <a:lnTo>
                    <a:pt x="213" y="64"/>
                  </a:lnTo>
                  <a:lnTo>
                    <a:pt x="213" y="64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91" y="40"/>
                  </a:lnTo>
                  <a:lnTo>
                    <a:pt x="191" y="40"/>
                  </a:lnTo>
                  <a:close/>
                  <a:moveTo>
                    <a:pt x="139" y="40"/>
                  </a:moveTo>
                  <a:lnTo>
                    <a:pt x="168" y="40"/>
                  </a:lnTo>
                  <a:lnTo>
                    <a:pt x="168" y="64"/>
                  </a:lnTo>
                  <a:lnTo>
                    <a:pt x="139" y="64"/>
                  </a:lnTo>
                  <a:lnTo>
                    <a:pt x="139" y="40"/>
                  </a:lnTo>
                  <a:lnTo>
                    <a:pt x="139" y="40"/>
                  </a:lnTo>
                  <a:close/>
                  <a:moveTo>
                    <a:pt x="230" y="40"/>
                  </a:moveTo>
                  <a:lnTo>
                    <a:pt x="230" y="40"/>
                  </a:lnTo>
                  <a:lnTo>
                    <a:pt x="266" y="40"/>
                  </a:lnTo>
                  <a:lnTo>
                    <a:pt x="266" y="40"/>
                  </a:lnTo>
                  <a:lnTo>
                    <a:pt x="266" y="64"/>
                  </a:lnTo>
                  <a:lnTo>
                    <a:pt x="266" y="64"/>
                  </a:lnTo>
                  <a:lnTo>
                    <a:pt x="230" y="64"/>
                  </a:lnTo>
                  <a:lnTo>
                    <a:pt x="230" y="64"/>
                  </a:lnTo>
                  <a:lnTo>
                    <a:pt x="230" y="40"/>
                  </a:lnTo>
                  <a:lnTo>
                    <a:pt x="230" y="40"/>
                  </a:lnTo>
                  <a:close/>
                  <a:moveTo>
                    <a:pt x="290" y="40"/>
                  </a:moveTo>
                  <a:lnTo>
                    <a:pt x="290" y="40"/>
                  </a:lnTo>
                  <a:lnTo>
                    <a:pt x="307" y="40"/>
                  </a:lnTo>
                  <a:lnTo>
                    <a:pt x="307" y="40"/>
                  </a:lnTo>
                  <a:lnTo>
                    <a:pt x="307" y="64"/>
                  </a:lnTo>
                  <a:lnTo>
                    <a:pt x="307" y="64"/>
                  </a:lnTo>
                  <a:lnTo>
                    <a:pt x="290" y="64"/>
                  </a:lnTo>
                  <a:lnTo>
                    <a:pt x="290" y="64"/>
                  </a:lnTo>
                  <a:lnTo>
                    <a:pt x="290" y="40"/>
                  </a:lnTo>
                  <a:lnTo>
                    <a:pt x="290" y="40"/>
                  </a:lnTo>
                  <a:close/>
                  <a:moveTo>
                    <a:pt x="331" y="40"/>
                  </a:moveTo>
                  <a:lnTo>
                    <a:pt x="352" y="40"/>
                  </a:lnTo>
                  <a:lnTo>
                    <a:pt x="352" y="64"/>
                  </a:lnTo>
                  <a:lnTo>
                    <a:pt x="331" y="64"/>
                  </a:lnTo>
                  <a:lnTo>
                    <a:pt x="331" y="40"/>
                  </a:lnTo>
                  <a:lnTo>
                    <a:pt x="331" y="40"/>
                  </a:lnTo>
                  <a:close/>
                  <a:moveTo>
                    <a:pt x="446" y="230"/>
                  </a:moveTo>
                  <a:lnTo>
                    <a:pt x="676" y="230"/>
                  </a:lnTo>
                  <a:lnTo>
                    <a:pt x="676" y="256"/>
                  </a:lnTo>
                  <a:lnTo>
                    <a:pt x="446" y="256"/>
                  </a:lnTo>
                  <a:lnTo>
                    <a:pt x="446" y="230"/>
                  </a:lnTo>
                  <a:lnTo>
                    <a:pt x="446" y="230"/>
                  </a:lnTo>
                  <a:close/>
                  <a:moveTo>
                    <a:pt x="446" y="333"/>
                  </a:moveTo>
                  <a:lnTo>
                    <a:pt x="446" y="333"/>
                  </a:lnTo>
                  <a:lnTo>
                    <a:pt x="676" y="333"/>
                  </a:lnTo>
                  <a:lnTo>
                    <a:pt x="676" y="333"/>
                  </a:lnTo>
                  <a:lnTo>
                    <a:pt x="676" y="360"/>
                  </a:lnTo>
                  <a:lnTo>
                    <a:pt x="676" y="360"/>
                  </a:lnTo>
                  <a:lnTo>
                    <a:pt x="446" y="360"/>
                  </a:lnTo>
                  <a:lnTo>
                    <a:pt x="446" y="360"/>
                  </a:lnTo>
                  <a:lnTo>
                    <a:pt x="446" y="333"/>
                  </a:lnTo>
                  <a:lnTo>
                    <a:pt x="446" y="333"/>
                  </a:lnTo>
                  <a:close/>
                  <a:moveTo>
                    <a:pt x="446" y="393"/>
                  </a:moveTo>
                  <a:lnTo>
                    <a:pt x="446" y="393"/>
                  </a:lnTo>
                  <a:lnTo>
                    <a:pt x="676" y="393"/>
                  </a:lnTo>
                  <a:lnTo>
                    <a:pt x="676" y="393"/>
                  </a:lnTo>
                  <a:lnTo>
                    <a:pt x="676" y="422"/>
                  </a:lnTo>
                  <a:lnTo>
                    <a:pt x="676" y="422"/>
                  </a:lnTo>
                  <a:lnTo>
                    <a:pt x="446" y="422"/>
                  </a:lnTo>
                  <a:lnTo>
                    <a:pt x="446" y="422"/>
                  </a:lnTo>
                  <a:lnTo>
                    <a:pt x="446" y="393"/>
                  </a:lnTo>
                  <a:lnTo>
                    <a:pt x="446" y="393"/>
                  </a:lnTo>
                  <a:close/>
                  <a:moveTo>
                    <a:pt x="446" y="444"/>
                  </a:moveTo>
                  <a:lnTo>
                    <a:pt x="676" y="444"/>
                  </a:lnTo>
                  <a:lnTo>
                    <a:pt x="676" y="472"/>
                  </a:lnTo>
                  <a:lnTo>
                    <a:pt x="446" y="472"/>
                  </a:lnTo>
                  <a:lnTo>
                    <a:pt x="446" y="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318" name="picture 13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942582" y="4598669"/>
            <a:ext cx="801623" cy="801623"/>
          </a:xfrm>
          <a:prstGeom prst="rect">
            <a:avLst/>
          </a:prstGeom>
        </p:spPr>
      </p:pic>
      <p:pic>
        <p:nvPicPr>
          <p:cNvPr id="1320" name="picture 13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705665" y="2230945"/>
            <a:ext cx="201358" cy="2658046"/>
          </a:xfrm>
          <a:prstGeom prst="rect">
            <a:avLst/>
          </a:prstGeom>
        </p:spPr>
      </p:pic>
      <p:pic>
        <p:nvPicPr>
          <p:cNvPr id="1322" name="picture 13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10312" y="2615184"/>
            <a:ext cx="5725667" cy="67055"/>
          </a:xfrm>
          <a:prstGeom prst="rect">
            <a:avLst/>
          </a:prstGeom>
        </p:spPr>
      </p:pic>
      <p:sp>
        <p:nvSpPr>
          <p:cNvPr id="1324" name="textbox 1324"/>
          <p:cNvSpPr/>
          <p:nvPr/>
        </p:nvSpPr>
        <p:spPr>
          <a:xfrm>
            <a:off x="2412492" y="2499359"/>
            <a:ext cx="1446530" cy="29781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9535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中长期合约市场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26" name="picture 13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10312" y="4815839"/>
            <a:ext cx="5725667" cy="67055"/>
          </a:xfrm>
          <a:prstGeom prst="rect">
            <a:avLst/>
          </a:prstGeom>
        </p:spPr>
      </p:pic>
      <p:sp>
        <p:nvSpPr>
          <p:cNvPr id="1328" name="textbox 1328"/>
          <p:cNvSpPr/>
          <p:nvPr/>
        </p:nvSpPr>
        <p:spPr>
          <a:xfrm>
            <a:off x="8317992" y="3861816"/>
            <a:ext cx="1373505" cy="269875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2860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电力零售市场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0" name="textbox 1330"/>
          <p:cNvSpPr/>
          <p:nvPr/>
        </p:nvSpPr>
        <p:spPr>
          <a:xfrm>
            <a:off x="992124" y="1839467"/>
            <a:ext cx="970914" cy="32321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1280" algn="l" rtl="0" eaLnBrk="0">
              <a:lnSpc>
                <a:spcPct val="87000"/>
              </a:lnSpc>
              <a:tabLst/>
            </a:pPr>
            <a:r>
              <a:rPr sz="1500" b="1" kern="0" spc="70" dirty="0">
                <a:solidFill>
                  <a:srgbClr val="17324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发电企业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2" name="textbox 1332"/>
          <p:cNvSpPr/>
          <p:nvPr/>
        </p:nvSpPr>
        <p:spPr>
          <a:xfrm>
            <a:off x="5949695" y="2162555"/>
            <a:ext cx="672465" cy="459105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电力批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04139" algn="l" rtl="0" eaLnBrk="0">
              <a:lnSpc>
                <a:spcPct val="87000"/>
              </a:lnSpc>
              <a:spcBef>
                <a:spcPts val="217"/>
              </a:spcBef>
              <a:tabLst/>
            </a:pP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发市场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4" name="path 1334"/>
          <p:cNvSpPr/>
          <p:nvPr/>
        </p:nvSpPr>
        <p:spPr>
          <a:xfrm>
            <a:off x="3185159" y="5622035"/>
            <a:ext cx="859536" cy="315467"/>
          </a:xfrm>
          <a:custGeom>
            <a:avLst/>
            <a:gdLst/>
            <a:ahLst/>
            <a:cxnLst/>
            <a:rect l="0" t="0" r="0" b="0"/>
            <a:pathLst>
              <a:path w="1353" h="496">
                <a:moveTo>
                  <a:pt x="0" y="249"/>
                </a:moveTo>
                <a:lnTo>
                  <a:pt x="247" y="0"/>
                </a:lnTo>
                <a:lnTo>
                  <a:pt x="247" y="124"/>
                </a:lnTo>
                <a:lnTo>
                  <a:pt x="1106" y="124"/>
                </a:lnTo>
                <a:lnTo>
                  <a:pt x="1106" y="0"/>
                </a:lnTo>
                <a:lnTo>
                  <a:pt x="1353" y="249"/>
                </a:lnTo>
                <a:lnTo>
                  <a:pt x="1106" y="496"/>
                </a:lnTo>
                <a:lnTo>
                  <a:pt x="1106" y="371"/>
                </a:lnTo>
                <a:lnTo>
                  <a:pt x="247" y="371"/>
                </a:lnTo>
                <a:lnTo>
                  <a:pt x="247" y="496"/>
                </a:lnTo>
                <a:lnTo>
                  <a:pt x="0" y="249"/>
                </a:lnTo>
                <a:close/>
              </a:path>
            </a:pathLst>
          </a:cu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36" name="textbox 1336"/>
          <p:cNvSpPr/>
          <p:nvPr/>
        </p:nvSpPr>
        <p:spPr>
          <a:xfrm>
            <a:off x="2650235" y="4701540"/>
            <a:ext cx="911860" cy="297179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128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现货市场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8" name="path 1338"/>
          <p:cNvSpPr/>
          <p:nvPr/>
        </p:nvSpPr>
        <p:spPr>
          <a:xfrm>
            <a:off x="6045707" y="4732019"/>
            <a:ext cx="457200" cy="583692"/>
          </a:xfrm>
          <a:custGeom>
            <a:avLst/>
            <a:gdLst/>
            <a:ahLst/>
            <a:cxnLst/>
            <a:rect l="0" t="0" r="0" b="0"/>
            <a:pathLst>
              <a:path w="720" h="919">
                <a:moveTo>
                  <a:pt x="0" y="230"/>
                </a:moveTo>
                <a:lnTo>
                  <a:pt x="360" y="230"/>
                </a:lnTo>
                <a:lnTo>
                  <a:pt x="360" y="0"/>
                </a:lnTo>
                <a:lnTo>
                  <a:pt x="720" y="458"/>
                </a:lnTo>
                <a:lnTo>
                  <a:pt x="360" y="919"/>
                </a:lnTo>
                <a:lnTo>
                  <a:pt x="360" y="688"/>
                </a:lnTo>
                <a:lnTo>
                  <a:pt x="0" y="688"/>
                </a:lnTo>
                <a:lnTo>
                  <a:pt x="0" y="230"/>
                </a:lnTo>
                <a:close/>
              </a:path>
            </a:pathLst>
          </a:cu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0" name="path 1340"/>
          <p:cNvSpPr/>
          <p:nvPr/>
        </p:nvSpPr>
        <p:spPr>
          <a:xfrm>
            <a:off x="6030467" y="2814827"/>
            <a:ext cx="518160" cy="367284"/>
          </a:xfrm>
          <a:custGeom>
            <a:avLst/>
            <a:gdLst/>
            <a:ahLst/>
            <a:cxnLst/>
            <a:rect l="0" t="0" r="0" b="0"/>
            <a:pathLst>
              <a:path w="816" h="578">
                <a:moveTo>
                  <a:pt x="0" y="144"/>
                </a:moveTo>
                <a:lnTo>
                  <a:pt x="525" y="144"/>
                </a:lnTo>
                <a:lnTo>
                  <a:pt x="525" y="0"/>
                </a:lnTo>
                <a:lnTo>
                  <a:pt x="816" y="288"/>
                </a:lnTo>
                <a:lnTo>
                  <a:pt x="525" y="578"/>
                </a:lnTo>
                <a:lnTo>
                  <a:pt x="525" y="432"/>
                </a:lnTo>
                <a:lnTo>
                  <a:pt x="0" y="432"/>
                </a:lnTo>
                <a:lnTo>
                  <a:pt x="0" y="144"/>
                </a:lnTo>
                <a:close/>
              </a:path>
            </a:pathLst>
          </a:cu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2" name="path 1342"/>
          <p:cNvSpPr/>
          <p:nvPr/>
        </p:nvSpPr>
        <p:spPr>
          <a:xfrm>
            <a:off x="8712707" y="5222747"/>
            <a:ext cx="583692" cy="233171"/>
          </a:xfrm>
          <a:custGeom>
            <a:avLst/>
            <a:gdLst/>
            <a:ahLst/>
            <a:cxnLst/>
            <a:rect l="0" t="0" r="0" b="0"/>
            <a:pathLst>
              <a:path w="919" h="367">
                <a:moveTo>
                  <a:pt x="691" y="0"/>
                </a:moveTo>
                <a:lnTo>
                  <a:pt x="691" y="182"/>
                </a:lnTo>
                <a:lnTo>
                  <a:pt x="919" y="182"/>
                </a:lnTo>
                <a:lnTo>
                  <a:pt x="460" y="367"/>
                </a:lnTo>
                <a:lnTo>
                  <a:pt x="0" y="182"/>
                </a:lnTo>
                <a:lnTo>
                  <a:pt x="230" y="182"/>
                </a:lnTo>
                <a:lnTo>
                  <a:pt x="230" y="0"/>
                </a:lnTo>
                <a:lnTo>
                  <a:pt x="691" y="0"/>
                </a:lnTo>
                <a:close/>
              </a:path>
            </a:pathLst>
          </a:cu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4" name="textbox 1344"/>
          <p:cNvSpPr/>
          <p:nvPr/>
        </p:nvSpPr>
        <p:spPr>
          <a:xfrm>
            <a:off x="6972633" y="5499897"/>
            <a:ext cx="736600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售电公司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6" name="textbox 1346"/>
          <p:cNvSpPr/>
          <p:nvPr/>
        </p:nvSpPr>
        <p:spPr>
          <a:xfrm>
            <a:off x="6995433" y="3385635"/>
            <a:ext cx="73660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批发用户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48" name="picture 134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1350" name="picture 13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885496" y="4922519"/>
            <a:ext cx="21526" cy="906970"/>
          </a:xfrm>
          <a:prstGeom prst="rect">
            <a:avLst/>
          </a:prstGeom>
        </p:spPr>
      </p:pic>
      <p:pic>
        <p:nvPicPr>
          <p:cNvPr id="1352" name="picture 13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39268" y="2874073"/>
            <a:ext cx="15430" cy="443865"/>
          </a:xfrm>
          <a:prstGeom prst="rect">
            <a:avLst/>
          </a:prstGeom>
        </p:spPr>
      </p:pic>
      <p:pic>
        <p:nvPicPr>
          <p:cNvPr id="1354" name="picture 135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39268" y="5754623"/>
            <a:ext cx="18478" cy="504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textbox 1356"/>
          <p:cNvSpPr/>
          <p:nvPr/>
        </p:nvSpPr>
        <p:spPr>
          <a:xfrm>
            <a:off x="3073338" y="4676007"/>
            <a:ext cx="7427594" cy="865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09"/>
              </a:lnSpc>
              <a:tabLst/>
            </a:pPr>
            <a:r>
              <a:rPr sz="2100" b="1" kern="0" spc="30" baseline="-215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分钟内有功功率（上/下</a:t>
            </a:r>
            <a:r>
              <a:rPr sz="2100" b="1" kern="0" spc="20" baseline="-215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3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2100" b="1" kern="0" spc="20" baseline="-215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荷10分钟内有功功率上调响</a:t>
            </a:r>
            <a:r>
              <a:rPr sz="13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2100" b="1" kern="0" spc="20" baseline="776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机组或负荷30分钟内有功</a:t>
            </a:r>
            <a:endParaRPr sz="2100" baseline="7763" dirty="0">
              <a:latin typeface="Microsoft YaHei"/>
              <a:ea typeface="Microsoft YaHei"/>
              <a:cs typeface="Microsoft YaHei"/>
            </a:endParaRPr>
          </a:p>
          <a:p>
            <a:pPr marL="196850" algn="l" rtl="0" eaLnBrk="0">
              <a:lnSpc>
                <a:spcPts val="1851"/>
              </a:lnSpc>
              <a:spcBef>
                <a:spcPts val="807"/>
              </a:spcBef>
              <a:tabLst/>
            </a:pPr>
            <a:r>
              <a:rPr sz="2100" b="1" kern="0" spc="30" baseline="-10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调节响应的备用需求</a:t>
            </a:r>
            <a:r>
              <a:rPr sz="13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</a:t>
            </a:r>
            <a:r>
              <a:rPr sz="2100" b="1" kern="0" spc="30" baseline="-10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应的备用需求（旋转备用）</a:t>
            </a:r>
            <a:r>
              <a:rPr sz="13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2100" b="1" kern="0" spc="30" baseline="988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功率上调响应的备用需求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760084" algn="l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13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（非旋转备用）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58" name="picture 13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89287" y="5327713"/>
            <a:ext cx="151256" cy="192404"/>
          </a:xfrm>
          <a:prstGeom prst="rect">
            <a:avLst/>
          </a:prstGeom>
        </p:spPr>
      </p:pic>
      <p:pic>
        <p:nvPicPr>
          <p:cNvPr id="1360" name="picture 13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455336" y="4994147"/>
            <a:ext cx="28956" cy="288036"/>
          </a:xfrm>
          <a:prstGeom prst="rect">
            <a:avLst/>
          </a:prstGeom>
        </p:spPr>
      </p:pic>
      <p:sp>
        <p:nvSpPr>
          <p:cNvPr id="1362" name="rect 1362"/>
          <p:cNvSpPr/>
          <p:nvPr/>
        </p:nvSpPr>
        <p:spPr>
          <a:xfrm>
            <a:off x="6102095" y="2554223"/>
            <a:ext cx="976884" cy="323088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64" name="textbox 1364"/>
          <p:cNvSpPr/>
          <p:nvPr/>
        </p:nvSpPr>
        <p:spPr>
          <a:xfrm>
            <a:off x="2794317" y="2603877"/>
            <a:ext cx="759714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884" algn="l" rtl="0" eaLnBrk="0">
              <a:lnSpc>
                <a:spcPts val="1560"/>
              </a:lnSpc>
              <a:tabLst>
                <a:tab pos="236854" algn="l"/>
              </a:tabLst>
            </a:pPr>
            <a:r>
              <a:rPr sz="1500" b="1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3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1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500" b="1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3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辅助服务</a:t>
            </a:r>
            <a:r>
              <a:rPr sz="1500" b="1" strike="sngStrike" kern="0" spc="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-2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1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500" b="1" kern="0" spc="-2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3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8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strike="sngStrike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kern="0" spc="90" dirty="0">
                <a:solidFill>
                  <a:srgbClr val="222A35">
                    <a:alpha val="100000"/>
                  </a:srgbClr>
                </a:solidFill>
                <a:latin typeface="Arial"/>
                <a:ea typeface="Arial"/>
                <a:cs typeface="Arial"/>
              </a:rPr>
              <a:t>--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pic>
        <p:nvPicPr>
          <p:cNvPr id="1366" name="picture 13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292269" y="2784347"/>
            <a:ext cx="84010" cy="82486"/>
          </a:xfrm>
          <a:prstGeom prst="rect">
            <a:avLst/>
          </a:prstGeom>
        </p:spPr>
      </p:pic>
      <p:pic>
        <p:nvPicPr>
          <p:cNvPr id="1368" name="picture 13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908547" y="2680589"/>
            <a:ext cx="289559" cy="6350"/>
          </a:xfrm>
          <a:prstGeom prst="rect">
            <a:avLst/>
          </a:prstGeom>
        </p:spPr>
      </p:pic>
      <p:pic>
        <p:nvPicPr>
          <p:cNvPr id="1370" name="picture 13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07017" y="2711195"/>
            <a:ext cx="210502" cy="149542"/>
          </a:xfrm>
          <a:prstGeom prst="rect">
            <a:avLst/>
          </a:prstGeom>
        </p:spPr>
      </p:pic>
      <p:pic>
        <p:nvPicPr>
          <p:cNvPr id="1372" name="picture 13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010655" y="3080003"/>
            <a:ext cx="1504188" cy="1053084"/>
          </a:xfrm>
          <a:prstGeom prst="rect">
            <a:avLst/>
          </a:prstGeom>
        </p:spPr>
      </p:pic>
      <p:pic>
        <p:nvPicPr>
          <p:cNvPr id="1374" name="picture 13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48284" y="3080003"/>
            <a:ext cx="1496568" cy="1053084"/>
          </a:xfrm>
          <a:prstGeom prst="rect">
            <a:avLst/>
          </a:prstGeom>
        </p:spPr>
      </p:pic>
      <p:pic>
        <p:nvPicPr>
          <p:cNvPr id="1376" name="picture 137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317747" y="3080003"/>
            <a:ext cx="1482852" cy="1053084"/>
          </a:xfrm>
          <a:prstGeom prst="rect">
            <a:avLst/>
          </a:prstGeom>
        </p:spPr>
      </p:pic>
      <p:pic>
        <p:nvPicPr>
          <p:cNvPr id="1378" name="picture 137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595360" y="3087623"/>
            <a:ext cx="1490470" cy="1042416"/>
          </a:xfrm>
          <a:prstGeom prst="rect">
            <a:avLst/>
          </a:prstGeom>
        </p:spPr>
      </p:pic>
      <p:sp>
        <p:nvSpPr>
          <p:cNvPr id="1380" name="textbox 1380"/>
          <p:cNvSpPr/>
          <p:nvPr/>
        </p:nvSpPr>
        <p:spPr>
          <a:xfrm>
            <a:off x="3116215" y="4355065"/>
            <a:ext cx="7218680" cy="237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69"/>
              </a:lnSpc>
              <a:tabLst/>
            </a:pPr>
            <a:r>
              <a:rPr sz="2100" b="1" kern="0" spc="30" baseline="-3652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实时市场：对在线机组5</a:t>
            </a:r>
            <a:r>
              <a:rPr sz="13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</a:t>
            </a:r>
            <a:r>
              <a:rPr sz="2100" b="1" kern="0" spc="30" baseline="-3652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</a:t>
            </a:r>
            <a:r>
              <a:rPr sz="2100" b="1" kern="0" spc="20" baseline="-3652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场：对在线机组或负</a:t>
            </a:r>
            <a:r>
              <a:rPr sz="13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2100" b="1" kern="0" spc="20" baseline="6269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实时市场：对在线或离线</a:t>
            </a:r>
            <a:endParaRPr sz="2100" baseline="6269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82" name="picture 138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727959" y="2860357"/>
            <a:ext cx="7732965" cy="145160"/>
          </a:xfrm>
          <a:prstGeom prst="rect">
            <a:avLst/>
          </a:prstGeom>
        </p:spPr>
      </p:pic>
      <p:pic>
        <p:nvPicPr>
          <p:cNvPr id="1384" name="picture 138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095053" y="5515165"/>
            <a:ext cx="7201279" cy="108394"/>
          </a:xfrm>
          <a:prstGeom prst="rect">
            <a:avLst/>
          </a:prstGeom>
        </p:spPr>
      </p:pic>
      <p:sp>
        <p:nvSpPr>
          <p:cNvPr id="1386" name="textbox 1386"/>
          <p:cNvSpPr/>
          <p:nvPr/>
        </p:nvSpPr>
        <p:spPr>
          <a:xfrm>
            <a:off x="522749" y="1114052"/>
            <a:ext cx="2423795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现货市场交易产品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8" name="textbox 1388"/>
          <p:cNvSpPr/>
          <p:nvPr/>
        </p:nvSpPr>
        <p:spPr>
          <a:xfrm>
            <a:off x="4865194" y="1896344"/>
            <a:ext cx="1225550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7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市场交易产品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90" name="textbox 1390"/>
          <p:cNvSpPr/>
          <p:nvPr/>
        </p:nvSpPr>
        <p:spPr>
          <a:xfrm>
            <a:off x="801930" y="4487665"/>
            <a:ext cx="1271269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合约市场、日前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92" name="textbox 1392"/>
          <p:cNvSpPr/>
          <p:nvPr/>
        </p:nvSpPr>
        <p:spPr>
          <a:xfrm>
            <a:off x="804783" y="4807627"/>
            <a:ext cx="126873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市场、实时市场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94" name="picture 139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692907" y="5141975"/>
            <a:ext cx="396430" cy="475679"/>
          </a:xfrm>
          <a:prstGeom prst="rect">
            <a:avLst/>
          </a:prstGeom>
        </p:spPr>
      </p:pic>
      <p:sp>
        <p:nvSpPr>
          <p:cNvPr id="1396" name="textbox 1396"/>
          <p:cNvSpPr/>
          <p:nvPr/>
        </p:nvSpPr>
        <p:spPr>
          <a:xfrm>
            <a:off x="9128848" y="3412197"/>
            <a:ext cx="427355" cy="464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7000"/>
              </a:lnSpc>
              <a:tabLst/>
            </a:pP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二级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305"/>
              </a:spcBef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备用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98" name="textbox 1398"/>
          <p:cNvSpPr/>
          <p:nvPr/>
        </p:nvSpPr>
        <p:spPr>
          <a:xfrm>
            <a:off x="6550222" y="3387836"/>
            <a:ext cx="427355" cy="464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一级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304"/>
              </a:spcBef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备用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0" name="textbox 1400"/>
          <p:cNvSpPr/>
          <p:nvPr/>
        </p:nvSpPr>
        <p:spPr>
          <a:xfrm>
            <a:off x="3843582" y="3386803"/>
            <a:ext cx="427355" cy="462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调频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297"/>
              </a:spcBef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备用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2" name="textbox 1402"/>
          <p:cNvSpPr/>
          <p:nvPr/>
        </p:nvSpPr>
        <p:spPr>
          <a:xfrm>
            <a:off x="1295382" y="3522949"/>
            <a:ext cx="41529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电能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04" name="picture 140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691256" y="3922776"/>
            <a:ext cx="6350" cy="289559"/>
          </a:xfrm>
          <a:prstGeom prst="rect">
            <a:avLst/>
          </a:prstGeom>
        </p:spPr>
      </p:pic>
      <p:sp>
        <p:nvSpPr>
          <p:cNvPr id="1406" name="path 1406"/>
          <p:cNvSpPr/>
          <p:nvPr/>
        </p:nvSpPr>
        <p:spPr>
          <a:xfrm>
            <a:off x="327660" y="4175759"/>
            <a:ext cx="10123931" cy="6096"/>
          </a:xfrm>
          <a:custGeom>
            <a:avLst/>
            <a:gdLst/>
            <a:ahLst/>
            <a:cxnLst/>
            <a:rect l="0" t="0" r="0" b="0"/>
            <a:pathLst>
              <a:path w="15943" h="9">
                <a:moveTo>
                  <a:pt x="0" y="4"/>
                </a:moveTo>
                <a:lnTo>
                  <a:pt x="15943" y="4"/>
                </a:lnTo>
              </a:path>
            </a:pathLst>
          </a:custGeom>
          <a:noFill/>
          <a:ln w="6096" cap="flat">
            <a:solidFill>
              <a:srgbClr val="222A35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08" name="picture 140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1410" name="picture 14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691383" y="3006852"/>
            <a:ext cx="35051" cy="592835"/>
          </a:xfrm>
          <a:prstGeom prst="rect">
            <a:avLst/>
          </a:prstGeom>
        </p:spPr>
      </p:pic>
      <p:pic>
        <p:nvPicPr>
          <p:cNvPr id="1412" name="picture 141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2691256" y="4229099"/>
            <a:ext cx="6350" cy="289560"/>
          </a:xfrm>
          <a:prstGeom prst="rect">
            <a:avLst/>
          </a:prstGeom>
        </p:spPr>
      </p:pic>
      <p:pic>
        <p:nvPicPr>
          <p:cNvPr id="1414" name="picture 141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691256" y="3240023"/>
            <a:ext cx="6350" cy="1891283"/>
          </a:xfrm>
          <a:prstGeom prst="rect">
            <a:avLst/>
          </a:prstGeom>
        </p:spPr>
      </p:pic>
      <p:sp>
        <p:nvSpPr>
          <p:cNvPr id="1416" name="path 1416"/>
          <p:cNvSpPr/>
          <p:nvPr/>
        </p:nvSpPr>
        <p:spPr>
          <a:xfrm>
            <a:off x="5426964" y="3240023"/>
            <a:ext cx="6096" cy="1496567"/>
          </a:xfrm>
          <a:custGeom>
            <a:avLst/>
            <a:gdLst/>
            <a:ahLst/>
            <a:cxnLst/>
            <a:rect l="0" t="0" r="0" b="0"/>
            <a:pathLst>
              <a:path w="9" h="2356">
                <a:moveTo>
                  <a:pt x="4" y="0"/>
                </a:moveTo>
                <a:lnTo>
                  <a:pt x="4" y="2356"/>
                </a:lnTo>
              </a:path>
            </a:pathLst>
          </a:custGeom>
          <a:noFill/>
          <a:ln w="6096" cap="flat">
            <a:solidFill>
              <a:srgbClr val="222A35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8" name="path 1418"/>
          <p:cNvSpPr/>
          <p:nvPr/>
        </p:nvSpPr>
        <p:spPr>
          <a:xfrm>
            <a:off x="8115300" y="3240023"/>
            <a:ext cx="6095" cy="1496567"/>
          </a:xfrm>
          <a:custGeom>
            <a:avLst/>
            <a:gdLst/>
            <a:ahLst/>
            <a:cxnLst/>
            <a:rect l="0" t="0" r="0" b="0"/>
            <a:pathLst>
              <a:path w="9" h="2356">
                <a:moveTo>
                  <a:pt x="4" y="0"/>
                </a:moveTo>
                <a:lnTo>
                  <a:pt x="4" y="2356"/>
                </a:lnTo>
              </a:path>
            </a:pathLst>
          </a:custGeom>
          <a:noFill/>
          <a:ln w="6096" cap="flat">
            <a:solidFill>
              <a:srgbClr val="222A35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20" name="picture 14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10451400" y="3009709"/>
            <a:ext cx="35242" cy="131254"/>
          </a:xfrm>
          <a:prstGeom prst="rect">
            <a:avLst/>
          </a:prstGeom>
        </p:spPr>
      </p:pic>
      <p:pic>
        <p:nvPicPr>
          <p:cNvPr id="1422" name="picture 14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10481944" y="3462527"/>
            <a:ext cx="6350" cy="595884"/>
          </a:xfrm>
          <a:prstGeom prst="rect">
            <a:avLst/>
          </a:prstGeom>
        </p:spPr>
      </p:pic>
      <p:pic>
        <p:nvPicPr>
          <p:cNvPr id="1424" name="picture 14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10481944" y="4381500"/>
            <a:ext cx="6350" cy="595883"/>
          </a:xfrm>
          <a:prstGeom prst="rect">
            <a:avLst/>
          </a:prstGeom>
        </p:spPr>
      </p:pic>
      <p:pic>
        <p:nvPicPr>
          <p:cNvPr id="1426" name="picture 142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10481944" y="3156203"/>
            <a:ext cx="6350" cy="291084"/>
          </a:xfrm>
          <a:prstGeom prst="rect">
            <a:avLst/>
          </a:prstGeom>
        </p:spPr>
      </p:pic>
      <p:pic>
        <p:nvPicPr>
          <p:cNvPr id="1428" name="picture 142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0481944" y="4075175"/>
            <a:ext cx="6350" cy="289560"/>
          </a:xfrm>
          <a:prstGeom prst="rect">
            <a:avLst/>
          </a:prstGeom>
        </p:spPr>
      </p:pic>
      <p:pic>
        <p:nvPicPr>
          <p:cNvPr id="1430" name="picture 143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0440731" y="5297423"/>
            <a:ext cx="18478" cy="260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rect 1432"/>
          <p:cNvSpPr/>
          <p:nvPr/>
        </p:nvSpPr>
        <p:spPr>
          <a:xfrm>
            <a:off x="763524" y="2933700"/>
            <a:ext cx="702563" cy="29718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34" name="textbox 1434"/>
          <p:cNvSpPr/>
          <p:nvPr/>
        </p:nvSpPr>
        <p:spPr>
          <a:xfrm>
            <a:off x="278384" y="2980261"/>
            <a:ext cx="2404745" cy="3582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1644" algn="l" rtl="0" eaLnBrk="0">
              <a:lnSpc>
                <a:spcPct val="81000"/>
              </a:lnSpc>
              <a:tabLst>
                <a:tab pos="577850" algn="l"/>
                <a:tab pos="2321560" algn="l"/>
              </a:tabLst>
            </a:pPr>
            <a:r>
              <a:rPr sz="1400" b="1" strike="sngStrike" kern="0" spc="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-3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电源侧</a:t>
            </a:r>
            <a:r>
              <a:rPr sz="1400" b="1" strike="sngStrike" kern="0" spc="19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1" kern="0" spc="-27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strike="sngStrike" kern="0" spc="8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-28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strike="sngStrike" kern="0" spc="12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-27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strike="sngStrike" kern="0" spc="8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-28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strike="sngStrike" kern="0" spc="12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-27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strike="sngStrike" kern="0" spc="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257809" algn="l" rtl="0" eaLnBrk="0">
              <a:lnSpc>
                <a:spcPct val="82000"/>
              </a:lnSpc>
              <a:spcBef>
                <a:spcPts val="583"/>
              </a:spcBef>
              <a:tabLst>
                <a:tab pos="705484" algn="l"/>
              </a:tabLst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kern="0" spc="70" baseline="9375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跨省外送计划</a:t>
            </a:r>
            <a:r>
              <a:rPr sz="12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8100" kern="0" spc="7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47419" algn="l" rtl="0" eaLnBrk="0">
              <a:lnSpc>
                <a:spcPct val="87000"/>
              </a:lnSpc>
              <a:spcBef>
                <a:spcPts val="370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新能源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75284" algn="l" rtl="0" eaLnBrk="0">
              <a:lnSpc>
                <a:spcPct val="77000"/>
              </a:lnSpc>
              <a:spcBef>
                <a:spcPts val="2831"/>
              </a:spcBef>
              <a:tabLst>
                <a:tab pos="631190" algn="l"/>
                <a:tab pos="2391410" algn="l"/>
              </a:tabLst>
            </a:pPr>
            <a:r>
              <a:rPr sz="11600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1600" u="sng" kern="0" spc="-208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600" kern="0" spc="44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600" u="sng" kern="0" spc="-203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600" u="sng" kern="0" spc="-51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r>
              <a:rPr sz="11600" u="sng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1600" dirty="0">
              <a:latin typeface="Arial"/>
              <a:ea typeface="Arial"/>
              <a:cs typeface="Arial"/>
            </a:endParaRPr>
          </a:p>
        </p:txBody>
      </p:sp>
      <p:sp>
        <p:nvSpPr>
          <p:cNvPr id="1436" name="textbox 1436"/>
          <p:cNvSpPr/>
          <p:nvPr/>
        </p:nvSpPr>
        <p:spPr>
          <a:xfrm>
            <a:off x="1043329" y="5782469"/>
            <a:ext cx="955675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1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1300" b="1" u="sng" kern="0" spc="-9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7F7F7F"/>
                  </a:solidFill>
                </a:uFill>
                <a:latin typeface="Microsoft YaHei"/>
                <a:ea typeface="Microsoft YaHei"/>
                <a:cs typeface="Microsoft YaHei"/>
              </a:rPr>
              <a:t>直调自备电厂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38" name="textbox 1438"/>
          <p:cNvSpPr/>
          <p:nvPr/>
        </p:nvSpPr>
        <p:spPr>
          <a:xfrm>
            <a:off x="1042396" y="5595455"/>
            <a:ext cx="956310" cy="192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300" b="1" u="sng" kern="0" spc="-9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7F7F7F"/>
                  </a:solidFill>
                </a:uFill>
                <a:latin typeface="Microsoft YaHei"/>
                <a:ea typeface="Microsoft YaHei"/>
                <a:cs typeface="Microsoft YaHei"/>
              </a:rPr>
              <a:t>统调水火核电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40" name="picture 14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5468" y="6228588"/>
            <a:ext cx="338327" cy="321563"/>
          </a:xfrm>
          <a:prstGeom prst="rect">
            <a:avLst/>
          </a:prstGeom>
        </p:spPr>
      </p:pic>
      <p:pic>
        <p:nvPicPr>
          <p:cNvPr id="1442" name="picture 14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91084" y="3165358"/>
            <a:ext cx="245363" cy="325187"/>
          </a:xfrm>
          <a:prstGeom prst="rect">
            <a:avLst/>
          </a:prstGeom>
        </p:spPr>
      </p:pic>
      <p:pic>
        <p:nvPicPr>
          <p:cNvPr id="1444" name="picture 14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8639" y="3075491"/>
            <a:ext cx="192023" cy="79363"/>
          </a:xfrm>
          <a:prstGeom prst="rect">
            <a:avLst/>
          </a:prstGeom>
        </p:spPr>
      </p:pic>
      <p:graphicFrame>
        <p:nvGraphicFramePr>
          <p:cNvPr id="1446" name="table 1446"/>
          <p:cNvGraphicFramePr>
            <a:graphicFrameLocks noGrp="1"/>
          </p:cNvGraphicFramePr>
          <p:nvPr/>
        </p:nvGraphicFramePr>
        <p:xfrm>
          <a:off x="2608325" y="3231641"/>
          <a:ext cx="828675" cy="3236595"/>
        </p:xfrm>
        <a:graphic>
          <a:graphicData uri="http://schemas.openxmlformats.org/drawingml/2006/table">
            <a:tbl>
              <a:tblPr>
                <a:solidFill>
                  <a:srgbClr val="0D4260"/>
                </a:solidFill>
              </a:tblPr>
              <a:tblGrid>
                <a:gridCol w="828675"/>
              </a:tblGrid>
              <a:tr h="9791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260"/>
                    </a:solidFill>
                  </a:tcPr>
                </a:tc>
              </a:tr>
              <a:tr h="911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260"/>
                    </a:solidFill>
                  </a:tcPr>
                </a:tc>
              </a:tr>
              <a:tr h="1346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260"/>
                    </a:solidFill>
                  </a:tcPr>
                </a:tc>
              </a:tr>
            </a:tbl>
          </a:graphicData>
        </a:graphic>
      </p:graphicFrame>
      <p:pic>
        <p:nvPicPr>
          <p:cNvPr id="1448" name="picture 14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679435" y="3262883"/>
            <a:ext cx="818387" cy="3200399"/>
          </a:xfrm>
          <a:prstGeom prst="rect">
            <a:avLst/>
          </a:prstGeom>
        </p:spPr>
      </p:pic>
      <p:sp>
        <p:nvSpPr>
          <p:cNvPr id="1450" name="textbox 1450"/>
          <p:cNvSpPr/>
          <p:nvPr/>
        </p:nvSpPr>
        <p:spPr>
          <a:xfrm>
            <a:off x="6285295" y="3687255"/>
            <a:ext cx="748665" cy="2198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36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本省调度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负荷预测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现货报量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52" name="textbox 1452"/>
          <p:cNvSpPr/>
          <p:nvPr/>
        </p:nvSpPr>
        <p:spPr>
          <a:xfrm>
            <a:off x="582819" y="2112643"/>
            <a:ext cx="9524365" cy="187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省内非市场化电量（除新能源</a:t>
            </a:r>
            <a:r>
              <a:rPr sz="12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200" b="1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按价格由低到高优先匹配居民、农业用电等保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障性电量；外地电和省内非市场新能源打包为政府授权电量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54" name="path 1454"/>
          <p:cNvSpPr/>
          <p:nvPr/>
        </p:nvSpPr>
        <p:spPr>
          <a:xfrm>
            <a:off x="7097267" y="4392167"/>
            <a:ext cx="490728" cy="2074164"/>
          </a:xfrm>
          <a:custGeom>
            <a:avLst/>
            <a:gdLst/>
            <a:ahLst/>
            <a:cxnLst/>
            <a:rect l="0" t="0" r="0" b="0"/>
            <a:pathLst>
              <a:path w="772" h="3266">
                <a:moveTo>
                  <a:pt x="768" y="3261"/>
                </a:moveTo>
                <a:cubicBezTo>
                  <a:pt x="559" y="3261"/>
                  <a:pt x="386" y="3232"/>
                  <a:pt x="386" y="3196"/>
                </a:cubicBezTo>
                <a:lnTo>
                  <a:pt x="386" y="1696"/>
                </a:lnTo>
                <a:cubicBezTo>
                  <a:pt x="386" y="1660"/>
                  <a:pt x="216" y="1632"/>
                  <a:pt x="4" y="1632"/>
                </a:cubicBezTo>
                <a:cubicBezTo>
                  <a:pt x="216" y="1632"/>
                  <a:pt x="386" y="1605"/>
                  <a:pt x="386" y="1569"/>
                </a:cubicBezTo>
                <a:lnTo>
                  <a:pt x="386" y="69"/>
                </a:lnTo>
                <a:cubicBezTo>
                  <a:pt x="386" y="33"/>
                  <a:pt x="559" y="4"/>
                  <a:pt x="768" y="4"/>
                </a:cubicBez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56" name="path 1456"/>
          <p:cNvSpPr/>
          <p:nvPr/>
        </p:nvSpPr>
        <p:spPr>
          <a:xfrm>
            <a:off x="3489960" y="4207764"/>
            <a:ext cx="445008" cy="2246375"/>
          </a:xfrm>
          <a:custGeom>
            <a:avLst/>
            <a:gdLst/>
            <a:ahLst/>
            <a:cxnLst/>
            <a:rect l="0" t="0" r="0" b="0"/>
            <a:pathLst>
              <a:path w="700" h="3537">
                <a:moveTo>
                  <a:pt x="4" y="4"/>
                </a:moveTo>
                <a:cubicBezTo>
                  <a:pt x="196" y="4"/>
                  <a:pt x="350" y="31"/>
                  <a:pt x="350" y="62"/>
                </a:cubicBezTo>
                <a:lnTo>
                  <a:pt x="350" y="1711"/>
                </a:lnTo>
                <a:cubicBezTo>
                  <a:pt x="350" y="1742"/>
                  <a:pt x="506" y="1768"/>
                  <a:pt x="695" y="1768"/>
                </a:cubicBezTo>
                <a:cubicBezTo>
                  <a:pt x="506" y="1768"/>
                  <a:pt x="350" y="1795"/>
                  <a:pt x="350" y="1826"/>
                </a:cubicBezTo>
                <a:lnTo>
                  <a:pt x="350" y="3475"/>
                </a:lnTo>
                <a:cubicBezTo>
                  <a:pt x="350" y="3506"/>
                  <a:pt x="196" y="3532"/>
                  <a:pt x="4" y="3532"/>
                </a:cubicBez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58" name="textbox 1458"/>
          <p:cNvSpPr/>
          <p:nvPr/>
        </p:nvSpPr>
        <p:spPr>
          <a:xfrm>
            <a:off x="541964" y="1112886"/>
            <a:ext cx="3005454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山东电力现货市场边界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0" name="path 1460"/>
          <p:cNvSpPr/>
          <p:nvPr/>
        </p:nvSpPr>
        <p:spPr>
          <a:xfrm>
            <a:off x="8580119" y="4419600"/>
            <a:ext cx="416052" cy="2034540"/>
          </a:xfrm>
          <a:custGeom>
            <a:avLst/>
            <a:gdLst/>
            <a:ahLst/>
            <a:cxnLst/>
            <a:rect l="0" t="0" r="0" b="0"/>
            <a:pathLst>
              <a:path w="655" h="3204">
                <a:moveTo>
                  <a:pt x="4" y="4"/>
                </a:moveTo>
                <a:cubicBezTo>
                  <a:pt x="182" y="4"/>
                  <a:pt x="328" y="28"/>
                  <a:pt x="328" y="60"/>
                </a:cubicBezTo>
                <a:lnTo>
                  <a:pt x="328" y="1548"/>
                </a:lnTo>
                <a:cubicBezTo>
                  <a:pt x="328" y="1579"/>
                  <a:pt x="472" y="1603"/>
                  <a:pt x="650" y="1603"/>
                </a:cubicBezTo>
                <a:cubicBezTo>
                  <a:pt x="472" y="1603"/>
                  <a:pt x="328" y="1627"/>
                  <a:pt x="328" y="1656"/>
                </a:cubicBezTo>
                <a:lnTo>
                  <a:pt x="328" y="3144"/>
                </a:lnTo>
                <a:cubicBezTo>
                  <a:pt x="328" y="3175"/>
                  <a:pt x="182" y="3199"/>
                  <a:pt x="4" y="3199"/>
                </a:cubicBez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2" name="textbox 1462"/>
          <p:cNvSpPr/>
          <p:nvPr/>
        </p:nvSpPr>
        <p:spPr>
          <a:xfrm>
            <a:off x="6426200" y="2966593"/>
            <a:ext cx="3482340" cy="20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800" kern="0" spc="9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-10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9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-12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9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-9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strike="sngStrike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800" kern="0" spc="-3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strike="sngStrike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-5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strike="sngStrike" kern="0" spc="2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800" kern="0" spc="-7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strike="sngStrike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-4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strike="sngStrike" kern="0" spc="2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800" kern="0" spc="-8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strike="sngStrike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-5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strike="sngStrike" kern="0" spc="2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800" kern="0" spc="-7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strike="sngStrike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-5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strike="sngStrike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800" kern="0" spc="-2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strike="sngStrike" kern="0" spc="2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800" kern="0" spc="-8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strike="sngStrike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4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b="1" kern="0" spc="90" baseline="-7441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负荷侧</a:t>
            </a:r>
            <a:endParaRPr sz="2100" baseline="-7441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path 1464"/>
          <p:cNvSpPr/>
          <p:nvPr/>
        </p:nvSpPr>
        <p:spPr>
          <a:xfrm>
            <a:off x="8583168" y="3259835"/>
            <a:ext cx="417576" cy="1138427"/>
          </a:xfrm>
          <a:custGeom>
            <a:avLst/>
            <a:gdLst/>
            <a:ahLst/>
            <a:cxnLst/>
            <a:rect l="0" t="0" r="0" b="0"/>
            <a:pathLst>
              <a:path w="657" h="1792">
                <a:moveTo>
                  <a:pt x="4" y="4"/>
                </a:moveTo>
                <a:cubicBezTo>
                  <a:pt x="182" y="4"/>
                  <a:pt x="328" y="28"/>
                  <a:pt x="328" y="60"/>
                </a:cubicBezTo>
                <a:lnTo>
                  <a:pt x="328" y="842"/>
                </a:lnTo>
                <a:cubicBezTo>
                  <a:pt x="328" y="873"/>
                  <a:pt x="472" y="897"/>
                  <a:pt x="652" y="897"/>
                </a:cubicBezTo>
                <a:cubicBezTo>
                  <a:pt x="472" y="897"/>
                  <a:pt x="328" y="921"/>
                  <a:pt x="328" y="950"/>
                </a:cubicBezTo>
                <a:lnTo>
                  <a:pt x="328" y="1735"/>
                </a:lnTo>
                <a:cubicBezTo>
                  <a:pt x="328" y="1763"/>
                  <a:pt x="182" y="1787"/>
                  <a:pt x="4" y="1787"/>
                </a:cubicBez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6" name="path 1466"/>
          <p:cNvSpPr/>
          <p:nvPr/>
        </p:nvSpPr>
        <p:spPr>
          <a:xfrm>
            <a:off x="7095743" y="3259835"/>
            <a:ext cx="396240" cy="1132332"/>
          </a:xfrm>
          <a:custGeom>
            <a:avLst/>
            <a:gdLst/>
            <a:ahLst/>
            <a:cxnLst/>
            <a:rect l="0" t="0" r="0" b="0"/>
            <a:pathLst>
              <a:path w="624" h="1783">
                <a:moveTo>
                  <a:pt x="619" y="1778"/>
                </a:moveTo>
                <a:cubicBezTo>
                  <a:pt x="448" y="1778"/>
                  <a:pt x="312" y="1754"/>
                  <a:pt x="312" y="1727"/>
                </a:cubicBezTo>
                <a:lnTo>
                  <a:pt x="312" y="943"/>
                </a:lnTo>
                <a:cubicBezTo>
                  <a:pt x="312" y="914"/>
                  <a:pt x="172" y="892"/>
                  <a:pt x="4" y="892"/>
                </a:cubicBezTo>
                <a:cubicBezTo>
                  <a:pt x="172" y="892"/>
                  <a:pt x="312" y="868"/>
                  <a:pt x="312" y="840"/>
                </a:cubicBezTo>
                <a:lnTo>
                  <a:pt x="312" y="57"/>
                </a:lnTo>
                <a:cubicBezTo>
                  <a:pt x="312" y="28"/>
                  <a:pt x="448" y="4"/>
                  <a:pt x="619" y="4"/>
                </a:cubicBez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8" name="path 1468"/>
          <p:cNvSpPr/>
          <p:nvPr/>
        </p:nvSpPr>
        <p:spPr>
          <a:xfrm>
            <a:off x="2159507" y="4207764"/>
            <a:ext cx="414527" cy="917448"/>
          </a:xfrm>
          <a:custGeom>
            <a:avLst/>
            <a:gdLst/>
            <a:ahLst/>
            <a:cxnLst/>
            <a:rect l="0" t="0" r="0" b="0"/>
            <a:pathLst>
              <a:path w="652" h="1444">
                <a:moveTo>
                  <a:pt x="647" y="1440"/>
                </a:moveTo>
                <a:cubicBezTo>
                  <a:pt x="470" y="1440"/>
                  <a:pt x="326" y="1440"/>
                  <a:pt x="326" y="1440"/>
                </a:cubicBezTo>
                <a:lnTo>
                  <a:pt x="326" y="722"/>
                </a:lnTo>
                <a:cubicBezTo>
                  <a:pt x="326" y="722"/>
                  <a:pt x="182" y="722"/>
                  <a:pt x="4" y="722"/>
                </a:cubicBezTo>
                <a:cubicBezTo>
                  <a:pt x="182" y="722"/>
                  <a:pt x="326" y="722"/>
                  <a:pt x="326" y="722"/>
                </a:cubicBezTo>
                <a:lnTo>
                  <a:pt x="326" y="4"/>
                </a:lnTo>
                <a:cubicBezTo>
                  <a:pt x="326" y="4"/>
                  <a:pt x="470" y="4"/>
                  <a:pt x="647" y="4"/>
                </a:cubicBez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70" name="textbox 1470"/>
          <p:cNvSpPr/>
          <p:nvPr/>
        </p:nvSpPr>
        <p:spPr>
          <a:xfrm>
            <a:off x="9072409" y="3734542"/>
            <a:ext cx="955039" cy="367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8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indent="-7620" algn="l" rtl="0" eaLnBrk="0">
              <a:lnSpc>
                <a:spcPct val="95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非市场化用户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国网代理用户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72" name="picture 14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974080" y="3076955"/>
            <a:ext cx="449579" cy="411479"/>
          </a:xfrm>
          <a:prstGeom prst="rect">
            <a:avLst/>
          </a:prstGeom>
        </p:spPr>
      </p:pic>
      <p:pic>
        <p:nvPicPr>
          <p:cNvPr id="1474" name="picture 14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350508" y="6550152"/>
            <a:ext cx="3654552" cy="36575"/>
          </a:xfrm>
          <a:prstGeom prst="rect">
            <a:avLst/>
          </a:prstGeom>
        </p:spPr>
      </p:pic>
      <p:pic>
        <p:nvPicPr>
          <p:cNvPr id="1476" name="picture 147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949695" y="3503676"/>
            <a:ext cx="47243" cy="2711195"/>
          </a:xfrm>
          <a:prstGeom prst="rect">
            <a:avLst/>
          </a:prstGeom>
        </p:spPr>
      </p:pic>
      <p:pic>
        <p:nvPicPr>
          <p:cNvPr id="1478" name="picture 147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68223" y="3503676"/>
            <a:ext cx="45720" cy="2711195"/>
          </a:xfrm>
          <a:prstGeom prst="rect">
            <a:avLst/>
          </a:prstGeom>
        </p:spPr>
      </p:pic>
      <p:sp>
        <p:nvSpPr>
          <p:cNvPr id="1480" name="textbox 1480"/>
          <p:cNvSpPr/>
          <p:nvPr/>
        </p:nvSpPr>
        <p:spPr>
          <a:xfrm>
            <a:off x="9099291" y="5319488"/>
            <a:ext cx="798194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市场化用户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82" name="picture 148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543300" y="6472428"/>
            <a:ext cx="981455" cy="114300"/>
          </a:xfrm>
          <a:prstGeom prst="rect">
            <a:avLst/>
          </a:prstGeom>
        </p:spPr>
      </p:pic>
      <p:pic>
        <p:nvPicPr>
          <p:cNvPr id="1484" name="picture 148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998463" y="6228588"/>
            <a:ext cx="338328" cy="321563"/>
          </a:xfrm>
          <a:prstGeom prst="rect">
            <a:avLst/>
          </a:prstGeom>
        </p:spPr>
      </p:pic>
      <p:sp>
        <p:nvSpPr>
          <p:cNvPr id="1486" name="textbox 1486"/>
          <p:cNvSpPr/>
          <p:nvPr/>
        </p:nvSpPr>
        <p:spPr>
          <a:xfrm>
            <a:off x="4018773" y="5239010"/>
            <a:ext cx="64579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现货竞价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88" name="textbox 1488"/>
          <p:cNvSpPr/>
          <p:nvPr/>
        </p:nvSpPr>
        <p:spPr>
          <a:xfrm>
            <a:off x="5180793" y="4568631"/>
            <a:ext cx="428625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800" b="1" kern="0" spc="22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1490" name="picture 149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020299" y="6327647"/>
            <a:ext cx="332233" cy="237744"/>
          </a:xfrm>
          <a:prstGeom prst="rect">
            <a:avLst/>
          </a:prstGeom>
        </p:spPr>
      </p:pic>
      <p:pic>
        <p:nvPicPr>
          <p:cNvPr id="1492" name="picture 149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535423" y="6124955"/>
            <a:ext cx="224028" cy="342899"/>
          </a:xfrm>
          <a:prstGeom prst="rect">
            <a:avLst/>
          </a:prstGeom>
        </p:spPr>
      </p:pic>
      <p:pic>
        <p:nvPicPr>
          <p:cNvPr id="1494" name="picture 149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951720" y="3072383"/>
            <a:ext cx="356616" cy="196596"/>
          </a:xfrm>
          <a:prstGeom prst="rect">
            <a:avLst/>
          </a:prstGeom>
        </p:spPr>
      </p:pic>
      <p:pic>
        <p:nvPicPr>
          <p:cNvPr id="1496" name="picture 149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1498" name="picture 149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4756403" y="4044696"/>
            <a:ext cx="16764" cy="2065019"/>
          </a:xfrm>
          <a:prstGeom prst="rect">
            <a:avLst/>
          </a:prstGeom>
        </p:spPr>
      </p:pic>
      <p:pic>
        <p:nvPicPr>
          <p:cNvPr id="1500" name="picture 150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67511" y="6550152"/>
            <a:ext cx="225552" cy="36575"/>
          </a:xfrm>
          <a:prstGeom prst="rect">
            <a:avLst/>
          </a:prstGeom>
        </p:spPr>
      </p:pic>
      <p:pic>
        <p:nvPicPr>
          <p:cNvPr id="1502" name="picture 150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686811" y="6580505"/>
            <a:ext cx="839723" cy="6350"/>
          </a:xfrm>
          <a:prstGeom prst="rect">
            <a:avLst/>
          </a:prstGeom>
        </p:spPr>
      </p:pic>
      <p:pic>
        <p:nvPicPr>
          <p:cNvPr id="1504" name="picture 150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2616708" y="3065398"/>
            <a:ext cx="778764" cy="6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6" name="picture 15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64107" y="2662427"/>
            <a:ext cx="1821179" cy="2196084"/>
          </a:xfrm>
          <a:prstGeom prst="rect">
            <a:avLst/>
          </a:prstGeom>
        </p:spPr>
      </p:pic>
      <p:pic>
        <p:nvPicPr>
          <p:cNvPr id="1508" name="picture 15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23860" y="2590800"/>
            <a:ext cx="1821178" cy="2196083"/>
          </a:xfrm>
          <a:prstGeom prst="rect">
            <a:avLst/>
          </a:prstGeom>
        </p:spPr>
      </p:pic>
      <p:pic>
        <p:nvPicPr>
          <p:cNvPr id="1510" name="picture 15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12919" y="2590800"/>
            <a:ext cx="1819847" cy="2196083"/>
          </a:xfrm>
          <a:prstGeom prst="rect">
            <a:avLst/>
          </a:prstGeom>
        </p:spPr>
      </p:pic>
      <p:sp>
        <p:nvSpPr>
          <p:cNvPr id="1512" name="textbox 1512"/>
          <p:cNvSpPr/>
          <p:nvPr/>
        </p:nvSpPr>
        <p:spPr>
          <a:xfrm>
            <a:off x="7390688" y="5264798"/>
            <a:ext cx="2221864" cy="1504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>
                <a:tab pos="115570" algn="l"/>
              </a:tabLst>
            </a:pPr>
            <a:r>
              <a:rPr sz="1400" b="1" kern="0" spc="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4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1" kern="0" spc="-1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超短期负荷预测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958"/>
              </a:spcBef>
              <a:tabLst>
                <a:tab pos="115570" algn="l"/>
              </a:tabLst>
            </a:pPr>
            <a:r>
              <a:rPr sz="1400" b="1" kern="0" spc="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4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1" kern="0" spc="-1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非旋转备用机组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47000"/>
              </a:lnSpc>
              <a:spcBef>
                <a:spcPts val="257"/>
              </a:spcBef>
              <a:tabLst>
                <a:tab pos="115570" algn="l"/>
              </a:tabLst>
            </a:pPr>
            <a:r>
              <a:rPr sz="1400" b="1" kern="0" spc="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-2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日前市场备用、调频容量</a:t>
            </a:r>
            <a:r>
              <a:rPr sz="1400" b="1" kern="0" spc="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3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1" kern="0" spc="-1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必开必停机组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1"/>
              </a:spcBef>
              <a:tabLst>
                <a:tab pos="115570" algn="l"/>
              </a:tabLst>
            </a:pPr>
            <a:r>
              <a:rPr sz="1400" b="1" kern="0" spc="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6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1" kern="0" spc="-2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电网安全约束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14" name="picture 15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403388" y="6559198"/>
            <a:ext cx="103240" cy="197565"/>
          </a:xfrm>
          <a:prstGeom prst="rect">
            <a:avLst/>
          </a:prstGeom>
        </p:spPr>
      </p:pic>
      <p:pic>
        <p:nvPicPr>
          <p:cNvPr id="1516" name="picture 15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403388" y="6239126"/>
            <a:ext cx="103240" cy="197565"/>
          </a:xfrm>
          <a:prstGeom prst="rect">
            <a:avLst/>
          </a:prstGeom>
        </p:spPr>
      </p:pic>
      <p:pic>
        <p:nvPicPr>
          <p:cNvPr id="1518" name="picture 15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403388" y="5919164"/>
            <a:ext cx="103240" cy="197565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403388" y="5597569"/>
            <a:ext cx="103240" cy="197565"/>
          </a:xfrm>
          <a:prstGeom prst="rect">
            <a:avLst/>
          </a:prstGeom>
        </p:spPr>
      </p:pic>
      <p:pic>
        <p:nvPicPr>
          <p:cNvPr id="1522" name="picture 15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403388" y="5277498"/>
            <a:ext cx="103240" cy="197565"/>
          </a:xfrm>
          <a:prstGeom prst="rect">
            <a:avLst/>
          </a:prstGeom>
        </p:spPr>
      </p:pic>
      <p:sp>
        <p:nvSpPr>
          <p:cNvPr id="1524" name="textbox 1524"/>
          <p:cNvSpPr/>
          <p:nvPr/>
        </p:nvSpPr>
        <p:spPr>
          <a:xfrm>
            <a:off x="1029465" y="5255656"/>
            <a:ext cx="1865629" cy="1504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>
                <a:tab pos="115570" algn="l"/>
              </a:tabLst>
            </a:pPr>
            <a:r>
              <a:rPr sz="1400" b="1" kern="0" spc="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-4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日前负荷预测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47000"/>
              </a:lnSpc>
              <a:spcBef>
                <a:spcPts val="251"/>
              </a:spcBef>
              <a:tabLst>
                <a:tab pos="115570" algn="l"/>
              </a:tabLst>
            </a:pPr>
            <a:r>
              <a:rPr sz="1400" b="1" kern="0" spc="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6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1" kern="0" spc="-1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非旋转备用出清结果</a:t>
            </a:r>
            <a:r>
              <a:rPr sz="1400" b="1" kern="0" spc="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1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1" kern="0" spc="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备用和调频需求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820"/>
              </a:spcBef>
              <a:tabLst>
                <a:tab pos="115570" algn="l"/>
              </a:tabLst>
            </a:pPr>
            <a:r>
              <a:rPr sz="1400" b="1" kern="0" spc="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3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1" kern="0" spc="-1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必开必停机组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520"/>
              </a:lnSpc>
              <a:tabLst>
                <a:tab pos="115570" algn="l"/>
              </a:tabLst>
            </a:pPr>
            <a:r>
              <a:rPr sz="1400" b="1" kern="0" spc="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6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1" kern="0" spc="-20" dirty="0">
                <a:solidFill>
                  <a:srgbClr val="0940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电网安全约束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26" name="picture 15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42165" y="6550056"/>
            <a:ext cx="103240" cy="197565"/>
          </a:xfrm>
          <a:prstGeom prst="rect">
            <a:avLst/>
          </a:prstGeom>
        </p:spPr>
      </p:pic>
      <p:pic>
        <p:nvPicPr>
          <p:cNvPr id="1528" name="picture 15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042165" y="6229985"/>
            <a:ext cx="103240" cy="197565"/>
          </a:xfrm>
          <a:prstGeom prst="rect">
            <a:avLst/>
          </a:prstGeom>
        </p:spPr>
      </p:pic>
      <p:pic>
        <p:nvPicPr>
          <p:cNvPr id="1530" name="picture 15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42165" y="5910022"/>
            <a:ext cx="103240" cy="197565"/>
          </a:xfrm>
          <a:prstGeom prst="rect">
            <a:avLst/>
          </a:prstGeom>
        </p:spPr>
      </p:pic>
      <p:pic>
        <p:nvPicPr>
          <p:cNvPr id="1532" name="picture 15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042165" y="5588427"/>
            <a:ext cx="103240" cy="197565"/>
          </a:xfrm>
          <a:prstGeom prst="rect">
            <a:avLst/>
          </a:prstGeom>
        </p:spPr>
      </p:pic>
      <p:pic>
        <p:nvPicPr>
          <p:cNvPr id="1534" name="picture 15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042165" y="5268356"/>
            <a:ext cx="103240" cy="197565"/>
          </a:xfrm>
          <a:prstGeom prst="rect">
            <a:avLst/>
          </a:prstGeom>
        </p:spPr>
      </p:pic>
      <p:sp>
        <p:nvSpPr>
          <p:cNvPr id="1536" name="textbox 1536"/>
          <p:cNvSpPr/>
          <p:nvPr/>
        </p:nvSpPr>
        <p:spPr>
          <a:xfrm>
            <a:off x="6347462" y="3743692"/>
            <a:ext cx="2984500" cy="600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323215" algn="l" rtl="0" eaLnBrk="0">
              <a:lnSpc>
                <a:spcPct val="87000"/>
              </a:lnSpc>
              <a:spcBef>
                <a:spcPts val="236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机组组合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202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辅助服务占用容量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38" name="textbox 1538"/>
          <p:cNvSpPr/>
          <p:nvPr/>
        </p:nvSpPr>
        <p:spPr>
          <a:xfrm>
            <a:off x="6116616" y="2127800"/>
            <a:ext cx="2912110" cy="556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运行时段开始前30分钟关闸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40" name="picture 15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379679" y="2197607"/>
            <a:ext cx="626364" cy="463296"/>
          </a:xfrm>
          <a:prstGeom prst="rect">
            <a:avLst/>
          </a:prstGeom>
        </p:spPr>
      </p:pic>
      <p:sp>
        <p:nvSpPr>
          <p:cNvPr id="1542" name="textbox 1542"/>
          <p:cNvSpPr/>
          <p:nvPr/>
        </p:nvSpPr>
        <p:spPr>
          <a:xfrm>
            <a:off x="551775" y="1112886"/>
            <a:ext cx="4826000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现货市场各类出清的边界和使用数据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44" name="picture 154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3537204" y="5027675"/>
            <a:ext cx="6121907" cy="150876"/>
          </a:xfrm>
          <a:prstGeom prst="rect">
            <a:avLst/>
          </a:prstGeom>
        </p:spPr>
      </p:pic>
      <p:sp>
        <p:nvSpPr>
          <p:cNvPr id="1546" name="textbox 1546"/>
          <p:cNvSpPr/>
          <p:nvPr/>
        </p:nvSpPr>
        <p:spPr>
          <a:xfrm>
            <a:off x="7986711" y="4577524"/>
            <a:ext cx="1864995" cy="344170"/>
          </a:xfrm>
          <a:prstGeom prst="roundRect">
            <a:avLst>
              <a:gd name="adj" fmla="val 19180"/>
            </a:avLst>
          </a:prstGeom>
          <a:solidFill>
            <a:srgbClr val="0D4260">
              <a:alpha val="100000"/>
            </a:srgbClr>
          </a:solidFill>
          <a:ln w="9525" cap="flat">
            <a:solidFill>
              <a:srgbClr val="41719C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购电成本最小化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48" name="textbox 1548"/>
          <p:cNvSpPr/>
          <p:nvPr/>
        </p:nvSpPr>
        <p:spPr>
          <a:xfrm>
            <a:off x="1005268" y="4638484"/>
            <a:ext cx="1574164" cy="344170"/>
          </a:xfrm>
          <a:prstGeom prst="roundRect">
            <a:avLst>
              <a:gd name="adj" fmla="val 19288"/>
            </a:avLst>
          </a:prstGeom>
          <a:solidFill>
            <a:srgbClr val="0D4260">
              <a:alpha val="100000"/>
            </a:srgbClr>
          </a:solidFill>
          <a:ln w="9525" cap="flat">
            <a:solidFill>
              <a:srgbClr val="41719C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42875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社会福利最大化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50" name="textbox 1550"/>
          <p:cNvSpPr/>
          <p:nvPr/>
        </p:nvSpPr>
        <p:spPr>
          <a:xfrm>
            <a:off x="4828644" y="3633472"/>
            <a:ext cx="828039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3995" algn="l" rtl="0" eaLnBrk="0">
              <a:lnSpc>
                <a:spcPct val="88000"/>
              </a:lnSpc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滚动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310"/>
              </a:spcBef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机组组合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52" name="picture 155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190744" y="2188464"/>
            <a:ext cx="870203" cy="397763"/>
          </a:xfrm>
          <a:prstGeom prst="rect">
            <a:avLst/>
          </a:prstGeom>
        </p:spPr>
      </p:pic>
      <p:sp>
        <p:nvSpPr>
          <p:cNvPr id="1554" name="textbox 1554"/>
          <p:cNvSpPr/>
          <p:nvPr/>
        </p:nvSpPr>
        <p:spPr>
          <a:xfrm>
            <a:off x="2802764" y="4726376"/>
            <a:ext cx="1802129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电能+备用+调频统一出清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56" name="picture 155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1071371" y="5099303"/>
            <a:ext cx="1508759" cy="150876"/>
          </a:xfrm>
          <a:prstGeom prst="rect">
            <a:avLst/>
          </a:prstGeom>
        </p:spPr>
      </p:pic>
      <p:sp>
        <p:nvSpPr>
          <p:cNvPr id="1558" name="path 1558"/>
          <p:cNvSpPr/>
          <p:nvPr/>
        </p:nvSpPr>
        <p:spPr>
          <a:xfrm>
            <a:off x="6856476" y="3159252"/>
            <a:ext cx="332231" cy="667511"/>
          </a:xfrm>
          <a:custGeom>
            <a:avLst/>
            <a:gdLst/>
            <a:ahLst/>
            <a:cxnLst/>
            <a:rect l="0" t="0" r="0" b="0"/>
            <a:pathLst>
              <a:path w="523" h="1051">
                <a:moveTo>
                  <a:pt x="0" y="261"/>
                </a:moveTo>
                <a:lnTo>
                  <a:pt x="261" y="261"/>
                </a:lnTo>
                <a:lnTo>
                  <a:pt x="261" y="0"/>
                </a:lnTo>
                <a:lnTo>
                  <a:pt x="523" y="525"/>
                </a:lnTo>
                <a:lnTo>
                  <a:pt x="261" y="1051"/>
                </a:lnTo>
                <a:lnTo>
                  <a:pt x="261" y="789"/>
                </a:lnTo>
                <a:lnTo>
                  <a:pt x="0" y="789"/>
                </a:lnTo>
                <a:lnTo>
                  <a:pt x="0" y="261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0" name="textbox 1560"/>
          <p:cNvSpPr/>
          <p:nvPr/>
        </p:nvSpPr>
        <p:spPr>
          <a:xfrm>
            <a:off x="3854528" y="3743692"/>
            <a:ext cx="626744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预调度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62" name="path 1562"/>
          <p:cNvSpPr/>
          <p:nvPr/>
        </p:nvSpPr>
        <p:spPr>
          <a:xfrm>
            <a:off x="3572255" y="3189731"/>
            <a:ext cx="330708" cy="667511"/>
          </a:xfrm>
          <a:custGeom>
            <a:avLst/>
            <a:gdLst/>
            <a:ahLst/>
            <a:cxnLst/>
            <a:rect l="0" t="0" r="0" b="0"/>
            <a:pathLst>
              <a:path w="520" h="1051">
                <a:moveTo>
                  <a:pt x="0" y="264"/>
                </a:moveTo>
                <a:lnTo>
                  <a:pt x="261" y="264"/>
                </a:lnTo>
                <a:lnTo>
                  <a:pt x="261" y="0"/>
                </a:lnTo>
                <a:lnTo>
                  <a:pt x="520" y="525"/>
                </a:lnTo>
                <a:lnTo>
                  <a:pt x="261" y="1051"/>
                </a:lnTo>
                <a:lnTo>
                  <a:pt x="261" y="789"/>
                </a:lnTo>
                <a:lnTo>
                  <a:pt x="0" y="789"/>
                </a:lnTo>
                <a:lnTo>
                  <a:pt x="0" y="264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4" name="path 1564"/>
          <p:cNvSpPr/>
          <p:nvPr/>
        </p:nvSpPr>
        <p:spPr>
          <a:xfrm>
            <a:off x="1516380" y="3086100"/>
            <a:ext cx="426719" cy="382523"/>
          </a:xfrm>
          <a:custGeom>
            <a:avLst/>
            <a:gdLst/>
            <a:ahLst/>
            <a:cxnLst/>
            <a:rect l="0" t="0" r="0" b="0"/>
            <a:pathLst>
              <a:path w="671" h="602">
                <a:moveTo>
                  <a:pt x="604" y="448"/>
                </a:moveTo>
                <a:cubicBezTo>
                  <a:pt x="650" y="458"/>
                  <a:pt x="671" y="480"/>
                  <a:pt x="671" y="511"/>
                </a:cubicBezTo>
                <a:cubicBezTo>
                  <a:pt x="671" y="561"/>
                  <a:pt x="528" y="602"/>
                  <a:pt x="335" y="602"/>
                </a:cubicBezTo>
                <a:cubicBezTo>
                  <a:pt x="146" y="602"/>
                  <a:pt x="0" y="561"/>
                  <a:pt x="0" y="511"/>
                </a:cubicBezTo>
                <a:cubicBezTo>
                  <a:pt x="0" y="480"/>
                  <a:pt x="21" y="458"/>
                  <a:pt x="67" y="448"/>
                </a:cubicBezTo>
                <a:cubicBezTo>
                  <a:pt x="55" y="458"/>
                  <a:pt x="55" y="458"/>
                  <a:pt x="55" y="470"/>
                </a:cubicBezTo>
                <a:cubicBezTo>
                  <a:pt x="55" y="499"/>
                  <a:pt x="179" y="530"/>
                  <a:pt x="335" y="530"/>
                </a:cubicBezTo>
                <a:cubicBezTo>
                  <a:pt x="494" y="530"/>
                  <a:pt x="616" y="499"/>
                  <a:pt x="616" y="470"/>
                </a:cubicBezTo>
                <a:cubicBezTo>
                  <a:pt x="616" y="458"/>
                  <a:pt x="616" y="458"/>
                  <a:pt x="604" y="448"/>
                </a:cubicBezTo>
                <a:moveTo>
                  <a:pt x="167" y="19"/>
                </a:moveTo>
                <a:cubicBezTo>
                  <a:pt x="201" y="19"/>
                  <a:pt x="235" y="40"/>
                  <a:pt x="235" y="72"/>
                </a:cubicBezTo>
                <a:cubicBezTo>
                  <a:pt x="235" y="100"/>
                  <a:pt x="201" y="132"/>
                  <a:pt x="167" y="132"/>
                </a:cubicBezTo>
                <a:cubicBezTo>
                  <a:pt x="134" y="132"/>
                  <a:pt x="112" y="100"/>
                  <a:pt x="112" y="72"/>
                </a:cubicBezTo>
                <a:cubicBezTo>
                  <a:pt x="112" y="40"/>
                  <a:pt x="134" y="19"/>
                  <a:pt x="167" y="19"/>
                </a:cubicBezTo>
                <a:moveTo>
                  <a:pt x="504" y="19"/>
                </a:moveTo>
                <a:cubicBezTo>
                  <a:pt x="470" y="19"/>
                  <a:pt x="436" y="40"/>
                  <a:pt x="436" y="72"/>
                </a:cubicBezTo>
                <a:cubicBezTo>
                  <a:pt x="436" y="100"/>
                  <a:pt x="470" y="132"/>
                  <a:pt x="504" y="132"/>
                </a:cubicBezTo>
                <a:cubicBezTo>
                  <a:pt x="537" y="132"/>
                  <a:pt x="561" y="100"/>
                  <a:pt x="561" y="72"/>
                </a:cubicBezTo>
                <a:cubicBezTo>
                  <a:pt x="561" y="40"/>
                  <a:pt x="537" y="19"/>
                  <a:pt x="504" y="19"/>
                </a:cubicBezTo>
                <a:moveTo>
                  <a:pt x="436" y="335"/>
                </a:moveTo>
                <a:cubicBezTo>
                  <a:pt x="436" y="489"/>
                  <a:pt x="436" y="489"/>
                  <a:pt x="436" y="489"/>
                </a:cubicBezTo>
                <a:cubicBezTo>
                  <a:pt x="482" y="489"/>
                  <a:pt x="482" y="489"/>
                  <a:pt x="482" y="489"/>
                </a:cubicBezTo>
                <a:cubicBezTo>
                  <a:pt x="504" y="376"/>
                  <a:pt x="504" y="376"/>
                  <a:pt x="504" y="376"/>
                </a:cubicBezTo>
                <a:cubicBezTo>
                  <a:pt x="515" y="489"/>
                  <a:pt x="515" y="489"/>
                  <a:pt x="515" y="489"/>
                </a:cubicBezTo>
                <a:cubicBezTo>
                  <a:pt x="561" y="489"/>
                  <a:pt x="561" y="489"/>
                  <a:pt x="561" y="489"/>
                </a:cubicBezTo>
                <a:cubicBezTo>
                  <a:pt x="561" y="326"/>
                  <a:pt x="561" y="326"/>
                  <a:pt x="561" y="326"/>
                </a:cubicBezTo>
                <a:cubicBezTo>
                  <a:pt x="583" y="316"/>
                  <a:pt x="595" y="295"/>
                  <a:pt x="595" y="275"/>
                </a:cubicBezTo>
                <a:cubicBezTo>
                  <a:pt x="595" y="194"/>
                  <a:pt x="595" y="194"/>
                  <a:pt x="595" y="194"/>
                </a:cubicBezTo>
                <a:cubicBezTo>
                  <a:pt x="595" y="163"/>
                  <a:pt x="571" y="141"/>
                  <a:pt x="537" y="141"/>
                </a:cubicBezTo>
                <a:cubicBezTo>
                  <a:pt x="470" y="141"/>
                  <a:pt x="470" y="141"/>
                  <a:pt x="470" y="141"/>
                </a:cubicBezTo>
                <a:cubicBezTo>
                  <a:pt x="460" y="141"/>
                  <a:pt x="460" y="141"/>
                  <a:pt x="448" y="141"/>
                </a:cubicBezTo>
                <a:cubicBezTo>
                  <a:pt x="460" y="153"/>
                  <a:pt x="470" y="172"/>
                  <a:pt x="470" y="182"/>
                </a:cubicBezTo>
                <a:cubicBezTo>
                  <a:pt x="470" y="275"/>
                  <a:pt x="470" y="275"/>
                  <a:pt x="470" y="275"/>
                </a:cubicBezTo>
                <a:cubicBezTo>
                  <a:pt x="470" y="304"/>
                  <a:pt x="460" y="326"/>
                  <a:pt x="436" y="335"/>
                </a:cubicBezTo>
                <a:moveTo>
                  <a:pt x="335" y="0"/>
                </a:moveTo>
                <a:cubicBezTo>
                  <a:pt x="369" y="0"/>
                  <a:pt x="403" y="19"/>
                  <a:pt x="403" y="60"/>
                </a:cubicBezTo>
                <a:cubicBezTo>
                  <a:pt x="403" y="91"/>
                  <a:pt x="369" y="122"/>
                  <a:pt x="335" y="122"/>
                </a:cubicBezTo>
                <a:cubicBezTo>
                  <a:pt x="302" y="122"/>
                  <a:pt x="268" y="91"/>
                  <a:pt x="268" y="60"/>
                </a:cubicBezTo>
                <a:cubicBezTo>
                  <a:pt x="268" y="19"/>
                  <a:pt x="302" y="0"/>
                  <a:pt x="335" y="0"/>
                </a:cubicBezTo>
                <a:moveTo>
                  <a:pt x="403" y="326"/>
                </a:moveTo>
                <a:cubicBezTo>
                  <a:pt x="427" y="316"/>
                  <a:pt x="436" y="295"/>
                  <a:pt x="436" y="275"/>
                </a:cubicBezTo>
                <a:cubicBezTo>
                  <a:pt x="436" y="182"/>
                  <a:pt x="436" y="182"/>
                  <a:pt x="436" y="182"/>
                </a:cubicBezTo>
                <a:cubicBezTo>
                  <a:pt x="436" y="153"/>
                  <a:pt x="403" y="132"/>
                  <a:pt x="369" y="132"/>
                </a:cubicBezTo>
                <a:cubicBezTo>
                  <a:pt x="292" y="132"/>
                  <a:pt x="292" y="132"/>
                  <a:pt x="292" y="132"/>
                </a:cubicBezTo>
                <a:cubicBezTo>
                  <a:pt x="256" y="132"/>
                  <a:pt x="235" y="153"/>
                  <a:pt x="235" y="182"/>
                </a:cubicBezTo>
                <a:cubicBezTo>
                  <a:pt x="235" y="275"/>
                  <a:pt x="235" y="275"/>
                  <a:pt x="235" y="275"/>
                </a:cubicBezTo>
                <a:cubicBezTo>
                  <a:pt x="235" y="295"/>
                  <a:pt x="247" y="316"/>
                  <a:pt x="268" y="326"/>
                </a:cubicBezTo>
                <a:cubicBezTo>
                  <a:pt x="268" y="511"/>
                  <a:pt x="268" y="511"/>
                  <a:pt x="268" y="511"/>
                </a:cubicBezTo>
                <a:cubicBezTo>
                  <a:pt x="314" y="511"/>
                  <a:pt x="314" y="511"/>
                  <a:pt x="314" y="511"/>
                </a:cubicBezTo>
                <a:cubicBezTo>
                  <a:pt x="335" y="398"/>
                  <a:pt x="335" y="398"/>
                  <a:pt x="335" y="398"/>
                </a:cubicBezTo>
                <a:cubicBezTo>
                  <a:pt x="359" y="511"/>
                  <a:pt x="359" y="511"/>
                  <a:pt x="359" y="511"/>
                </a:cubicBezTo>
                <a:cubicBezTo>
                  <a:pt x="403" y="511"/>
                  <a:pt x="403" y="511"/>
                  <a:pt x="403" y="511"/>
                </a:cubicBezTo>
                <a:cubicBezTo>
                  <a:pt x="403" y="326"/>
                  <a:pt x="403" y="326"/>
                  <a:pt x="403" y="326"/>
                </a:cubicBezTo>
                <a:moveTo>
                  <a:pt x="235" y="335"/>
                </a:moveTo>
                <a:cubicBezTo>
                  <a:pt x="213" y="326"/>
                  <a:pt x="201" y="304"/>
                  <a:pt x="201" y="275"/>
                </a:cubicBezTo>
                <a:cubicBezTo>
                  <a:pt x="201" y="182"/>
                  <a:pt x="201" y="182"/>
                  <a:pt x="201" y="182"/>
                </a:cubicBezTo>
                <a:cubicBezTo>
                  <a:pt x="201" y="172"/>
                  <a:pt x="213" y="153"/>
                  <a:pt x="213" y="141"/>
                </a:cubicBezTo>
                <a:cubicBezTo>
                  <a:pt x="213" y="141"/>
                  <a:pt x="213" y="141"/>
                  <a:pt x="201" y="141"/>
                </a:cubicBezTo>
                <a:cubicBezTo>
                  <a:pt x="134" y="141"/>
                  <a:pt x="134" y="141"/>
                  <a:pt x="134" y="141"/>
                </a:cubicBezTo>
                <a:cubicBezTo>
                  <a:pt x="100" y="141"/>
                  <a:pt x="79" y="163"/>
                  <a:pt x="79" y="194"/>
                </a:cubicBezTo>
                <a:cubicBezTo>
                  <a:pt x="79" y="275"/>
                  <a:pt x="79" y="275"/>
                  <a:pt x="79" y="275"/>
                </a:cubicBezTo>
                <a:cubicBezTo>
                  <a:pt x="79" y="295"/>
                  <a:pt x="88" y="316"/>
                  <a:pt x="100" y="326"/>
                </a:cubicBezTo>
                <a:cubicBezTo>
                  <a:pt x="100" y="489"/>
                  <a:pt x="100" y="489"/>
                  <a:pt x="100" y="489"/>
                </a:cubicBezTo>
                <a:cubicBezTo>
                  <a:pt x="155" y="489"/>
                  <a:pt x="155" y="489"/>
                  <a:pt x="155" y="489"/>
                </a:cubicBezTo>
                <a:cubicBezTo>
                  <a:pt x="167" y="376"/>
                  <a:pt x="167" y="376"/>
                  <a:pt x="167" y="376"/>
                </a:cubicBezTo>
                <a:cubicBezTo>
                  <a:pt x="189" y="489"/>
                  <a:pt x="189" y="489"/>
                  <a:pt x="189" y="489"/>
                </a:cubicBezTo>
                <a:cubicBezTo>
                  <a:pt x="235" y="489"/>
                  <a:pt x="235" y="489"/>
                  <a:pt x="235" y="489"/>
                </a:cubicBezTo>
                <a:lnTo>
                  <a:pt x="235" y="33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6" name="textbox 1566"/>
          <p:cNvSpPr/>
          <p:nvPr/>
        </p:nvSpPr>
        <p:spPr>
          <a:xfrm>
            <a:off x="1390033" y="3702535"/>
            <a:ext cx="807084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68" name="picture 156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0" name="picture 15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9643" y="3899916"/>
            <a:ext cx="10308335" cy="2577083"/>
          </a:xfrm>
          <a:prstGeom prst="rect">
            <a:avLst/>
          </a:prstGeom>
        </p:spPr>
      </p:pic>
      <p:pic>
        <p:nvPicPr>
          <p:cNvPr id="1572" name="picture 15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54963" y="2093976"/>
            <a:ext cx="9108947" cy="1170432"/>
          </a:xfrm>
          <a:prstGeom prst="rect">
            <a:avLst/>
          </a:prstGeom>
        </p:spPr>
      </p:pic>
      <p:sp>
        <p:nvSpPr>
          <p:cNvPr id="1574" name="textbox 1574"/>
          <p:cNvSpPr/>
          <p:nvPr/>
        </p:nvSpPr>
        <p:spPr>
          <a:xfrm>
            <a:off x="404793" y="4768384"/>
            <a:ext cx="5700395" cy="1087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（发电侧）统调水火核发电</a:t>
            </a:r>
            <a:r>
              <a:rPr sz="14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统调新能源</a:t>
            </a:r>
            <a:r>
              <a:rPr sz="14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点对网外来电</a:t>
            </a:r>
            <a:r>
              <a:rPr sz="14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跨省外来电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99689" algn="l" rtl="0" eaLnBrk="0">
              <a:lnSpc>
                <a:spcPct val="94000"/>
              </a:lnSpc>
              <a:spcBef>
                <a:spcPts val="336"/>
              </a:spcBef>
              <a:tabLst/>
            </a:pPr>
            <a:r>
              <a:rPr sz="11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（等于）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016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（用电侧）省内计划负荷</a:t>
            </a:r>
            <a:r>
              <a:rPr sz="14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省内市场负荷</a:t>
            </a:r>
            <a:r>
              <a:rPr sz="14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跨省外送电</a:t>
            </a:r>
            <a:r>
              <a:rPr sz="14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76" name="textbox 1576"/>
          <p:cNvSpPr/>
          <p:nvPr/>
        </p:nvSpPr>
        <p:spPr>
          <a:xfrm>
            <a:off x="6470537" y="4785940"/>
            <a:ext cx="3845559" cy="1109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6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机组设备性能约束（最大/最小出力、爬坡率、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970" algn="l" rtl="0" eaLnBrk="0">
              <a:lnSpc>
                <a:spcPts val="2364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小开机/停机时间等）；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87000"/>
              </a:lnSpc>
              <a:spcBef>
                <a:spcPts val="927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输电容量约束；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旋转备用需求约束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78" name="textbox 1578"/>
          <p:cNvSpPr/>
          <p:nvPr/>
        </p:nvSpPr>
        <p:spPr>
          <a:xfrm>
            <a:off x="1097745" y="1953752"/>
            <a:ext cx="5611495" cy="6235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94789" algn="l" rtl="0" eaLnBrk="0">
              <a:lnSpc>
                <a:spcPct val="79000"/>
              </a:lnSpc>
              <a:tabLst/>
            </a:pPr>
            <a:r>
              <a:rPr sz="1200" b="1" kern="0" spc="-3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SCUC</a:t>
            </a:r>
            <a:r>
              <a:rPr sz="1200" b="1" kern="0" spc="1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</a:t>
            </a:r>
            <a:r>
              <a:rPr sz="1200" b="1" kern="0" spc="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3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SCED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3"/>
              </a:spcBef>
              <a:tabLst/>
            </a:pP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开始               </a:t>
            </a: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机组组合                </a:t>
            </a: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经济调度      </a:t>
            </a: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安全校核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0" name="textbox 1580"/>
          <p:cNvSpPr/>
          <p:nvPr/>
        </p:nvSpPr>
        <p:spPr>
          <a:xfrm>
            <a:off x="583299" y="1112586"/>
            <a:ext cx="4794250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日前市场出清优化的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目标和约束边界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2" name="textbox 1582"/>
          <p:cNvSpPr/>
          <p:nvPr/>
        </p:nvSpPr>
        <p:spPr>
          <a:xfrm>
            <a:off x="3751074" y="3379859"/>
            <a:ext cx="3311525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1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优化目标</a:t>
            </a:r>
            <a:r>
              <a:rPr sz="1400" b="1" kern="0" spc="-6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：（</a:t>
            </a:r>
            <a:r>
              <a:rPr sz="1400" b="1" kern="0" spc="1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售电收入-购电费用）最大</a:t>
            </a:r>
            <a:r>
              <a:rPr sz="1400" b="1" kern="0" spc="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4" name="textbox 1584"/>
          <p:cNvSpPr/>
          <p:nvPr/>
        </p:nvSpPr>
        <p:spPr>
          <a:xfrm>
            <a:off x="4930404" y="2700480"/>
            <a:ext cx="962025" cy="475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3520" algn="l" rtl="0" eaLnBrk="0">
              <a:lnSpc>
                <a:spcPct val="87000"/>
              </a:lnSpc>
              <a:tabLst/>
            </a:pP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出力曲线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5000"/>
              </a:lnSpc>
              <a:spcBef>
                <a:spcPts val="220"/>
              </a:spcBef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节点和分区电价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省间联络线电量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6" name="textbox 1586"/>
          <p:cNvSpPr/>
          <p:nvPr/>
        </p:nvSpPr>
        <p:spPr>
          <a:xfrm>
            <a:off x="8690502" y="2172569"/>
            <a:ext cx="1065530" cy="395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88000"/>
              </a:lnSpc>
              <a:spcBef>
                <a:spcPts val="122"/>
              </a:spcBef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8" name="textbox 1588"/>
          <p:cNvSpPr/>
          <p:nvPr/>
        </p:nvSpPr>
        <p:spPr>
          <a:xfrm>
            <a:off x="7824832" y="2280661"/>
            <a:ext cx="429894" cy="783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满足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3970" algn="l" rtl="0" eaLnBrk="0">
              <a:lnSpc>
                <a:spcPct val="87000"/>
              </a:lnSpc>
              <a:spcBef>
                <a:spcPts val="224"/>
              </a:spcBef>
              <a:tabLst/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约束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spcBef>
                <a:spcPts val="4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0" name="textbox 1590"/>
          <p:cNvSpPr/>
          <p:nvPr/>
        </p:nvSpPr>
        <p:spPr>
          <a:xfrm>
            <a:off x="1900090" y="6034137"/>
            <a:ext cx="1578610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购电侧实际申报的负荷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2" name="textbox 1592"/>
          <p:cNvSpPr/>
          <p:nvPr/>
        </p:nvSpPr>
        <p:spPr>
          <a:xfrm>
            <a:off x="3282402" y="2641959"/>
            <a:ext cx="828675" cy="316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7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4304" algn="l" rtl="0" eaLnBrk="0">
              <a:lnSpc>
                <a:spcPct val="88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机组组合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84"/>
              </a:spcBef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辅助服务量价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4" name="textbox 1594"/>
          <p:cNvSpPr/>
          <p:nvPr/>
        </p:nvSpPr>
        <p:spPr>
          <a:xfrm>
            <a:off x="4893994" y="3953071"/>
            <a:ext cx="91186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约束边界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96" name="picture 15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8" name="picture 15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9643" y="3899916"/>
            <a:ext cx="10308335" cy="2577083"/>
          </a:xfrm>
          <a:prstGeom prst="rect">
            <a:avLst/>
          </a:prstGeom>
        </p:spPr>
      </p:pic>
      <p:pic>
        <p:nvPicPr>
          <p:cNvPr id="1600" name="picture 16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54963" y="2093976"/>
            <a:ext cx="9108947" cy="1016508"/>
          </a:xfrm>
          <a:prstGeom prst="rect">
            <a:avLst/>
          </a:prstGeom>
        </p:spPr>
      </p:pic>
      <p:sp>
        <p:nvSpPr>
          <p:cNvPr id="1602" name="textbox 1602"/>
          <p:cNvSpPr/>
          <p:nvPr/>
        </p:nvSpPr>
        <p:spPr>
          <a:xfrm>
            <a:off x="404793" y="4768384"/>
            <a:ext cx="5700395" cy="1087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（发电侧）统调水火核发电</a:t>
            </a:r>
            <a:r>
              <a:rPr sz="14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统调新能源</a:t>
            </a:r>
            <a:r>
              <a:rPr sz="14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点对网外来电</a:t>
            </a:r>
            <a:r>
              <a:rPr sz="14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跨省外来电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99689" algn="l" rtl="0" eaLnBrk="0">
              <a:lnSpc>
                <a:spcPct val="94000"/>
              </a:lnSpc>
              <a:spcBef>
                <a:spcPts val="336"/>
              </a:spcBef>
              <a:tabLst/>
            </a:pPr>
            <a:r>
              <a:rPr sz="11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（等于）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016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（用电侧）省内计划负荷</a:t>
            </a:r>
            <a:r>
              <a:rPr sz="14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省内市场负荷</a:t>
            </a:r>
            <a:r>
              <a:rPr sz="14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跨省外送电</a:t>
            </a:r>
            <a:r>
              <a:rPr sz="14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04" name="textbox 1604"/>
          <p:cNvSpPr/>
          <p:nvPr/>
        </p:nvSpPr>
        <p:spPr>
          <a:xfrm>
            <a:off x="3282402" y="1943126"/>
            <a:ext cx="4401184" cy="1021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29664" algn="l" rtl="0" eaLnBrk="0">
              <a:lnSpc>
                <a:spcPct val="80000"/>
              </a:lnSpc>
              <a:tabLst/>
            </a:pPr>
            <a:r>
              <a:rPr sz="1200" b="1" kern="0" spc="-4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SCED</a:t>
            </a:r>
            <a:r>
              <a:rPr sz="1200" b="1" kern="0" spc="1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</a:t>
            </a:r>
            <a:r>
              <a:rPr sz="1200" b="1" kern="0" spc="-4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SCED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37564" algn="l" rtl="0" eaLnBrk="0">
              <a:lnSpc>
                <a:spcPct val="87000"/>
              </a:lnSpc>
              <a:spcBef>
                <a:spcPts val="458"/>
              </a:spcBef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经济调度1</a:t>
            </a: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经济调度2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54304" algn="l" rtl="0" eaLnBrk="0">
              <a:lnSpc>
                <a:spcPct val="94000"/>
              </a:lnSpc>
              <a:spcBef>
                <a:spcPts val="638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机组组合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出力曲线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1303"/>
              </a:lnSpc>
              <a:spcBef>
                <a:spcPts val="5"/>
              </a:spcBef>
              <a:tabLst/>
            </a:pPr>
            <a:r>
              <a:rPr sz="1600" b="1" kern="0" spc="20" baseline="-316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辅助服务容量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</a:t>
            </a:r>
            <a:r>
              <a:rPr sz="1600" b="1" kern="0" spc="20" baseline="660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非定</a:t>
            </a:r>
            <a:r>
              <a:rPr sz="1600" b="1" kern="0" spc="10" baseline="660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价机组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节点和节点电价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06" name="textbox 1606"/>
          <p:cNvSpPr/>
          <p:nvPr/>
        </p:nvSpPr>
        <p:spPr>
          <a:xfrm>
            <a:off x="6470537" y="4785940"/>
            <a:ext cx="3845559" cy="1109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6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机组设备性能约束（最大/最小出力、爬坡率、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970" algn="l" rtl="0" eaLnBrk="0">
              <a:lnSpc>
                <a:spcPts val="2364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小开机/停机时间等）；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87000"/>
              </a:lnSpc>
              <a:spcBef>
                <a:spcPts val="921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输电容量约束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旋转备用需求约束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08" name="textbox 1608"/>
          <p:cNvSpPr/>
          <p:nvPr/>
        </p:nvSpPr>
        <p:spPr>
          <a:xfrm>
            <a:off x="555978" y="1112586"/>
            <a:ext cx="4821554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实时市场出清优化的目标和约束边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界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10" name="textbox 1610"/>
          <p:cNvSpPr/>
          <p:nvPr/>
        </p:nvSpPr>
        <p:spPr>
          <a:xfrm>
            <a:off x="5020562" y="3352115"/>
            <a:ext cx="2341245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优化目标：全网购电成本最低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12" name="textbox 1612"/>
          <p:cNvSpPr/>
          <p:nvPr/>
        </p:nvSpPr>
        <p:spPr>
          <a:xfrm>
            <a:off x="8690502" y="2172569"/>
            <a:ext cx="1065530" cy="395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88000"/>
              </a:lnSpc>
              <a:spcBef>
                <a:spcPts val="122"/>
              </a:spcBef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14" name="textbox 1614"/>
          <p:cNvSpPr/>
          <p:nvPr/>
        </p:nvSpPr>
        <p:spPr>
          <a:xfrm>
            <a:off x="2366015" y="2233162"/>
            <a:ext cx="827405" cy="464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滚动机组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15265" algn="l" rtl="0" eaLnBrk="0">
              <a:lnSpc>
                <a:spcPct val="86000"/>
              </a:lnSpc>
              <a:spcBef>
                <a:spcPts val="348"/>
              </a:spcBef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组合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16" name="textbox 1616"/>
          <p:cNvSpPr/>
          <p:nvPr/>
        </p:nvSpPr>
        <p:spPr>
          <a:xfrm>
            <a:off x="7824832" y="2280661"/>
            <a:ext cx="429894" cy="783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满足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3970" algn="l" rtl="0" eaLnBrk="0">
              <a:lnSpc>
                <a:spcPct val="87000"/>
              </a:lnSpc>
              <a:spcBef>
                <a:spcPts val="224"/>
              </a:spcBef>
              <a:tabLst/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约束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spcBef>
                <a:spcPts val="4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18" name="textbox 1618"/>
          <p:cNvSpPr/>
          <p:nvPr/>
        </p:nvSpPr>
        <p:spPr>
          <a:xfrm>
            <a:off x="1900090" y="6034137"/>
            <a:ext cx="1578610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购电侧实际申报的负荷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0" name="textbox 1620"/>
          <p:cNvSpPr/>
          <p:nvPr/>
        </p:nvSpPr>
        <p:spPr>
          <a:xfrm>
            <a:off x="4893994" y="3953071"/>
            <a:ext cx="91186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约束边界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2" name="textbox 1622"/>
          <p:cNvSpPr/>
          <p:nvPr/>
        </p:nvSpPr>
        <p:spPr>
          <a:xfrm>
            <a:off x="1096538" y="2230117"/>
            <a:ext cx="425450" cy="466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滚动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325"/>
              </a:spcBef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24" name="picture 16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6" name="table 1626"/>
          <p:cNvGraphicFramePr>
            <a:graphicFrameLocks noGrp="1"/>
          </p:cNvGraphicFramePr>
          <p:nvPr/>
        </p:nvGraphicFramePr>
        <p:xfrm>
          <a:off x="957072" y="2639567"/>
          <a:ext cx="8736964" cy="3390265"/>
        </p:xfrm>
        <a:graphic>
          <a:graphicData uri="http://schemas.openxmlformats.org/drawingml/2006/table">
            <a:tbl>
              <a:tblPr/>
              <a:tblGrid>
                <a:gridCol w="2025650"/>
                <a:gridCol w="2093595"/>
                <a:gridCol w="2353310"/>
                <a:gridCol w="2264410"/>
              </a:tblGrid>
              <a:tr h="597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9130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浙江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ts val="1614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出清时段：</a:t>
                      </a:r>
                      <a:r>
                        <a:rPr sz="1200" b="1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820" algn="l" rtl="0" eaLnBrk="0">
                        <a:lnSpc>
                          <a:spcPct val="87000"/>
                        </a:lnSpc>
                        <a:spcBef>
                          <a:spcPts val="118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结算时段：</a:t>
                      </a:r>
                      <a:r>
                        <a:rPr sz="12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74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调度时段：</a:t>
                      </a:r>
                      <a:r>
                        <a:rPr sz="12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72109" algn="l" rtl="0" eaLnBrk="0">
                        <a:lnSpc>
                          <a:spcPct val="87000"/>
                        </a:lnSpc>
                        <a:spcBef>
                          <a:spcPts val="225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结算时段：</a:t>
                      </a:r>
                      <a:r>
                        <a:rPr sz="12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260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发电侧：所在节点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24509" algn="l" rtl="0" eaLnBrk="0">
                        <a:lnSpc>
                          <a:spcPct val="87000"/>
                        </a:lnSpc>
                        <a:spcBef>
                          <a:spcPts val="227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用电侧：负荷中心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849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广东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出清时段：</a:t>
                      </a:r>
                      <a:r>
                        <a:rPr sz="12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820" algn="l" rtl="0" eaLnBrk="0">
                        <a:lnSpc>
                          <a:spcPct val="87000"/>
                        </a:lnSpc>
                        <a:spcBef>
                          <a:spcPts val="229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结算时段：</a:t>
                      </a:r>
                      <a:r>
                        <a:rPr sz="12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74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调度时段：</a:t>
                      </a:r>
                      <a:r>
                        <a:rPr sz="12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72109" algn="l" rtl="0" eaLnBrk="0">
                        <a:lnSpc>
                          <a:spcPct val="87000"/>
                        </a:lnSpc>
                        <a:spcBef>
                          <a:spcPts val="225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结算时段：</a:t>
                      </a:r>
                      <a:r>
                        <a:rPr sz="12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260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发电侧：所在节点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24509" algn="l" rtl="0" eaLnBrk="0">
                        <a:lnSpc>
                          <a:spcPct val="88000"/>
                        </a:lnSpc>
                        <a:spcBef>
                          <a:spcPts val="213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用电侧：统一结算点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02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690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山东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出清时段：</a:t>
                      </a:r>
                      <a:r>
                        <a:rPr sz="12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820" algn="l" rtl="0" eaLnBrk="0">
                        <a:lnSpc>
                          <a:spcPct val="87000"/>
                        </a:lnSpc>
                        <a:spcBef>
                          <a:spcPts val="229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结算时段：</a:t>
                      </a:r>
                      <a:r>
                        <a:rPr sz="12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74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调度时段：</a:t>
                      </a:r>
                      <a:r>
                        <a:rPr sz="12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72109" algn="l" rtl="0" eaLnBrk="0">
                        <a:lnSpc>
                          <a:spcPct val="87000"/>
                        </a:lnSpc>
                        <a:spcBef>
                          <a:spcPts val="225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结算时段：</a:t>
                      </a:r>
                      <a:r>
                        <a:rPr sz="12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2605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发电侧：所在节点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24509" algn="l" rtl="0" eaLnBrk="0">
                        <a:lnSpc>
                          <a:spcPct val="88000"/>
                        </a:lnSpc>
                        <a:spcBef>
                          <a:spcPts val="214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用电侧：统一结算点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9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6909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山西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出清时段：</a:t>
                      </a:r>
                      <a:r>
                        <a:rPr sz="12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820" algn="l" rtl="0" eaLnBrk="0">
                        <a:lnSpc>
                          <a:spcPct val="87000"/>
                        </a:lnSpc>
                        <a:spcBef>
                          <a:spcPts val="229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结算时段：</a:t>
                      </a:r>
                      <a:r>
                        <a:rPr sz="12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74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调度时段：</a:t>
                      </a:r>
                      <a:r>
                        <a:rPr sz="12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72109" algn="l" rtl="0" eaLnBrk="0">
                        <a:lnSpc>
                          <a:spcPct val="87000"/>
                        </a:lnSpc>
                        <a:spcBef>
                          <a:spcPts val="225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结算时段：</a:t>
                      </a:r>
                      <a:r>
                        <a:rPr sz="12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260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发电侧：所在节点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24509" algn="l" rtl="0" eaLnBrk="0">
                        <a:lnSpc>
                          <a:spcPct val="88000"/>
                        </a:lnSpc>
                        <a:spcBef>
                          <a:spcPts val="214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用电侧：统一结算点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103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甘肃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出清时段：</a:t>
                      </a:r>
                      <a:r>
                        <a:rPr sz="12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7820" algn="l" rtl="0" eaLnBrk="0">
                        <a:lnSpc>
                          <a:spcPct val="87000"/>
                        </a:lnSpc>
                        <a:spcBef>
                          <a:spcPts val="229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结算时段：</a:t>
                      </a:r>
                      <a:r>
                        <a:rPr sz="12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74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调度时段：</a:t>
                      </a:r>
                      <a:r>
                        <a:rPr sz="12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72109" algn="l" rtl="0" eaLnBrk="0">
                        <a:lnSpc>
                          <a:spcPct val="87000"/>
                        </a:lnSpc>
                        <a:spcBef>
                          <a:spcPts val="225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结算时段：</a:t>
                      </a:r>
                      <a:r>
                        <a:rPr sz="12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60分钟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6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260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发电侧：所在区域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24509" algn="l" rtl="0" eaLnBrk="0">
                        <a:lnSpc>
                          <a:spcPct val="87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用电侧：所在区域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28" name="rect 1628"/>
          <p:cNvSpPr/>
          <p:nvPr/>
        </p:nvSpPr>
        <p:spPr>
          <a:xfrm>
            <a:off x="7871460" y="2086355"/>
            <a:ext cx="1249680" cy="370332"/>
          </a:xfrm>
          <a:prstGeom prst="rect">
            <a:avLst/>
          </a:prstGeom>
          <a:solidFill>
            <a:srgbClr val="FDA103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0" name="rect 1630"/>
          <p:cNvSpPr/>
          <p:nvPr/>
        </p:nvSpPr>
        <p:spPr>
          <a:xfrm>
            <a:off x="5547360" y="2081783"/>
            <a:ext cx="1249679" cy="371856"/>
          </a:xfrm>
          <a:prstGeom prst="rect">
            <a:avLst/>
          </a:prstGeom>
          <a:solidFill>
            <a:srgbClr val="FDA103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2" name="rect 1632"/>
          <p:cNvSpPr/>
          <p:nvPr/>
        </p:nvSpPr>
        <p:spPr>
          <a:xfrm>
            <a:off x="1184147" y="2081783"/>
            <a:ext cx="1249680" cy="371856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4" name="rect 1634"/>
          <p:cNvSpPr/>
          <p:nvPr/>
        </p:nvSpPr>
        <p:spPr>
          <a:xfrm>
            <a:off x="3334511" y="2101596"/>
            <a:ext cx="1249679" cy="370332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6" name="textbox 1636"/>
          <p:cNvSpPr/>
          <p:nvPr/>
        </p:nvSpPr>
        <p:spPr>
          <a:xfrm>
            <a:off x="1171447" y="2154660"/>
            <a:ext cx="7962900" cy="242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466725" algn="l"/>
              </a:tabLst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省份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500" b="1" strike="sngStrike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</a:t>
            </a:r>
            <a:r>
              <a:rPr sz="1500" b="1" strike="sngStrike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2400" b="1" kern="0" spc="20" baseline="-21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</a:t>
            </a:r>
            <a:r>
              <a:rPr sz="1500" b="1" strike="sngStrike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</a:t>
            </a:r>
            <a:r>
              <a:rPr sz="1500" b="1" strike="sngStrike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1500" b="1" strike="sngStrike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1500" b="1" kern="0" spc="1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交易地点     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38" name="textbox 1638"/>
          <p:cNvSpPr/>
          <p:nvPr/>
        </p:nvSpPr>
        <p:spPr>
          <a:xfrm>
            <a:off x="522749" y="1112586"/>
            <a:ext cx="4225290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现货市场交易和结算的时间要素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40" name="picture 16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2" name="picture 16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5646" y="1961388"/>
            <a:ext cx="10190225" cy="4529328"/>
          </a:xfrm>
          <a:prstGeom prst="rect">
            <a:avLst/>
          </a:prstGeom>
        </p:spPr>
      </p:pic>
      <p:sp>
        <p:nvSpPr>
          <p:cNvPr id="1644" name="textbox 1644"/>
          <p:cNvSpPr/>
          <p:nvPr/>
        </p:nvSpPr>
        <p:spPr>
          <a:xfrm>
            <a:off x="5213603" y="2273580"/>
            <a:ext cx="4972684" cy="406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反映机组物理运行特性的相关参数。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indent="-635" algn="l" rtl="0" eaLnBrk="0">
              <a:lnSpc>
                <a:spcPct val="98000"/>
              </a:lnSpc>
              <a:spcBef>
                <a:spcPts val="145"/>
              </a:spcBef>
              <a:tabLst/>
            </a:pPr>
            <a:r>
              <a:rPr sz="10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具体包括：发电机组</a:t>
            </a:r>
            <a:r>
              <a:rPr sz="10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日内允许的最大启停次数、发电机组厂用电率、发电机组启动提</a:t>
            </a:r>
            <a:r>
              <a:rPr sz="10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前通知时间、典型开停机曲线、供热机组最大供热量等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0335" algn="l" rtl="0" eaLnBrk="0">
              <a:lnSpc>
                <a:spcPct val="95000"/>
              </a:lnSpc>
              <a:spcBef>
                <a:spcPts val="367"/>
              </a:spcBef>
              <a:tabLst/>
            </a:pPr>
            <a:r>
              <a:rPr sz="1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发电机组额定有功功率、发电</a:t>
            </a: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机组最小稳定技术出力、发电机组有功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功率调节速率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0650" algn="l" rtl="0" eaLnBrk="0">
              <a:lnSpc>
                <a:spcPct val="88000"/>
              </a:lnSpc>
              <a:spcBef>
                <a:spcPts val="372"/>
              </a:spcBef>
              <a:tabLst/>
            </a:pP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电能量缺省报价：机组运行在不同出力区间时单位电能量的缺省价格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0335" algn="l" rtl="0" eaLnBrk="0">
              <a:lnSpc>
                <a:spcPct val="95000"/>
              </a:lnSpc>
              <a:spcBef>
                <a:spcPts val="365"/>
              </a:spcBef>
              <a:tabLst/>
            </a:pPr>
            <a:r>
              <a:rPr sz="1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机组启动费用上下限（热、</a:t>
            </a: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温、冷态）——用于启动费用申报限制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空载费用 ——用于空载费用补偿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40970" algn="l" rtl="0" eaLnBrk="0">
              <a:lnSpc>
                <a:spcPct val="88000"/>
              </a:lnSpc>
              <a:spcBef>
                <a:spcPts val="251"/>
              </a:spcBef>
              <a:tabLst/>
            </a:pP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变动成本 ——市场力检测参考；用于必开等特殊机组补偿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46" name="textbox 1646"/>
          <p:cNvSpPr/>
          <p:nvPr/>
        </p:nvSpPr>
        <p:spPr>
          <a:xfrm>
            <a:off x="533561" y="2360559"/>
            <a:ext cx="1675764" cy="3918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ts val="3425"/>
              </a:lnSpc>
              <a:tabLst/>
            </a:pPr>
            <a:r>
              <a:rPr sz="4300" b="1" kern="0" spc="-10" baseline="3357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r>
              <a:rPr sz="2700" b="1" kern="0" spc="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2100" b="1" kern="0" spc="-10" baseline="31679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机组运行参数</a:t>
            </a:r>
            <a:endParaRPr sz="2100" baseline="31679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ts val="3425"/>
              </a:lnSpc>
              <a:spcBef>
                <a:spcPts val="846"/>
              </a:spcBef>
              <a:tabLst/>
            </a:pPr>
            <a:r>
              <a:rPr sz="28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     </a:t>
            </a:r>
            <a:r>
              <a:rPr sz="2100" b="1" kern="0" spc="0" baseline="13513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机组运行参数</a:t>
            </a:r>
            <a:endParaRPr sz="2100" baseline="13513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425"/>
              </a:lnSpc>
              <a:spcBef>
                <a:spcPts val="847"/>
              </a:spcBef>
              <a:tabLst/>
            </a:pPr>
            <a:r>
              <a:rPr sz="4300" b="1" kern="0" spc="0" baseline="3506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</a:t>
            </a:r>
            <a:r>
              <a:rPr sz="2700" b="1" kern="0" spc="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2100" b="1" kern="0" spc="0" baseline="31984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缺省申报参数</a:t>
            </a:r>
            <a:endParaRPr sz="2100" baseline="31984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425"/>
              </a:lnSpc>
              <a:spcBef>
                <a:spcPts val="6"/>
              </a:spcBef>
              <a:tabLst/>
            </a:pPr>
            <a:r>
              <a:rPr sz="4300" b="1" kern="0" spc="10" baseline="3506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4</a:t>
            </a:r>
            <a:r>
              <a:rPr sz="2700" b="1" kern="0" spc="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2100" b="1" kern="0" spc="10" baseline="31984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核定参数</a:t>
            </a:r>
            <a:endParaRPr sz="2100" baseline="31984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48" name="textbox 1648"/>
          <p:cNvSpPr/>
          <p:nvPr/>
        </p:nvSpPr>
        <p:spPr>
          <a:xfrm>
            <a:off x="3243396" y="2416728"/>
            <a:ext cx="1268730" cy="3737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30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-635" algn="l" rtl="0" eaLnBrk="0">
              <a:lnSpc>
                <a:spcPct val="95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企业上报，批准后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生效；变更走流程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9694" algn="l" rtl="0" eaLnBrk="0">
              <a:lnSpc>
                <a:spcPct val="87000"/>
              </a:lnSpc>
              <a:spcBef>
                <a:spcPts val="361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与并网协议一致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7000"/>
              </a:lnSpc>
              <a:spcBef>
                <a:spcPts val="371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当日修改，次日生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556259" algn="l" rtl="0" eaLnBrk="0">
              <a:lnSpc>
                <a:spcPct val="87000"/>
              </a:lnSpc>
              <a:spcBef>
                <a:spcPts val="225"/>
              </a:spcBef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效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77164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管理部门核定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50" name="textbox 1650"/>
          <p:cNvSpPr/>
          <p:nvPr/>
        </p:nvSpPr>
        <p:spPr>
          <a:xfrm>
            <a:off x="523049" y="1115664"/>
            <a:ext cx="3023870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发电企业机组参数上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52" name="picture 16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4" name="picture 16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4527" y="1778508"/>
            <a:ext cx="6862571" cy="4829555"/>
          </a:xfrm>
          <a:prstGeom prst="rect">
            <a:avLst/>
          </a:prstGeom>
        </p:spPr>
      </p:pic>
      <p:grpSp>
        <p:nvGrpSpPr>
          <p:cNvPr id="234" name="group 234"/>
          <p:cNvGrpSpPr/>
          <p:nvPr/>
        </p:nvGrpSpPr>
        <p:grpSpPr>
          <a:xfrm rot="21600000">
            <a:off x="7901939" y="1783080"/>
            <a:ext cx="2286000" cy="4821935"/>
            <a:chOff x="0" y="0"/>
            <a:chExt cx="2286000" cy="4821935"/>
          </a:xfrm>
        </p:grpSpPr>
        <p:pic>
          <p:nvPicPr>
            <p:cNvPr id="1656" name="picture 165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286000" cy="4821935"/>
            </a:xfrm>
            <a:prstGeom prst="rect">
              <a:avLst/>
            </a:prstGeom>
          </p:spPr>
        </p:pic>
        <p:sp>
          <p:nvSpPr>
            <p:cNvPr id="1658" name="textbox 1658"/>
            <p:cNvSpPr/>
            <p:nvPr/>
          </p:nvSpPr>
          <p:spPr>
            <a:xfrm>
              <a:off x="-12700" y="-12700"/>
              <a:ext cx="2311400" cy="48488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0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5275" algn="l" rtl="0" eaLnBrk="0">
                <a:lnSpc>
                  <a:spcPct val="90000"/>
                </a:lnSpc>
                <a:tabLst/>
              </a:pPr>
              <a:r>
                <a:rPr sz="1500" b="1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启动成本（元/次）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07645" algn="l" rtl="0" eaLnBrk="0">
                <a:lnSpc>
                  <a:spcPct val="90000"/>
                </a:lnSpc>
                <a:spcBef>
                  <a:spcPts val="456"/>
                </a:spcBef>
                <a:tabLst/>
              </a:pPr>
              <a:r>
                <a:rPr sz="1500" b="1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空载成本（元/小时）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2900" algn="l" rtl="0" eaLnBrk="0">
                <a:lnSpc>
                  <a:spcPct val="88000"/>
                </a:lnSpc>
                <a:spcBef>
                  <a:spcPts val="459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最小连续运行时间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6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42900" algn="l" rtl="0" eaLnBrk="0">
                <a:lnSpc>
                  <a:spcPct val="88000"/>
                </a:lnSpc>
                <a:spcBef>
                  <a:spcPts val="3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最小连续停机时间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660" name="textbox 1660"/>
          <p:cNvSpPr/>
          <p:nvPr/>
        </p:nvSpPr>
        <p:spPr>
          <a:xfrm>
            <a:off x="649708" y="5494349"/>
            <a:ext cx="6547484" cy="548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兆瓦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6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最小出力                                                  最大出力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62" name="textbox 1662"/>
          <p:cNvSpPr/>
          <p:nvPr/>
        </p:nvSpPr>
        <p:spPr>
          <a:xfrm>
            <a:off x="908861" y="4439705"/>
            <a:ext cx="1762760" cy="896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第1段出力从0到最小出力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014730" indent="762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不低于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报价下限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64" name="textbox 1664"/>
          <p:cNvSpPr/>
          <p:nvPr/>
        </p:nvSpPr>
        <p:spPr>
          <a:xfrm>
            <a:off x="523049" y="1114352"/>
            <a:ext cx="3624579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5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发电企业日前市场报价格式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66" name="textbox 1666"/>
          <p:cNvSpPr/>
          <p:nvPr/>
        </p:nvSpPr>
        <p:spPr>
          <a:xfrm>
            <a:off x="3529715" y="4620296"/>
            <a:ext cx="1631314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出力波段不小于0.1兆瓦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68" name="textbox 1668"/>
          <p:cNvSpPr/>
          <p:nvPr/>
        </p:nvSpPr>
        <p:spPr>
          <a:xfrm>
            <a:off x="6611561" y="3457687"/>
            <a:ext cx="226059" cy="935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27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b="1" kern="0" spc="2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最多十段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70" name="textbox 1670"/>
          <p:cNvSpPr/>
          <p:nvPr/>
        </p:nvSpPr>
        <p:spPr>
          <a:xfrm>
            <a:off x="845491" y="1886110"/>
            <a:ext cx="904875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元/兆瓦时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72" name="textbox 1672"/>
          <p:cNvSpPr/>
          <p:nvPr/>
        </p:nvSpPr>
        <p:spPr>
          <a:xfrm>
            <a:off x="5022012" y="1845997"/>
            <a:ext cx="1113155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不高于报价上限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74" name="textbox 1674"/>
          <p:cNvSpPr/>
          <p:nvPr/>
        </p:nvSpPr>
        <p:spPr>
          <a:xfrm>
            <a:off x="2681069" y="2557232"/>
            <a:ext cx="800734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报价非递减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76" name="picture 16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8" name="table 1678"/>
          <p:cNvGraphicFramePr>
            <a:graphicFrameLocks noGrp="1"/>
          </p:cNvGraphicFramePr>
          <p:nvPr/>
        </p:nvGraphicFramePr>
        <p:xfrm>
          <a:off x="957072" y="2639567"/>
          <a:ext cx="8736964" cy="3433445"/>
        </p:xfrm>
        <a:graphic>
          <a:graphicData uri="http://schemas.openxmlformats.org/drawingml/2006/table">
            <a:tbl>
              <a:tblPr/>
              <a:tblGrid>
                <a:gridCol w="2025650"/>
                <a:gridCol w="2093595"/>
                <a:gridCol w="2353310"/>
                <a:gridCol w="2264410"/>
              </a:tblGrid>
              <a:tr h="597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9130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浙江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2005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10段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09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660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0出力起报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885" indent="-322579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国网代申报预测出力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日内可修改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849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广东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8039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10段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5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最低技术出力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9794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暂不参加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02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690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山东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1689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10段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0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3244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第一段起点小于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64515" algn="l" rtl="0" eaLnBrk="0">
                        <a:lnSpc>
                          <a:spcPts val="1483"/>
                        </a:lnSpc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最低技术出力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945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申报预测出力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855344" algn="l" rtl="0" eaLnBrk="0">
                        <a:lnSpc>
                          <a:spcPct val="87000"/>
                        </a:lnSpc>
                        <a:spcBef>
                          <a:spcPts val="21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日内可修改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65809" algn="l" rtl="0" eaLnBrk="0">
                        <a:lnSpc>
                          <a:spcPct val="87000"/>
                        </a:lnSpc>
                        <a:spcBef>
                          <a:spcPts val="22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10%参加现货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9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6909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山西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6130" algn="l" rtl="0" eaLnBrk="0">
                        <a:lnSpc>
                          <a:spcPts val="1614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3-10段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884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最低技术出力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120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申报预测出力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83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103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甘肃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6139" algn="l" rtl="0" eaLnBrk="0">
                        <a:lnSpc>
                          <a:spcPct val="8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10段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2300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最低技术出力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4864" algn="l" rtl="0" eaLnBrk="0">
                        <a:lnSpc>
                          <a:spcPct val="8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申报预测出力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916305" algn="l" rtl="0" eaLnBrk="0">
                        <a:lnSpc>
                          <a:spcPts val="1455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日内可修改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925830" algn="l" rtl="0" eaLnBrk="0">
                        <a:lnSpc>
                          <a:spcPts val="1458"/>
                        </a:lnSpc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分3段报价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667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80" name="rect 1680"/>
          <p:cNvSpPr/>
          <p:nvPr/>
        </p:nvSpPr>
        <p:spPr>
          <a:xfrm>
            <a:off x="3334511" y="2101596"/>
            <a:ext cx="1249679" cy="370332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2" name="rect 1682"/>
          <p:cNvSpPr/>
          <p:nvPr/>
        </p:nvSpPr>
        <p:spPr>
          <a:xfrm>
            <a:off x="7871460" y="2086355"/>
            <a:ext cx="1249680" cy="370332"/>
          </a:xfrm>
          <a:prstGeom prst="rect">
            <a:avLst/>
          </a:prstGeom>
          <a:solidFill>
            <a:srgbClr val="FDA103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4" name="rect 1684"/>
          <p:cNvSpPr/>
          <p:nvPr/>
        </p:nvSpPr>
        <p:spPr>
          <a:xfrm>
            <a:off x="1184147" y="2081783"/>
            <a:ext cx="1249680" cy="371856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6" name="rect 1686"/>
          <p:cNvSpPr/>
          <p:nvPr/>
        </p:nvSpPr>
        <p:spPr>
          <a:xfrm>
            <a:off x="5547360" y="2081783"/>
            <a:ext cx="1249679" cy="371856"/>
          </a:xfrm>
          <a:prstGeom prst="rect">
            <a:avLst/>
          </a:prstGeom>
          <a:solidFill>
            <a:srgbClr val="FDA103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8" name="textbox 1688"/>
          <p:cNvSpPr/>
          <p:nvPr/>
        </p:nvSpPr>
        <p:spPr>
          <a:xfrm>
            <a:off x="1171447" y="2156270"/>
            <a:ext cx="7962900" cy="241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466725" algn="l"/>
              </a:tabLst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省份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500" b="1" strike="sngStrike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</a:t>
            </a:r>
            <a:r>
              <a:rPr sz="2400" b="1" kern="0" spc="20" baseline="-21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最大分段</a:t>
            </a:r>
            <a:r>
              <a:rPr sz="1500" b="1" strike="sngStrike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出力起点</a:t>
            </a:r>
            <a:r>
              <a:rPr sz="1500" b="1" strike="sngStrike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新能源       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90" name="textbox 1690"/>
          <p:cNvSpPr/>
          <p:nvPr/>
        </p:nvSpPr>
        <p:spPr>
          <a:xfrm>
            <a:off x="524238" y="1052437"/>
            <a:ext cx="3766820" cy="343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各省发电单元报价规则比较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92" name="picture 16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17726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textbox 1694"/>
          <p:cNvSpPr/>
          <p:nvPr/>
        </p:nvSpPr>
        <p:spPr>
          <a:xfrm>
            <a:off x="340867" y="2018792"/>
            <a:ext cx="4639309" cy="1640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711834" algn="l" rtl="0" eaLnBrk="0">
              <a:lnSpc>
                <a:spcPct val="89000"/>
              </a:lnSpc>
              <a:spcBef>
                <a:spcPts val="1"/>
              </a:spcBef>
              <a:tabLst>
                <a:tab pos="982980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自投运、自计划机组不享受运行成本补偿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43865" algn="l" rtl="0" eaLnBrk="0">
              <a:lnSpc>
                <a:spcPct val="88000"/>
              </a:lnSpc>
              <a:tabLst>
                <a:tab pos="521334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运行成本补偿</a:t>
            </a:r>
            <a:r>
              <a:rPr sz="15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 全天运行成本 -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全天市场电费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96" name="path 1696"/>
          <p:cNvSpPr/>
          <p:nvPr/>
        </p:nvSpPr>
        <p:spPr>
          <a:xfrm>
            <a:off x="358139" y="3349752"/>
            <a:ext cx="426720" cy="294132"/>
          </a:xfrm>
          <a:custGeom>
            <a:avLst/>
            <a:gdLst/>
            <a:ahLst/>
            <a:cxnLst/>
            <a:rect l="0" t="0" r="0" b="0"/>
            <a:pathLst>
              <a:path w="672" h="463">
                <a:moveTo>
                  <a:pt x="235" y="0"/>
                </a:moveTo>
                <a:moveTo>
                  <a:pt x="235" y="0"/>
                </a:moveTo>
                <a:lnTo>
                  <a:pt x="235" y="0"/>
                </a:lnTo>
                <a:lnTo>
                  <a:pt x="273" y="4"/>
                </a:lnTo>
                <a:lnTo>
                  <a:pt x="304" y="19"/>
                </a:lnTo>
                <a:lnTo>
                  <a:pt x="304" y="19"/>
                </a:lnTo>
                <a:lnTo>
                  <a:pt x="323" y="14"/>
                </a:lnTo>
                <a:lnTo>
                  <a:pt x="345" y="12"/>
                </a:lnTo>
                <a:lnTo>
                  <a:pt x="345" y="12"/>
                </a:lnTo>
                <a:lnTo>
                  <a:pt x="383" y="14"/>
                </a:lnTo>
                <a:lnTo>
                  <a:pt x="407" y="31"/>
                </a:lnTo>
                <a:lnTo>
                  <a:pt x="407" y="31"/>
                </a:lnTo>
                <a:lnTo>
                  <a:pt x="434" y="19"/>
                </a:lnTo>
                <a:lnTo>
                  <a:pt x="458" y="14"/>
                </a:lnTo>
                <a:lnTo>
                  <a:pt x="458" y="14"/>
                </a:lnTo>
                <a:lnTo>
                  <a:pt x="484" y="14"/>
                </a:lnTo>
                <a:lnTo>
                  <a:pt x="489" y="19"/>
                </a:lnTo>
                <a:lnTo>
                  <a:pt x="518" y="38"/>
                </a:lnTo>
                <a:lnTo>
                  <a:pt x="518" y="38"/>
                </a:lnTo>
                <a:lnTo>
                  <a:pt x="542" y="31"/>
                </a:lnTo>
                <a:lnTo>
                  <a:pt x="542" y="31"/>
                </a:lnTo>
                <a:lnTo>
                  <a:pt x="568" y="38"/>
                </a:lnTo>
                <a:lnTo>
                  <a:pt x="587" y="43"/>
                </a:lnTo>
                <a:lnTo>
                  <a:pt x="592" y="52"/>
                </a:lnTo>
                <a:lnTo>
                  <a:pt x="602" y="69"/>
                </a:lnTo>
                <a:lnTo>
                  <a:pt x="602" y="69"/>
                </a:lnTo>
                <a:lnTo>
                  <a:pt x="592" y="84"/>
                </a:lnTo>
                <a:lnTo>
                  <a:pt x="578" y="95"/>
                </a:lnTo>
                <a:lnTo>
                  <a:pt x="578" y="95"/>
                </a:lnTo>
                <a:lnTo>
                  <a:pt x="587" y="107"/>
                </a:lnTo>
                <a:lnTo>
                  <a:pt x="587" y="107"/>
                </a:lnTo>
                <a:lnTo>
                  <a:pt x="587" y="112"/>
                </a:lnTo>
                <a:lnTo>
                  <a:pt x="467" y="112"/>
                </a:lnTo>
                <a:lnTo>
                  <a:pt x="467" y="112"/>
                </a:lnTo>
                <a:lnTo>
                  <a:pt x="467" y="107"/>
                </a:lnTo>
                <a:lnTo>
                  <a:pt x="467" y="107"/>
                </a:lnTo>
                <a:lnTo>
                  <a:pt x="467" y="95"/>
                </a:lnTo>
                <a:lnTo>
                  <a:pt x="467" y="95"/>
                </a:lnTo>
                <a:lnTo>
                  <a:pt x="458" y="95"/>
                </a:lnTo>
                <a:lnTo>
                  <a:pt x="458" y="95"/>
                </a:lnTo>
                <a:lnTo>
                  <a:pt x="439" y="91"/>
                </a:lnTo>
                <a:lnTo>
                  <a:pt x="415" y="81"/>
                </a:lnTo>
                <a:lnTo>
                  <a:pt x="415" y="81"/>
                </a:lnTo>
                <a:lnTo>
                  <a:pt x="407" y="95"/>
                </a:lnTo>
                <a:lnTo>
                  <a:pt x="388" y="103"/>
                </a:lnTo>
                <a:lnTo>
                  <a:pt x="364" y="107"/>
                </a:lnTo>
                <a:lnTo>
                  <a:pt x="345" y="112"/>
                </a:lnTo>
                <a:lnTo>
                  <a:pt x="345" y="112"/>
                </a:lnTo>
                <a:lnTo>
                  <a:pt x="314" y="107"/>
                </a:lnTo>
                <a:lnTo>
                  <a:pt x="295" y="95"/>
                </a:lnTo>
                <a:lnTo>
                  <a:pt x="295" y="95"/>
                </a:lnTo>
                <a:lnTo>
                  <a:pt x="273" y="107"/>
                </a:lnTo>
                <a:lnTo>
                  <a:pt x="235" y="112"/>
                </a:lnTo>
                <a:lnTo>
                  <a:pt x="235" y="112"/>
                </a:lnTo>
                <a:lnTo>
                  <a:pt x="203" y="107"/>
                </a:lnTo>
                <a:lnTo>
                  <a:pt x="180" y="95"/>
                </a:lnTo>
                <a:lnTo>
                  <a:pt x="160" y="81"/>
                </a:lnTo>
                <a:lnTo>
                  <a:pt x="151" y="57"/>
                </a:lnTo>
                <a:lnTo>
                  <a:pt x="151" y="57"/>
                </a:lnTo>
                <a:lnTo>
                  <a:pt x="160" y="38"/>
                </a:lnTo>
                <a:lnTo>
                  <a:pt x="180" y="14"/>
                </a:lnTo>
                <a:lnTo>
                  <a:pt x="203" y="4"/>
                </a:lnTo>
                <a:lnTo>
                  <a:pt x="235" y="0"/>
                </a:lnTo>
                <a:lnTo>
                  <a:pt x="235" y="0"/>
                </a:lnTo>
                <a:close/>
                <a:moveTo>
                  <a:pt x="244" y="237"/>
                </a:moveTo>
                <a:moveTo>
                  <a:pt x="244" y="237"/>
                </a:moveTo>
                <a:lnTo>
                  <a:pt x="314" y="237"/>
                </a:lnTo>
                <a:lnTo>
                  <a:pt x="314" y="295"/>
                </a:lnTo>
                <a:lnTo>
                  <a:pt x="244" y="295"/>
                </a:lnTo>
                <a:lnTo>
                  <a:pt x="244" y="237"/>
                </a:lnTo>
                <a:lnTo>
                  <a:pt x="244" y="237"/>
                </a:lnTo>
                <a:close/>
                <a:moveTo>
                  <a:pt x="467" y="129"/>
                </a:moveTo>
                <a:moveTo>
                  <a:pt x="467" y="129"/>
                </a:moveTo>
                <a:lnTo>
                  <a:pt x="467" y="194"/>
                </a:lnTo>
                <a:lnTo>
                  <a:pt x="184" y="194"/>
                </a:lnTo>
                <a:lnTo>
                  <a:pt x="184" y="237"/>
                </a:lnTo>
                <a:lnTo>
                  <a:pt x="60" y="237"/>
                </a:lnTo>
                <a:lnTo>
                  <a:pt x="60" y="432"/>
                </a:lnTo>
                <a:lnTo>
                  <a:pt x="0" y="432"/>
                </a:lnTo>
                <a:lnTo>
                  <a:pt x="0" y="463"/>
                </a:lnTo>
                <a:lnTo>
                  <a:pt x="672" y="463"/>
                </a:lnTo>
                <a:lnTo>
                  <a:pt x="672" y="432"/>
                </a:lnTo>
                <a:lnTo>
                  <a:pt x="619" y="432"/>
                </a:lnTo>
                <a:lnTo>
                  <a:pt x="587" y="129"/>
                </a:lnTo>
                <a:lnTo>
                  <a:pt x="467" y="129"/>
                </a:lnTo>
                <a:close/>
                <a:moveTo>
                  <a:pt x="355" y="237"/>
                </a:moveTo>
                <a:moveTo>
                  <a:pt x="355" y="237"/>
                </a:moveTo>
                <a:lnTo>
                  <a:pt x="424" y="237"/>
                </a:lnTo>
                <a:lnTo>
                  <a:pt x="424" y="295"/>
                </a:lnTo>
                <a:lnTo>
                  <a:pt x="355" y="295"/>
                </a:lnTo>
                <a:lnTo>
                  <a:pt x="355" y="237"/>
                </a:lnTo>
                <a:lnTo>
                  <a:pt x="355" y="237"/>
                </a:lnTo>
                <a:close/>
                <a:moveTo>
                  <a:pt x="91" y="268"/>
                </a:moveTo>
                <a:moveTo>
                  <a:pt x="91" y="268"/>
                </a:moveTo>
                <a:lnTo>
                  <a:pt x="170" y="268"/>
                </a:lnTo>
                <a:lnTo>
                  <a:pt x="170" y="333"/>
                </a:lnTo>
                <a:lnTo>
                  <a:pt x="91" y="333"/>
                </a:lnTo>
                <a:lnTo>
                  <a:pt x="91" y="268"/>
                </a:lnTo>
                <a:lnTo>
                  <a:pt x="91" y="268"/>
                </a:lnTo>
                <a:close/>
              </a:path>
            </a:pathLst>
          </a:custGeom>
          <a:solidFill>
            <a:srgbClr val="5859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98" name="path 1698"/>
          <p:cNvSpPr/>
          <p:nvPr/>
        </p:nvSpPr>
        <p:spPr>
          <a:xfrm>
            <a:off x="353567" y="2031492"/>
            <a:ext cx="699516" cy="513587"/>
          </a:xfrm>
          <a:custGeom>
            <a:avLst/>
            <a:gdLst/>
            <a:ahLst/>
            <a:cxnLst/>
            <a:rect l="0" t="0" r="0" b="0"/>
            <a:pathLst>
              <a:path w="1101" h="808">
                <a:moveTo>
                  <a:pt x="0" y="441"/>
                </a:moveTo>
                <a:lnTo>
                  <a:pt x="81" y="487"/>
                </a:lnTo>
                <a:lnTo>
                  <a:pt x="64" y="808"/>
                </a:lnTo>
                <a:lnTo>
                  <a:pt x="172" y="808"/>
                </a:lnTo>
                <a:lnTo>
                  <a:pt x="182" y="530"/>
                </a:lnTo>
                <a:lnTo>
                  <a:pt x="230" y="530"/>
                </a:lnTo>
                <a:lnTo>
                  <a:pt x="247" y="808"/>
                </a:lnTo>
                <a:lnTo>
                  <a:pt x="355" y="808"/>
                </a:lnTo>
                <a:lnTo>
                  <a:pt x="338" y="487"/>
                </a:lnTo>
                <a:lnTo>
                  <a:pt x="324" y="285"/>
                </a:lnTo>
                <a:lnTo>
                  <a:pt x="563" y="285"/>
                </a:lnTo>
                <a:lnTo>
                  <a:pt x="628" y="213"/>
                </a:lnTo>
                <a:lnTo>
                  <a:pt x="355" y="201"/>
                </a:lnTo>
                <a:lnTo>
                  <a:pt x="230" y="201"/>
                </a:lnTo>
                <a:lnTo>
                  <a:pt x="230" y="213"/>
                </a:lnTo>
                <a:lnTo>
                  <a:pt x="215" y="240"/>
                </a:lnTo>
                <a:lnTo>
                  <a:pt x="247" y="381"/>
                </a:lnTo>
                <a:lnTo>
                  <a:pt x="215" y="415"/>
                </a:lnTo>
                <a:lnTo>
                  <a:pt x="215" y="415"/>
                </a:lnTo>
                <a:lnTo>
                  <a:pt x="199" y="415"/>
                </a:lnTo>
                <a:lnTo>
                  <a:pt x="199" y="415"/>
                </a:lnTo>
                <a:lnTo>
                  <a:pt x="199" y="415"/>
                </a:lnTo>
                <a:lnTo>
                  <a:pt x="172" y="381"/>
                </a:lnTo>
                <a:lnTo>
                  <a:pt x="182" y="240"/>
                </a:lnTo>
                <a:lnTo>
                  <a:pt x="182" y="213"/>
                </a:lnTo>
                <a:lnTo>
                  <a:pt x="182" y="201"/>
                </a:lnTo>
                <a:lnTo>
                  <a:pt x="64" y="201"/>
                </a:lnTo>
                <a:lnTo>
                  <a:pt x="0" y="441"/>
                </a:lnTo>
                <a:lnTo>
                  <a:pt x="0" y="441"/>
                </a:lnTo>
                <a:close/>
                <a:moveTo>
                  <a:pt x="215" y="0"/>
                </a:moveTo>
                <a:lnTo>
                  <a:pt x="215" y="0"/>
                </a:lnTo>
                <a:lnTo>
                  <a:pt x="172" y="0"/>
                </a:lnTo>
                <a:lnTo>
                  <a:pt x="124" y="26"/>
                </a:lnTo>
                <a:lnTo>
                  <a:pt x="91" y="57"/>
                </a:lnTo>
                <a:lnTo>
                  <a:pt x="91" y="98"/>
                </a:lnTo>
                <a:lnTo>
                  <a:pt x="91" y="98"/>
                </a:lnTo>
                <a:lnTo>
                  <a:pt x="91" y="129"/>
                </a:lnTo>
                <a:lnTo>
                  <a:pt x="124" y="155"/>
                </a:lnTo>
                <a:lnTo>
                  <a:pt x="172" y="175"/>
                </a:lnTo>
                <a:lnTo>
                  <a:pt x="215" y="175"/>
                </a:lnTo>
                <a:lnTo>
                  <a:pt x="215" y="175"/>
                </a:lnTo>
                <a:lnTo>
                  <a:pt x="264" y="175"/>
                </a:lnTo>
                <a:lnTo>
                  <a:pt x="290" y="155"/>
                </a:lnTo>
                <a:lnTo>
                  <a:pt x="324" y="129"/>
                </a:lnTo>
                <a:lnTo>
                  <a:pt x="324" y="98"/>
                </a:lnTo>
                <a:lnTo>
                  <a:pt x="324" y="98"/>
                </a:lnTo>
                <a:lnTo>
                  <a:pt x="324" y="57"/>
                </a:lnTo>
                <a:lnTo>
                  <a:pt x="290" y="26"/>
                </a:lnTo>
                <a:lnTo>
                  <a:pt x="264" y="0"/>
                </a:lnTo>
                <a:lnTo>
                  <a:pt x="215" y="0"/>
                </a:lnTo>
                <a:lnTo>
                  <a:pt x="215" y="0"/>
                </a:lnTo>
                <a:close/>
                <a:moveTo>
                  <a:pt x="472" y="388"/>
                </a:moveTo>
                <a:lnTo>
                  <a:pt x="580" y="369"/>
                </a:lnTo>
                <a:lnTo>
                  <a:pt x="580" y="369"/>
                </a:lnTo>
                <a:lnTo>
                  <a:pt x="597" y="369"/>
                </a:lnTo>
                <a:lnTo>
                  <a:pt x="671" y="400"/>
                </a:lnTo>
                <a:lnTo>
                  <a:pt x="736" y="259"/>
                </a:lnTo>
                <a:lnTo>
                  <a:pt x="746" y="240"/>
                </a:lnTo>
                <a:lnTo>
                  <a:pt x="763" y="259"/>
                </a:lnTo>
                <a:lnTo>
                  <a:pt x="828" y="311"/>
                </a:lnTo>
                <a:lnTo>
                  <a:pt x="919" y="187"/>
                </a:lnTo>
                <a:lnTo>
                  <a:pt x="945" y="201"/>
                </a:lnTo>
                <a:lnTo>
                  <a:pt x="837" y="331"/>
                </a:lnTo>
                <a:lnTo>
                  <a:pt x="837" y="357"/>
                </a:lnTo>
                <a:lnTo>
                  <a:pt x="828" y="343"/>
                </a:lnTo>
                <a:lnTo>
                  <a:pt x="763" y="297"/>
                </a:lnTo>
                <a:lnTo>
                  <a:pt x="705" y="441"/>
                </a:lnTo>
                <a:lnTo>
                  <a:pt x="688" y="453"/>
                </a:lnTo>
                <a:lnTo>
                  <a:pt x="671" y="441"/>
                </a:lnTo>
                <a:lnTo>
                  <a:pt x="580" y="388"/>
                </a:lnTo>
                <a:lnTo>
                  <a:pt x="472" y="427"/>
                </a:lnTo>
                <a:lnTo>
                  <a:pt x="472" y="388"/>
                </a:lnTo>
                <a:lnTo>
                  <a:pt x="472" y="388"/>
                </a:lnTo>
                <a:close/>
                <a:moveTo>
                  <a:pt x="489" y="758"/>
                </a:moveTo>
                <a:lnTo>
                  <a:pt x="837" y="758"/>
                </a:lnTo>
                <a:lnTo>
                  <a:pt x="837" y="808"/>
                </a:lnTo>
                <a:lnTo>
                  <a:pt x="489" y="808"/>
                </a:lnTo>
                <a:lnTo>
                  <a:pt x="489" y="758"/>
                </a:lnTo>
                <a:lnTo>
                  <a:pt x="489" y="758"/>
                </a:lnTo>
                <a:close/>
                <a:moveTo>
                  <a:pt x="720" y="595"/>
                </a:moveTo>
                <a:lnTo>
                  <a:pt x="720" y="739"/>
                </a:lnTo>
                <a:lnTo>
                  <a:pt x="611" y="739"/>
                </a:lnTo>
                <a:lnTo>
                  <a:pt x="611" y="595"/>
                </a:lnTo>
                <a:lnTo>
                  <a:pt x="415" y="595"/>
                </a:lnTo>
                <a:lnTo>
                  <a:pt x="415" y="530"/>
                </a:lnTo>
                <a:lnTo>
                  <a:pt x="1020" y="530"/>
                </a:lnTo>
                <a:lnTo>
                  <a:pt x="1020" y="83"/>
                </a:lnTo>
                <a:lnTo>
                  <a:pt x="381" y="83"/>
                </a:lnTo>
                <a:lnTo>
                  <a:pt x="381" y="26"/>
                </a:lnTo>
                <a:lnTo>
                  <a:pt x="1070" y="26"/>
                </a:lnTo>
                <a:lnTo>
                  <a:pt x="1101" y="26"/>
                </a:lnTo>
                <a:lnTo>
                  <a:pt x="1101" y="45"/>
                </a:lnTo>
                <a:lnTo>
                  <a:pt x="1101" y="571"/>
                </a:lnTo>
                <a:lnTo>
                  <a:pt x="1101" y="595"/>
                </a:lnTo>
                <a:lnTo>
                  <a:pt x="1070" y="595"/>
                </a:lnTo>
                <a:lnTo>
                  <a:pt x="720" y="595"/>
                </a:lnTo>
                <a:close/>
              </a:path>
            </a:pathLst>
          </a:cu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0" name="textbox 1700"/>
          <p:cNvSpPr/>
          <p:nvPr/>
        </p:nvSpPr>
        <p:spPr>
          <a:xfrm>
            <a:off x="5580888" y="4782311"/>
            <a:ext cx="4816475" cy="1511935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82955" algn="l" rtl="0" eaLnBrk="0">
              <a:lnSpc>
                <a:spcPct val="89000"/>
              </a:lnSpc>
              <a:spcBef>
                <a:spcPts val="6"/>
              </a:spcBef>
              <a:tabLst>
                <a:tab pos="1003300" algn="l"/>
              </a:tabLst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运行成本补偿在某些省份的应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15570" algn="l" rtl="0" eaLnBrk="0">
              <a:lnSpc>
                <a:spcPts val="3392"/>
              </a:lnSpc>
              <a:spcBef>
                <a:spcPts val="1213"/>
              </a:spcBef>
              <a:tabLst>
                <a:tab pos="232409" algn="l"/>
              </a:tabLst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</a:t>
            </a: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{成本费用，</a:t>
            </a:r>
            <a:r>
              <a:rPr sz="1500" b="1" kern="0" spc="-3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报价费用}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97155" algn="l" rtl="0" eaLnBrk="0">
              <a:lnSpc>
                <a:spcPct val="98000"/>
              </a:lnSpc>
              <a:spcBef>
                <a:spcPts val="6"/>
              </a:spcBef>
              <a:tabLst>
                <a:tab pos="213995" algn="l"/>
              </a:tabLst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仅对必开机组和供热机组进行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补偿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02" name="picture 17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78567" y="5956534"/>
            <a:ext cx="116475" cy="222893"/>
          </a:xfrm>
          <a:prstGeom prst="rect">
            <a:avLst/>
          </a:prstGeom>
        </p:spPr>
      </p:pic>
      <p:pic>
        <p:nvPicPr>
          <p:cNvPr id="1704" name="picture 17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696837" y="5589168"/>
            <a:ext cx="116475" cy="222893"/>
          </a:xfrm>
          <a:prstGeom prst="rect">
            <a:avLst/>
          </a:prstGeom>
        </p:spPr>
      </p:pic>
      <p:sp>
        <p:nvSpPr>
          <p:cNvPr id="1706" name="path 1706"/>
          <p:cNvSpPr/>
          <p:nvPr/>
        </p:nvSpPr>
        <p:spPr>
          <a:xfrm>
            <a:off x="5737859" y="4905755"/>
            <a:ext cx="626363" cy="475488"/>
          </a:xfrm>
          <a:custGeom>
            <a:avLst/>
            <a:gdLst/>
            <a:ahLst/>
            <a:cxnLst/>
            <a:rect l="0" t="0" r="0" b="0"/>
            <a:pathLst>
              <a:path w="986" h="748">
                <a:moveTo>
                  <a:pt x="321" y="376"/>
                </a:moveTo>
                <a:lnTo>
                  <a:pt x="321" y="556"/>
                </a:lnTo>
                <a:lnTo>
                  <a:pt x="194" y="556"/>
                </a:lnTo>
                <a:lnTo>
                  <a:pt x="434" y="748"/>
                </a:lnTo>
                <a:lnTo>
                  <a:pt x="679" y="556"/>
                </a:lnTo>
                <a:lnTo>
                  <a:pt x="563" y="556"/>
                </a:lnTo>
                <a:lnTo>
                  <a:pt x="563" y="376"/>
                </a:lnTo>
                <a:lnTo>
                  <a:pt x="321" y="376"/>
                </a:lnTo>
                <a:lnTo>
                  <a:pt x="321" y="376"/>
                </a:lnTo>
                <a:close/>
                <a:moveTo>
                  <a:pt x="415" y="0"/>
                </a:moveTo>
                <a:lnTo>
                  <a:pt x="415" y="0"/>
                </a:lnTo>
                <a:lnTo>
                  <a:pt x="458" y="0"/>
                </a:lnTo>
                <a:lnTo>
                  <a:pt x="501" y="19"/>
                </a:lnTo>
                <a:lnTo>
                  <a:pt x="551" y="28"/>
                </a:lnTo>
                <a:lnTo>
                  <a:pt x="583" y="52"/>
                </a:lnTo>
                <a:lnTo>
                  <a:pt x="621" y="71"/>
                </a:lnTo>
                <a:lnTo>
                  <a:pt x="640" y="105"/>
                </a:lnTo>
                <a:lnTo>
                  <a:pt x="652" y="136"/>
                </a:lnTo>
                <a:lnTo>
                  <a:pt x="664" y="170"/>
                </a:lnTo>
                <a:lnTo>
                  <a:pt x="664" y="170"/>
                </a:lnTo>
                <a:lnTo>
                  <a:pt x="664" y="170"/>
                </a:lnTo>
                <a:lnTo>
                  <a:pt x="734" y="160"/>
                </a:lnTo>
                <a:lnTo>
                  <a:pt x="734" y="160"/>
                </a:lnTo>
                <a:lnTo>
                  <a:pt x="791" y="170"/>
                </a:lnTo>
                <a:lnTo>
                  <a:pt x="842" y="180"/>
                </a:lnTo>
                <a:lnTo>
                  <a:pt x="885" y="189"/>
                </a:lnTo>
                <a:lnTo>
                  <a:pt x="916" y="213"/>
                </a:lnTo>
                <a:lnTo>
                  <a:pt x="955" y="235"/>
                </a:lnTo>
                <a:lnTo>
                  <a:pt x="979" y="268"/>
                </a:lnTo>
                <a:lnTo>
                  <a:pt x="986" y="297"/>
                </a:lnTo>
                <a:lnTo>
                  <a:pt x="986" y="331"/>
                </a:lnTo>
                <a:lnTo>
                  <a:pt x="986" y="331"/>
                </a:lnTo>
                <a:lnTo>
                  <a:pt x="986" y="362"/>
                </a:lnTo>
                <a:lnTo>
                  <a:pt x="979" y="396"/>
                </a:lnTo>
                <a:lnTo>
                  <a:pt x="955" y="420"/>
                </a:lnTo>
                <a:lnTo>
                  <a:pt x="916" y="448"/>
                </a:lnTo>
                <a:lnTo>
                  <a:pt x="885" y="470"/>
                </a:lnTo>
                <a:lnTo>
                  <a:pt x="847" y="484"/>
                </a:lnTo>
                <a:lnTo>
                  <a:pt x="803" y="494"/>
                </a:lnTo>
                <a:lnTo>
                  <a:pt x="760" y="503"/>
                </a:lnTo>
                <a:lnTo>
                  <a:pt x="633" y="503"/>
                </a:lnTo>
                <a:lnTo>
                  <a:pt x="633" y="311"/>
                </a:lnTo>
                <a:lnTo>
                  <a:pt x="240" y="311"/>
                </a:lnTo>
                <a:lnTo>
                  <a:pt x="240" y="503"/>
                </a:lnTo>
                <a:lnTo>
                  <a:pt x="225" y="503"/>
                </a:lnTo>
                <a:lnTo>
                  <a:pt x="225" y="503"/>
                </a:lnTo>
                <a:lnTo>
                  <a:pt x="182" y="494"/>
                </a:lnTo>
                <a:lnTo>
                  <a:pt x="139" y="484"/>
                </a:lnTo>
                <a:lnTo>
                  <a:pt x="100" y="470"/>
                </a:lnTo>
                <a:lnTo>
                  <a:pt x="69" y="448"/>
                </a:lnTo>
                <a:lnTo>
                  <a:pt x="43" y="420"/>
                </a:lnTo>
                <a:lnTo>
                  <a:pt x="19" y="396"/>
                </a:lnTo>
                <a:lnTo>
                  <a:pt x="11" y="362"/>
                </a:lnTo>
                <a:lnTo>
                  <a:pt x="0" y="331"/>
                </a:lnTo>
                <a:lnTo>
                  <a:pt x="0" y="331"/>
                </a:lnTo>
                <a:lnTo>
                  <a:pt x="11" y="278"/>
                </a:lnTo>
                <a:lnTo>
                  <a:pt x="43" y="235"/>
                </a:lnTo>
                <a:lnTo>
                  <a:pt x="88" y="199"/>
                </a:lnTo>
                <a:lnTo>
                  <a:pt x="158" y="170"/>
                </a:lnTo>
                <a:lnTo>
                  <a:pt x="158" y="170"/>
                </a:lnTo>
                <a:lnTo>
                  <a:pt x="158" y="170"/>
                </a:lnTo>
                <a:lnTo>
                  <a:pt x="158" y="170"/>
                </a:lnTo>
                <a:lnTo>
                  <a:pt x="158" y="136"/>
                </a:lnTo>
                <a:lnTo>
                  <a:pt x="182" y="105"/>
                </a:lnTo>
                <a:lnTo>
                  <a:pt x="206" y="71"/>
                </a:lnTo>
                <a:lnTo>
                  <a:pt x="225" y="52"/>
                </a:lnTo>
                <a:lnTo>
                  <a:pt x="275" y="28"/>
                </a:lnTo>
                <a:lnTo>
                  <a:pt x="307" y="19"/>
                </a:lnTo>
                <a:lnTo>
                  <a:pt x="357" y="0"/>
                </a:lnTo>
                <a:lnTo>
                  <a:pt x="415" y="0"/>
                </a:lnTo>
                <a:lnTo>
                  <a:pt x="415" y="0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8" name="textbox 1708"/>
          <p:cNvSpPr/>
          <p:nvPr/>
        </p:nvSpPr>
        <p:spPr>
          <a:xfrm>
            <a:off x="353567" y="4796027"/>
            <a:ext cx="4814570" cy="1510664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69594" algn="l" rtl="0" eaLnBrk="0">
              <a:lnSpc>
                <a:spcPct val="88000"/>
              </a:lnSpc>
              <a:spcBef>
                <a:spcPts val="4"/>
              </a:spcBef>
              <a:tabLst>
                <a:tab pos="701675" algn="l"/>
              </a:tabLst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机组运行成本大于市场电费的主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要原因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ct val="98000"/>
              </a:lnSpc>
              <a:spcBef>
                <a:spcPts val="461"/>
              </a:spcBef>
              <a:tabLst>
                <a:tab pos="268604" algn="l"/>
              </a:tabLst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必开机组、供热机组强制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出清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ct val="98000"/>
              </a:lnSpc>
              <a:spcBef>
                <a:spcPts val="3"/>
              </a:spcBef>
              <a:tabLst>
                <a:tab pos="268604" algn="l"/>
              </a:tabLst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一般机组因物理约束，</a:t>
            </a:r>
            <a:r>
              <a:rPr sz="1500" b="1" kern="0" spc="-3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部分时刻或出力强制中标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10" name="picture 17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6065" y="5971759"/>
            <a:ext cx="116476" cy="222893"/>
          </a:xfrm>
          <a:prstGeom prst="rect">
            <a:avLst/>
          </a:prstGeom>
        </p:spPr>
      </p:pic>
      <p:pic>
        <p:nvPicPr>
          <p:cNvPr id="1712" name="picture 17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6065" y="5644076"/>
            <a:ext cx="116476" cy="222893"/>
          </a:xfrm>
          <a:prstGeom prst="rect">
            <a:avLst/>
          </a:prstGeom>
        </p:spPr>
      </p:pic>
      <p:sp>
        <p:nvSpPr>
          <p:cNvPr id="1714" name="path 1714"/>
          <p:cNvSpPr/>
          <p:nvPr/>
        </p:nvSpPr>
        <p:spPr>
          <a:xfrm>
            <a:off x="408431" y="4951475"/>
            <a:ext cx="515112" cy="353567"/>
          </a:xfrm>
          <a:custGeom>
            <a:avLst/>
            <a:gdLst/>
            <a:ahLst/>
            <a:cxnLst/>
            <a:rect l="0" t="0" r="0" b="0"/>
            <a:pathLst>
              <a:path w="811" h="556">
                <a:moveTo>
                  <a:pt x="808" y="199"/>
                </a:moveTo>
                <a:lnTo>
                  <a:pt x="808" y="199"/>
                </a:lnTo>
                <a:lnTo>
                  <a:pt x="801" y="177"/>
                </a:lnTo>
                <a:lnTo>
                  <a:pt x="794" y="156"/>
                </a:lnTo>
                <a:lnTo>
                  <a:pt x="784" y="134"/>
                </a:lnTo>
                <a:lnTo>
                  <a:pt x="770" y="115"/>
                </a:lnTo>
                <a:lnTo>
                  <a:pt x="753" y="98"/>
                </a:lnTo>
                <a:lnTo>
                  <a:pt x="734" y="81"/>
                </a:lnTo>
                <a:lnTo>
                  <a:pt x="710" y="64"/>
                </a:lnTo>
                <a:lnTo>
                  <a:pt x="688" y="50"/>
                </a:lnTo>
                <a:lnTo>
                  <a:pt x="662" y="38"/>
                </a:lnTo>
                <a:lnTo>
                  <a:pt x="633" y="28"/>
                </a:lnTo>
                <a:lnTo>
                  <a:pt x="604" y="19"/>
                </a:lnTo>
                <a:lnTo>
                  <a:pt x="573" y="12"/>
                </a:lnTo>
                <a:lnTo>
                  <a:pt x="542" y="4"/>
                </a:lnTo>
                <a:lnTo>
                  <a:pt x="508" y="2"/>
                </a:lnTo>
                <a:lnTo>
                  <a:pt x="472" y="0"/>
                </a:lnTo>
                <a:lnTo>
                  <a:pt x="439" y="0"/>
                </a:lnTo>
                <a:lnTo>
                  <a:pt x="439" y="0"/>
                </a:lnTo>
                <a:lnTo>
                  <a:pt x="405" y="4"/>
                </a:lnTo>
                <a:lnTo>
                  <a:pt x="374" y="9"/>
                </a:lnTo>
                <a:lnTo>
                  <a:pt x="343" y="16"/>
                </a:lnTo>
                <a:lnTo>
                  <a:pt x="312" y="26"/>
                </a:lnTo>
                <a:lnTo>
                  <a:pt x="283" y="36"/>
                </a:lnTo>
                <a:lnTo>
                  <a:pt x="256" y="48"/>
                </a:lnTo>
                <a:lnTo>
                  <a:pt x="230" y="62"/>
                </a:lnTo>
                <a:lnTo>
                  <a:pt x="206" y="76"/>
                </a:lnTo>
                <a:lnTo>
                  <a:pt x="206" y="76"/>
                </a:lnTo>
                <a:lnTo>
                  <a:pt x="187" y="96"/>
                </a:lnTo>
                <a:lnTo>
                  <a:pt x="170" y="112"/>
                </a:lnTo>
                <a:lnTo>
                  <a:pt x="156" y="132"/>
                </a:lnTo>
                <a:lnTo>
                  <a:pt x="144" y="151"/>
                </a:lnTo>
                <a:lnTo>
                  <a:pt x="136" y="172"/>
                </a:lnTo>
                <a:lnTo>
                  <a:pt x="129" y="192"/>
                </a:lnTo>
                <a:lnTo>
                  <a:pt x="129" y="213"/>
                </a:lnTo>
                <a:lnTo>
                  <a:pt x="129" y="235"/>
                </a:lnTo>
                <a:lnTo>
                  <a:pt x="129" y="235"/>
                </a:lnTo>
                <a:lnTo>
                  <a:pt x="134" y="256"/>
                </a:lnTo>
                <a:lnTo>
                  <a:pt x="144" y="278"/>
                </a:lnTo>
                <a:lnTo>
                  <a:pt x="153" y="300"/>
                </a:lnTo>
                <a:lnTo>
                  <a:pt x="168" y="316"/>
                </a:lnTo>
                <a:lnTo>
                  <a:pt x="184" y="336"/>
                </a:lnTo>
                <a:lnTo>
                  <a:pt x="204" y="352"/>
                </a:lnTo>
                <a:lnTo>
                  <a:pt x="225" y="369"/>
                </a:lnTo>
                <a:lnTo>
                  <a:pt x="249" y="384"/>
                </a:lnTo>
                <a:lnTo>
                  <a:pt x="278" y="396"/>
                </a:lnTo>
                <a:lnTo>
                  <a:pt x="304" y="405"/>
                </a:lnTo>
                <a:lnTo>
                  <a:pt x="333" y="415"/>
                </a:lnTo>
                <a:lnTo>
                  <a:pt x="364" y="422"/>
                </a:lnTo>
                <a:lnTo>
                  <a:pt x="398" y="427"/>
                </a:lnTo>
                <a:lnTo>
                  <a:pt x="429" y="432"/>
                </a:lnTo>
                <a:lnTo>
                  <a:pt x="463" y="434"/>
                </a:lnTo>
                <a:lnTo>
                  <a:pt x="499" y="432"/>
                </a:lnTo>
                <a:lnTo>
                  <a:pt x="499" y="432"/>
                </a:lnTo>
                <a:lnTo>
                  <a:pt x="532" y="429"/>
                </a:lnTo>
                <a:lnTo>
                  <a:pt x="566" y="424"/>
                </a:lnTo>
                <a:lnTo>
                  <a:pt x="597" y="417"/>
                </a:lnTo>
                <a:lnTo>
                  <a:pt x="626" y="410"/>
                </a:lnTo>
                <a:lnTo>
                  <a:pt x="655" y="398"/>
                </a:lnTo>
                <a:lnTo>
                  <a:pt x="681" y="386"/>
                </a:lnTo>
                <a:lnTo>
                  <a:pt x="705" y="372"/>
                </a:lnTo>
                <a:lnTo>
                  <a:pt x="729" y="355"/>
                </a:lnTo>
                <a:lnTo>
                  <a:pt x="729" y="355"/>
                </a:lnTo>
                <a:lnTo>
                  <a:pt x="751" y="338"/>
                </a:lnTo>
                <a:lnTo>
                  <a:pt x="768" y="321"/>
                </a:lnTo>
                <a:lnTo>
                  <a:pt x="782" y="302"/>
                </a:lnTo>
                <a:lnTo>
                  <a:pt x="794" y="283"/>
                </a:lnTo>
                <a:lnTo>
                  <a:pt x="801" y="261"/>
                </a:lnTo>
                <a:lnTo>
                  <a:pt x="808" y="240"/>
                </a:lnTo>
                <a:lnTo>
                  <a:pt x="811" y="218"/>
                </a:lnTo>
                <a:lnTo>
                  <a:pt x="808" y="199"/>
                </a:lnTo>
                <a:lnTo>
                  <a:pt x="808" y="199"/>
                </a:lnTo>
                <a:close/>
                <a:moveTo>
                  <a:pt x="489" y="379"/>
                </a:moveTo>
                <a:lnTo>
                  <a:pt x="489" y="379"/>
                </a:lnTo>
                <a:lnTo>
                  <a:pt x="465" y="379"/>
                </a:lnTo>
                <a:lnTo>
                  <a:pt x="439" y="376"/>
                </a:lnTo>
                <a:lnTo>
                  <a:pt x="412" y="374"/>
                </a:lnTo>
                <a:lnTo>
                  <a:pt x="388" y="369"/>
                </a:lnTo>
                <a:lnTo>
                  <a:pt x="367" y="364"/>
                </a:lnTo>
                <a:lnTo>
                  <a:pt x="345" y="357"/>
                </a:lnTo>
                <a:lnTo>
                  <a:pt x="324" y="350"/>
                </a:lnTo>
                <a:lnTo>
                  <a:pt x="304" y="340"/>
                </a:lnTo>
                <a:lnTo>
                  <a:pt x="288" y="328"/>
                </a:lnTo>
                <a:lnTo>
                  <a:pt x="271" y="316"/>
                </a:lnTo>
                <a:lnTo>
                  <a:pt x="256" y="307"/>
                </a:lnTo>
                <a:lnTo>
                  <a:pt x="244" y="292"/>
                </a:lnTo>
                <a:lnTo>
                  <a:pt x="232" y="278"/>
                </a:lnTo>
                <a:lnTo>
                  <a:pt x="225" y="264"/>
                </a:lnTo>
                <a:lnTo>
                  <a:pt x="218" y="247"/>
                </a:lnTo>
                <a:lnTo>
                  <a:pt x="213" y="230"/>
                </a:lnTo>
                <a:lnTo>
                  <a:pt x="213" y="230"/>
                </a:lnTo>
                <a:lnTo>
                  <a:pt x="213" y="213"/>
                </a:lnTo>
                <a:lnTo>
                  <a:pt x="216" y="199"/>
                </a:lnTo>
                <a:lnTo>
                  <a:pt x="220" y="182"/>
                </a:lnTo>
                <a:lnTo>
                  <a:pt x="228" y="168"/>
                </a:lnTo>
                <a:lnTo>
                  <a:pt x="235" y="151"/>
                </a:lnTo>
                <a:lnTo>
                  <a:pt x="244" y="139"/>
                </a:lnTo>
                <a:lnTo>
                  <a:pt x="259" y="124"/>
                </a:lnTo>
                <a:lnTo>
                  <a:pt x="273" y="112"/>
                </a:lnTo>
                <a:lnTo>
                  <a:pt x="290" y="100"/>
                </a:lnTo>
                <a:lnTo>
                  <a:pt x="309" y="91"/>
                </a:lnTo>
                <a:lnTo>
                  <a:pt x="328" y="81"/>
                </a:lnTo>
                <a:lnTo>
                  <a:pt x="350" y="74"/>
                </a:lnTo>
                <a:lnTo>
                  <a:pt x="372" y="67"/>
                </a:lnTo>
                <a:lnTo>
                  <a:pt x="396" y="62"/>
                </a:lnTo>
                <a:lnTo>
                  <a:pt x="422" y="57"/>
                </a:lnTo>
                <a:lnTo>
                  <a:pt x="446" y="55"/>
                </a:lnTo>
                <a:lnTo>
                  <a:pt x="446" y="55"/>
                </a:lnTo>
                <a:lnTo>
                  <a:pt x="472" y="55"/>
                </a:lnTo>
                <a:lnTo>
                  <a:pt x="496" y="57"/>
                </a:lnTo>
                <a:lnTo>
                  <a:pt x="523" y="60"/>
                </a:lnTo>
                <a:lnTo>
                  <a:pt x="547" y="62"/>
                </a:lnTo>
                <a:lnTo>
                  <a:pt x="571" y="69"/>
                </a:lnTo>
                <a:lnTo>
                  <a:pt x="592" y="74"/>
                </a:lnTo>
                <a:lnTo>
                  <a:pt x="612" y="84"/>
                </a:lnTo>
                <a:lnTo>
                  <a:pt x="633" y="93"/>
                </a:lnTo>
                <a:lnTo>
                  <a:pt x="650" y="103"/>
                </a:lnTo>
                <a:lnTo>
                  <a:pt x="667" y="115"/>
                </a:lnTo>
                <a:lnTo>
                  <a:pt x="681" y="127"/>
                </a:lnTo>
                <a:lnTo>
                  <a:pt x="693" y="141"/>
                </a:lnTo>
                <a:lnTo>
                  <a:pt x="703" y="156"/>
                </a:lnTo>
                <a:lnTo>
                  <a:pt x="712" y="170"/>
                </a:lnTo>
                <a:lnTo>
                  <a:pt x="717" y="187"/>
                </a:lnTo>
                <a:lnTo>
                  <a:pt x="722" y="204"/>
                </a:lnTo>
                <a:lnTo>
                  <a:pt x="722" y="204"/>
                </a:lnTo>
                <a:lnTo>
                  <a:pt x="722" y="218"/>
                </a:lnTo>
                <a:lnTo>
                  <a:pt x="720" y="235"/>
                </a:lnTo>
                <a:lnTo>
                  <a:pt x="717" y="252"/>
                </a:lnTo>
                <a:lnTo>
                  <a:pt x="710" y="266"/>
                </a:lnTo>
                <a:lnTo>
                  <a:pt x="703" y="280"/>
                </a:lnTo>
                <a:lnTo>
                  <a:pt x="691" y="295"/>
                </a:lnTo>
                <a:lnTo>
                  <a:pt x="679" y="309"/>
                </a:lnTo>
                <a:lnTo>
                  <a:pt x="664" y="319"/>
                </a:lnTo>
                <a:lnTo>
                  <a:pt x="648" y="331"/>
                </a:lnTo>
                <a:lnTo>
                  <a:pt x="628" y="343"/>
                </a:lnTo>
                <a:lnTo>
                  <a:pt x="609" y="350"/>
                </a:lnTo>
                <a:lnTo>
                  <a:pt x="588" y="360"/>
                </a:lnTo>
                <a:lnTo>
                  <a:pt x="566" y="367"/>
                </a:lnTo>
                <a:lnTo>
                  <a:pt x="542" y="372"/>
                </a:lnTo>
                <a:lnTo>
                  <a:pt x="516" y="376"/>
                </a:lnTo>
                <a:lnTo>
                  <a:pt x="489" y="379"/>
                </a:lnTo>
                <a:lnTo>
                  <a:pt x="489" y="379"/>
                </a:lnTo>
                <a:close/>
                <a:moveTo>
                  <a:pt x="472" y="86"/>
                </a:moveTo>
                <a:lnTo>
                  <a:pt x="472" y="86"/>
                </a:lnTo>
                <a:lnTo>
                  <a:pt x="453" y="86"/>
                </a:lnTo>
                <a:lnTo>
                  <a:pt x="453" y="86"/>
                </a:lnTo>
                <a:lnTo>
                  <a:pt x="432" y="88"/>
                </a:lnTo>
                <a:lnTo>
                  <a:pt x="412" y="93"/>
                </a:lnTo>
                <a:lnTo>
                  <a:pt x="391" y="96"/>
                </a:lnTo>
                <a:lnTo>
                  <a:pt x="374" y="100"/>
                </a:lnTo>
                <a:lnTo>
                  <a:pt x="355" y="108"/>
                </a:lnTo>
                <a:lnTo>
                  <a:pt x="338" y="115"/>
                </a:lnTo>
                <a:lnTo>
                  <a:pt x="324" y="124"/>
                </a:lnTo>
                <a:lnTo>
                  <a:pt x="309" y="134"/>
                </a:lnTo>
                <a:lnTo>
                  <a:pt x="309" y="134"/>
                </a:lnTo>
                <a:lnTo>
                  <a:pt x="304" y="139"/>
                </a:lnTo>
                <a:lnTo>
                  <a:pt x="304" y="144"/>
                </a:lnTo>
                <a:lnTo>
                  <a:pt x="307" y="148"/>
                </a:lnTo>
                <a:lnTo>
                  <a:pt x="312" y="153"/>
                </a:lnTo>
                <a:lnTo>
                  <a:pt x="312" y="153"/>
                </a:lnTo>
                <a:lnTo>
                  <a:pt x="316" y="153"/>
                </a:lnTo>
                <a:lnTo>
                  <a:pt x="324" y="156"/>
                </a:lnTo>
                <a:lnTo>
                  <a:pt x="333" y="156"/>
                </a:lnTo>
                <a:lnTo>
                  <a:pt x="338" y="153"/>
                </a:lnTo>
                <a:lnTo>
                  <a:pt x="343" y="151"/>
                </a:lnTo>
                <a:lnTo>
                  <a:pt x="343" y="151"/>
                </a:lnTo>
                <a:lnTo>
                  <a:pt x="352" y="144"/>
                </a:lnTo>
                <a:lnTo>
                  <a:pt x="364" y="139"/>
                </a:lnTo>
                <a:lnTo>
                  <a:pt x="379" y="132"/>
                </a:lnTo>
                <a:lnTo>
                  <a:pt x="393" y="127"/>
                </a:lnTo>
                <a:lnTo>
                  <a:pt x="408" y="122"/>
                </a:lnTo>
                <a:lnTo>
                  <a:pt x="422" y="117"/>
                </a:lnTo>
                <a:lnTo>
                  <a:pt x="439" y="115"/>
                </a:lnTo>
                <a:lnTo>
                  <a:pt x="458" y="115"/>
                </a:lnTo>
                <a:lnTo>
                  <a:pt x="458" y="115"/>
                </a:lnTo>
                <a:lnTo>
                  <a:pt x="472" y="112"/>
                </a:lnTo>
                <a:lnTo>
                  <a:pt x="472" y="112"/>
                </a:lnTo>
                <a:lnTo>
                  <a:pt x="487" y="115"/>
                </a:lnTo>
                <a:lnTo>
                  <a:pt x="501" y="115"/>
                </a:lnTo>
                <a:lnTo>
                  <a:pt x="513" y="117"/>
                </a:lnTo>
                <a:lnTo>
                  <a:pt x="528" y="120"/>
                </a:lnTo>
                <a:lnTo>
                  <a:pt x="542" y="122"/>
                </a:lnTo>
                <a:lnTo>
                  <a:pt x="554" y="127"/>
                </a:lnTo>
                <a:lnTo>
                  <a:pt x="566" y="132"/>
                </a:lnTo>
                <a:lnTo>
                  <a:pt x="578" y="136"/>
                </a:lnTo>
                <a:lnTo>
                  <a:pt x="578" y="136"/>
                </a:lnTo>
                <a:lnTo>
                  <a:pt x="585" y="139"/>
                </a:lnTo>
                <a:lnTo>
                  <a:pt x="592" y="139"/>
                </a:lnTo>
                <a:lnTo>
                  <a:pt x="602" y="139"/>
                </a:lnTo>
                <a:lnTo>
                  <a:pt x="607" y="134"/>
                </a:lnTo>
                <a:lnTo>
                  <a:pt x="607" y="134"/>
                </a:lnTo>
                <a:lnTo>
                  <a:pt x="609" y="129"/>
                </a:lnTo>
                <a:lnTo>
                  <a:pt x="612" y="124"/>
                </a:lnTo>
                <a:lnTo>
                  <a:pt x="609" y="120"/>
                </a:lnTo>
                <a:lnTo>
                  <a:pt x="604" y="115"/>
                </a:lnTo>
                <a:lnTo>
                  <a:pt x="604" y="115"/>
                </a:lnTo>
                <a:lnTo>
                  <a:pt x="590" y="108"/>
                </a:lnTo>
                <a:lnTo>
                  <a:pt x="573" y="103"/>
                </a:lnTo>
                <a:lnTo>
                  <a:pt x="559" y="98"/>
                </a:lnTo>
                <a:lnTo>
                  <a:pt x="542" y="93"/>
                </a:lnTo>
                <a:lnTo>
                  <a:pt x="525" y="91"/>
                </a:lnTo>
                <a:lnTo>
                  <a:pt x="508" y="88"/>
                </a:lnTo>
                <a:lnTo>
                  <a:pt x="489" y="86"/>
                </a:lnTo>
                <a:lnTo>
                  <a:pt x="472" y="86"/>
                </a:lnTo>
                <a:lnTo>
                  <a:pt x="472" y="86"/>
                </a:lnTo>
                <a:close/>
              </a:path>
              <a:path w="811" h="556">
                <a:moveTo>
                  <a:pt x="151" y="352"/>
                </a:moveTo>
                <a:lnTo>
                  <a:pt x="24" y="446"/>
                </a:lnTo>
                <a:lnTo>
                  <a:pt x="24" y="446"/>
                </a:lnTo>
                <a:lnTo>
                  <a:pt x="19" y="451"/>
                </a:lnTo>
                <a:lnTo>
                  <a:pt x="14" y="456"/>
                </a:lnTo>
                <a:lnTo>
                  <a:pt x="4" y="470"/>
                </a:lnTo>
                <a:lnTo>
                  <a:pt x="0" y="482"/>
                </a:lnTo>
                <a:lnTo>
                  <a:pt x="0" y="494"/>
                </a:lnTo>
                <a:lnTo>
                  <a:pt x="4" y="508"/>
                </a:lnTo>
                <a:lnTo>
                  <a:pt x="12" y="520"/>
                </a:lnTo>
                <a:lnTo>
                  <a:pt x="24" y="530"/>
                </a:lnTo>
                <a:lnTo>
                  <a:pt x="31" y="535"/>
                </a:lnTo>
                <a:lnTo>
                  <a:pt x="38" y="540"/>
                </a:lnTo>
                <a:lnTo>
                  <a:pt x="38" y="540"/>
                </a:lnTo>
                <a:lnTo>
                  <a:pt x="55" y="549"/>
                </a:lnTo>
                <a:lnTo>
                  <a:pt x="74" y="554"/>
                </a:lnTo>
                <a:lnTo>
                  <a:pt x="93" y="556"/>
                </a:lnTo>
                <a:lnTo>
                  <a:pt x="117" y="556"/>
                </a:lnTo>
                <a:lnTo>
                  <a:pt x="117" y="556"/>
                </a:lnTo>
                <a:lnTo>
                  <a:pt x="136" y="554"/>
                </a:lnTo>
                <a:lnTo>
                  <a:pt x="153" y="549"/>
                </a:lnTo>
                <a:lnTo>
                  <a:pt x="172" y="542"/>
                </a:lnTo>
                <a:lnTo>
                  <a:pt x="187" y="532"/>
                </a:lnTo>
                <a:lnTo>
                  <a:pt x="314" y="439"/>
                </a:lnTo>
                <a:lnTo>
                  <a:pt x="314" y="439"/>
                </a:lnTo>
                <a:lnTo>
                  <a:pt x="290" y="432"/>
                </a:lnTo>
                <a:lnTo>
                  <a:pt x="266" y="422"/>
                </a:lnTo>
                <a:lnTo>
                  <a:pt x="244" y="415"/>
                </a:lnTo>
                <a:lnTo>
                  <a:pt x="220" y="403"/>
                </a:lnTo>
                <a:lnTo>
                  <a:pt x="201" y="393"/>
                </a:lnTo>
                <a:lnTo>
                  <a:pt x="184" y="379"/>
                </a:lnTo>
                <a:lnTo>
                  <a:pt x="168" y="367"/>
                </a:lnTo>
                <a:lnTo>
                  <a:pt x="151" y="352"/>
                </a:lnTo>
                <a:lnTo>
                  <a:pt x="151" y="352"/>
                </a:lnTo>
                <a:close/>
                <a:moveTo>
                  <a:pt x="156" y="410"/>
                </a:moveTo>
                <a:lnTo>
                  <a:pt x="74" y="472"/>
                </a:lnTo>
                <a:lnTo>
                  <a:pt x="74" y="472"/>
                </a:lnTo>
                <a:lnTo>
                  <a:pt x="69" y="477"/>
                </a:lnTo>
                <a:lnTo>
                  <a:pt x="67" y="480"/>
                </a:lnTo>
                <a:lnTo>
                  <a:pt x="64" y="484"/>
                </a:lnTo>
                <a:lnTo>
                  <a:pt x="64" y="489"/>
                </a:lnTo>
                <a:lnTo>
                  <a:pt x="64" y="489"/>
                </a:lnTo>
                <a:lnTo>
                  <a:pt x="64" y="494"/>
                </a:lnTo>
                <a:lnTo>
                  <a:pt x="69" y="499"/>
                </a:lnTo>
                <a:lnTo>
                  <a:pt x="72" y="503"/>
                </a:lnTo>
                <a:lnTo>
                  <a:pt x="76" y="508"/>
                </a:lnTo>
                <a:lnTo>
                  <a:pt x="76" y="508"/>
                </a:lnTo>
                <a:lnTo>
                  <a:pt x="84" y="511"/>
                </a:lnTo>
                <a:lnTo>
                  <a:pt x="84" y="516"/>
                </a:lnTo>
                <a:lnTo>
                  <a:pt x="84" y="520"/>
                </a:lnTo>
                <a:lnTo>
                  <a:pt x="79" y="523"/>
                </a:lnTo>
                <a:lnTo>
                  <a:pt x="79" y="523"/>
                </a:lnTo>
                <a:lnTo>
                  <a:pt x="76" y="525"/>
                </a:lnTo>
                <a:lnTo>
                  <a:pt x="69" y="527"/>
                </a:lnTo>
                <a:lnTo>
                  <a:pt x="62" y="527"/>
                </a:lnTo>
                <a:lnTo>
                  <a:pt x="60" y="525"/>
                </a:lnTo>
                <a:lnTo>
                  <a:pt x="57" y="525"/>
                </a:lnTo>
                <a:lnTo>
                  <a:pt x="57" y="525"/>
                </a:lnTo>
                <a:lnTo>
                  <a:pt x="45" y="516"/>
                </a:lnTo>
                <a:lnTo>
                  <a:pt x="38" y="508"/>
                </a:lnTo>
                <a:lnTo>
                  <a:pt x="33" y="499"/>
                </a:lnTo>
                <a:lnTo>
                  <a:pt x="31" y="489"/>
                </a:lnTo>
                <a:lnTo>
                  <a:pt x="31" y="489"/>
                </a:lnTo>
                <a:lnTo>
                  <a:pt x="33" y="482"/>
                </a:lnTo>
                <a:lnTo>
                  <a:pt x="36" y="472"/>
                </a:lnTo>
                <a:lnTo>
                  <a:pt x="40" y="465"/>
                </a:lnTo>
                <a:lnTo>
                  <a:pt x="48" y="458"/>
                </a:lnTo>
                <a:lnTo>
                  <a:pt x="129" y="396"/>
                </a:lnTo>
                <a:lnTo>
                  <a:pt x="129" y="396"/>
                </a:lnTo>
                <a:lnTo>
                  <a:pt x="136" y="393"/>
                </a:lnTo>
                <a:lnTo>
                  <a:pt x="141" y="393"/>
                </a:lnTo>
                <a:lnTo>
                  <a:pt x="146" y="393"/>
                </a:lnTo>
                <a:lnTo>
                  <a:pt x="153" y="393"/>
                </a:lnTo>
                <a:lnTo>
                  <a:pt x="153" y="393"/>
                </a:lnTo>
                <a:lnTo>
                  <a:pt x="158" y="398"/>
                </a:lnTo>
                <a:lnTo>
                  <a:pt x="160" y="400"/>
                </a:lnTo>
                <a:lnTo>
                  <a:pt x="158" y="405"/>
                </a:lnTo>
                <a:lnTo>
                  <a:pt x="156" y="410"/>
                </a:lnTo>
                <a:lnTo>
                  <a:pt x="156" y="410"/>
                </a:lnTo>
                <a:close/>
              </a:path>
            </a:pathLst>
          </a:custGeom>
          <a:solidFill>
            <a:srgbClr val="A6A6A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16" name="textbox 1716"/>
          <p:cNvSpPr/>
          <p:nvPr/>
        </p:nvSpPr>
        <p:spPr>
          <a:xfrm>
            <a:off x="353567" y="4044696"/>
            <a:ext cx="10045065" cy="378459"/>
          </a:xfrm>
          <a:prstGeom prst="rect">
            <a:avLst/>
          </a:prstGeom>
          <a:solidFill>
            <a:srgbClr val="7F7F7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95829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日前市场总电费收入</a:t>
            </a:r>
            <a:r>
              <a:rPr sz="1700" b="1" kern="0" spc="2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700" b="1" kern="0" spc="2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日前市场电费</a:t>
            </a:r>
            <a:r>
              <a:rPr sz="1700" b="1" kern="0" spc="2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700" b="1" kern="0" spc="2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</a:t>
            </a:r>
            <a:r>
              <a:rPr sz="17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场成本补偿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718" name="table 1718"/>
          <p:cNvGraphicFramePr>
            <a:graphicFrameLocks noGrp="1"/>
          </p:cNvGraphicFramePr>
          <p:nvPr/>
        </p:nvGraphicFramePr>
        <p:xfrm>
          <a:off x="5534405" y="3397758"/>
          <a:ext cx="4867275" cy="356234"/>
        </p:xfrm>
        <a:graphic>
          <a:graphicData uri="http://schemas.openxmlformats.org/drawingml/2006/table">
            <a:tbl>
              <a:tblPr/>
              <a:tblGrid>
                <a:gridCol w="4867275"/>
              </a:tblGrid>
              <a:tr h="3498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0" algn="l" rtl="0" eaLnBrk="0">
                        <a:lnSpc>
                          <a:spcPts val="208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全天市场电费  =</a:t>
                      </a:r>
                      <a:r>
                        <a:rPr sz="1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∑（市场电价</a:t>
                      </a:r>
                      <a:r>
                        <a:rPr sz="15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</a:t>
                      </a:r>
                      <a:r>
                        <a:rPr sz="15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出清电量）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20" name="table 1720"/>
          <p:cNvGraphicFramePr>
            <a:graphicFrameLocks noGrp="1"/>
          </p:cNvGraphicFramePr>
          <p:nvPr/>
        </p:nvGraphicFramePr>
        <p:xfrm>
          <a:off x="5534405" y="2260853"/>
          <a:ext cx="4867275" cy="325754"/>
        </p:xfrm>
        <a:graphic>
          <a:graphicData uri="http://schemas.openxmlformats.org/drawingml/2006/table">
            <a:tbl>
              <a:tblPr/>
              <a:tblGrid>
                <a:gridCol w="4867275"/>
              </a:tblGrid>
              <a:tr h="3194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ts val="185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全天运行成本</a:t>
                      </a:r>
                      <a:r>
                        <a:rPr sz="14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 开机成本</a:t>
                      </a:r>
                      <a:r>
                        <a:rPr sz="14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∑（空载成本</a:t>
                      </a:r>
                      <a:r>
                        <a:rPr sz="14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递增出力</a:t>
                      </a:r>
                      <a:r>
                        <a:rPr sz="14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成本）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1B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22" name="textbox 1722"/>
          <p:cNvSpPr/>
          <p:nvPr/>
        </p:nvSpPr>
        <p:spPr>
          <a:xfrm>
            <a:off x="555792" y="1050250"/>
            <a:ext cx="2488564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日前市场成本补偿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24" name="textbox 1724"/>
          <p:cNvSpPr/>
          <p:nvPr/>
        </p:nvSpPr>
        <p:spPr>
          <a:xfrm>
            <a:off x="7093711" y="1833658"/>
            <a:ext cx="1673225" cy="198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531494" algn="l"/>
                <a:tab pos="1659889" algn="l"/>
              </a:tabLst>
            </a:pPr>
            <a:r>
              <a:rPr sz="12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163751"/>
                  </a:solidFill>
                </a:u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b="1" u="sng" kern="0" spc="-1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163751"/>
                  </a:solidFill>
                </a:uFill>
                <a:latin typeface="Microsoft YaHei"/>
                <a:ea typeface="Microsoft YaHei"/>
                <a:cs typeface="Microsoft YaHei"/>
              </a:rPr>
              <a:t>固定补偿</a:t>
            </a:r>
            <a:r>
              <a:rPr sz="12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163751"/>
                  </a:solidFill>
                </a:uFill>
                <a:latin typeface="Microsoft YaHei"/>
                <a:ea typeface="Microsoft YaHei"/>
                <a:cs typeface="Microsoft YaHei"/>
              </a:rPr>
              <a:t>	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26" name="path 1726"/>
          <p:cNvSpPr/>
          <p:nvPr/>
        </p:nvSpPr>
        <p:spPr>
          <a:xfrm>
            <a:off x="358139" y="3720083"/>
            <a:ext cx="4646676" cy="24383"/>
          </a:xfrm>
          <a:custGeom>
            <a:avLst/>
            <a:gdLst/>
            <a:ahLst/>
            <a:cxnLst/>
            <a:rect l="0" t="0" r="0" b="0"/>
            <a:pathLst>
              <a:path w="7317" h="38">
                <a:moveTo>
                  <a:pt x="0" y="19"/>
                </a:moveTo>
                <a:lnTo>
                  <a:pt x="7317" y="19"/>
                </a:lnTo>
              </a:path>
            </a:pathLst>
          </a:custGeom>
          <a:noFill/>
          <a:ln w="24383" cap="flat">
            <a:solidFill>
              <a:srgbClr val="1B415E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28" name="picture 17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1617726"/>
            <a:ext cx="2596896" cy="16764"/>
          </a:xfrm>
          <a:prstGeom prst="rect">
            <a:avLst/>
          </a:prstGeom>
        </p:spPr>
      </p:pic>
      <p:sp>
        <p:nvSpPr>
          <p:cNvPr id="1730" name="path 1730"/>
          <p:cNvSpPr/>
          <p:nvPr/>
        </p:nvSpPr>
        <p:spPr>
          <a:xfrm>
            <a:off x="7187183" y="2100071"/>
            <a:ext cx="234697" cy="128016"/>
          </a:xfrm>
          <a:custGeom>
            <a:avLst/>
            <a:gdLst/>
            <a:ahLst/>
            <a:cxnLst/>
            <a:rect l="0" t="0" r="0" b="0"/>
            <a:pathLst>
              <a:path w="369" h="201">
                <a:moveTo>
                  <a:pt x="0" y="100"/>
                </a:moveTo>
                <a:lnTo>
                  <a:pt x="93" y="100"/>
                </a:lnTo>
                <a:lnTo>
                  <a:pt x="93" y="0"/>
                </a:lnTo>
                <a:lnTo>
                  <a:pt x="278" y="0"/>
                </a:lnTo>
                <a:lnTo>
                  <a:pt x="278" y="100"/>
                </a:lnTo>
                <a:lnTo>
                  <a:pt x="369" y="100"/>
                </a:lnTo>
                <a:lnTo>
                  <a:pt x="184" y="201"/>
                </a:lnTo>
                <a:lnTo>
                  <a:pt x="0" y="100"/>
                </a:lnTo>
                <a:close/>
              </a:path>
            </a:pathLst>
          </a:custGeom>
          <a:solidFill>
            <a:srgbClr val="16375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32" name="path 1732"/>
          <p:cNvSpPr/>
          <p:nvPr/>
        </p:nvSpPr>
        <p:spPr>
          <a:xfrm>
            <a:off x="8427719" y="2087879"/>
            <a:ext cx="234696" cy="128016"/>
          </a:xfrm>
          <a:custGeom>
            <a:avLst/>
            <a:gdLst/>
            <a:ahLst/>
            <a:cxnLst/>
            <a:rect l="0" t="0" r="0" b="0"/>
            <a:pathLst>
              <a:path w="369" h="201">
                <a:moveTo>
                  <a:pt x="0" y="100"/>
                </a:moveTo>
                <a:lnTo>
                  <a:pt x="93" y="100"/>
                </a:lnTo>
                <a:lnTo>
                  <a:pt x="93" y="0"/>
                </a:lnTo>
                <a:lnTo>
                  <a:pt x="278" y="0"/>
                </a:lnTo>
                <a:lnTo>
                  <a:pt x="278" y="100"/>
                </a:lnTo>
                <a:lnTo>
                  <a:pt x="369" y="100"/>
                </a:lnTo>
                <a:lnTo>
                  <a:pt x="184" y="201"/>
                </a:lnTo>
                <a:lnTo>
                  <a:pt x="0" y="100"/>
                </a:lnTo>
                <a:close/>
              </a:path>
            </a:pathLst>
          </a:custGeom>
          <a:solidFill>
            <a:srgbClr val="16375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34" name="textbox 1734"/>
          <p:cNvSpPr/>
          <p:nvPr/>
        </p:nvSpPr>
        <p:spPr>
          <a:xfrm>
            <a:off x="7849770" y="2923152"/>
            <a:ext cx="154939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68000"/>
              </a:lnSpc>
              <a:tabLst/>
            </a:pP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 236"/>
          <p:cNvGrpSpPr/>
          <p:nvPr/>
        </p:nvGrpSpPr>
        <p:grpSpPr>
          <a:xfrm rot="21600000">
            <a:off x="243077" y="4207764"/>
            <a:ext cx="10206228" cy="1898142"/>
            <a:chOff x="0" y="0"/>
            <a:chExt cx="10206228" cy="1898142"/>
          </a:xfrm>
        </p:grpSpPr>
        <p:sp>
          <p:nvSpPr>
            <p:cNvPr id="1736" name="path 1736"/>
            <p:cNvSpPr/>
            <p:nvPr/>
          </p:nvSpPr>
          <p:spPr>
            <a:xfrm>
              <a:off x="0" y="162305"/>
              <a:ext cx="10206228" cy="1735836"/>
            </a:xfrm>
            <a:custGeom>
              <a:avLst/>
              <a:gdLst/>
              <a:ahLst/>
              <a:cxnLst/>
              <a:rect l="0" t="0" r="0" b="0"/>
              <a:pathLst>
                <a:path w="16072" h="2733">
                  <a:moveTo>
                    <a:pt x="8" y="462"/>
                  </a:moveTo>
                  <a:cubicBezTo>
                    <a:pt x="8" y="210"/>
                    <a:pt x="212" y="8"/>
                    <a:pt x="462" y="8"/>
                  </a:cubicBezTo>
                  <a:lnTo>
                    <a:pt x="15610" y="8"/>
                  </a:lnTo>
                  <a:cubicBezTo>
                    <a:pt x="15862" y="8"/>
                    <a:pt x="16064" y="210"/>
                    <a:pt x="16064" y="462"/>
                  </a:cubicBezTo>
                  <a:lnTo>
                    <a:pt x="16064" y="2274"/>
                  </a:lnTo>
                  <a:cubicBezTo>
                    <a:pt x="16064" y="2523"/>
                    <a:pt x="15862" y="2725"/>
                    <a:pt x="15610" y="2725"/>
                  </a:cubicBezTo>
                  <a:lnTo>
                    <a:pt x="462" y="2725"/>
                  </a:lnTo>
                  <a:cubicBezTo>
                    <a:pt x="212" y="2725"/>
                    <a:pt x="8" y="2523"/>
                    <a:pt x="8" y="2274"/>
                  </a:cubicBezTo>
                  <a:lnTo>
                    <a:pt x="8" y="462"/>
                  </a:lnTo>
                  <a:close/>
                </a:path>
              </a:pathLst>
            </a:custGeom>
            <a:noFill/>
            <a:ln w="10668" cap="flat">
              <a:solidFill>
                <a:srgbClr val="41719C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38" name="path 1738"/>
            <p:cNvSpPr/>
            <p:nvPr/>
          </p:nvSpPr>
          <p:spPr>
            <a:xfrm>
              <a:off x="459485" y="0"/>
              <a:ext cx="9288780" cy="359663"/>
            </a:xfrm>
            <a:custGeom>
              <a:avLst/>
              <a:gdLst/>
              <a:ahLst/>
              <a:cxnLst/>
              <a:rect l="0" t="0" r="0" b="0"/>
              <a:pathLst>
                <a:path w="14628" h="566">
                  <a:moveTo>
                    <a:pt x="0" y="95"/>
                  </a:moveTo>
                  <a:moveTo>
                    <a:pt x="0" y="95"/>
                  </a:moveTo>
                  <a:cubicBezTo>
                    <a:pt x="0" y="43"/>
                    <a:pt x="43" y="0"/>
                    <a:pt x="93" y="0"/>
                  </a:cubicBezTo>
                  <a:lnTo>
                    <a:pt x="14531" y="0"/>
                  </a:lnTo>
                  <a:cubicBezTo>
                    <a:pt x="14584" y="0"/>
                    <a:pt x="14628" y="43"/>
                    <a:pt x="14628" y="95"/>
                  </a:cubicBezTo>
                  <a:lnTo>
                    <a:pt x="14628" y="470"/>
                  </a:lnTo>
                  <a:cubicBezTo>
                    <a:pt x="14628" y="523"/>
                    <a:pt x="14584" y="566"/>
                    <a:pt x="14531" y="566"/>
                  </a:cubicBezTo>
                  <a:lnTo>
                    <a:pt x="93" y="566"/>
                  </a:lnTo>
                  <a:cubicBezTo>
                    <a:pt x="43" y="566"/>
                    <a:pt x="0" y="523"/>
                    <a:pt x="0" y="470"/>
                  </a:cubicBezTo>
                  <a:lnTo>
                    <a:pt x="0" y="95"/>
                  </a:lnTo>
                  <a:close/>
                </a:path>
              </a:pathLst>
            </a:custGeom>
            <a:solidFill>
              <a:srgbClr val="1B415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40" name="path 1740"/>
            <p:cNvSpPr/>
            <p:nvPr/>
          </p:nvSpPr>
          <p:spPr>
            <a:xfrm>
              <a:off x="963739" y="909637"/>
              <a:ext cx="195452" cy="70485"/>
            </a:xfrm>
            <a:custGeom>
              <a:avLst/>
              <a:gdLst/>
              <a:ahLst/>
              <a:cxnLst/>
              <a:rect l="0" t="0" r="0" b="0"/>
              <a:pathLst>
                <a:path w="307" h="111">
                  <a:moveTo>
                    <a:pt x="240" y="7"/>
                  </a:moveTo>
                  <a:moveTo>
                    <a:pt x="240" y="7"/>
                  </a:moveTo>
                  <a:lnTo>
                    <a:pt x="300" y="7"/>
                  </a:lnTo>
                  <a:lnTo>
                    <a:pt x="300" y="65"/>
                  </a:lnTo>
                  <a:lnTo>
                    <a:pt x="240" y="65"/>
                  </a:lnTo>
                  <a:lnTo>
                    <a:pt x="240" y="7"/>
                  </a:lnTo>
                  <a:lnTo>
                    <a:pt x="240" y="7"/>
                  </a:lnTo>
                  <a:close/>
                  <a:moveTo>
                    <a:pt x="7" y="38"/>
                  </a:moveTo>
                  <a:moveTo>
                    <a:pt x="7" y="38"/>
                  </a:moveTo>
                  <a:lnTo>
                    <a:pt x="77" y="38"/>
                  </a:lnTo>
                  <a:lnTo>
                    <a:pt x="77" y="103"/>
                  </a:lnTo>
                  <a:lnTo>
                    <a:pt x="7" y="103"/>
                  </a:lnTo>
                  <a:lnTo>
                    <a:pt x="7" y="38"/>
                  </a:lnTo>
                  <a:lnTo>
                    <a:pt x="7" y="38"/>
                  </a:lnTo>
                  <a:close/>
                </a:path>
              </a:pathLst>
            </a:custGeom>
            <a:solidFill>
              <a:srgbClr val="58595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42" name="path 1742"/>
            <p:cNvSpPr/>
            <p:nvPr/>
          </p:nvSpPr>
          <p:spPr>
            <a:xfrm>
              <a:off x="918210" y="1133855"/>
              <a:ext cx="7248144" cy="24384"/>
            </a:xfrm>
            <a:custGeom>
              <a:avLst/>
              <a:gdLst/>
              <a:ahLst/>
              <a:cxnLst/>
              <a:rect l="0" t="0" r="0" b="0"/>
              <a:pathLst>
                <a:path w="11414" h="38">
                  <a:moveTo>
                    <a:pt x="0" y="19"/>
                  </a:moveTo>
                  <a:lnTo>
                    <a:pt x="11414" y="19"/>
                  </a:lnTo>
                </a:path>
              </a:pathLst>
            </a:custGeom>
            <a:noFill/>
            <a:ln w="24383" cap="flat">
              <a:solidFill>
                <a:srgbClr val="1B415E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744" name="rect 1744"/>
          <p:cNvSpPr/>
          <p:nvPr/>
        </p:nvSpPr>
        <p:spPr>
          <a:xfrm>
            <a:off x="702563" y="5905500"/>
            <a:ext cx="9288780" cy="358139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46" name="textbox 1746"/>
          <p:cNvSpPr/>
          <p:nvPr/>
        </p:nvSpPr>
        <p:spPr>
          <a:xfrm>
            <a:off x="1708544" y="4275489"/>
            <a:ext cx="6597015" cy="1945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15694" algn="l" rtl="0" eaLnBrk="0">
              <a:lnSpc>
                <a:spcPct val="88000"/>
              </a:lnSpc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实时额外运行成本=实时计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划运行成本-日前计划运行成本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89"/>
              </a:lnSpc>
              <a:spcBef>
                <a:spcPts val="452"/>
              </a:spcBef>
              <a:tabLst/>
            </a:pPr>
            <a:r>
              <a:rPr sz="1500" b="1" kern="0" spc="60" dirty="0">
                <a:solidFill>
                  <a:srgbClr val="1B41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实时运行成本补偿</a:t>
            </a:r>
            <a:r>
              <a:rPr sz="1500" b="1" kern="0" spc="190" dirty="0">
                <a:solidFill>
                  <a:srgbClr val="1B41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60" dirty="0">
                <a:solidFill>
                  <a:srgbClr val="1B41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500" b="1" kern="0" spc="160" dirty="0">
                <a:solidFill>
                  <a:srgbClr val="1B41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0" dirty="0">
                <a:solidFill>
                  <a:srgbClr val="1B41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MAX</a:t>
            </a:r>
            <a:r>
              <a:rPr sz="1500" b="1" kern="0" spc="60" dirty="0">
                <a:solidFill>
                  <a:srgbClr val="1B41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( 实时额外运行成本 </a:t>
            </a:r>
            <a:r>
              <a:rPr sz="1500" b="1" kern="0" spc="50" dirty="0">
                <a:solidFill>
                  <a:srgbClr val="1B41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– 全天实时市场电费，</a:t>
            </a:r>
            <a:r>
              <a:rPr sz="1500" b="1" kern="0" spc="-320" dirty="0">
                <a:solidFill>
                  <a:srgbClr val="1B41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50" dirty="0">
                <a:solidFill>
                  <a:srgbClr val="1B41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0 )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89"/>
              </a:lnSpc>
              <a:spcBef>
                <a:spcPts val="2"/>
              </a:spcBef>
              <a:tabLst/>
            </a:pP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实时市场电能电费  = ∑ 实时市场电价</a:t>
            </a:r>
            <a:r>
              <a:rPr sz="1500" b="1" kern="0" spc="2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</a:t>
            </a:r>
            <a:r>
              <a:rPr sz="1500" b="1" kern="0" spc="1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(计量电量-日前出清电量）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38" name="group 238"/>
          <p:cNvGrpSpPr/>
          <p:nvPr/>
        </p:nvGrpSpPr>
        <p:grpSpPr>
          <a:xfrm rot="21600000">
            <a:off x="5811011" y="1193291"/>
            <a:ext cx="4110227" cy="2081783"/>
            <a:chOff x="0" y="0"/>
            <a:chExt cx="4110227" cy="2081783"/>
          </a:xfrm>
        </p:grpSpPr>
        <p:pic>
          <p:nvPicPr>
            <p:cNvPr id="1748" name="picture 17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110227" cy="2081783"/>
            </a:xfrm>
            <a:prstGeom prst="rect">
              <a:avLst/>
            </a:prstGeom>
          </p:spPr>
        </p:pic>
        <p:sp>
          <p:nvSpPr>
            <p:cNvPr id="1750" name="textbox 1750"/>
            <p:cNvSpPr/>
            <p:nvPr/>
          </p:nvSpPr>
          <p:spPr>
            <a:xfrm>
              <a:off x="-12700" y="-12700"/>
              <a:ext cx="4135754" cy="21075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11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09955" indent="-177800" algn="l" rtl="0" eaLnBrk="0">
                <a:lnSpc>
                  <a:spcPct val="94000"/>
                </a:lnSpc>
                <a:tabLst/>
              </a:pP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实时市场运行成本高于日前市场运           </a:t>
              </a: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行成本时可继续获得成本补偿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752" name="textbox 1752"/>
          <p:cNvSpPr/>
          <p:nvPr/>
        </p:nvSpPr>
        <p:spPr>
          <a:xfrm>
            <a:off x="2713836" y="2027240"/>
            <a:ext cx="1447800" cy="638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1B41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实时市场电能电费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669925" algn="l" rtl="0" eaLnBrk="0">
              <a:lnSpc>
                <a:spcPts val="1045"/>
              </a:lnSpc>
              <a:spcBef>
                <a:spcPts val="552"/>
              </a:spcBef>
              <a:tabLst/>
            </a:pPr>
            <a:r>
              <a:rPr sz="1500" b="1" kern="0" spc="-10" dirty="0">
                <a:solidFill>
                  <a:srgbClr val="1B41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292"/>
              </a:spcBef>
              <a:tabLst/>
            </a:pPr>
            <a:r>
              <a:rPr sz="1400" b="1" kern="0" spc="-10" dirty="0">
                <a:solidFill>
                  <a:srgbClr val="1B41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实时市场成本补偿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54" name="path 1754"/>
          <p:cNvSpPr/>
          <p:nvPr/>
        </p:nvSpPr>
        <p:spPr>
          <a:xfrm>
            <a:off x="854963" y="1871471"/>
            <a:ext cx="565404" cy="420623"/>
          </a:xfrm>
          <a:custGeom>
            <a:avLst/>
            <a:gdLst/>
            <a:ahLst/>
            <a:cxnLst/>
            <a:rect l="0" t="0" r="0" b="0"/>
            <a:pathLst>
              <a:path w="890" h="662">
                <a:moveTo>
                  <a:pt x="811" y="0"/>
                </a:moveTo>
                <a:cubicBezTo>
                  <a:pt x="79" y="0"/>
                  <a:pt x="79" y="0"/>
                  <a:pt x="79" y="0"/>
                </a:cubicBezTo>
                <a:cubicBezTo>
                  <a:pt x="36" y="0"/>
                  <a:pt x="0" y="28"/>
                  <a:pt x="0" y="64"/>
                </a:cubicBezTo>
                <a:cubicBezTo>
                  <a:pt x="0" y="458"/>
                  <a:pt x="0" y="458"/>
                  <a:pt x="0" y="458"/>
                </a:cubicBezTo>
                <a:cubicBezTo>
                  <a:pt x="0" y="494"/>
                  <a:pt x="36" y="523"/>
                  <a:pt x="79" y="523"/>
                </a:cubicBezTo>
                <a:cubicBezTo>
                  <a:pt x="117" y="523"/>
                  <a:pt x="117" y="523"/>
                  <a:pt x="117" y="523"/>
                </a:cubicBezTo>
                <a:cubicBezTo>
                  <a:pt x="21" y="662"/>
                  <a:pt x="21" y="662"/>
                  <a:pt x="21" y="662"/>
                </a:cubicBezTo>
                <a:cubicBezTo>
                  <a:pt x="312" y="523"/>
                  <a:pt x="312" y="523"/>
                  <a:pt x="312" y="523"/>
                </a:cubicBezTo>
                <a:cubicBezTo>
                  <a:pt x="811" y="523"/>
                  <a:pt x="811" y="523"/>
                  <a:pt x="811" y="523"/>
                </a:cubicBezTo>
                <a:cubicBezTo>
                  <a:pt x="854" y="523"/>
                  <a:pt x="890" y="494"/>
                  <a:pt x="890" y="458"/>
                </a:cubicBezTo>
                <a:cubicBezTo>
                  <a:pt x="890" y="64"/>
                  <a:pt x="890" y="64"/>
                  <a:pt x="890" y="64"/>
                </a:cubicBezTo>
                <a:cubicBezTo>
                  <a:pt x="890" y="28"/>
                  <a:pt x="854" y="0"/>
                  <a:pt x="811" y="0"/>
                </a:cubicBezTo>
                <a:moveTo>
                  <a:pt x="818" y="410"/>
                </a:moveTo>
                <a:cubicBezTo>
                  <a:pt x="818" y="441"/>
                  <a:pt x="789" y="460"/>
                  <a:pt x="753" y="460"/>
                </a:cubicBezTo>
                <a:cubicBezTo>
                  <a:pt x="444" y="460"/>
                  <a:pt x="444" y="460"/>
                  <a:pt x="444" y="460"/>
                </a:cubicBezTo>
                <a:cubicBezTo>
                  <a:pt x="132" y="460"/>
                  <a:pt x="132" y="460"/>
                  <a:pt x="132" y="460"/>
                </a:cubicBezTo>
                <a:cubicBezTo>
                  <a:pt x="96" y="460"/>
                  <a:pt x="67" y="441"/>
                  <a:pt x="67" y="4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84"/>
                  <a:pt x="96" y="60"/>
                  <a:pt x="132" y="60"/>
                </a:cubicBezTo>
                <a:cubicBezTo>
                  <a:pt x="444" y="60"/>
                  <a:pt x="444" y="60"/>
                  <a:pt x="444" y="60"/>
                </a:cubicBezTo>
                <a:cubicBezTo>
                  <a:pt x="753" y="60"/>
                  <a:pt x="753" y="60"/>
                  <a:pt x="753" y="60"/>
                </a:cubicBezTo>
                <a:cubicBezTo>
                  <a:pt x="789" y="60"/>
                  <a:pt x="818" y="84"/>
                  <a:pt x="818" y="110"/>
                </a:cubicBezTo>
                <a:lnTo>
                  <a:pt x="818" y="410"/>
                </a:lnTo>
                <a:close/>
              </a:path>
            </a:pathLst>
          </a:cu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56" name="textbox 1756"/>
          <p:cNvSpPr/>
          <p:nvPr/>
        </p:nvSpPr>
        <p:spPr>
          <a:xfrm>
            <a:off x="947972" y="1922779"/>
            <a:ext cx="1143635" cy="782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ct val="77000"/>
              </a:lnSpc>
              <a:tabLst/>
            </a:pPr>
            <a:r>
              <a:rPr sz="1800" kern="0" spc="250" dirty="0">
                <a:solidFill>
                  <a:srgbClr val="58595B">
                    <a:alpha val="100000"/>
                  </a:srgbClr>
                </a:solidFill>
                <a:latin typeface="Arial"/>
                <a:ea typeface="Arial"/>
                <a:cs typeface="Arial"/>
              </a:rPr>
              <a:t>$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5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81280" algn="l" rtl="0" eaLnBrk="0">
              <a:lnSpc>
                <a:spcPct val="90000"/>
              </a:lnSpc>
              <a:tabLst/>
            </a:pPr>
            <a:r>
              <a:rPr sz="1400" b="1" kern="0" spc="6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   </a:t>
            </a:r>
            <a:r>
              <a:rPr sz="2400" b="1" kern="0" spc="60" baseline="17362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=</a:t>
            </a:r>
            <a:r>
              <a:rPr sz="1400" b="1" kern="0" spc="-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电费总收入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58" name="picture 17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7784" y="3543299"/>
            <a:ext cx="9413747" cy="80962"/>
          </a:xfrm>
          <a:prstGeom prst="rect">
            <a:avLst/>
          </a:prstGeom>
        </p:spPr>
      </p:pic>
      <p:sp>
        <p:nvSpPr>
          <p:cNvPr id="1760" name="textbox 1760"/>
          <p:cNvSpPr/>
          <p:nvPr/>
        </p:nvSpPr>
        <p:spPr>
          <a:xfrm>
            <a:off x="526952" y="1115629"/>
            <a:ext cx="1819275" cy="335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实时成本补偿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40" name="group 240"/>
          <p:cNvGrpSpPr/>
          <p:nvPr/>
        </p:nvGrpSpPr>
        <p:grpSpPr>
          <a:xfrm rot="21600000">
            <a:off x="4977383" y="3243072"/>
            <a:ext cx="632459" cy="630935"/>
            <a:chOff x="0" y="0"/>
            <a:chExt cx="632459" cy="630935"/>
          </a:xfrm>
        </p:grpSpPr>
        <p:sp>
          <p:nvSpPr>
            <p:cNvPr id="1762" name="path 1762"/>
            <p:cNvSpPr/>
            <p:nvPr/>
          </p:nvSpPr>
          <p:spPr>
            <a:xfrm>
              <a:off x="0" y="0"/>
              <a:ext cx="632459" cy="630935"/>
            </a:xfrm>
            <a:custGeom>
              <a:avLst/>
              <a:gdLst/>
              <a:ahLst/>
              <a:cxnLst/>
              <a:rect l="0" t="0" r="0" b="0"/>
              <a:pathLst>
                <a:path w="995" h="993">
                  <a:moveTo>
                    <a:pt x="0" y="496"/>
                  </a:moveTo>
                  <a:cubicBezTo>
                    <a:pt x="0" y="223"/>
                    <a:pt x="223" y="0"/>
                    <a:pt x="499" y="0"/>
                  </a:cubicBezTo>
                  <a:cubicBezTo>
                    <a:pt x="772" y="0"/>
                    <a:pt x="995" y="223"/>
                    <a:pt x="995" y="496"/>
                  </a:cubicBezTo>
                  <a:cubicBezTo>
                    <a:pt x="995" y="772"/>
                    <a:pt x="772" y="993"/>
                    <a:pt x="499" y="993"/>
                  </a:cubicBezTo>
                  <a:cubicBezTo>
                    <a:pt x="223" y="993"/>
                    <a:pt x="0" y="772"/>
                    <a:pt x="0" y="496"/>
                  </a:cubicBezTo>
                </a:path>
              </a:pathLst>
            </a:custGeom>
            <a:solidFill>
              <a:srgbClr val="7F7F7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4" name="path 1764"/>
            <p:cNvSpPr/>
            <p:nvPr/>
          </p:nvSpPr>
          <p:spPr>
            <a:xfrm>
              <a:off x="118872" y="176783"/>
              <a:ext cx="379476" cy="277367"/>
            </a:xfrm>
            <a:custGeom>
              <a:avLst/>
              <a:gdLst/>
              <a:ahLst/>
              <a:cxnLst/>
              <a:rect l="0" t="0" r="0" b="0"/>
              <a:pathLst>
                <a:path w="597" h="436">
                  <a:moveTo>
                    <a:pt x="211" y="0"/>
                  </a:moveTo>
                  <a:moveTo>
                    <a:pt x="211" y="0"/>
                  </a:moveTo>
                  <a:lnTo>
                    <a:pt x="211" y="0"/>
                  </a:lnTo>
                  <a:lnTo>
                    <a:pt x="242" y="7"/>
                  </a:lnTo>
                  <a:lnTo>
                    <a:pt x="271" y="19"/>
                  </a:lnTo>
                  <a:lnTo>
                    <a:pt x="271" y="19"/>
                  </a:lnTo>
                  <a:lnTo>
                    <a:pt x="287" y="14"/>
                  </a:lnTo>
                  <a:lnTo>
                    <a:pt x="309" y="12"/>
                  </a:lnTo>
                  <a:lnTo>
                    <a:pt x="309" y="12"/>
                  </a:lnTo>
                  <a:lnTo>
                    <a:pt x="340" y="14"/>
                  </a:lnTo>
                  <a:lnTo>
                    <a:pt x="362" y="31"/>
                  </a:lnTo>
                  <a:lnTo>
                    <a:pt x="362" y="31"/>
                  </a:lnTo>
                  <a:lnTo>
                    <a:pt x="386" y="19"/>
                  </a:lnTo>
                  <a:lnTo>
                    <a:pt x="407" y="14"/>
                  </a:lnTo>
                  <a:lnTo>
                    <a:pt x="407" y="14"/>
                  </a:lnTo>
                  <a:lnTo>
                    <a:pt x="432" y="14"/>
                  </a:lnTo>
                  <a:lnTo>
                    <a:pt x="436" y="19"/>
                  </a:lnTo>
                  <a:lnTo>
                    <a:pt x="460" y="35"/>
                  </a:lnTo>
                  <a:lnTo>
                    <a:pt x="460" y="35"/>
                  </a:lnTo>
                  <a:lnTo>
                    <a:pt x="482" y="31"/>
                  </a:lnTo>
                  <a:lnTo>
                    <a:pt x="482" y="31"/>
                  </a:lnTo>
                  <a:lnTo>
                    <a:pt x="506" y="35"/>
                  </a:lnTo>
                  <a:lnTo>
                    <a:pt x="523" y="43"/>
                  </a:lnTo>
                  <a:lnTo>
                    <a:pt x="527" y="50"/>
                  </a:lnTo>
                  <a:lnTo>
                    <a:pt x="535" y="67"/>
                  </a:lnTo>
                  <a:lnTo>
                    <a:pt x="535" y="67"/>
                  </a:lnTo>
                  <a:lnTo>
                    <a:pt x="527" y="81"/>
                  </a:lnTo>
                  <a:lnTo>
                    <a:pt x="515" y="91"/>
                  </a:lnTo>
                  <a:lnTo>
                    <a:pt x="515" y="91"/>
                  </a:lnTo>
                  <a:lnTo>
                    <a:pt x="523" y="103"/>
                  </a:lnTo>
                  <a:lnTo>
                    <a:pt x="523" y="103"/>
                  </a:lnTo>
                  <a:lnTo>
                    <a:pt x="523" y="107"/>
                  </a:lnTo>
                  <a:lnTo>
                    <a:pt x="415" y="107"/>
                  </a:lnTo>
                  <a:lnTo>
                    <a:pt x="415" y="107"/>
                  </a:lnTo>
                  <a:lnTo>
                    <a:pt x="415" y="103"/>
                  </a:lnTo>
                  <a:lnTo>
                    <a:pt x="415" y="103"/>
                  </a:lnTo>
                  <a:lnTo>
                    <a:pt x="415" y="91"/>
                  </a:lnTo>
                  <a:lnTo>
                    <a:pt x="415" y="91"/>
                  </a:lnTo>
                  <a:lnTo>
                    <a:pt x="407" y="91"/>
                  </a:lnTo>
                  <a:lnTo>
                    <a:pt x="407" y="91"/>
                  </a:lnTo>
                  <a:lnTo>
                    <a:pt x="391" y="86"/>
                  </a:lnTo>
                  <a:lnTo>
                    <a:pt x="372" y="79"/>
                  </a:lnTo>
                  <a:lnTo>
                    <a:pt x="372" y="79"/>
                  </a:lnTo>
                  <a:lnTo>
                    <a:pt x="362" y="91"/>
                  </a:lnTo>
                  <a:lnTo>
                    <a:pt x="345" y="98"/>
                  </a:lnTo>
                  <a:lnTo>
                    <a:pt x="326" y="103"/>
                  </a:lnTo>
                  <a:lnTo>
                    <a:pt x="309" y="107"/>
                  </a:lnTo>
                  <a:lnTo>
                    <a:pt x="309" y="107"/>
                  </a:lnTo>
                  <a:lnTo>
                    <a:pt x="280" y="103"/>
                  </a:lnTo>
                  <a:lnTo>
                    <a:pt x="264" y="91"/>
                  </a:lnTo>
                  <a:lnTo>
                    <a:pt x="264" y="91"/>
                  </a:lnTo>
                  <a:lnTo>
                    <a:pt x="242" y="103"/>
                  </a:lnTo>
                  <a:lnTo>
                    <a:pt x="211" y="107"/>
                  </a:lnTo>
                  <a:lnTo>
                    <a:pt x="211" y="107"/>
                  </a:lnTo>
                  <a:lnTo>
                    <a:pt x="182" y="103"/>
                  </a:lnTo>
                  <a:lnTo>
                    <a:pt x="160" y="91"/>
                  </a:lnTo>
                  <a:lnTo>
                    <a:pt x="144" y="79"/>
                  </a:lnTo>
                  <a:lnTo>
                    <a:pt x="136" y="55"/>
                  </a:lnTo>
                  <a:lnTo>
                    <a:pt x="136" y="55"/>
                  </a:lnTo>
                  <a:lnTo>
                    <a:pt x="144" y="35"/>
                  </a:lnTo>
                  <a:lnTo>
                    <a:pt x="160" y="14"/>
                  </a:lnTo>
                  <a:lnTo>
                    <a:pt x="182" y="7"/>
                  </a:lnTo>
                  <a:lnTo>
                    <a:pt x="211" y="0"/>
                  </a:lnTo>
                  <a:lnTo>
                    <a:pt x="211" y="0"/>
                  </a:lnTo>
                  <a:close/>
                  <a:moveTo>
                    <a:pt x="218" y="223"/>
                  </a:moveTo>
                  <a:moveTo>
                    <a:pt x="218" y="223"/>
                  </a:moveTo>
                  <a:lnTo>
                    <a:pt x="280" y="223"/>
                  </a:lnTo>
                  <a:lnTo>
                    <a:pt x="280" y="278"/>
                  </a:lnTo>
                  <a:lnTo>
                    <a:pt x="218" y="278"/>
                  </a:lnTo>
                  <a:lnTo>
                    <a:pt x="218" y="223"/>
                  </a:lnTo>
                  <a:lnTo>
                    <a:pt x="218" y="223"/>
                  </a:lnTo>
                  <a:close/>
                  <a:moveTo>
                    <a:pt x="415" y="122"/>
                  </a:moveTo>
                  <a:moveTo>
                    <a:pt x="415" y="122"/>
                  </a:moveTo>
                  <a:lnTo>
                    <a:pt x="415" y="182"/>
                  </a:lnTo>
                  <a:lnTo>
                    <a:pt x="165" y="182"/>
                  </a:lnTo>
                  <a:lnTo>
                    <a:pt x="165" y="223"/>
                  </a:lnTo>
                  <a:lnTo>
                    <a:pt x="52" y="223"/>
                  </a:lnTo>
                  <a:lnTo>
                    <a:pt x="52" y="405"/>
                  </a:lnTo>
                  <a:lnTo>
                    <a:pt x="0" y="405"/>
                  </a:lnTo>
                  <a:lnTo>
                    <a:pt x="0" y="436"/>
                  </a:lnTo>
                  <a:lnTo>
                    <a:pt x="597" y="436"/>
                  </a:lnTo>
                  <a:lnTo>
                    <a:pt x="597" y="405"/>
                  </a:lnTo>
                  <a:lnTo>
                    <a:pt x="552" y="405"/>
                  </a:lnTo>
                  <a:lnTo>
                    <a:pt x="523" y="122"/>
                  </a:lnTo>
                  <a:lnTo>
                    <a:pt x="415" y="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766" name="path 1766"/>
          <p:cNvSpPr/>
          <p:nvPr/>
        </p:nvSpPr>
        <p:spPr>
          <a:xfrm>
            <a:off x="591312" y="2084832"/>
            <a:ext cx="281939" cy="537972"/>
          </a:xfrm>
          <a:custGeom>
            <a:avLst/>
            <a:gdLst/>
            <a:ahLst/>
            <a:cxnLst/>
            <a:rect l="0" t="0" r="0" b="0"/>
            <a:pathLst>
              <a:path w="443" h="847">
                <a:moveTo>
                  <a:pt x="223" y="357"/>
                </a:moveTo>
                <a:cubicBezTo>
                  <a:pt x="396" y="571"/>
                  <a:pt x="396" y="571"/>
                  <a:pt x="396" y="571"/>
                </a:cubicBezTo>
                <a:cubicBezTo>
                  <a:pt x="396" y="669"/>
                  <a:pt x="396" y="669"/>
                  <a:pt x="396" y="669"/>
                </a:cubicBezTo>
                <a:cubicBezTo>
                  <a:pt x="264" y="602"/>
                  <a:pt x="264" y="602"/>
                  <a:pt x="264" y="602"/>
                </a:cubicBezTo>
                <a:cubicBezTo>
                  <a:pt x="223" y="357"/>
                  <a:pt x="223" y="357"/>
                  <a:pt x="223" y="357"/>
                </a:cubicBezTo>
                <a:cubicBezTo>
                  <a:pt x="223" y="357"/>
                  <a:pt x="0" y="347"/>
                  <a:pt x="0" y="477"/>
                </a:cubicBezTo>
                <a:cubicBezTo>
                  <a:pt x="0" y="602"/>
                  <a:pt x="0" y="775"/>
                  <a:pt x="0" y="775"/>
                </a:cubicBezTo>
                <a:cubicBezTo>
                  <a:pt x="0" y="775"/>
                  <a:pt x="26" y="847"/>
                  <a:pt x="223" y="847"/>
                </a:cubicBezTo>
                <a:cubicBezTo>
                  <a:pt x="417" y="847"/>
                  <a:pt x="443" y="799"/>
                  <a:pt x="443" y="741"/>
                </a:cubicBezTo>
                <a:cubicBezTo>
                  <a:pt x="443" y="681"/>
                  <a:pt x="443" y="602"/>
                  <a:pt x="443" y="602"/>
                </a:cubicBezTo>
                <a:cubicBezTo>
                  <a:pt x="443" y="602"/>
                  <a:pt x="393" y="357"/>
                  <a:pt x="223" y="357"/>
                </a:cubicBezTo>
              </a:path>
              <a:path w="443" h="847">
                <a:moveTo>
                  <a:pt x="26" y="170"/>
                </a:moveTo>
                <a:cubicBezTo>
                  <a:pt x="26" y="74"/>
                  <a:pt x="103" y="0"/>
                  <a:pt x="199" y="0"/>
                </a:cubicBezTo>
                <a:cubicBezTo>
                  <a:pt x="295" y="0"/>
                  <a:pt x="371" y="74"/>
                  <a:pt x="371" y="170"/>
                </a:cubicBezTo>
                <a:cubicBezTo>
                  <a:pt x="371" y="263"/>
                  <a:pt x="295" y="338"/>
                  <a:pt x="199" y="338"/>
                </a:cubicBezTo>
                <a:cubicBezTo>
                  <a:pt x="103" y="338"/>
                  <a:pt x="26" y="263"/>
                  <a:pt x="26" y="170"/>
                </a:cubicBezTo>
              </a:path>
            </a:pathLst>
          </a:custGeom>
          <a:solidFill>
            <a:srgbClr val="5859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68" name="path 1768"/>
          <p:cNvSpPr/>
          <p:nvPr/>
        </p:nvSpPr>
        <p:spPr>
          <a:xfrm>
            <a:off x="2221991" y="2173223"/>
            <a:ext cx="300227" cy="388620"/>
          </a:xfrm>
          <a:custGeom>
            <a:avLst/>
            <a:gdLst/>
            <a:ahLst/>
            <a:cxnLst/>
            <a:rect l="0" t="0" r="0" b="0"/>
            <a:pathLst>
              <a:path w="472" h="612">
                <a:moveTo>
                  <a:pt x="467" y="4"/>
                </a:moveTo>
                <a:lnTo>
                  <a:pt x="4" y="4"/>
                </a:lnTo>
                <a:lnTo>
                  <a:pt x="4" y="607"/>
                </a:lnTo>
                <a:lnTo>
                  <a:pt x="472" y="607"/>
                </a:lnTo>
              </a:path>
            </a:pathLst>
          </a:custGeom>
          <a:noFill/>
          <a:ln w="6096" cap="flat">
            <a:solidFill>
              <a:srgbClr val="338985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70" name="path 1770"/>
          <p:cNvSpPr/>
          <p:nvPr/>
        </p:nvSpPr>
        <p:spPr>
          <a:xfrm>
            <a:off x="1161288" y="4971288"/>
            <a:ext cx="371855" cy="294132"/>
          </a:xfrm>
          <a:custGeom>
            <a:avLst/>
            <a:gdLst/>
            <a:ahLst/>
            <a:cxnLst/>
            <a:rect l="0" t="0" r="0" b="0"/>
            <a:pathLst>
              <a:path w="585" h="463">
                <a:moveTo>
                  <a:pt x="206" y="0"/>
                </a:moveTo>
                <a:moveTo>
                  <a:pt x="206" y="0"/>
                </a:moveTo>
                <a:lnTo>
                  <a:pt x="206" y="0"/>
                </a:lnTo>
                <a:lnTo>
                  <a:pt x="237" y="4"/>
                </a:lnTo>
                <a:lnTo>
                  <a:pt x="266" y="19"/>
                </a:lnTo>
                <a:lnTo>
                  <a:pt x="266" y="19"/>
                </a:lnTo>
                <a:lnTo>
                  <a:pt x="283" y="14"/>
                </a:lnTo>
                <a:lnTo>
                  <a:pt x="302" y="9"/>
                </a:lnTo>
                <a:lnTo>
                  <a:pt x="302" y="9"/>
                </a:lnTo>
                <a:lnTo>
                  <a:pt x="336" y="14"/>
                </a:lnTo>
                <a:lnTo>
                  <a:pt x="355" y="31"/>
                </a:lnTo>
                <a:lnTo>
                  <a:pt x="355" y="31"/>
                </a:lnTo>
                <a:lnTo>
                  <a:pt x="379" y="19"/>
                </a:lnTo>
                <a:lnTo>
                  <a:pt x="400" y="14"/>
                </a:lnTo>
                <a:lnTo>
                  <a:pt x="400" y="14"/>
                </a:lnTo>
                <a:lnTo>
                  <a:pt x="424" y="14"/>
                </a:lnTo>
                <a:lnTo>
                  <a:pt x="429" y="19"/>
                </a:lnTo>
                <a:lnTo>
                  <a:pt x="453" y="36"/>
                </a:lnTo>
                <a:lnTo>
                  <a:pt x="453" y="36"/>
                </a:lnTo>
                <a:lnTo>
                  <a:pt x="472" y="31"/>
                </a:lnTo>
                <a:lnTo>
                  <a:pt x="472" y="31"/>
                </a:lnTo>
                <a:lnTo>
                  <a:pt x="496" y="36"/>
                </a:lnTo>
                <a:lnTo>
                  <a:pt x="513" y="43"/>
                </a:lnTo>
                <a:lnTo>
                  <a:pt x="518" y="52"/>
                </a:lnTo>
                <a:lnTo>
                  <a:pt x="525" y="69"/>
                </a:lnTo>
                <a:lnTo>
                  <a:pt x="525" y="69"/>
                </a:lnTo>
                <a:lnTo>
                  <a:pt x="518" y="83"/>
                </a:lnTo>
                <a:lnTo>
                  <a:pt x="506" y="96"/>
                </a:lnTo>
                <a:lnTo>
                  <a:pt x="506" y="96"/>
                </a:lnTo>
                <a:lnTo>
                  <a:pt x="513" y="107"/>
                </a:lnTo>
                <a:lnTo>
                  <a:pt x="513" y="107"/>
                </a:lnTo>
                <a:lnTo>
                  <a:pt x="513" y="112"/>
                </a:lnTo>
                <a:lnTo>
                  <a:pt x="408" y="112"/>
                </a:lnTo>
                <a:lnTo>
                  <a:pt x="408" y="112"/>
                </a:lnTo>
                <a:lnTo>
                  <a:pt x="408" y="107"/>
                </a:lnTo>
                <a:lnTo>
                  <a:pt x="408" y="107"/>
                </a:lnTo>
                <a:lnTo>
                  <a:pt x="408" y="96"/>
                </a:lnTo>
                <a:lnTo>
                  <a:pt x="408" y="96"/>
                </a:lnTo>
                <a:lnTo>
                  <a:pt x="400" y="96"/>
                </a:lnTo>
                <a:lnTo>
                  <a:pt x="400" y="96"/>
                </a:lnTo>
                <a:lnTo>
                  <a:pt x="383" y="88"/>
                </a:lnTo>
                <a:lnTo>
                  <a:pt x="364" y="81"/>
                </a:lnTo>
                <a:lnTo>
                  <a:pt x="364" y="81"/>
                </a:lnTo>
                <a:lnTo>
                  <a:pt x="355" y="96"/>
                </a:lnTo>
                <a:lnTo>
                  <a:pt x="338" y="100"/>
                </a:lnTo>
                <a:lnTo>
                  <a:pt x="319" y="107"/>
                </a:lnTo>
                <a:lnTo>
                  <a:pt x="302" y="112"/>
                </a:lnTo>
                <a:lnTo>
                  <a:pt x="302" y="112"/>
                </a:lnTo>
                <a:lnTo>
                  <a:pt x="273" y="107"/>
                </a:lnTo>
                <a:lnTo>
                  <a:pt x="259" y="96"/>
                </a:lnTo>
                <a:lnTo>
                  <a:pt x="259" y="96"/>
                </a:lnTo>
                <a:lnTo>
                  <a:pt x="237" y="107"/>
                </a:lnTo>
                <a:lnTo>
                  <a:pt x="206" y="112"/>
                </a:lnTo>
                <a:lnTo>
                  <a:pt x="206" y="112"/>
                </a:lnTo>
                <a:lnTo>
                  <a:pt x="177" y="107"/>
                </a:lnTo>
                <a:lnTo>
                  <a:pt x="156" y="96"/>
                </a:lnTo>
                <a:lnTo>
                  <a:pt x="141" y="81"/>
                </a:lnTo>
                <a:lnTo>
                  <a:pt x="131" y="57"/>
                </a:lnTo>
                <a:lnTo>
                  <a:pt x="131" y="57"/>
                </a:lnTo>
                <a:lnTo>
                  <a:pt x="141" y="36"/>
                </a:lnTo>
                <a:lnTo>
                  <a:pt x="156" y="14"/>
                </a:lnTo>
                <a:lnTo>
                  <a:pt x="177" y="4"/>
                </a:lnTo>
                <a:lnTo>
                  <a:pt x="206" y="0"/>
                </a:lnTo>
                <a:lnTo>
                  <a:pt x="206" y="0"/>
                </a:lnTo>
                <a:close/>
                <a:moveTo>
                  <a:pt x="213" y="237"/>
                </a:moveTo>
                <a:moveTo>
                  <a:pt x="213" y="237"/>
                </a:moveTo>
                <a:lnTo>
                  <a:pt x="273" y="237"/>
                </a:lnTo>
                <a:lnTo>
                  <a:pt x="273" y="295"/>
                </a:lnTo>
                <a:lnTo>
                  <a:pt x="213" y="295"/>
                </a:lnTo>
                <a:lnTo>
                  <a:pt x="213" y="237"/>
                </a:lnTo>
                <a:lnTo>
                  <a:pt x="213" y="237"/>
                </a:lnTo>
                <a:close/>
                <a:moveTo>
                  <a:pt x="408" y="127"/>
                </a:moveTo>
                <a:moveTo>
                  <a:pt x="408" y="127"/>
                </a:moveTo>
                <a:lnTo>
                  <a:pt x="408" y="192"/>
                </a:lnTo>
                <a:lnTo>
                  <a:pt x="160" y="192"/>
                </a:lnTo>
                <a:lnTo>
                  <a:pt x="160" y="237"/>
                </a:lnTo>
                <a:lnTo>
                  <a:pt x="50" y="237"/>
                </a:lnTo>
                <a:lnTo>
                  <a:pt x="50" y="432"/>
                </a:lnTo>
                <a:lnTo>
                  <a:pt x="0" y="432"/>
                </a:lnTo>
                <a:lnTo>
                  <a:pt x="0" y="463"/>
                </a:lnTo>
                <a:lnTo>
                  <a:pt x="585" y="463"/>
                </a:lnTo>
                <a:lnTo>
                  <a:pt x="585" y="432"/>
                </a:lnTo>
                <a:lnTo>
                  <a:pt x="542" y="432"/>
                </a:lnTo>
                <a:lnTo>
                  <a:pt x="513" y="127"/>
                </a:lnTo>
                <a:lnTo>
                  <a:pt x="408" y="127"/>
                </a:lnTo>
                <a:close/>
              </a:path>
            </a:pathLst>
          </a:custGeom>
          <a:solidFill>
            <a:srgbClr val="5859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772" name="table 1772"/>
          <p:cNvGraphicFramePr>
            <a:graphicFrameLocks noGrp="1"/>
          </p:cNvGraphicFramePr>
          <p:nvPr/>
        </p:nvGraphicFramePr>
        <p:xfrm>
          <a:off x="4475225" y="3291077"/>
          <a:ext cx="389890" cy="267970"/>
        </p:xfrm>
        <a:graphic>
          <a:graphicData uri="http://schemas.openxmlformats.org/drawingml/2006/table">
            <a:tbl>
              <a:tblPr/>
              <a:tblGrid>
                <a:gridCol w="389890"/>
              </a:tblGrid>
              <a:tr h="2584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74" name="picture 17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rect 1776"/>
          <p:cNvSpPr/>
          <p:nvPr/>
        </p:nvSpPr>
        <p:spPr>
          <a:xfrm>
            <a:off x="3534155" y="2203703"/>
            <a:ext cx="6225539" cy="4085844"/>
          </a:xfrm>
          <a:prstGeom prst="rect">
            <a:avLst/>
          </a:prstGeom>
          <a:solidFill>
            <a:srgbClr val="F3F3F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78" name="picture 17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8972" y="2203704"/>
            <a:ext cx="2647187" cy="4085843"/>
          </a:xfrm>
          <a:prstGeom prst="rect">
            <a:avLst/>
          </a:prstGeom>
        </p:spPr>
      </p:pic>
      <p:sp>
        <p:nvSpPr>
          <p:cNvPr id="1780" name="textbox 1780"/>
          <p:cNvSpPr/>
          <p:nvPr/>
        </p:nvSpPr>
        <p:spPr>
          <a:xfrm>
            <a:off x="1257718" y="3786121"/>
            <a:ext cx="2033270" cy="585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根据机组冷温热态开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3029" algn="l" rtl="0" eaLnBrk="0">
              <a:lnSpc>
                <a:spcPct val="88000"/>
              </a:lnSpc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计算其应补偿的费用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82" name="picture 17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97279" y="2822447"/>
            <a:ext cx="8496300" cy="2944368"/>
          </a:xfrm>
          <a:prstGeom prst="rect">
            <a:avLst/>
          </a:prstGeom>
        </p:spPr>
      </p:pic>
      <p:sp>
        <p:nvSpPr>
          <p:cNvPr id="1784" name="textbox 1784"/>
          <p:cNvSpPr/>
          <p:nvPr/>
        </p:nvSpPr>
        <p:spPr>
          <a:xfrm>
            <a:off x="4622699" y="3289947"/>
            <a:ext cx="4459604" cy="1785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24"/>
              </a:lnSpc>
              <a:tabLst>
                <a:tab pos="206882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8419" algn="l" rtl="0" eaLnBrk="0">
              <a:lnSpc>
                <a:spcPts val="1950"/>
              </a:lnSpc>
              <a:spcBef>
                <a:spcPts val="425"/>
              </a:spcBef>
              <a:tabLst/>
            </a:pPr>
            <a:r>
              <a:rPr sz="1400" b="1" i="1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400" b="1" kern="0" spc="0" baseline="-4846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启动,i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为机组</a:t>
            </a:r>
            <a:r>
              <a:rPr sz="1400" b="1" i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400" b="1" i="1" kern="0" spc="-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的总启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动费用；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58419" algn="l" rtl="0" eaLnBrk="0">
              <a:lnSpc>
                <a:spcPct val="189000"/>
              </a:lnSpc>
              <a:spcBef>
                <a:spcPts val="345"/>
              </a:spcBef>
              <a:tabLst/>
            </a:pPr>
            <a:r>
              <a:rPr sz="1400" b="1" i="1" kern="0" spc="-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1400" b="1" kern="0" spc="0" baseline="-2232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启动,i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为机组</a:t>
            </a:r>
            <a:r>
              <a:rPr sz="1400" b="1" i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400" b="1" i="1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的单次（冷、温、热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三态之一）</a:t>
            </a:r>
            <a:r>
              <a:rPr sz="1400" b="1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的启动成本</a:t>
            </a:r>
            <a:r>
              <a:rPr sz="1400" b="1" i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400" b="1" kern="0" spc="0" baseline="-18602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启动,i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为机组</a:t>
            </a:r>
            <a:r>
              <a:rPr sz="1400" b="1" i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400" b="1" i="1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的总启停次数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86" name="picture 17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635399" y="3302647"/>
            <a:ext cx="2056173" cy="295235"/>
          </a:xfrm>
          <a:prstGeom prst="rect">
            <a:avLst/>
          </a:prstGeom>
        </p:spPr>
      </p:pic>
      <p:sp>
        <p:nvSpPr>
          <p:cNvPr id="1788" name="textbox 1788"/>
          <p:cNvSpPr/>
          <p:nvPr/>
        </p:nvSpPr>
        <p:spPr>
          <a:xfrm>
            <a:off x="523049" y="1112551"/>
            <a:ext cx="2423795" cy="334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发电启动成本补偿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90" name="picture 17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1792" name="path 1792"/>
          <p:cNvSpPr/>
          <p:nvPr/>
        </p:nvSpPr>
        <p:spPr>
          <a:xfrm>
            <a:off x="1310640" y="4577333"/>
            <a:ext cx="1921763" cy="10667"/>
          </a:xfrm>
          <a:custGeom>
            <a:avLst/>
            <a:gdLst/>
            <a:ahLst/>
            <a:cxnLst/>
            <a:rect l="0" t="0" r="0" b="0"/>
            <a:pathLst>
              <a:path w="3026" h="16">
                <a:moveTo>
                  <a:pt x="0" y="8"/>
                </a:moveTo>
                <a:lnTo>
                  <a:pt x="3026" y="8"/>
                </a:lnTo>
              </a:path>
            </a:pathLst>
          </a:custGeom>
          <a:noFill/>
          <a:ln w="10668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4" name="table 1794"/>
          <p:cNvGraphicFramePr>
            <a:graphicFrameLocks noGrp="1"/>
          </p:cNvGraphicFramePr>
          <p:nvPr/>
        </p:nvGraphicFramePr>
        <p:xfrm>
          <a:off x="4231385" y="2170938"/>
          <a:ext cx="6318250" cy="4472305"/>
        </p:xfrm>
        <a:graphic>
          <a:graphicData uri="http://schemas.openxmlformats.org/drawingml/2006/table">
            <a:tbl>
              <a:tblPr/>
              <a:tblGrid>
                <a:gridCol w="6318250"/>
              </a:tblGrid>
              <a:tr h="19850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275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浙江：</a:t>
                      </a:r>
                      <a:r>
                        <a:rPr sz="1500" b="1" kern="0" spc="-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给与固定补偿</a:t>
                      </a: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52755" indent="17145" algn="l" rtl="0" eaLnBrk="0">
                        <a:lnSpc>
                          <a:spcPct val="156000"/>
                        </a:lnSpc>
                        <a:spcBef>
                          <a:spcPts val="252"/>
                        </a:spcBef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山东：</a:t>
                      </a:r>
                      <a:r>
                        <a:rPr sz="1500" b="1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根据机组运行时间计算其应补偿的空载费用，</a:t>
                      </a:r>
                      <a:r>
                        <a:rPr sz="1500" b="1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当发电机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组日运行电量电费收入高于其核定成本时，</a:t>
                      </a:r>
                      <a:r>
                        <a:rPr sz="1500" b="1" kern="0" spc="-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不予以结算，</a:t>
                      </a:r>
                      <a:r>
                        <a:rPr sz="1500" b="1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低于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5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核定成本时予以结算。计算结果折算到当日电价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最高的四个时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5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段。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8DB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8DB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8DB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4872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8DB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8DB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5875" cap="flat" cmpd="sng" algn="ctr">
                      <a:solidFill>
                        <a:srgbClr val="8DB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96" name="picture 17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179320"/>
            <a:ext cx="4117847" cy="4607051"/>
          </a:xfrm>
          <a:prstGeom prst="rect">
            <a:avLst/>
          </a:prstGeom>
        </p:spPr>
      </p:pic>
      <p:sp>
        <p:nvSpPr>
          <p:cNvPr id="1798" name="textbox 1798"/>
          <p:cNvSpPr/>
          <p:nvPr/>
        </p:nvSpPr>
        <p:spPr>
          <a:xfrm>
            <a:off x="4602480" y="4287011"/>
            <a:ext cx="5623559" cy="2105025"/>
          </a:xfrm>
          <a:prstGeom prst="rect">
            <a:avLst/>
          </a:pr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41680" algn="l" rtl="0" eaLnBrk="0">
              <a:lnSpc>
                <a:spcPts val="5398"/>
              </a:lnSpc>
              <a:spcBef>
                <a:spcPts val="7"/>
              </a:spcBef>
              <a:tabLst>
                <a:tab pos="482917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pic>
        <p:nvPicPr>
          <p:cNvPr id="1800" name="picture 18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44477" y="4838005"/>
            <a:ext cx="4087558" cy="685604"/>
          </a:xfrm>
          <a:prstGeom prst="rect">
            <a:avLst/>
          </a:prstGeom>
        </p:spPr>
      </p:pic>
      <p:graphicFrame>
        <p:nvGraphicFramePr>
          <p:cNvPr id="1802" name="table 1802"/>
          <p:cNvGraphicFramePr>
            <a:graphicFrameLocks noGrp="1"/>
          </p:cNvGraphicFramePr>
          <p:nvPr/>
        </p:nvGraphicFramePr>
        <p:xfrm>
          <a:off x="817626" y="2129789"/>
          <a:ext cx="2215514" cy="4556125"/>
        </p:xfrm>
        <a:graphic>
          <a:graphicData uri="http://schemas.openxmlformats.org/drawingml/2006/table">
            <a:tbl>
              <a:tblPr/>
              <a:tblGrid>
                <a:gridCol w="2215514"/>
              </a:tblGrid>
              <a:tr h="4508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04" name="textbox 1804"/>
          <p:cNvSpPr/>
          <p:nvPr/>
        </p:nvSpPr>
        <p:spPr>
          <a:xfrm>
            <a:off x="523049" y="1111085"/>
            <a:ext cx="2423795" cy="334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发电空载成本补偿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06" name="picture 18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8" name="picture 18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20140" y="2446019"/>
            <a:ext cx="5042915" cy="3765803"/>
          </a:xfrm>
          <a:prstGeom prst="rect">
            <a:avLst/>
          </a:prstGeom>
        </p:spPr>
      </p:pic>
      <p:pic>
        <p:nvPicPr>
          <p:cNvPr id="1810" name="picture 18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8223" y="1991867"/>
            <a:ext cx="10178796" cy="4623815"/>
          </a:xfrm>
          <a:prstGeom prst="rect">
            <a:avLst/>
          </a:prstGeom>
        </p:spPr>
      </p:pic>
      <p:sp>
        <p:nvSpPr>
          <p:cNvPr id="1812" name="textbox 1812"/>
          <p:cNvSpPr/>
          <p:nvPr/>
        </p:nvSpPr>
        <p:spPr>
          <a:xfrm>
            <a:off x="1218618" y="3869114"/>
            <a:ext cx="5310504" cy="2143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96389" algn="l" rtl="0" eaLnBrk="0">
              <a:lnSpc>
                <a:spcPct val="88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机组必须非经济地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597025" algn="l" rtl="0" eaLnBrk="0">
              <a:lnSpc>
                <a:spcPct val="87000"/>
              </a:lnSpc>
              <a:spcBef>
                <a:spcPts val="215"/>
              </a:spcBef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升出力以提供调频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595755" algn="l" rtl="0" eaLnBrk="0">
              <a:lnSpc>
                <a:spcPct val="88000"/>
              </a:lnSpc>
              <a:spcBef>
                <a:spcPts val="209"/>
              </a:spcBef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所生产的上抬成本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0000"/>
              </a:lnSpc>
              <a:spcBef>
                <a:spcPts val="250"/>
              </a:spcBef>
              <a:tabLst/>
            </a:pPr>
            <a:r>
              <a:rPr sz="8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LMP</a:t>
            </a:r>
            <a:r>
              <a:rPr sz="8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指示机组运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0000"/>
              </a:lnSpc>
              <a:spcBef>
                <a:spcPts val="198"/>
              </a:spcBef>
              <a:tabLst/>
            </a:pPr>
            <a:r>
              <a:rPr sz="8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行在最小出力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marL="2075179" algn="l" rtl="0" eaLnBrk="0">
              <a:lnSpc>
                <a:spcPct val="99000"/>
              </a:lnSpc>
              <a:spcBef>
                <a:spcPts val="1226"/>
              </a:spcBef>
              <a:tabLst/>
            </a:pPr>
            <a:r>
              <a:rPr sz="8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RegLOC</a:t>
            </a:r>
            <a:r>
              <a:rPr sz="8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电能计划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7000"/>
              </a:lnSpc>
              <a:spcBef>
                <a:spcPts val="3"/>
              </a:spcBef>
              <a:tabLst/>
            </a:pPr>
            <a:r>
              <a:rPr sz="1200" b="1" kern="0" spc="-4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14" name="textbox 1814"/>
          <p:cNvSpPr/>
          <p:nvPr/>
        </p:nvSpPr>
        <p:spPr>
          <a:xfrm>
            <a:off x="6940939" y="3003036"/>
            <a:ext cx="3292475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调频机会成本：是指在电能价格所隐含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6985" algn="l" rtl="0" eaLnBrk="0">
              <a:lnSpc>
                <a:spcPct val="152000"/>
              </a:lnSpc>
              <a:spcBef>
                <a:spcPts val="50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的经济水平以上运行所产生的额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外成本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("成本上抬")或在电能价格所隐含的经济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水平以下运行而放弃的利润</a:t>
            </a: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("机会成本")。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16" name="textbox 1816"/>
          <p:cNvSpPr/>
          <p:nvPr/>
        </p:nvSpPr>
        <p:spPr>
          <a:xfrm>
            <a:off x="7178405" y="5100251"/>
            <a:ext cx="2696210" cy="5314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事先机会成本：</a:t>
            </a:r>
            <a:r>
              <a:rPr sz="14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日前市场机会成本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事后机会成本：实时市场机会成本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18" name="textbox 1818"/>
          <p:cNvSpPr/>
          <p:nvPr/>
        </p:nvSpPr>
        <p:spPr>
          <a:xfrm>
            <a:off x="402695" y="1096328"/>
            <a:ext cx="4225290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1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发电企业调频辅助服务机会成本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20" name="textbox 1820"/>
          <p:cNvSpPr/>
          <p:nvPr/>
        </p:nvSpPr>
        <p:spPr>
          <a:xfrm>
            <a:off x="1516041" y="6240361"/>
            <a:ext cx="3909059" cy="16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08"/>
              </a:lnSpc>
              <a:tabLst/>
            </a:pPr>
            <a:r>
              <a:rPr sz="1300" b="1" kern="0" spc="20" baseline="1029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最小出力</a:t>
            </a:r>
            <a:r>
              <a:rPr sz="8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1300" b="1" kern="0" spc="0" baseline="227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RegLOC</a:t>
            </a:r>
            <a:r>
              <a:rPr sz="1300" b="1" kern="0" spc="20" baseline="227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300" b="1" kern="0" spc="0" baseline="227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RegMW</a:t>
            </a:r>
            <a:r>
              <a:rPr sz="8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</a:t>
            </a:r>
            <a:r>
              <a:rPr sz="8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300" b="1" kern="0" spc="0" baseline="1429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RegHi</a:t>
            </a:r>
            <a:r>
              <a:rPr sz="1300" b="1" kern="0" spc="10" baseline="1429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300" b="1" kern="0" spc="0" baseline="1429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RegMW</a:t>
            </a:r>
            <a:r>
              <a:rPr sz="8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300" b="1" kern="0" spc="10" baseline="-172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最大出力</a:t>
            </a:r>
            <a:endParaRPr sz="1300" baseline="-1728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22" name="textbox 1822"/>
          <p:cNvSpPr/>
          <p:nvPr/>
        </p:nvSpPr>
        <p:spPr>
          <a:xfrm>
            <a:off x="2754716" y="2599627"/>
            <a:ext cx="109728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29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3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机组必须非经济的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降出力以提供调频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所产生的机会成本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24" name="picture 18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79691" y="4501895"/>
            <a:ext cx="3736847" cy="67055"/>
          </a:xfrm>
          <a:prstGeom prst="rect">
            <a:avLst/>
          </a:prstGeom>
        </p:spPr>
      </p:pic>
      <p:sp>
        <p:nvSpPr>
          <p:cNvPr id="1826" name="textbox 1826"/>
          <p:cNvSpPr/>
          <p:nvPr/>
        </p:nvSpPr>
        <p:spPr>
          <a:xfrm>
            <a:off x="4958586" y="2577970"/>
            <a:ext cx="828675" cy="280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04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7620" algn="l" rtl="0" eaLnBrk="0">
              <a:lnSpc>
                <a:spcPct val="107000"/>
              </a:lnSpc>
              <a:tabLst/>
            </a:pPr>
            <a:r>
              <a:rPr sz="8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LMP</a:t>
            </a:r>
            <a:r>
              <a:rPr sz="8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指示机组运</a:t>
            </a:r>
            <a:r>
              <a:rPr sz="8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行在最大出力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28" name="textbox 1828"/>
          <p:cNvSpPr/>
          <p:nvPr/>
        </p:nvSpPr>
        <p:spPr>
          <a:xfrm>
            <a:off x="457341" y="2612100"/>
            <a:ext cx="680084" cy="178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200" b="1" kern="0" spc="3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</a:t>
            </a:r>
            <a:r>
              <a:rPr sz="1200" b="1" kern="0" spc="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MWh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30" name="picture 18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textbox 1832"/>
          <p:cNvSpPr/>
          <p:nvPr/>
        </p:nvSpPr>
        <p:spPr>
          <a:xfrm>
            <a:off x="3242299" y="4037971"/>
            <a:ext cx="6030595" cy="2311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最大上调出力备用：</a:t>
            </a:r>
            <a:r>
              <a:rPr sz="14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5分钟出力连续上升最大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值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958"/>
              </a:spcBef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最大下调出力备用：</a:t>
            </a:r>
            <a:r>
              <a:rPr sz="14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5分钟出力连续下降最大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值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93000"/>
              </a:lnSpc>
              <a:spcBef>
                <a:spcPts val="430"/>
              </a:spcBef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预留调频备用就是 - 降低最大出力、提升最小出力，维持上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下调节的空间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93000"/>
              </a:lnSpc>
              <a:spcBef>
                <a:spcPts val="430"/>
              </a:spcBef>
              <a:tabLst/>
            </a:pP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 调频约束就是在一个调度时段：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81634" algn="l" rtl="0" eaLnBrk="0">
              <a:lnSpc>
                <a:spcPts val="1851"/>
              </a:lnSpc>
              <a:spcBef>
                <a:spcPts val="740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∑机组上调频备用空间</a:t>
            </a:r>
            <a:r>
              <a:rPr sz="14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≥ 系统上调频备用需求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81634" algn="l" rtl="0" eaLnBrk="0">
              <a:lnSpc>
                <a:spcPts val="1851"/>
              </a:lnSpc>
              <a:spcBef>
                <a:spcPts val="2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∑机组下调频备用空间</a:t>
            </a:r>
            <a:r>
              <a:rPr sz="14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≥ 系统下调频备用需求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42" name="group 242"/>
          <p:cNvGrpSpPr/>
          <p:nvPr/>
        </p:nvGrpSpPr>
        <p:grpSpPr>
          <a:xfrm rot="21600000">
            <a:off x="237743" y="2028444"/>
            <a:ext cx="3233927" cy="1417320"/>
            <a:chOff x="0" y="0"/>
            <a:chExt cx="3233927" cy="1417320"/>
          </a:xfrm>
        </p:grpSpPr>
        <p:pic>
          <p:nvPicPr>
            <p:cNvPr id="1834" name="picture 18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233927" cy="1417320"/>
            </a:xfrm>
            <a:prstGeom prst="rect">
              <a:avLst/>
            </a:prstGeom>
          </p:spPr>
        </p:pic>
        <p:sp>
          <p:nvSpPr>
            <p:cNvPr id="1836" name="textbox 1836"/>
            <p:cNvSpPr/>
            <p:nvPr/>
          </p:nvSpPr>
          <p:spPr>
            <a:xfrm>
              <a:off x="-12700" y="-12700"/>
              <a:ext cx="3259454" cy="14516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7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14019" algn="l" rtl="0" eaLnBrk="0">
                <a:lnSpc>
                  <a:spcPct val="87000"/>
                </a:lnSpc>
                <a:tabLst/>
              </a:pPr>
              <a:r>
                <a:rPr sz="1400" b="1" kern="0" spc="0" dirty="0">
                  <a:solidFill>
                    <a:srgbClr val="FFC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一次调频：</a:t>
              </a: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在大范围调节发电出力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1096644" algn="l" rtl="0" eaLnBrk="0">
                <a:lnSpc>
                  <a:spcPct val="87000"/>
                </a:lnSpc>
                <a:spcBef>
                  <a:spcPts val="5"/>
                </a:spcBef>
                <a:tabLst/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跟踪负荷变化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44" name="group 244"/>
          <p:cNvGrpSpPr/>
          <p:nvPr/>
        </p:nvGrpSpPr>
        <p:grpSpPr>
          <a:xfrm rot="21600000">
            <a:off x="3861816" y="2049780"/>
            <a:ext cx="3166871" cy="1412747"/>
            <a:chOff x="0" y="0"/>
            <a:chExt cx="3166871" cy="1412747"/>
          </a:xfrm>
        </p:grpSpPr>
        <p:pic>
          <p:nvPicPr>
            <p:cNvPr id="1838" name="picture 18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166871" cy="1412747"/>
            </a:xfrm>
            <a:prstGeom prst="rect">
              <a:avLst/>
            </a:prstGeom>
          </p:spPr>
        </p:pic>
        <p:sp>
          <p:nvSpPr>
            <p:cNvPr id="1840" name="textbox 1840"/>
            <p:cNvSpPr/>
            <p:nvPr/>
          </p:nvSpPr>
          <p:spPr>
            <a:xfrm>
              <a:off x="-12700" y="-12700"/>
              <a:ext cx="3192779" cy="1441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0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7800" algn="l" rtl="0" eaLnBrk="0">
                <a:lnSpc>
                  <a:spcPct val="88000"/>
                </a:lnSpc>
                <a:tabLst/>
              </a:pPr>
              <a:r>
                <a:rPr sz="1400" b="1" kern="0" spc="0" dirty="0">
                  <a:solidFill>
                    <a:srgbClr val="FFC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二次调频（调频</a:t>
              </a:r>
              <a:r>
                <a:rPr sz="1400" b="1" kern="0" spc="-110" dirty="0">
                  <a:solidFill>
                    <a:srgbClr val="FFC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r>
                <a:rPr sz="1400" b="1" kern="0" spc="-180" dirty="0">
                  <a:solidFill>
                    <a:srgbClr val="FFC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110" dirty="0">
                  <a:solidFill>
                    <a:srgbClr val="FFC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</a:t>
              </a: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在小范围精</a:t>
              </a: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准、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77469" algn="l" rtl="0" eaLnBrk="0">
                <a:lnSpc>
                  <a:spcPct val="87000"/>
                </a:lnSpc>
                <a:spcBef>
                  <a:spcPts val="1039"/>
                </a:spcBef>
                <a:tabLst/>
              </a:pP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连续调节发电出力，保持发用电平衡，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0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7469" algn="l" rtl="0" eaLnBrk="0">
                <a:lnSpc>
                  <a:spcPct val="87000"/>
                </a:lnSpc>
                <a:tabLst/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维持电网运行频率（需要有AGC装置）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46" name="group 246"/>
          <p:cNvGrpSpPr/>
          <p:nvPr/>
        </p:nvGrpSpPr>
        <p:grpSpPr>
          <a:xfrm rot="21600000">
            <a:off x="7420355" y="2028444"/>
            <a:ext cx="2983992" cy="1434083"/>
            <a:chOff x="0" y="0"/>
            <a:chExt cx="2983992" cy="1434083"/>
          </a:xfrm>
        </p:grpSpPr>
        <p:pic>
          <p:nvPicPr>
            <p:cNvPr id="1842" name="picture 18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983992" cy="1434083"/>
            </a:xfrm>
            <a:prstGeom prst="rect">
              <a:avLst/>
            </a:prstGeom>
          </p:spPr>
        </p:pic>
        <p:sp>
          <p:nvSpPr>
            <p:cNvPr id="1844" name="textbox 1844"/>
            <p:cNvSpPr/>
            <p:nvPr/>
          </p:nvSpPr>
          <p:spPr>
            <a:xfrm>
              <a:off x="-12700" y="-12700"/>
              <a:ext cx="3009900" cy="14598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95019" indent="-629284" algn="l" rtl="0" eaLnBrk="0">
                <a:lnSpc>
                  <a:spcPct val="92000"/>
                </a:lnSpc>
                <a:spcBef>
                  <a:spcPts val="3"/>
                </a:spcBef>
                <a:tabLst/>
              </a:pPr>
              <a:r>
                <a:rPr sz="1400" b="1" kern="0" spc="-20" dirty="0">
                  <a:solidFill>
                    <a:srgbClr val="FFC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总发电</a:t>
              </a:r>
              <a:r>
                <a:rPr sz="1400" b="1" kern="0" spc="220" dirty="0">
                  <a:solidFill>
                    <a:srgbClr val="FFC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20" dirty="0">
                  <a:solidFill>
                    <a:srgbClr val="FFC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&lt; </a:t>
              </a: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总用电（含网损）</a:t>
              </a:r>
              <a:r>
                <a:rPr sz="1400" b="1" kern="0" spc="-3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时，提</a:t>
              </a: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升出力，调高频率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791844" indent="-626109" algn="l" rtl="0" eaLnBrk="0">
                <a:lnSpc>
                  <a:spcPct val="92000"/>
                </a:lnSpc>
                <a:spcBef>
                  <a:spcPts val="1"/>
                </a:spcBef>
                <a:tabLst/>
              </a:pPr>
              <a:r>
                <a:rPr sz="1400" b="1" kern="0" spc="-30" dirty="0">
                  <a:solidFill>
                    <a:srgbClr val="FFC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总发电</a:t>
              </a:r>
              <a:r>
                <a:rPr sz="1400" b="1" kern="0" spc="260" dirty="0">
                  <a:solidFill>
                    <a:srgbClr val="FFC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30" dirty="0">
                  <a:solidFill>
                    <a:srgbClr val="FFC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&gt; </a:t>
              </a:r>
              <a:r>
                <a:rPr sz="1400" b="1" kern="0" spc="-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总用电（含网损）</a:t>
              </a:r>
              <a:r>
                <a:rPr sz="1400" b="1" kern="0" spc="-3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时，</a:t>
              </a:r>
              <a:r>
                <a:rPr sz="1400" b="1" kern="0" spc="-2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降</a:t>
              </a: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低出力，调低频率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846" name="textbox 1846"/>
          <p:cNvSpPr/>
          <p:nvPr/>
        </p:nvSpPr>
        <p:spPr>
          <a:xfrm>
            <a:off x="521248" y="1114052"/>
            <a:ext cx="5427979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浙江现货市场调频、调频备用、调频约束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48" name="picture 18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62684" y="4258055"/>
            <a:ext cx="684275" cy="1979675"/>
          </a:xfrm>
          <a:prstGeom prst="rect">
            <a:avLst/>
          </a:prstGeom>
        </p:spPr>
      </p:pic>
      <p:sp>
        <p:nvSpPr>
          <p:cNvPr id="1850" name="textbox 1850"/>
          <p:cNvSpPr/>
          <p:nvPr/>
        </p:nvSpPr>
        <p:spPr>
          <a:xfrm>
            <a:off x="893406" y="4187498"/>
            <a:ext cx="657225" cy="2112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86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最大出力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最小出力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52" name="picture 18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91121" y="3810000"/>
            <a:ext cx="9650348" cy="122110"/>
          </a:xfrm>
          <a:prstGeom prst="rect">
            <a:avLst/>
          </a:prstGeom>
        </p:spPr>
      </p:pic>
      <p:pic>
        <p:nvPicPr>
          <p:cNvPr id="1854" name="picture 18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062780" y="3933253"/>
            <a:ext cx="338519" cy="2650616"/>
          </a:xfrm>
          <a:prstGeom prst="rect">
            <a:avLst/>
          </a:prstGeom>
        </p:spPr>
      </p:pic>
      <p:pic>
        <p:nvPicPr>
          <p:cNvPr id="1856" name="picture 18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97763" y="5422391"/>
            <a:ext cx="341566" cy="1163002"/>
          </a:xfrm>
          <a:prstGeom prst="rect">
            <a:avLst/>
          </a:prstGeom>
        </p:spPr>
      </p:pic>
      <p:pic>
        <p:nvPicPr>
          <p:cNvPr id="1858" name="picture 18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1141" y="6572821"/>
            <a:ext cx="9298303" cy="26098"/>
          </a:xfrm>
          <a:prstGeom prst="rect">
            <a:avLst/>
          </a:prstGeom>
        </p:spPr>
      </p:pic>
      <p:pic>
        <p:nvPicPr>
          <p:cNvPr id="1860" name="picture 186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97763" y="3905820"/>
            <a:ext cx="187642" cy="756095"/>
          </a:xfrm>
          <a:prstGeom prst="rect">
            <a:avLst/>
          </a:prstGeom>
        </p:spPr>
      </p:pic>
      <p:pic>
        <p:nvPicPr>
          <p:cNvPr id="1862" name="picture 18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1864" name="picture 186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97763" y="4686300"/>
            <a:ext cx="7620" cy="71018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textbox 1866"/>
          <p:cNvSpPr/>
          <p:nvPr/>
        </p:nvSpPr>
        <p:spPr>
          <a:xfrm>
            <a:off x="3557636" y="3621912"/>
            <a:ext cx="5428615" cy="268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1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indent="57150" algn="l" rtl="0" eaLnBrk="0">
              <a:lnSpc>
                <a:spcPct val="96000"/>
              </a:lnSpc>
              <a:tabLst/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无调频约束时满负荷发电，</a:t>
            </a:r>
            <a:r>
              <a:rPr sz="1700" b="1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因调频降低到调频出力，这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时，</a:t>
            </a:r>
            <a:r>
              <a:rPr sz="1700" b="1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LMP</a:t>
            </a:r>
            <a:r>
              <a:rPr sz="1700" b="1" kern="0" spc="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 边际成本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预估机会成本为：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82625" algn="l" rtl="0" eaLnBrk="0">
              <a:lnSpc>
                <a:spcPct val="87000"/>
              </a:lnSpc>
              <a:spcBef>
                <a:spcPts val="371"/>
              </a:spcBef>
              <a:tabLst/>
            </a:pPr>
            <a:r>
              <a:rPr sz="1200" b="1" u="sng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sz="12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LMP</a:t>
            </a:r>
            <a:r>
              <a:rPr sz="1200" b="1" u="sng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-边际成本1)×最大</a:t>
            </a:r>
            <a:r>
              <a:rPr sz="1200" b="1" u="sng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 - (</a:t>
            </a:r>
            <a:r>
              <a:rPr sz="12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LMP</a:t>
            </a:r>
            <a:r>
              <a:rPr sz="1200" b="1" u="sng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-边际成本2)×调频出力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049779" algn="l" rtl="0" eaLnBrk="0">
              <a:lnSpc>
                <a:spcPct val="86000"/>
              </a:lnSpc>
              <a:spcBef>
                <a:spcPts val="545"/>
              </a:spcBef>
              <a:tabLst/>
            </a:pP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最大出力 - 调频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66675" algn="l" rtl="0" eaLnBrk="0">
              <a:lnSpc>
                <a:spcPct val="96000"/>
              </a:lnSpc>
              <a:spcBef>
                <a:spcPts val="513"/>
              </a:spcBef>
              <a:tabLst/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无调频约束时最小出力发电，</a:t>
            </a:r>
            <a:r>
              <a:rPr sz="1700" b="1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因调频上升到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调频出力，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这时，</a:t>
            </a:r>
            <a:r>
              <a:rPr sz="17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LMP</a:t>
            </a:r>
            <a:r>
              <a:rPr sz="1700" b="1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&lt; 边际成本4，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预估机会成本为：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82625" algn="l" rtl="0" eaLnBrk="0">
              <a:lnSpc>
                <a:spcPct val="87000"/>
              </a:lnSpc>
              <a:spcBef>
                <a:spcPts val="371"/>
              </a:spcBef>
              <a:tabLst/>
            </a:pPr>
            <a:r>
              <a:rPr sz="1200" b="1" u="sng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sz="12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LMP</a:t>
            </a:r>
            <a:r>
              <a:rPr sz="1200" b="1" u="sng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-边际成本4)×最小</a:t>
            </a:r>
            <a:r>
              <a:rPr sz="1200" b="1" u="sng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 - (</a:t>
            </a:r>
            <a:r>
              <a:rPr sz="12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LMP</a:t>
            </a:r>
            <a:r>
              <a:rPr sz="1200" b="1" u="sng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-边际成本3)×调频出力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034539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2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调频出力</a:t>
            </a:r>
            <a:r>
              <a:rPr sz="12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 最小出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68" name="textbox 1868"/>
          <p:cNvSpPr/>
          <p:nvPr/>
        </p:nvSpPr>
        <p:spPr>
          <a:xfrm>
            <a:off x="0" y="2212847"/>
            <a:ext cx="10692765" cy="269875"/>
          </a:xfrm>
          <a:prstGeom prst="rect">
            <a:avLst/>
          </a:prstGeom>
          <a:solidFill>
            <a:srgbClr val="16375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50669" algn="l" rtl="0" eaLnBrk="0">
              <a:lnSpc>
                <a:spcPct val="88000"/>
              </a:lnSpc>
              <a:tabLst/>
            </a:pPr>
            <a:r>
              <a:rPr sz="17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预估机会成本：</a:t>
            </a:r>
            <a:r>
              <a:rPr sz="1700" b="1" kern="0" spc="-2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因预留（上/下）调频容量而失去的电能市场可获得的边际效益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70" name="picture 18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1836" y="3343655"/>
            <a:ext cx="10300906" cy="249935"/>
          </a:xfrm>
          <a:prstGeom prst="rect">
            <a:avLst/>
          </a:prstGeom>
        </p:spPr>
      </p:pic>
      <p:sp>
        <p:nvSpPr>
          <p:cNvPr id="1872" name="textbox 1872"/>
          <p:cNvSpPr/>
          <p:nvPr/>
        </p:nvSpPr>
        <p:spPr>
          <a:xfrm>
            <a:off x="521248" y="1112886"/>
            <a:ext cx="6567805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浙江现货市场调频价格形成机制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——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预估机会成本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74" name="textbox 1874"/>
          <p:cNvSpPr/>
          <p:nvPr/>
        </p:nvSpPr>
        <p:spPr>
          <a:xfrm>
            <a:off x="845127" y="3826095"/>
            <a:ext cx="876935" cy="2293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ct val="86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边际成本1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428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边际成本2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ct val="86000"/>
              </a:lnSpc>
              <a:spcBef>
                <a:spcPts val="428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边际成本3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边际成本4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76" name="picture 18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1920" y="3610355"/>
            <a:ext cx="519874" cy="2988563"/>
          </a:xfrm>
          <a:prstGeom prst="rect">
            <a:avLst/>
          </a:prstGeom>
        </p:spPr>
      </p:pic>
      <p:pic>
        <p:nvPicPr>
          <p:cNvPr id="1878" name="picture 18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81427" y="3903725"/>
            <a:ext cx="630936" cy="2141220"/>
          </a:xfrm>
          <a:prstGeom prst="rect">
            <a:avLst/>
          </a:prstGeom>
        </p:spPr>
      </p:pic>
      <p:pic>
        <p:nvPicPr>
          <p:cNvPr id="1880" name="picture 18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213847" y="3596449"/>
            <a:ext cx="390143" cy="2979610"/>
          </a:xfrm>
          <a:prstGeom prst="rect">
            <a:avLst/>
          </a:prstGeom>
        </p:spPr>
      </p:pic>
      <p:sp>
        <p:nvSpPr>
          <p:cNvPr id="1882" name="textbox 1882"/>
          <p:cNvSpPr/>
          <p:nvPr/>
        </p:nvSpPr>
        <p:spPr>
          <a:xfrm>
            <a:off x="1733737" y="3679017"/>
            <a:ext cx="450850" cy="2564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8100" algn="l" rtl="0" eaLnBrk="0">
              <a:lnSpc>
                <a:spcPct val="87000"/>
              </a:lnSpc>
              <a:tabLst/>
            </a:pP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53975" algn="l" rtl="0" eaLnBrk="0">
              <a:lnSpc>
                <a:spcPct val="87000"/>
              </a:lnSpc>
              <a:spcBef>
                <a:spcPts val="317"/>
              </a:spcBef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461"/>
              </a:spcBef>
              <a:tabLst/>
            </a:pP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调频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7940" algn="l" rtl="0" eaLnBrk="0">
              <a:lnSpc>
                <a:spcPct val="87000"/>
              </a:lnSpc>
              <a:spcBef>
                <a:spcPts val="320"/>
              </a:spcBef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460"/>
              </a:spcBef>
              <a:tabLst/>
            </a:pP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调频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7940" algn="l" rtl="0" eaLnBrk="0">
              <a:lnSpc>
                <a:spcPct val="87000"/>
              </a:lnSpc>
              <a:spcBef>
                <a:spcPts val="320"/>
              </a:spcBef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462"/>
              </a:spcBef>
              <a:tabLst/>
            </a:pP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最小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7940" algn="l" rtl="0" eaLnBrk="0">
              <a:lnSpc>
                <a:spcPct val="87000"/>
              </a:lnSpc>
              <a:spcBef>
                <a:spcPts val="325"/>
              </a:spcBef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84" name="picture 18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6653" y="6574535"/>
            <a:ext cx="9534335" cy="24383"/>
          </a:xfrm>
          <a:prstGeom prst="rect">
            <a:avLst/>
          </a:prstGeom>
        </p:spPr>
      </p:pic>
      <p:pic>
        <p:nvPicPr>
          <p:cNvPr id="1886" name="picture 18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textbox 1888"/>
          <p:cNvSpPr/>
          <p:nvPr/>
        </p:nvSpPr>
        <p:spPr>
          <a:xfrm>
            <a:off x="7468551" y="5476684"/>
            <a:ext cx="2124075" cy="585469"/>
          </a:xfrm>
          <a:prstGeom prst="roundRect">
            <a:avLst>
              <a:gd name="adj" fmla="val 18205"/>
            </a:avLst>
          </a:prstGeom>
          <a:solidFill>
            <a:srgbClr val="0D4260">
              <a:alpha val="100000"/>
            </a:srgbClr>
          </a:solidFill>
          <a:ln w="9525" cap="flat">
            <a:solidFill>
              <a:srgbClr val="41719C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54000" indent="-3175" algn="l" rtl="0" eaLnBrk="0">
              <a:lnSpc>
                <a:spcPct val="94000"/>
              </a:lnSpc>
              <a:spcBef>
                <a:spcPts val="3"/>
              </a:spcBef>
              <a:tabLst/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最高调频排序价格即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为初始调频出清价格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90" name="picture 18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0143" y="4881371"/>
            <a:ext cx="10011156" cy="1784603"/>
          </a:xfrm>
          <a:prstGeom prst="rect">
            <a:avLst/>
          </a:prstGeom>
        </p:spPr>
      </p:pic>
      <p:sp>
        <p:nvSpPr>
          <p:cNvPr id="1892" name="textbox 1892"/>
          <p:cNvSpPr/>
          <p:nvPr/>
        </p:nvSpPr>
        <p:spPr>
          <a:xfrm>
            <a:off x="653479" y="2942282"/>
            <a:ext cx="9015730" cy="1401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3500" algn="l" rtl="0" eaLnBrk="0">
              <a:lnSpc>
                <a:spcPct val="87000"/>
              </a:lnSpc>
              <a:tabLst/>
            </a:pPr>
            <a:r>
              <a:rPr sz="13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调频容量报价是辅助服务单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元申报的该小时的调频容量价格；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3500" algn="l" rtl="0" eaLnBrk="0">
              <a:lnSpc>
                <a:spcPct val="87000"/>
              </a:lnSpc>
              <a:spcBef>
                <a:spcPts val="395"/>
              </a:spcBef>
              <a:tabLst/>
            </a:pPr>
            <a:r>
              <a:rPr sz="13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调频里程报价是辅助服务单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元申报的该小时的调频里程价格；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97"/>
              </a:spcBef>
              <a:tabLst/>
            </a:pPr>
            <a:r>
              <a:rPr sz="13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系统历史单位容量小时里程为上月系统每小时调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频里程与上月系统每小时调频容量之比的平均值；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如果调频单元调频容量和调频里程报价均为零，则默认其预估调频机会成本为零，调频单元作为价格接受</a:t>
            </a:r>
            <a:r>
              <a:rPr sz="13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者参与调频市场；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94" name="textbox 1894"/>
          <p:cNvSpPr/>
          <p:nvPr/>
        </p:nvSpPr>
        <p:spPr>
          <a:xfrm>
            <a:off x="192976" y="1863280"/>
            <a:ext cx="10244455" cy="876300"/>
          </a:xfrm>
          <a:prstGeom prst="roundRect">
            <a:avLst>
              <a:gd name="adj" fmla="val 17642"/>
            </a:avLst>
          </a:prstGeom>
          <a:solidFill>
            <a:srgbClr val="0D4260">
              <a:alpha val="100000"/>
            </a:srgbClr>
          </a:solidFill>
          <a:ln w="9525" cap="flat">
            <a:solidFill>
              <a:srgbClr val="41719C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7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调频排序价格（元/MWh）</a:t>
            </a:r>
            <a:r>
              <a:rPr sz="1400" b="1" kern="0" spc="-2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=[(调频容量报价（元/MWh</a:t>
            </a:r>
            <a:r>
              <a:rPr sz="1400" b="1" kern="0" spc="-1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）＋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调频里程报价（元/ΔMW）*系统历史单位容量小时里</a:t>
            </a: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程（1/h） +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487929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预估调频机会成本（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元/MWh）历史调频性能归一化指标。其中：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48" name="group 248"/>
          <p:cNvGrpSpPr/>
          <p:nvPr/>
        </p:nvGrpSpPr>
        <p:grpSpPr>
          <a:xfrm rot="21600000">
            <a:off x="1256538" y="5527547"/>
            <a:ext cx="5764529" cy="372617"/>
            <a:chOff x="0" y="0"/>
            <a:chExt cx="5764529" cy="372617"/>
          </a:xfrm>
        </p:grpSpPr>
        <p:sp>
          <p:nvSpPr>
            <p:cNvPr id="1896" name="path 1896"/>
            <p:cNvSpPr/>
            <p:nvPr/>
          </p:nvSpPr>
          <p:spPr>
            <a:xfrm>
              <a:off x="25146" y="16764"/>
              <a:ext cx="5739383" cy="315467"/>
            </a:xfrm>
            <a:custGeom>
              <a:avLst/>
              <a:gdLst/>
              <a:ahLst/>
              <a:cxnLst/>
              <a:rect l="0" t="0" r="0" b="0"/>
              <a:pathLst>
                <a:path w="9038" h="496">
                  <a:moveTo>
                    <a:pt x="0" y="122"/>
                  </a:moveTo>
                  <a:lnTo>
                    <a:pt x="8788" y="122"/>
                  </a:lnTo>
                  <a:lnTo>
                    <a:pt x="8788" y="0"/>
                  </a:lnTo>
                  <a:lnTo>
                    <a:pt x="9038" y="247"/>
                  </a:lnTo>
                  <a:lnTo>
                    <a:pt x="8788" y="496"/>
                  </a:lnTo>
                  <a:lnTo>
                    <a:pt x="8788" y="371"/>
                  </a:lnTo>
                  <a:lnTo>
                    <a:pt x="0" y="371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grpSp>
          <p:nvGrpSpPr>
            <p:cNvPr id="250" name="group 250"/>
            <p:cNvGrpSpPr/>
            <p:nvPr/>
          </p:nvGrpSpPr>
          <p:grpSpPr>
            <a:xfrm rot="21600000">
              <a:off x="51815" y="11429"/>
              <a:ext cx="3608831" cy="345948"/>
              <a:chOff x="0" y="0"/>
              <a:chExt cx="3608831" cy="345948"/>
            </a:xfrm>
          </p:grpSpPr>
          <p:sp>
            <p:nvSpPr>
              <p:cNvPr id="1898" name="path 1898"/>
              <p:cNvSpPr/>
              <p:nvPr/>
            </p:nvSpPr>
            <p:spPr>
              <a:xfrm>
                <a:off x="0" y="0"/>
                <a:ext cx="1185672" cy="335279"/>
              </a:xfrm>
              <a:custGeom>
                <a:avLst/>
                <a:gdLst/>
                <a:ahLst/>
                <a:cxnLst/>
                <a:rect l="0" t="0" r="0" b="0"/>
                <a:pathLst>
                  <a:path w="1867" h="527">
                    <a:moveTo>
                      <a:pt x="8" y="255"/>
                    </a:moveTo>
                    <a:cubicBezTo>
                      <a:pt x="8" y="118"/>
                      <a:pt x="111" y="8"/>
                      <a:pt x="241" y="8"/>
                    </a:cubicBezTo>
                    <a:cubicBezTo>
                      <a:pt x="370" y="8"/>
                      <a:pt x="473" y="118"/>
                      <a:pt x="473" y="255"/>
                    </a:cubicBezTo>
                    <a:cubicBezTo>
                      <a:pt x="473" y="392"/>
                      <a:pt x="370" y="505"/>
                      <a:pt x="241" y="505"/>
                    </a:cubicBezTo>
                    <a:cubicBezTo>
                      <a:pt x="111" y="505"/>
                      <a:pt x="8" y="392"/>
                      <a:pt x="8" y="255"/>
                    </a:cubicBezTo>
                    <a:moveTo>
                      <a:pt x="1390" y="272"/>
                    </a:moveTo>
                    <a:cubicBezTo>
                      <a:pt x="1390" y="133"/>
                      <a:pt x="1496" y="22"/>
                      <a:pt x="1623" y="22"/>
                    </a:cubicBezTo>
                    <a:cubicBezTo>
                      <a:pt x="1753" y="22"/>
                      <a:pt x="1858" y="133"/>
                      <a:pt x="1858" y="272"/>
                    </a:cubicBezTo>
                    <a:cubicBezTo>
                      <a:pt x="1858" y="409"/>
                      <a:pt x="1753" y="519"/>
                      <a:pt x="1623" y="519"/>
                    </a:cubicBezTo>
                    <a:cubicBezTo>
                      <a:pt x="1496" y="519"/>
                      <a:pt x="1390" y="409"/>
                      <a:pt x="1390" y="272"/>
                    </a:cubicBezTo>
                  </a:path>
                </a:pathLst>
              </a:custGeom>
              <a:noFill/>
              <a:ln w="10668" cap="flat">
                <a:solidFill>
                  <a:srgbClr val="41719C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0" name="path 1900"/>
              <p:cNvSpPr/>
              <p:nvPr/>
            </p:nvSpPr>
            <p:spPr>
              <a:xfrm>
                <a:off x="1817369" y="11430"/>
                <a:ext cx="597408" cy="320039"/>
              </a:xfrm>
              <a:custGeom>
                <a:avLst/>
                <a:gdLst/>
                <a:ahLst/>
                <a:cxnLst/>
                <a:rect l="0" t="0" r="0" b="0"/>
                <a:pathLst>
                  <a:path w="940" h="503">
                    <a:moveTo>
                      <a:pt x="0" y="247"/>
                    </a:moveTo>
                    <a:cubicBezTo>
                      <a:pt x="0" y="110"/>
                      <a:pt x="103" y="0"/>
                      <a:pt x="232" y="0"/>
                    </a:cubicBezTo>
                    <a:cubicBezTo>
                      <a:pt x="362" y="0"/>
                      <a:pt x="465" y="110"/>
                      <a:pt x="465" y="247"/>
                    </a:cubicBezTo>
                    <a:cubicBezTo>
                      <a:pt x="465" y="386"/>
                      <a:pt x="362" y="496"/>
                      <a:pt x="232" y="496"/>
                    </a:cubicBezTo>
                    <a:cubicBezTo>
                      <a:pt x="103" y="496"/>
                      <a:pt x="0" y="386"/>
                      <a:pt x="0" y="247"/>
                    </a:cubicBezTo>
                  </a:path>
                  <a:path w="940" h="503">
                    <a:moveTo>
                      <a:pt x="472" y="254"/>
                    </a:moveTo>
                    <a:cubicBezTo>
                      <a:pt x="472" y="117"/>
                      <a:pt x="578" y="7"/>
                      <a:pt x="705" y="7"/>
                    </a:cubicBezTo>
                    <a:cubicBezTo>
                      <a:pt x="835" y="7"/>
                      <a:pt x="940" y="117"/>
                      <a:pt x="940" y="254"/>
                    </a:cubicBezTo>
                    <a:cubicBezTo>
                      <a:pt x="940" y="393"/>
                      <a:pt x="835" y="503"/>
                      <a:pt x="705" y="503"/>
                    </a:cubicBezTo>
                    <a:cubicBezTo>
                      <a:pt x="578" y="503"/>
                      <a:pt x="472" y="393"/>
                      <a:pt x="472" y="254"/>
                    </a:cubicBezTo>
                  </a:path>
                </a:pathLst>
              </a:custGeom>
              <a:solidFill>
                <a:srgbClr val="FDA10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2" name="path 1902"/>
              <p:cNvSpPr/>
              <p:nvPr/>
            </p:nvSpPr>
            <p:spPr>
              <a:xfrm>
                <a:off x="2112263" y="10667"/>
                <a:ext cx="307848" cy="326135"/>
              </a:xfrm>
              <a:custGeom>
                <a:avLst/>
                <a:gdLst/>
                <a:ahLst/>
                <a:cxnLst/>
                <a:rect l="0" t="0" r="0" b="0"/>
                <a:pathLst>
                  <a:path w="484" h="513">
                    <a:moveTo>
                      <a:pt x="8" y="255"/>
                    </a:moveTo>
                    <a:cubicBezTo>
                      <a:pt x="8" y="118"/>
                      <a:pt x="114" y="8"/>
                      <a:pt x="241" y="8"/>
                    </a:cubicBezTo>
                    <a:cubicBezTo>
                      <a:pt x="370" y="8"/>
                      <a:pt x="476" y="118"/>
                      <a:pt x="476" y="255"/>
                    </a:cubicBezTo>
                    <a:cubicBezTo>
                      <a:pt x="476" y="394"/>
                      <a:pt x="370" y="505"/>
                      <a:pt x="241" y="505"/>
                    </a:cubicBezTo>
                    <a:cubicBezTo>
                      <a:pt x="114" y="505"/>
                      <a:pt x="8" y="394"/>
                      <a:pt x="8" y="255"/>
                    </a:cubicBezTo>
                  </a:path>
                </a:pathLst>
              </a:custGeom>
              <a:noFill/>
              <a:ln w="10668" cap="flat">
                <a:solidFill>
                  <a:srgbClr val="41719C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4" name="path 1904"/>
              <p:cNvSpPr/>
              <p:nvPr/>
            </p:nvSpPr>
            <p:spPr>
              <a:xfrm>
                <a:off x="2417826" y="22098"/>
                <a:ext cx="297179" cy="316991"/>
              </a:xfrm>
              <a:custGeom>
                <a:avLst/>
                <a:gdLst/>
                <a:ahLst/>
                <a:cxnLst/>
                <a:rect l="0" t="0" r="0" b="0"/>
                <a:pathLst>
                  <a:path w="467" h="499">
                    <a:moveTo>
                      <a:pt x="0" y="249"/>
                    </a:moveTo>
                    <a:cubicBezTo>
                      <a:pt x="0" y="112"/>
                      <a:pt x="105" y="0"/>
                      <a:pt x="235" y="0"/>
                    </a:cubicBezTo>
                    <a:cubicBezTo>
                      <a:pt x="362" y="0"/>
                      <a:pt x="467" y="112"/>
                      <a:pt x="467" y="249"/>
                    </a:cubicBezTo>
                    <a:cubicBezTo>
                      <a:pt x="467" y="386"/>
                      <a:pt x="362" y="499"/>
                      <a:pt x="235" y="499"/>
                    </a:cubicBezTo>
                    <a:cubicBezTo>
                      <a:pt x="105" y="499"/>
                      <a:pt x="0" y="386"/>
                      <a:pt x="0" y="249"/>
                    </a:cubicBezTo>
                  </a:path>
                </a:pathLst>
              </a:custGeom>
              <a:solidFill>
                <a:srgbClr val="FDA10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6" name="path 1906"/>
              <p:cNvSpPr/>
              <p:nvPr/>
            </p:nvSpPr>
            <p:spPr>
              <a:xfrm>
                <a:off x="2412492" y="16764"/>
                <a:ext cx="307848" cy="327659"/>
              </a:xfrm>
              <a:custGeom>
                <a:avLst/>
                <a:gdLst/>
                <a:ahLst/>
                <a:cxnLst/>
                <a:rect l="0" t="0" r="0" b="0"/>
                <a:pathLst>
                  <a:path w="484" h="515">
                    <a:moveTo>
                      <a:pt x="8" y="257"/>
                    </a:moveTo>
                    <a:cubicBezTo>
                      <a:pt x="8" y="121"/>
                      <a:pt x="114" y="8"/>
                      <a:pt x="243" y="8"/>
                    </a:cubicBezTo>
                    <a:cubicBezTo>
                      <a:pt x="370" y="8"/>
                      <a:pt x="476" y="121"/>
                      <a:pt x="476" y="257"/>
                    </a:cubicBezTo>
                    <a:cubicBezTo>
                      <a:pt x="476" y="394"/>
                      <a:pt x="370" y="507"/>
                      <a:pt x="243" y="507"/>
                    </a:cubicBezTo>
                    <a:cubicBezTo>
                      <a:pt x="114" y="507"/>
                      <a:pt x="8" y="394"/>
                      <a:pt x="8" y="257"/>
                    </a:cubicBezTo>
                  </a:path>
                </a:pathLst>
              </a:custGeom>
              <a:noFill/>
              <a:ln w="10668" cap="flat">
                <a:solidFill>
                  <a:srgbClr val="41719C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8" name="path 1908"/>
              <p:cNvSpPr/>
              <p:nvPr/>
            </p:nvSpPr>
            <p:spPr>
              <a:xfrm>
                <a:off x="2718054" y="23622"/>
                <a:ext cx="295655" cy="315467"/>
              </a:xfrm>
              <a:custGeom>
                <a:avLst/>
                <a:gdLst/>
                <a:ahLst/>
                <a:cxnLst/>
                <a:rect l="0" t="0" r="0" b="0"/>
                <a:pathLst>
                  <a:path w="465" h="496">
                    <a:moveTo>
                      <a:pt x="0" y="249"/>
                    </a:moveTo>
                    <a:cubicBezTo>
                      <a:pt x="0" y="110"/>
                      <a:pt x="105" y="0"/>
                      <a:pt x="232" y="0"/>
                    </a:cubicBezTo>
                    <a:cubicBezTo>
                      <a:pt x="362" y="0"/>
                      <a:pt x="465" y="110"/>
                      <a:pt x="465" y="249"/>
                    </a:cubicBezTo>
                    <a:cubicBezTo>
                      <a:pt x="465" y="386"/>
                      <a:pt x="362" y="496"/>
                      <a:pt x="232" y="496"/>
                    </a:cubicBezTo>
                    <a:cubicBezTo>
                      <a:pt x="105" y="496"/>
                      <a:pt x="0" y="386"/>
                      <a:pt x="0" y="249"/>
                    </a:cubicBezTo>
                  </a:path>
                </a:pathLst>
              </a:custGeom>
              <a:solidFill>
                <a:srgbClr val="FDA10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0" name="path 1910"/>
              <p:cNvSpPr/>
              <p:nvPr/>
            </p:nvSpPr>
            <p:spPr>
              <a:xfrm>
                <a:off x="2712719" y="18288"/>
                <a:ext cx="306324" cy="326135"/>
              </a:xfrm>
              <a:custGeom>
                <a:avLst/>
                <a:gdLst/>
                <a:ahLst/>
                <a:cxnLst/>
                <a:rect l="0" t="0" r="0" b="0"/>
                <a:pathLst>
                  <a:path w="482" h="513">
                    <a:moveTo>
                      <a:pt x="8" y="257"/>
                    </a:moveTo>
                    <a:cubicBezTo>
                      <a:pt x="8" y="118"/>
                      <a:pt x="114" y="8"/>
                      <a:pt x="241" y="8"/>
                    </a:cubicBezTo>
                    <a:cubicBezTo>
                      <a:pt x="370" y="8"/>
                      <a:pt x="474" y="118"/>
                      <a:pt x="474" y="257"/>
                    </a:cubicBezTo>
                    <a:cubicBezTo>
                      <a:pt x="474" y="394"/>
                      <a:pt x="370" y="505"/>
                      <a:pt x="241" y="505"/>
                    </a:cubicBezTo>
                    <a:cubicBezTo>
                      <a:pt x="114" y="505"/>
                      <a:pt x="8" y="394"/>
                      <a:pt x="8" y="257"/>
                    </a:cubicBezTo>
                  </a:path>
                </a:pathLst>
              </a:custGeom>
              <a:noFill/>
              <a:ln w="10668" cap="flat">
                <a:solidFill>
                  <a:srgbClr val="41719C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2" name="path 1912"/>
              <p:cNvSpPr/>
              <p:nvPr/>
            </p:nvSpPr>
            <p:spPr>
              <a:xfrm>
                <a:off x="3018281" y="23622"/>
                <a:ext cx="295655" cy="315467"/>
              </a:xfrm>
              <a:custGeom>
                <a:avLst/>
                <a:gdLst/>
                <a:ahLst/>
                <a:cxnLst/>
                <a:rect l="0" t="0" r="0" b="0"/>
                <a:pathLst>
                  <a:path w="465" h="496">
                    <a:moveTo>
                      <a:pt x="0" y="249"/>
                    </a:moveTo>
                    <a:cubicBezTo>
                      <a:pt x="0" y="110"/>
                      <a:pt x="103" y="0"/>
                      <a:pt x="232" y="0"/>
                    </a:cubicBezTo>
                    <a:cubicBezTo>
                      <a:pt x="362" y="0"/>
                      <a:pt x="465" y="110"/>
                      <a:pt x="465" y="249"/>
                    </a:cubicBezTo>
                    <a:cubicBezTo>
                      <a:pt x="465" y="386"/>
                      <a:pt x="362" y="496"/>
                      <a:pt x="232" y="496"/>
                    </a:cubicBezTo>
                    <a:cubicBezTo>
                      <a:pt x="103" y="496"/>
                      <a:pt x="0" y="386"/>
                      <a:pt x="0" y="249"/>
                    </a:cubicBezTo>
                  </a:path>
                </a:pathLst>
              </a:custGeom>
              <a:solidFill>
                <a:srgbClr val="FDA10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4" name="path 1914"/>
              <p:cNvSpPr/>
              <p:nvPr/>
            </p:nvSpPr>
            <p:spPr>
              <a:xfrm>
                <a:off x="3012947" y="18288"/>
                <a:ext cx="306324" cy="326135"/>
              </a:xfrm>
              <a:custGeom>
                <a:avLst/>
                <a:gdLst/>
                <a:ahLst/>
                <a:cxnLst/>
                <a:rect l="0" t="0" r="0" b="0"/>
                <a:pathLst>
                  <a:path w="482" h="513">
                    <a:moveTo>
                      <a:pt x="8" y="257"/>
                    </a:moveTo>
                    <a:cubicBezTo>
                      <a:pt x="8" y="118"/>
                      <a:pt x="111" y="8"/>
                      <a:pt x="241" y="8"/>
                    </a:cubicBezTo>
                    <a:cubicBezTo>
                      <a:pt x="370" y="8"/>
                      <a:pt x="474" y="118"/>
                      <a:pt x="474" y="257"/>
                    </a:cubicBezTo>
                    <a:cubicBezTo>
                      <a:pt x="474" y="394"/>
                      <a:pt x="370" y="505"/>
                      <a:pt x="241" y="505"/>
                    </a:cubicBezTo>
                    <a:cubicBezTo>
                      <a:pt x="111" y="505"/>
                      <a:pt x="8" y="394"/>
                      <a:pt x="8" y="257"/>
                    </a:cubicBezTo>
                  </a:path>
                </a:pathLst>
              </a:custGeom>
              <a:noFill/>
              <a:ln w="10668" cap="flat">
                <a:solidFill>
                  <a:srgbClr val="41719C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6" name="path 1916"/>
              <p:cNvSpPr/>
              <p:nvPr/>
            </p:nvSpPr>
            <p:spPr>
              <a:xfrm>
                <a:off x="3306317" y="23622"/>
                <a:ext cx="297179" cy="316991"/>
              </a:xfrm>
              <a:custGeom>
                <a:avLst/>
                <a:gdLst/>
                <a:ahLst/>
                <a:cxnLst/>
                <a:rect l="0" t="0" r="0" b="0"/>
                <a:pathLst>
                  <a:path w="467" h="499">
                    <a:moveTo>
                      <a:pt x="0" y="249"/>
                    </a:moveTo>
                    <a:cubicBezTo>
                      <a:pt x="0" y="112"/>
                      <a:pt x="105" y="0"/>
                      <a:pt x="232" y="0"/>
                    </a:cubicBezTo>
                    <a:cubicBezTo>
                      <a:pt x="362" y="0"/>
                      <a:pt x="467" y="112"/>
                      <a:pt x="467" y="249"/>
                    </a:cubicBezTo>
                    <a:cubicBezTo>
                      <a:pt x="467" y="386"/>
                      <a:pt x="362" y="499"/>
                      <a:pt x="232" y="499"/>
                    </a:cubicBezTo>
                    <a:cubicBezTo>
                      <a:pt x="105" y="499"/>
                      <a:pt x="0" y="386"/>
                      <a:pt x="0" y="249"/>
                    </a:cubicBezTo>
                  </a:path>
                </a:pathLst>
              </a:custGeom>
              <a:solidFill>
                <a:srgbClr val="FDA10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8" name="path 1918"/>
              <p:cNvSpPr/>
              <p:nvPr/>
            </p:nvSpPr>
            <p:spPr>
              <a:xfrm>
                <a:off x="3300983" y="18288"/>
                <a:ext cx="307848" cy="327659"/>
              </a:xfrm>
              <a:custGeom>
                <a:avLst/>
                <a:gdLst/>
                <a:ahLst/>
                <a:cxnLst/>
                <a:rect l="0" t="0" r="0" b="0"/>
                <a:pathLst>
                  <a:path w="484" h="515">
                    <a:moveTo>
                      <a:pt x="8" y="257"/>
                    </a:moveTo>
                    <a:cubicBezTo>
                      <a:pt x="8" y="121"/>
                      <a:pt x="114" y="8"/>
                      <a:pt x="241" y="8"/>
                    </a:cubicBezTo>
                    <a:cubicBezTo>
                      <a:pt x="370" y="8"/>
                      <a:pt x="476" y="121"/>
                      <a:pt x="476" y="257"/>
                    </a:cubicBezTo>
                    <a:cubicBezTo>
                      <a:pt x="476" y="394"/>
                      <a:pt x="370" y="507"/>
                      <a:pt x="241" y="507"/>
                    </a:cubicBezTo>
                    <a:cubicBezTo>
                      <a:pt x="114" y="507"/>
                      <a:pt x="8" y="394"/>
                      <a:pt x="8" y="257"/>
                    </a:cubicBezTo>
                  </a:path>
                </a:pathLst>
              </a:custGeom>
              <a:noFill/>
              <a:ln w="10668" cap="flat">
                <a:solidFill>
                  <a:srgbClr val="41719C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20" name="textbox 1920"/>
            <p:cNvSpPr/>
            <p:nvPr/>
          </p:nvSpPr>
          <p:spPr>
            <a:xfrm>
              <a:off x="99313" y="-12700"/>
              <a:ext cx="3533140" cy="4902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1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1341"/>
                </a:lnSpc>
                <a:tabLst/>
              </a:pPr>
              <a:r>
                <a:rPr sz="3300" b="1" kern="0" spc="-70" dirty="0">
                  <a:solidFill>
                    <a:srgbClr val="0C5A82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~</a:t>
              </a:r>
              <a:r>
                <a:rPr sz="3300" b="1" kern="0" spc="70" dirty="0">
                  <a:solidFill>
                    <a:srgbClr val="0C5A82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      </a:t>
              </a:r>
              <a:r>
                <a:rPr sz="3300" b="1" kern="0" spc="-70" dirty="0">
                  <a:solidFill>
                    <a:srgbClr val="0C5A82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~         </a:t>
              </a:r>
              <a:r>
                <a:rPr sz="3300" b="1" kern="0" spc="-70" dirty="0">
                  <a:solidFill>
                    <a:srgbClr val="0C5A82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~ </a:t>
              </a:r>
              <a:r>
                <a:rPr sz="3300" b="1" kern="0" spc="-70" dirty="0">
                  <a:solidFill>
                    <a:srgbClr val="0C5A82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~</a:t>
              </a:r>
              <a:r>
                <a:rPr sz="3300" b="1" kern="0" spc="120" dirty="0">
                  <a:solidFill>
                    <a:srgbClr val="0C5A82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3300" b="1" kern="0" spc="-70" dirty="0">
                  <a:solidFill>
                    <a:srgbClr val="0C5A82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~</a:t>
              </a:r>
              <a:r>
                <a:rPr sz="3300" b="1" kern="0" spc="60" dirty="0">
                  <a:solidFill>
                    <a:srgbClr val="0C5A82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3300" b="1" kern="0" spc="-70" dirty="0">
                  <a:solidFill>
                    <a:srgbClr val="0C5A82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~</a:t>
              </a:r>
              <a:r>
                <a:rPr sz="3300" b="1" kern="0" spc="60" dirty="0">
                  <a:solidFill>
                    <a:srgbClr val="0C5A82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3300" b="1" kern="0" spc="-70" dirty="0">
                  <a:solidFill>
                    <a:srgbClr val="0C5A82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~ </a:t>
              </a:r>
              <a:r>
                <a:rPr sz="3300" b="1" kern="0" spc="-70" dirty="0">
                  <a:solidFill>
                    <a:srgbClr val="0C5A82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~</a:t>
              </a:r>
              <a:endParaRPr sz="3300" dirty="0">
                <a:latin typeface="Corbel"/>
                <a:ea typeface="Corbel"/>
                <a:cs typeface="Corbel"/>
              </a:endParaRPr>
            </a:p>
          </p:txBody>
        </p:sp>
        <p:sp>
          <p:nvSpPr>
            <p:cNvPr id="1922" name="path 1922"/>
            <p:cNvSpPr/>
            <p:nvPr/>
          </p:nvSpPr>
          <p:spPr>
            <a:xfrm>
              <a:off x="1841494" y="0"/>
              <a:ext cx="50292" cy="365759"/>
            </a:xfrm>
            <a:custGeom>
              <a:avLst/>
              <a:gdLst/>
              <a:ahLst/>
              <a:cxnLst/>
              <a:rect l="0" t="0" r="0" b="0"/>
              <a:pathLst>
                <a:path w="79" h="575">
                  <a:moveTo>
                    <a:pt x="39" y="0"/>
                  </a:moveTo>
                  <a:lnTo>
                    <a:pt x="39" y="575"/>
                  </a:lnTo>
                </a:path>
              </a:pathLst>
            </a:custGeom>
            <a:noFill/>
            <a:ln w="50291" cap="flat">
              <a:solidFill>
                <a:srgbClr val="0D426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grpSp>
          <p:nvGrpSpPr>
            <p:cNvPr id="252" name="group 252"/>
            <p:cNvGrpSpPr/>
            <p:nvPr/>
          </p:nvGrpSpPr>
          <p:grpSpPr>
            <a:xfrm rot="21600000">
              <a:off x="3656075" y="29717"/>
              <a:ext cx="307848" cy="326135"/>
              <a:chOff x="0" y="0"/>
              <a:chExt cx="307848" cy="326135"/>
            </a:xfrm>
          </p:grpSpPr>
          <p:sp>
            <p:nvSpPr>
              <p:cNvPr id="1924" name="path 1924"/>
              <p:cNvSpPr/>
              <p:nvPr/>
            </p:nvSpPr>
            <p:spPr>
              <a:xfrm>
                <a:off x="5334" y="5333"/>
                <a:ext cx="297179" cy="315467"/>
              </a:xfrm>
              <a:custGeom>
                <a:avLst/>
                <a:gdLst/>
                <a:ahLst/>
                <a:cxnLst/>
                <a:rect l="0" t="0" r="0" b="0"/>
                <a:pathLst>
                  <a:path w="467" h="496">
                    <a:moveTo>
                      <a:pt x="0" y="249"/>
                    </a:moveTo>
                    <a:cubicBezTo>
                      <a:pt x="0" y="110"/>
                      <a:pt x="105" y="0"/>
                      <a:pt x="235" y="0"/>
                    </a:cubicBezTo>
                    <a:cubicBezTo>
                      <a:pt x="362" y="0"/>
                      <a:pt x="467" y="110"/>
                      <a:pt x="467" y="249"/>
                    </a:cubicBezTo>
                    <a:cubicBezTo>
                      <a:pt x="467" y="386"/>
                      <a:pt x="362" y="496"/>
                      <a:pt x="235" y="496"/>
                    </a:cubicBezTo>
                    <a:cubicBezTo>
                      <a:pt x="105" y="496"/>
                      <a:pt x="0" y="386"/>
                      <a:pt x="0" y="249"/>
                    </a:cubicBezTo>
                  </a:path>
                </a:pathLst>
              </a:custGeom>
              <a:solidFill>
                <a:srgbClr val="FDA10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6" name="path 1926"/>
              <p:cNvSpPr/>
              <p:nvPr/>
            </p:nvSpPr>
            <p:spPr>
              <a:xfrm>
                <a:off x="0" y="0"/>
                <a:ext cx="307848" cy="326135"/>
              </a:xfrm>
              <a:custGeom>
                <a:avLst/>
                <a:gdLst/>
                <a:ahLst/>
                <a:cxnLst/>
                <a:rect l="0" t="0" r="0" b="0"/>
                <a:pathLst>
                  <a:path w="484" h="513">
                    <a:moveTo>
                      <a:pt x="8" y="257"/>
                    </a:moveTo>
                    <a:cubicBezTo>
                      <a:pt x="8" y="118"/>
                      <a:pt x="114" y="8"/>
                      <a:pt x="243" y="8"/>
                    </a:cubicBezTo>
                    <a:cubicBezTo>
                      <a:pt x="370" y="8"/>
                      <a:pt x="476" y="118"/>
                      <a:pt x="476" y="257"/>
                    </a:cubicBezTo>
                    <a:cubicBezTo>
                      <a:pt x="476" y="394"/>
                      <a:pt x="370" y="505"/>
                      <a:pt x="243" y="505"/>
                    </a:cubicBezTo>
                    <a:cubicBezTo>
                      <a:pt x="114" y="505"/>
                      <a:pt x="8" y="394"/>
                      <a:pt x="8" y="257"/>
                    </a:cubicBezTo>
                  </a:path>
                </a:pathLst>
              </a:custGeom>
              <a:noFill/>
              <a:ln w="10668" cap="flat">
                <a:solidFill>
                  <a:srgbClr val="41719C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4" name="group 254"/>
            <p:cNvGrpSpPr/>
            <p:nvPr/>
          </p:nvGrpSpPr>
          <p:grpSpPr>
            <a:xfrm rot="21600000">
              <a:off x="3960875" y="28193"/>
              <a:ext cx="306324" cy="327659"/>
              <a:chOff x="0" y="0"/>
              <a:chExt cx="306324" cy="327659"/>
            </a:xfrm>
          </p:grpSpPr>
          <p:sp>
            <p:nvSpPr>
              <p:cNvPr id="1928" name="path 1928"/>
              <p:cNvSpPr/>
              <p:nvPr/>
            </p:nvSpPr>
            <p:spPr>
              <a:xfrm>
                <a:off x="5334" y="5333"/>
                <a:ext cx="295655" cy="316991"/>
              </a:xfrm>
              <a:custGeom>
                <a:avLst/>
                <a:gdLst/>
                <a:ahLst/>
                <a:cxnLst/>
                <a:rect l="0" t="0" r="0" b="0"/>
                <a:pathLst>
                  <a:path w="465" h="499">
                    <a:moveTo>
                      <a:pt x="0" y="249"/>
                    </a:moveTo>
                    <a:cubicBezTo>
                      <a:pt x="0" y="112"/>
                      <a:pt x="105" y="0"/>
                      <a:pt x="232" y="0"/>
                    </a:cubicBezTo>
                    <a:cubicBezTo>
                      <a:pt x="362" y="0"/>
                      <a:pt x="465" y="112"/>
                      <a:pt x="465" y="249"/>
                    </a:cubicBezTo>
                    <a:cubicBezTo>
                      <a:pt x="465" y="386"/>
                      <a:pt x="362" y="499"/>
                      <a:pt x="232" y="499"/>
                    </a:cubicBezTo>
                    <a:cubicBezTo>
                      <a:pt x="105" y="499"/>
                      <a:pt x="0" y="386"/>
                      <a:pt x="0" y="249"/>
                    </a:cubicBezTo>
                  </a:path>
                </a:pathLst>
              </a:custGeom>
              <a:solidFill>
                <a:srgbClr val="FDA10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0" name="path 1930"/>
              <p:cNvSpPr/>
              <p:nvPr/>
            </p:nvSpPr>
            <p:spPr>
              <a:xfrm>
                <a:off x="0" y="0"/>
                <a:ext cx="306324" cy="327659"/>
              </a:xfrm>
              <a:custGeom>
                <a:avLst/>
                <a:gdLst/>
                <a:ahLst/>
                <a:cxnLst/>
                <a:rect l="0" t="0" r="0" b="0"/>
                <a:pathLst>
                  <a:path w="482" h="515">
                    <a:moveTo>
                      <a:pt x="8" y="257"/>
                    </a:moveTo>
                    <a:cubicBezTo>
                      <a:pt x="8" y="121"/>
                      <a:pt x="114" y="8"/>
                      <a:pt x="241" y="8"/>
                    </a:cubicBezTo>
                    <a:cubicBezTo>
                      <a:pt x="370" y="8"/>
                      <a:pt x="474" y="121"/>
                      <a:pt x="474" y="257"/>
                    </a:cubicBezTo>
                    <a:cubicBezTo>
                      <a:pt x="474" y="394"/>
                      <a:pt x="370" y="507"/>
                      <a:pt x="241" y="507"/>
                    </a:cubicBezTo>
                    <a:cubicBezTo>
                      <a:pt x="114" y="507"/>
                      <a:pt x="8" y="394"/>
                      <a:pt x="8" y="257"/>
                    </a:cubicBezTo>
                  </a:path>
                </a:pathLst>
              </a:custGeom>
              <a:noFill/>
              <a:ln w="10668" cap="flat">
                <a:solidFill>
                  <a:srgbClr val="41719C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32" name="path 1932"/>
            <p:cNvSpPr/>
            <p:nvPr/>
          </p:nvSpPr>
          <p:spPr>
            <a:xfrm>
              <a:off x="1234439" y="23622"/>
              <a:ext cx="306323" cy="327659"/>
            </a:xfrm>
            <a:custGeom>
              <a:avLst/>
              <a:gdLst/>
              <a:ahLst/>
              <a:cxnLst/>
              <a:rect l="0" t="0" r="0" b="0"/>
              <a:pathLst>
                <a:path w="482" h="515">
                  <a:moveTo>
                    <a:pt x="8" y="257"/>
                  </a:moveTo>
                  <a:cubicBezTo>
                    <a:pt x="8" y="121"/>
                    <a:pt x="113" y="8"/>
                    <a:pt x="241" y="8"/>
                  </a:cubicBezTo>
                  <a:cubicBezTo>
                    <a:pt x="370" y="8"/>
                    <a:pt x="473" y="121"/>
                    <a:pt x="473" y="257"/>
                  </a:cubicBezTo>
                  <a:cubicBezTo>
                    <a:pt x="473" y="394"/>
                    <a:pt x="370" y="507"/>
                    <a:pt x="241" y="507"/>
                  </a:cubicBezTo>
                  <a:cubicBezTo>
                    <a:pt x="113" y="507"/>
                    <a:pt x="8" y="394"/>
                    <a:pt x="8" y="257"/>
                  </a:cubicBezTo>
                </a:path>
              </a:pathLst>
            </a:custGeom>
            <a:noFill/>
            <a:ln w="10668" cap="flat">
              <a:solidFill>
                <a:srgbClr val="41719C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grpSp>
          <p:nvGrpSpPr>
            <p:cNvPr id="256" name="group 256"/>
            <p:cNvGrpSpPr/>
            <p:nvPr/>
          </p:nvGrpSpPr>
          <p:grpSpPr>
            <a:xfrm rot="21600000">
              <a:off x="4264150" y="37338"/>
              <a:ext cx="306324" cy="326135"/>
              <a:chOff x="0" y="0"/>
              <a:chExt cx="306324" cy="326135"/>
            </a:xfrm>
          </p:grpSpPr>
          <p:sp>
            <p:nvSpPr>
              <p:cNvPr id="1934" name="path 1934"/>
              <p:cNvSpPr/>
              <p:nvPr/>
            </p:nvSpPr>
            <p:spPr>
              <a:xfrm>
                <a:off x="5334" y="5333"/>
                <a:ext cx="295655" cy="315467"/>
              </a:xfrm>
              <a:custGeom>
                <a:avLst/>
                <a:gdLst/>
                <a:ahLst/>
                <a:cxnLst/>
                <a:rect l="0" t="0" r="0" b="0"/>
                <a:pathLst>
                  <a:path w="465" h="496">
                    <a:moveTo>
                      <a:pt x="0" y="247"/>
                    </a:moveTo>
                    <a:cubicBezTo>
                      <a:pt x="0" y="110"/>
                      <a:pt x="105" y="0"/>
                      <a:pt x="232" y="0"/>
                    </a:cubicBezTo>
                    <a:cubicBezTo>
                      <a:pt x="362" y="0"/>
                      <a:pt x="465" y="110"/>
                      <a:pt x="465" y="247"/>
                    </a:cubicBezTo>
                    <a:cubicBezTo>
                      <a:pt x="465" y="383"/>
                      <a:pt x="362" y="496"/>
                      <a:pt x="232" y="496"/>
                    </a:cubicBezTo>
                    <a:cubicBezTo>
                      <a:pt x="105" y="496"/>
                      <a:pt x="0" y="383"/>
                      <a:pt x="0" y="247"/>
                    </a:cubicBezTo>
                  </a:path>
                </a:pathLst>
              </a:custGeom>
              <a:solidFill>
                <a:srgbClr val="FDA10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6" name="path 1936"/>
              <p:cNvSpPr/>
              <p:nvPr/>
            </p:nvSpPr>
            <p:spPr>
              <a:xfrm>
                <a:off x="0" y="0"/>
                <a:ext cx="306324" cy="326135"/>
              </a:xfrm>
              <a:custGeom>
                <a:avLst/>
                <a:gdLst/>
                <a:ahLst/>
                <a:cxnLst/>
                <a:rect l="0" t="0" r="0" b="0"/>
                <a:pathLst>
                  <a:path w="482" h="513">
                    <a:moveTo>
                      <a:pt x="8" y="255"/>
                    </a:moveTo>
                    <a:cubicBezTo>
                      <a:pt x="8" y="118"/>
                      <a:pt x="114" y="8"/>
                      <a:pt x="241" y="8"/>
                    </a:cubicBezTo>
                    <a:cubicBezTo>
                      <a:pt x="370" y="8"/>
                      <a:pt x="474" y="118"/>
                      <a:pt x="474" y="255"/>
                    </a:cubicBezTo>
                    <a:cubicBezTo>
                      <a:pt x="474" y="392"/>
                      <a:pt x="370" y="505"/>
                      <a:pt x="241" y="505"/>
                    </a:cubicBezTo>
                    <a:cubicBezTo>
                      <a:pt x="114" y="505"/>
                      <a:pt x="8" y="392"/>
                      <a:pt x="8" y="255"/>
                    </a:cubicBezTo>
                  </a:path>
                </a:pathLst>
              </a:custGeom>
              <a:noFill/>
              <a:ln w="10668" cap="flat">
                <a:solidFill>
                  <a:srgbClr val="41719C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8" name="group 258"/>
            <p:cNvGrpSpPr/>
            <p:nvPr/>
          </p:nvGrpSpPr>
          <p:grpSpPr>
            <a:xfrm rot="21600000">
              <a:off x="4553711" y="44958"/>
              <a:ext cx="306324" cy="326135"/>
              <a:chOff x="0" y="0"/>
              <a:chExt cx="306324" cy="326135"/>
            </a:xfrm>
          </p:grpSpPr>
          <p:sp>
            <p:nvSpPr>
              <p:cNvPr id="1938" name="path 1938"/>
              <p:cNvSpPr/>
              <p:nvPr/>
            </p:nvSpPr>
            <p:spPr>
              <a:xfrm>
                <a:off x="5334" y="5333"/>
                <a:ext cx="295655" cy="315467"/>
              </a:xfrm>
              <a:custGeom>
                <a:avLst/>
                <a:gdLst/>
                <a:ahLst/>
                <a:cxnLst/>
                <a:rect l="0" t="0" r="0" b="0"/>
                <a:pathLst>
                  <a:path w="465" h="496">
                    <a:moveTo>
                      <a:pt x="0" y="247"/>
                    </a:moveTo>
                    <a:cubicBezTo>
                      <a:pt x="0" y="110"/>
                      <a:pt x="103" y="0"/>
                      <a:pt x="232" y="0"/>
                    </a:cubicBezTo>
                    <a:cubicBezTo>
                      <a:pt x="362" y="0"/>
                      <a:pt x="465" y="110"/>
                      <a:pt x="465" y="247"/>
                    </a:cubicBezTo>
                    <a:cubicBezTo>
                      <a:pt x="465" y="386"/>
                      <a:pt x="362" y="496"/>
                      <a:pt x="232" y="496"/>
                    </a:cubicBezTo>
                    <a:cubicBezTo>
                      <a:pt x="103" y="496"/>
                      <a:pt x="0" y="386"/>
                      <a:pt x="0" y="247"/>
                    </a:cubicBezTo>
                  </a:path>
                </a:pathLst>
              </a:custGeom>
              <a:solidFill>
                <a:srgbClr val="FDA10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0" name="path 1940"/>
              <p:cNvSpPr/>
              <p:nvPr/>
            </p:nvSpPr>
            <p:spPr>
              <a:xfrm>
                <a:off x="0" y="0"/>
                <a:ext cx="306324" cy="326135"/>
              </a:xfrm>
              <a:custGeom>
                <a:avLst/>
                <a:gdLst/>
                <a:ahLst/>
                <a:cxnLst/>
                <a:rect l="0" t="0" r="0" b="0"/>
                <a:pathLst>
                  <a:path w="482" h="513">
                    <a:moveTo>
                      <a:pt x="8" y="255"/>
                    </a:moveTo>
                    <a:cubicBezTo>
                      <a:pt x="8" y="118"/>
                      <a:pt x="111" y="8"/>
                      <a:pt x="241" y="8"/>
                    </a:cubicBezTo>
                    <a:cubicBezTo>
                      <a:pt x="370" y="8"/>
                      <a:pt x="474" y="118"/>
                      <a:pt x="474" y="255"/>
                    </a:cubicBezTo>
                    <a:cubicBezTo>
                      <a:pt x="474" y="394"/>
                      <a:pt x="370" y="505"/>
                      <a:pt x="241" y="505"/>
                    </a:cubicBezTo>
                    <a:cubicBezTo>
                      <a:pt x="111" y="505"/>
                      <a:pt x="8" y="394"/>
                      <a:pt x="8" y="255"/>
                    </a:cubicBezTo>
                  </a:path>
                </a:pathLst>
              </a:custGeom>
              <a:noFill/>
              <a:ln w="10668" cap="flat">
                <a:solidFill>
                  <a:srgbClr val="41719C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0" name="group 260"/>
            <p:cNvGrpSpPr/>
            <p:nvPr/>
          </p:nvGrpSpPr>
          <p:grpSpPr>
            <a:xfrm rot="21600000">
              <a:off x="4841747" y="46481"/>
              <a:ext cx="306324" cy="326135"/>
              <a:chOff x="0" y="0"/>
              <a:chExt cx="306324" cy="326135"/>
            </a:xfrm>
          </p:grpSpPr>
          <p:sp>
            <p:nvSpPr>
              <p:cNvPr id="1942" name="path 1942"/>
              <p:cNvSpPr/>
              <p:nvPr/>
            </p:nvSpPr>
            <p:spPr>
              <a:xfrm>
                <a:off x="5334" y="5333"/>
                <a:ext cx="295655" cy="315467"/>
              </a:xfrm>
              <a:custGeom>
                <a:avLst/>
                <a:gdLst/>
                <a:ahLst/>
                <a:cxnLst/>
                <a:rect l="0" t="0" r="0" b="0"/>
                <a:pathLst>
                  <a:path w="465" h="496">
                    <a:moveTo>
                      <a:pt x="0" y="247"/>
                    </a:moveTo>
                    <a:cubicBezTo>
                      <a:pt x="0" y="110"/>
                      <a:pt x="103" y="0"/>
                      <a:pt x="232" y="0"/>
                    </a:cubicBezTo>
                    <a:cubicBezTo>
                      <a:pt x="362" y="0"/>
                      <a:pt x="465" y="110"/>
                      <a:pt x="465" y="247"/>
                    </a:cubicBezTo>
                    <a:cubicBezTo>
                      <a:pt x="465" y="383"/>
                      <a:pt x="362" y="496"/>
                      <a:pt x="232" y="496"/>
                    </a:cubicBezTo>
                    <a:cubicBezTo>
                      <a:pt x="103" y="496"/>
                      <a:pt x="0" y="383"/>
                      <a:pt x="0" y="247"/>
                    </a:cubicBezTo>
                  </a:path>
                </a:pathLst>
              </a:custGeom>
              <a:solidFill>
                <a:srgbClr val="0D426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4" name="path 1944"/>
              <p:cNvSpPr/>
              <p:nvPr/>
            </p:nvSpPr>
            <p:spPr>
              <a:xfrm>
                <a:off x="0" y="0"/>
                <a:ext cx="306324" cy="326135"/>
              </a:xfrm>
              <a:custGeom>
                <a:avLst/>
                <a:gdLst/>
                <a:ahLst/>
                <a:cxnLst/>
                <a:rect l="0" t="0" r="0" b="0"/>
                <a:pathLst>
                  <a:path w="482" h="513">
                    <a:moveTo>
                      <a:pt x="8" y="255"/>
                    </a:moveTo>
                    <a:cubicBezTo>
                      <a:pt x="8" y="118"/>
                      <a:pt x="111" y="8"/>
                      <a:pt x="241" y="8"/>
                    </a:cubicBezTo>
                    <a:cubicBezTo>
                      <a:pt x="370" y="8"/>
                      <a:pt x="474" y="118"/>
                      <a:pt x="474" y="255"/>
                    </a:cubicBezTo>
                    <a:cubicBezTo>
                      <a:pt x="474" y="392"/>
                      <a:pt x="370" y="505"/>
                      <a:pt x="241" y="505"/>
                    </a:cubicBezTo>
                    <a:cubicBezTo>
                      <a:pt x="111" y="505"/>
                      <a:pt x="8" y="392"/>
                      <a:pt x="8" y="255"/>
                    </a:cubicBezTo>
                  </a:path>
                </a:pathLst>
              </a:custGeom>
              <a:noFill/>
              <a:ln w="10668" cap="flat">
                <a:solidFill>
                  <a:srgbClr val="41719C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46" name="path 1946"/>
            <p:cNvSpPr/>
            <p:nvPr/>
          </p:nvSpPr>
          <p:spPr>
            <a:xfrm>
              <a:off x="345947" y="16002"/>
              <a:ext cx="306323" cy="326135"/>
            </a:xfrm>
            <a:custGeom>
              <a:avLst/>
              <a:gdLst/>
              <a:ahLst/>
              <a:cxnLst/>
              <a:rect l="0" t="0" r="0" b="0"/>
              <a:pathLst>
                <a:path w="482" h="513">
                  <a:moveTo>
                    <a:pt x="8" y="257"/>
                  </a:moveTo>
                  <a:cubicBezTo>
                    <a:pt x="8" y="121"/>
                    <a:pt x="111" y="8"/>
                    <a:pt x="241" y="8"/>
                  </a:cubicBezTo>
                  <a:cubicBezTo>
                    <a:pt x="370" y="8"/>
                    <a:pt x="473" y="121"/>
                    <a:pt x="473" y="257"/>
                  </a:cubicBezTo>
                  <a:cubicBezTo>
                    <a:pt x="473" y="394"/>
                    <a:pt x="370" y="505"/>
                    <a:pt x="241" y="505"/>
                  </a:cubicBezTo>
                  <a:cubicBezTo>
                    <a:pt x="111" y="505"/>
                    <a:pt x="8" y="394"/>
                    <a:pt x="8" y="257"/>
                  </a:cubicBezTo>
                </a:path>
              </a:pathLst>
            </a:custGeom>
            <a:noFill/>
            <a:ln w="10668" cap="flat">
              <a:solidFill>
                <a:srgbClr val="41719C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48" name="path 1948"/>
            <p:cNvSpPr/>
            <p:nvPr/>
          </p:nvSpPr>
          <p:spPr>
            <a:xfrm>
              <a:off x="630936" y="5333"/>
              <a:ext cx="306323" cy="326135"/>
            </a:xfrm>
            <a:custGeom>
              <a:avLst/>
              <a:gdLst/>
              <a:ahLst/>
              <a:cxnLst/>
              <a:rect l="0" t="0" r="0" b="0"/>
              <a:pathLst>
                <a:path w="482" h="513">
                  <a:moveTo>
                    <a:pt x="8" y="255"/>
                  </a:moveTo>
                  <a:cubicBezTo>
                    <a:pt x="8" y="118"/>
                    <a:pt x="111" y="8"/>
                    <a:pt x="241" y="8"/>
                  </a:cubicBezTo>
                  <a:cubicBezTo>
                    <a:pt x="368" y="8"/>
                    <a:pt x="473" y="118"/>
                    <a:pt x="473" y="255"/>
                  </a:cubicBezTo>
                  <a:cubicBezTo>
                    <a:pt x="473" y="392"/>
                    <a:pt x="368" y="505"/>
                    <a:pt x="241" y="505"/>
                  </a:cubicBezTo>
                  <a:cubicBezTo>
                    <a:pt x="111" y="505"/>
                    <a:pt x="8" y="392"/>
                    <a:pt x="8" y="255"/>
                  </a:cubicBezTo>
                </a:path>
              </a:pathLst>
            </a:custGeom>
            <a:noFill/>
            <a:ln w="10668" cap="flat">
              <a:solidFill>
                <a:srgbClr val="41719C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50" name="path 1950"/>
            <p:cNvSpPr/>
            <p:nvPr/>
          </p:nvSpPr>
          <p:spPr>
            <a:xfrm>
              <a:off x="1531619" y="17526"/>
              <a:ext cx="306323" cy="326135"/>
            </a:xfrm>
            <a:custGeom>
              <a:avLst/>
              <a:gdLst/>
              <a:ahLst/>
              <a:cxnLst/>
              <a:rect l="0" t="0" r="0" b="0"/>
              <a:pathLst>
                <a:path w="482" h="513">
                  <a:moveTo>
                    <a:pt x="8" y="255"/>
                  </a:moveTo>
                  <a:cubicBezTo>
                    <a:pt x="8" y="118"/>
                    <a:pt x="111" y="8"/>
                    <a:pt x="241" y="8"/>
                  </a:cubicBezTo>
                  <a:cubicBezTo>
                    <a:pt x="368" y="8"/>
                    <a:pt x="473" y="118"/>
                    <a:pt x="473" y="255"/>
                  </a:cubicBezTo>
                  <a:cubicBezTo>
                    <a:pt x="473" y="394"/>
                    <a:pt x="368" y="505"/>
                    <a:pt x="241" y="505"/>
                  </a:cubicBezTo>
                  <a:cubicBezTo>
                    <a:pt x="111" y="505"/>
                    <a:pt x="8" y="394"/>
                    <a:pt x="8" y="255"/>
                  </a:cubicBezTo>
                </a:path>
              </a:pathLst>
            </a:custGeom>
            <a:noFill/>
            <a:ln w="10668" cap="flat">
              <a:solidFill>
                <a:srgbClr val="41719C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52" name="rect 1952"/>
            <p:cNvSpPr/>
            <p:nvPr/>
          </p:nvSpPr>
          <p:spPr>
            <a:xfrm>
              <a:off x="5146547" y="0"/>
              <a:ext cx="50292" cy="365759"/>
            </a:xfrm>
            <a:prstGeom prst="rect">
              <a:avLst/>
            </a:pr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54" name="rect 1954"/>
            <p:cNvSpPr/>
            <p:nvPr/>
          </p:nvSpPr>
          <p:spPr>
            <a:xfrm>
              <a:off x="0" y="0"/>
              <a:ext cx="50291" cy="365759"/>
            </a:xfrm>
            <a:prstGeom prst="rect">
              <a:avLst/>
            </a:pr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56" name="textbox 1956"/>
          <p:cNvSpPr/>
          <p:nvPr/>
        </p:nvSpPr>
        <p:spPr>
          <a:xfrm>
            <a:off x="521248" y="1108568"/>
            <a:ext cx="5957570" cy="344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浙江调频</a:t>
            </a:r>
            <a:r>
              <a:rPr sz="24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价格形成机制——排序及初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始价格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58" name="picture 19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13347" y="5172455"/>
            <a:ext cx="2330195" cy="406907"/>
          </a:xfrm>
          <a:prstGeom prst="rect">
            <a:avLst/>
          </a:prstGeom>
        </p:spPr>
      </p:pic>
      <p:sp>
        <p:nvSpPr>
          <p:cNvPr id="1960" name="textbox 1960"/>
          <p:cNvSpPr/>
          <p:nvPr/>
        </p:nvSpPr>
        <p:spPr>
          <a:xfrm>
            <a:off x="1669563" y="6316234"/>
            <a:ext cx="4420870" cy="186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零报价机组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报价&gt;0的机组按(报价+机会成本)排序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62" name="textbox 1962"/>
          <p:cNvSpPr/>
          <p:nvPr/>
        </p:nvSpPr>
        <p:spPr>
          <a:xfrm>
            <a:off x="840690" y="4772884"/>
            <a:ext cx="209994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——调频机组排序——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62" name="group 262"/>
          <p:cNvGrpSpPr/>
          <p:nvPr/>
        </p:nvGrpSpPr>
        <p:grpSpPr>
          <a:xfrm rot="21600000">
            <a:off x="274319" y="2738571"/>
            <a:ext cx="245364" cy="1652128"/>
            <a:chOff x="0" y="0"/>
            <a:chExt cx="245364" cy="1652128"/>
          </a:xfrm>
        </p:grpSpPr>
        <p:sp>
          <p:nvSpPr>
            <p:cNvPr id="1964" name="path 1964"/>
            <p:cNvSpPr/>
            <p:nvPr/>
          </p:nvSpPr>
          <p:spPr>
            <a:xfrm>
              <a:off x="106680" y="0"/>
              <a:ext cx="32003" cy="1652128"/>
            </a:xfrm>
            <a:custGeom>
              <a:avLst/>
              <a:gdLst/>
              <a:ahLst/>
              <a:cxnLst/>
              <a:rect l="0" t="0" r="0" b="0"/>
              <a:pathLst>
                <a:path w="50" h="2601">
                  <a:moveTo>
                    <a:pt x="19" y="0"/>
                  </a:moveTo>
                  <a:lnTo>
                    <a:pt x="31" y="2601"/>
                  </a:lnTo>
                </a:path>
              </a:pathLst>
            </a:custGeom>
            <a:noFill/>
            <a:ln w="24383" cap="flat">
              <a:solidFill>
                <a:srgbClr val="FDA103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66" name="path 1966"/>
            <p:cNvSpPr/>
            <p:nvPr/>
          </p:nvSpPr>
          <p:spPr>
            <a:xfrm>
              <a:off x="0" y="166172"/>
              <a:ext cx="245364" cy="1485900"/>
            </a:xfrm>
            <a:custGeom>
              <a:avLst/>
              <a:gdLst/>
              <a:ahLst/>
              <a:cxnLst/>
              <a:rect l="0" t="0" r="0" b="0"/>
              <a:pathLst>
                <a:path w="386" h="2340">
                  <a:moveTo>
                    <a:pt x="199" y="684"/>
                  </a:moveTo>
                  <a:cubicBezTo>
                    <a:pt x="93" y="684"/>
                    <a:pt x="9" y="768"/>
                    <a:pt x="9" y="873"/>
                  </a:cubicBezTo>
                  <a:cubicBezTo>
                    <a:pt x="9" y="976"/>
                    <a:pt x="93" y="1060"/>
                    <a:pt x="199" y="1060"/>
                  </a:cubicBezTo>
                  <a:cubicBezTo>
                    <a:pt x="304" y="1060"/>
                    <a:pt x="386" y="976"/>
                    <a:pt x="386" y="873"/>
                  </a:cubicBezTo>
                  <a:cubicBezTo>
                    <a:pt x="386" y="768"/>
                    <a:pt x="304" y="684"/>
                    <a:pt x="199" y="684"/>
                  </a:cubicBezTo>
                  <a:moveTo>
                    <a:pt x="309" y="820"/>
                  </a:moveTo>
                  <a:cubicBezTo>
                    <a:pt x="180" y="945"/>
                    <a:pt x="180" y="945"/>
                    <a:pt x="180" y="945"/>
                  </a:cubicBezTo>
                  <a:cubicBezTo>
                    <a:pt x="177" y="948"/>
                    <a:pt x="175" y="950"/>
                    <a:pt x="172" y="950"/>
                  </a:cubicBezTo>
                  <a:cubicBezTo>
                    <a:pt x="170" y="950"/>
                    <a:pt x="165" y="948"/>
                    <a:pt x="163" y="945"/>
                  </a:cubicBezTo>
                  <a:cubicBezTo>
                    <a:pt x="112" y="895"/>
                    <a:pt x="112" y="895"/>
                    <a:pt x="112" y="895"/>
                  </a:cubicBezTo>
                  <a:cubicBezTo>
                    <a:pt x="110" y="892"/>
                    <a:pt x="110" y="883"/>
                    <a:pt x="112" y="880"/>
                  </a:cubicBezTo>
                  <a:cubicBezTo>
                    <a:pt x="117" y="876"/>
                    <a:pt x="124" y="876"/>
                    <a:pt x="129" y="880"/>
                  </a:cubicBezTo>
                  <a:cubicBezTo>
                    <a:pt x="172" y="921"/>
                    <a:pt x="172" y="921"/>
                    <a:pt x="172" y="921"/>
                  </a:cubicBezTo>
                  <a:cubicBezTo>
                    <a:pt x="292" y="804"/>
                    <a:pt x="292" y="804"/>
                    <a:pt x="292" y="804"/>
                  </a:cubicBezTo>
                  <a:cubicBezTo>
                    <a:pt x="297" y="801"/>
                    <a:pt x="304" y="801"/>
                    <a:pt x="309" y="804"/>
                  </a:cubicBezTo>
                  <a:cubicBezTo>
                    <a:pt x="312" y="811"/>
                    <a:pt x="312" y="818"/>
                    <a:pt x="309" y="820"/>
                  </a:cubicBezTo>
                </a:path>
                <a:path w="386" h="2340">
                  <a:moveTo>
                    <a:pt x="199" y="1324"/>
                  </a:moveTo>
                  <a:cubicBezTo>
                    <a:pt x="93" y="1324"/>
                    <a:pt x="9" y="1408"/>
                    <a:pt x="9" y="1512"/>
                  </a:cubicBezTo>
                  <a:cubicBezTo>
                    <a:pt x="9" y="1615"/>
                    <a:pt x="93" y="1701"/>
                    <a:pt x="199" y="1701"/>
                  </a:cubicBezTo>
                  <a:cubicBezTo>
                    <a:pt x="304" y="1701"/>
                    <a:pt x="386" y="1615"/>
                    <a:pt x="386" y="1512"/>
                  </a:cubicBezTo>
                  <a:cubicBezTo>
                    <a:pt x="386" y="1408"/>
                    <a:pt x="304" y="1324"/>
                    <a:pt x="199" y="1324"/>
                  </a:cubicBezTo>
                  <a:moveTo>
                    <a:pt x="309" y="1461"/>
                  </a:moveTo>
                  <a:cubicBezTo>
                    <a:pt x="180" y="1586"/>
                    <a:pt x="180" y="1586"/>
                    <a:pt x="180" y="1586"/>
                  </a:cubicBezTo>
                  <a:cubicBezTo>
                    <a:pt x="177" y="1588"/>
                    <a:pt x="175" y="1588"/>
                    <a:pt x="172" y="1588"/>
                  </a:cubicBezTo>
                  <a:cubicBezTo>
                    <a:pt x="170" y="1588"/>
                    <a:pt x="165" y="1588"/>
                    <a:pt x="163" y="1586"/>
                  </a:cubicBezTo>
                  <a:cubicBezTo>
                    <a:pt x="112" y="1536"/>
                    <a:pt x="112" y="1536"/>
                    <a:pt x="112" y="1536"/>
                  </a:cubicBezTo>
                  <a:cubicBezTo>
                    <a:pt x="110" y="1531"/>
                    <a:pt x="110" y="1524"/>
                    <a:pt x="112" y="1519"/>
                  </a:cubicBezTo>
                  <a:cubicBezTo>
                    <a:pt x="117" y="1516"/>
                    <a:pt x="124" y="1516"/>
                    <a:pt x="129" y="1519"/>
                  </a:cubicBezTo>
                  <a:cubicBezTo>
                    <a:pt x="172" y="1562"/>
                    <a:pt x="172" y="1562"/>
                    <a:pt x="172" y="1562"/>
                  </a:cubicBezTo>
                  <a:cubicBezTo>
                    <a:pt x="292" y="1444"/>
                    <a:pt x="292" y="1444"/>
                    <a:pt x="292" y="1444"/>
                  </a:cubicBezTo>
                  <a:cubicBezTo>
                    <a:pt x="297" y="1440"/>
                    <a:pt x="304" y="1440"/>
                    <a:pt x="309" y="1444"/>
                  </a:cubicBezTo>
                  <a:cubicBezTo>
                    <a:pt x="312" y="1449"/>
                    <a:pt x="312" y="1456"/>
                    <a:pt x="309" y="1461"/>
                  </a:cubicBezTo>
                </a:path>
                <a:path w="386" h="2340">
                  <a:moveTo>
                    <a:pt x="199" y="1963"/>
                  </a:moveTo>
                  <a:cubicBezTo>
                    <a:pt x="93" y="1963"/>
                    <a:pt x="9" y="2049"/>
                    <a:pt x="9" y="2152"/>
                  </a:cubicBezTo>
                  <a:cubicBezTo>
                    <a:pt x="9" y="2256"/>
                    <a:pt x="93" y="2340"/>
                    <a:pt x="199" y="2340"/>
                  </a:cubicBezTo>
                  <a:cubicBezTo>
                    <a:pt x="304" y="2340"/>
                    <a:pt x="386" y="2256"/>
                    <a:pt x="386" y="2152"/>
                  </a:cubicBezTo>
                  <a:cubicBezTo>
                    <a:pt x="386" y="2049"/>
                    <a:pt x="304" y="1963"/>
                    <a:pt x="199" y="1963"/>
                  </a:cubicBezTo>
                  <a:moveTo>
                    <a:pt x="309" y="2102"/>
                  </a:moveTo>
                  <a:cubicBezTo>
                    <a:pt x="180" y="2224"/>
                    <a:pt x="180" y="2224"/>
                    <a:pt x="180" y="2224"/>
                  </a:cubicBezTo>
                  <a:cubicBezTo>
                    <a:pt x="177" y="2227"/>
                    <a:pt x="175" y="2229"/>
                    <a:pt x="172" y="2229"/>
                  </a:cubicBezTo>
                  <a:cubicBezTo>
                    <a:pt x="170" y="2229"/>
                    <a:pt x="165" y="2227"/>
                    <a:pt x="163" y="2224"/>
                  </a:cubicBezTo>
                  <a:cubicBezTo>
                    <a:pt x="112" y="2174"/>
                    <a:pt x="112" y="2174"/>
                    <a:pt x="112" y="2174"/>
                  </a:cubicBezTo>
                  <a:cubicBezTo>
                    <a:pt x="110" y="2172"/>
                    <a:pt x="110" y="2162"/>
                    <a:pt x="112" y="2160"/>
                  </a:cubicBezTo>
                  <a:cubicBezTo>
                    <a:pt x="117" y="2155"/>
                    <a:pt x="124" y="2155"/>
                    <a:pt x="129" y="2160"/>
                  </a:cubicBezTo>
                  <a:cubicBezTo>
                    <a:pt x="172" y="2200"/>
                    <a:pt x="172" y="2200"/>
                    <a:pt x="172" y="2200"/>
                  </a:cubicBezTo>
                  <a:cubicBezTo>
                    <a:pt x="292" y="2083"/>
                    <a:pt x="292" y="2083"/>
                    <a:pt x="292" y="2083"/>
                  </a:cubicBezTo>
                  <a:cubicBezTo>
                    <a:pt x="297" y="2080"/>
                    <a:pt x="304" y="2080"/>
                    <a:pt x="309" y="2083"/>
                  </a:cubicBezTo>
                  <a:cubicBezTo>
                    <a:pt x="312" y="2090"/>
                    <a:pt x="312" y="2097"/>
                    <a:pt x="309" y="2102"/>
                  </a:cubicBezTo>
                </a:path>
                <a:path w="386" h="2340">
                  <a:moveTo>
                    <a:pt x="187" y="0"/>
                  </a:moveTo>
                  <a:cubicBezTo>
                    <a:pt x="84" y="0"/>
                    <a:pt x="0" y="84"/>
                    <a:pt x="0" y="189"/>
                  </a:cubicBezTo>
                  <a:cubicBezTo>
                    <a:pt x="0" y="292"/>
                    <a:pt x="84" y="376"/>
                    <a:pt x="187" y="376"/>
                  </a:cubicBezTo>
                  <a:cubicBezTo>
                    <a:pt x="292" y="376"/>
                    <a:pt x="376" y="292"/>
                    <a:pt x="376" y="189"/>
                  </a:cubicBezTo>
                  <a:cubicBezTo>
                    <a:pt x="376" y="84"/>
                    <a:pt x="292" y="0"/>
                    <a:pt x="187" y="0"/>
                  </a:cubicBezTo>
                  <a:moveTo>
                    <a:pt x="297" y="136"/>
                  </a:moveTo>
                  <a:cubicBezTo>
                    <a:pt x="167" y="261"/>
                    <a:pt x="167" y="261"/>
                    <a:pt x="167" y="261"/>
                  </a:cubicBezTo>
                  <a:cubicBezTo>
                    <a:pt x="165" y="264"/>
                    <a:pt x="165" y="266"/>
                    <a:pt x="160" y="266"/>
                  </a:cubicBezTo>
                  <a:cubicBezTo>
                    <a:pt x="158" y="266"/>
                    <a:pt x="156" y="264"/>
                    <a:pt x="153" y="261"/>
                  </a:cubicBezTo>
                  <a:cubicBezTo>
                    <a:pt x="103" y="211"/>
                    <a:pt x="103" y="211"/>
                    <a:pt x="103" y="211"/>
                  </a:cubicBezTo>
                  <a:cubicBezTo>
                    <a:pt x="98" y="208"/>
                    <a:pt x="98" y="199"/>
                    <a:pt x="103" y="196"/>
                  </a:cubicBezTo>
                  <a:cubicBezTo>
                    <a:pt x="105" y="192"/>
                    <a:pt x="112" y="192"/>
                    <a:pt x="120" y="196"/>
                  </a:cubicBezTo>
                  <a:cubicBezTo>
                    <a:pt x="160" y="237"/>
                    <a:pt x="160" y="237"/>
                    <a:pt x="160" y="237"/>
                  </a:cubicBezTo>
                  <a:cubicBezTo>
                    <a:pt x="280" y="120"/>
                    <a:pt x="280" y="120"/>
                    <a:pt x="280" y="120"/>
                  </a:cubicBezTo>
                  <a:cubicBezTo>
                    <a:pt x="288" y="117"/>
                    <a:pt x="295" y="117"/>
                    <a:pt x="297" y="120"/>
                  </a:cubicBezTo>
                  <a:cubicBezTo>
                    <a:pt x="302" y="127"/>
                    <a:pt x="302" y="134"/>
                    <a:pt x="297" y="136"/>
                  </a:cubicBezTo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968" name="picture 19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1970" name="textbox 1970"/>
          <p:cNvSpPr/>
          <p:nvPr/>
        </p:nvSpPr>
        <p:spPr>
          <a:xfrm>
            <a:off x="1933405" y="5666234"/>
            <a:ext cx="232409" cy="77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400" b="1" kern="0" spc="1400" dirty="0">
                <a:solidFill>
                  <a:srgbClr val="0C5A82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~</a:t>
            </a:r>
            <a:endParaRPr sz="400" dirty="0">
              <a:latin typeface="Corbel"/>
              <a:ea typeface="Corbel"/>
              <a:cs typeface="Corbel"/>
            </a:endParaRPr>
          </a:p>
        </p:txBody>
      </p:sp>
      <p:sp>
        <p:nvSpPr>
          <p:cNvPr id="1972" name="textbox 1972"/>
          <p:cNvSpPr/>
          <p:nvPr/>
        </p:nvSpPr>
        <p:spPr>
          <a:xfrm>
            <a:off x="1650060" y="5678402"/>
            <a:ext cx="232409" cy="77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400" b="1" kern="0" spc="1400" dirty="0">
                <a:solidFill>
                  <a:srgbClr val="0C5A82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~</a:t>
            </a:r>
            <a:endParaRPr sz="400" dirty="0">
              <a:latin typeface="Corbel"/>
              <a:ea typeface="Corbel"/>
              <a:cs typeface="Corbel"/>
            </a:endParaRPr>
          </a:p>
        </p:txBody>
      </p:sp>
      <p:sp>
        <p:nvSpPr>
          <p:cNvPr id="1974" name="textbox 1974"/>
          <p:cNvSpPr/>
          <p:nvPr/>
        </p:nvSpPr>
        <p:spPr>
          <a:xfrm>
            <a:off x="2834067" y="5678402"/>
            <a:ext cx="232409" cy="77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400" b="1" kern="0" spc="1400" dirty="0">
                <a:solidFill>
                  <a:srgbClr val="0C5A82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~</a:t>
            </a:r>
            <a:endParaRPr sz="400" dirty="0">
              <a:latin typeface="Corbel"/>
              <a:ea typeface="Corbel"/>
              <a:cs typeface="Corbel"/>
            </a:endParaRPr>
          </a:p>
        </p:txBody>
      </p:sp>
      <p:sp>
        <p:nvSpPr>
          <p:cNvPr id="1976" name="textbox 1976"/>
          <p:cNvSpPr/>
          <p:nvPr/>
        </p:nvSpPr>
        <p:spPr>
          <a:xfrm>
            <a:off x="2538554" y="5686007"/>
            <a:ext cx="232409" cy="77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400" b="1" kern="0" spc="1400" dirty="0">
                <a:solidFill>
                  <a:srgbClr val="0C5A82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~</a:t>
            </a:r>
            <a:endParaRPr sz="400" dirty="0">
              <a:latin typeface="Corbel"/>
              <a:ea typeface="Corbel"/>
              <a:cs typeface="Corbel"/>
            </a:endParaRPr>
          </a:p>
        </p:txBody>
      </p:sp>
      <p:sp>
        <p:nvSpPr>
          <p:cNvPr id="1978" name="textbox 1978"/>
          <p:cNvSpPr/>
          <p:nvPr/>
        </p:nvSpPr>
        <p:spPr>
          <a:xfrm>
            <a:off x="4960239" y="5690570"/>
            <a:ext cx="232409" cy="77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400" b="1" kern="0" spc="1400" dirty="0">
                <a:solidFill>
                  <a:srgbClr val="0C5A82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~</a:t>
            </a:r>
            <a:endParaRPr sz="400" dirty="0">
              <a:latin typeface="Corbel"/>
              <a:ea typeface="Corbel"/>
              <a:cs typeface="Corbel"/>
            </a:endParaRPr>
          </a:p>
        </p:txBody>
      </p:sp>
      <p:sp>
        <p:nvSpPr>
          <p:cNvPr id="1980" name="textbox 1980"/>
          <p:cNvSpPr/>
          <p:nvPr/>
        </p:nvSpPr>
        <p:spPr>
          <a:xfrm>
            <a:off x="5264878" y="5690570"/>
            <a:ext cx="232409" cy="77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400" b="1" kern="0" spc="1400" dirty="0">
                <a:solidFill>
                  <a:srgbClr val="0C5A82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~</a:t>
            </a:r>
            <a:endParaRPr sz="400" dirty="0">
              <a:latin typeface="Corbel"/>
              <a:ea typeface="Corbel"/>
              <a:cs typeface="Corbel"/>
            </a:endParaRPr>
          </a:p>
        </p:txBody>
      </p:sp>
      <p:sp>
        <p:nvSpPr>
          <p:cNvPr id="1982" name="textbox 1982"/>
          <p:cNvSpPr/>
          <p:nvPr/>
        </p:nvSpPr>
        <p:spPr>
          <a:xfrm>
            <a:off x="5568213" y="5698176"/>
            <a:ext cx="232409" cy="77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400" b="1" kern="0" spc="1400" dirty="0">
                <a:solidFill>
                  <a:srgbClr val="0C5A82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~</a:t>
            </a:r>
            <a:endParaRPr sz="400" dirty="0">
              <a:latin typeface="Corbel"/>
              <a:ea typeface="Corbel"/>
              <a:cs typeface="Corbel"/>
            </a:endParaRPr>
          </a:p>
        </p:txBody>
      </p:sp>
      <p:sp>
        <p:nvSpPr>
          <p:cNvPr id="1984" name="textbox 1984"/>
          <p:cNvSpPr/>
          <p:nvPr/>
        </p:nvSpPr>
        <p:spPr>
          <a:xfrm>
            <a:off x="5857859" y="5705999"/>
            <a:ext cx="232409" cy="77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400" b="1" kern="0" spc="1400" dirty="0">
                <a:solidFill>
                  <a:srgbClr val="0C5A82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~</a:t>
            </a:r>
            <a:endParaRPr sz="400" dirty="0">
              <a:latin typeface="Corbel"/>
              <a:ea typeface="Corbel"/>
              <a:cs typeface="Corbel"/>
            </a:endParaRPr>
          </a:p>
        </p:txBody>
      </p:sp>
      <p:sp>
        <p:nvSpPr>
          <p:cNvPr id="1986" name="textbox 1986"/>
          <p:cNvSpPr/>
          <p:nvPr/>
        </p:nvSpPr>
        <p:spPr>
          <a:xfrm>
            <a:off x="6145767" y="5707519"/>
            <a:ext cx="232409" cy="77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400" b="1" kern="0" spc="140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~</a:t>
            </a:r>
            <a:endParaRPr sz="400" dirty="0">
              <a:latin typeface="Corbel"/>
              <a:ea typeface="Corbel"/>
              <a:cs typeface="Corbe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8" name="table 1988"/>
          <p:cNvGraphicFramePr>
            <a:graphicFrameLocks noGrp="1"/>
          </p:cNvGraphicFramePr>
          <p:nvPr/>
        </p:nvGraphicFramePr>
        <p:xfrm>
          <a:off x="342900" y="2081784"/>
          <a:ext cx="10007600" cy="4215130"/>
        </p:xfrm>
        <a:graphic>
          <a:graphicData uri="http://schemas.openxmlformats.org/drawingml/2006/table">
            <a:tbl>
              <a:tblPr/>
              <a:tblGrid>
                <a:gridCol w="569594"/>
                <a:gridCol w="447040"/>
                <a:gridCol w="8990965"/>
              </a:tblGrid>
              <a:tr h="197612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</a:t>
                      </a:r>
                      <a:r>
                        <a:rPr sz="1400" b="1" kern="0" spc="18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初始调频出清价格（元 /</a:t>
                      </a:r>
                      <a:r>
                        <a:rPr sz="1400" b="1" kern="0" spc="11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MWh）</a:t>
                      </a:r>
                      <a:r>
                        <a:rPr sz="1400" b="1" kern="0" spc="-23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</a:t>
                      </a:r>
                      <a:r>
                        <a:rPr sz="1400" b="1" kern="0" spc="15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MAX{中标调频单元的[调频组合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排序价格]}；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8925" indent="-237490" algn="l" rtl="0" eaLnBrk="0">
                        <a:lnSpc>
                          <a:spcPct val="148000"/>
                        </a:lnSpc>
                        <a:spcBef>
                          <a:spcPts val="420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</a:t>
                      </a:r>
                      <a:r>
                        <a:rPr sz="1400" b="1" kern="0" spc="19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初始调频里程出清价格（元 /</a:t>
                      </a:r>
                      <a:r>
                        <a:rPr sz="1400" b="1" kern="0" spc="12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MWh）</a:t>
                      </a:r>
                      <a:r>
                        <a:rPr sz="1400" b="1" kern="0" spc="-23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</a:t>
                      </a:r>
                      <a:r>
                        <a:rPr sz="1400" b="1" kern="0" spc="14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MAX{中标调频单元的[调频里程申报（元/MW）/历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史调频性能归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一化指标]；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" algn="l" rtl="0" eaLnBrk="0">
                        <a:lnSpc>
                          <a:spcPts val="1851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</a:t>
                      </a:r>
                      <a:r>
                        <a:rPr sz="1400" b="1" kern="0" spc="19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调频容量出清价格（元 /</a:t>
                      </a:r>
                      <a:r>
                        <a:rPr sz="1400" b="1" kern="0" spc="11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MWh ）</a:t>
                      </a:r>
                      <a:r>
                        <a:rPr sz="1400" b="1" kern="0" spc="-24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=初始调频出清价格（元/MWh）</a:t>
                      </a:r>
                      <a:r>
                        <a:rPr sz="1400" b="1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-初始调频里程出清价格（元/MW）*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2390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69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系统历史单位容量小时里程（1/h）。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" algn="l" rtl="0" eaLnBrk="0">
                        <a:lnSpc>
                          <a:spcPts val="1851"/>
                        </a:lnSpc>
                        <a:spcBef>
                          <a:spcPts val="422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实时市场调频容量收入</a:t>
                      </a:r>
                      <a:r>
                        <a:rPr sz="1400" b="1" kern="0" spc="-1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(m,t)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=实时市场调频容量出清价格(t)×实时市场调频容量(m,t)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×</a:t>
                      </a:r>
                      <a:r>
                        <a:rPr sz="14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 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/h× 实际调频性能归一化指标(t)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实时市场调频里程收入(m,t)</a:t>
                      </a:r>
                      <a:r>
                        <a:rPr sz="1400" b="1" kern="0" spc="160" dirty="0">
                          <a:solidFill>
                            <a:srgbClr val="0D42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=实时市场调频里程出清价格(t)×实时市场调频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里程(m,t)×实际调频性能归一化指标(t)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990" name="picture 19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19720" y="5019999"/>
            <a:ext cx="74676" cy="324464"/>
          </a:xfrm>
          <a:prstGeom prst="rect">
            <a:avLst/>
          </a:prstGeom>
        </p:spPr>
      </p:pic>
      <p:sp>
        <p:nvSpPr>
          <p:cNvPr id="1992" name="textbox 1992"/>
          <p:cNvSpPr/>
          <p:nvPr/>
        </p:nvSpPr>
        <p:spPr>
          <a:xfrm>
            <a:off x="521248" y="1108568"/>
            <a:ext cx="8450580" cy="343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浙江调频</a:t>
            </a:r>
            <a:r>
              <a:rPr sz="24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价格形成机制——调频里程出清价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格与容量出清价格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94" name="picture 19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2900" y="4407407"/>
            <a:ext cx="551878" cy="1876233"/>
          </a:xfrm>
          <a:prstGeom prst="rect">
            <a:avLst/>
          </a:prstGeom>
        </p:spPr>
      </p:pic>
      <p:pic>
        <p:nvPicPr>
          <p:cNvPr id="1996" name="picture 19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4423" y="2084832"/>
            <a:ext cx="964692" cy="1009835"/>
          </a:xfrm>
          <a:prstGeom prst="rect">
            <a:avLst/>
          </a:prstGeom>
        </p:spPr>
      </p:pic>
      <p:pic>
        <p:nvPicPr>
          <p:cNvPr id="1998" name="picture 19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30595" y="2081784"/>
            <a:ext cx="4427411" cy="80962"/>
          </a:xfrm>
          <a:prstGeom prst="rect">
            <a:avLst/>
          </a:prstGeom>
        </p:spPr>
      </p:pic>
      <p:pic>
        <p:nvPicPr>
          <p:cNvPr id="2000" name="picture 20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960673" y="2154745"/>
            <a:ext cx="378334" cy="486536"/>
          </a:xfrm>
          <a:prstGeom prst="rect">
            <a:avLst/>
          </a:prstGeom>
        </p:spPr>
      </p:pic>
      <p:pic>
        <p:nvPicPr>
          <p:cNvPr id="2002" name="picture 20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802176" y="5989129"/>
            <a:ext cx="425577" cy="294322"/>
          </a:xfrm>
          <a:prstGeom prst="rect">
            <a:avLst/>
          </a:prstGeom>
        </p:spPr>
      </p:pic>
      <p:pic>
        <p:nvPicPr>
          <p:cNvPr id="2004" name="picture 200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2006" name="picture 200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224325" y="5746813"/>
            <a:ext cx="113156" cy="24117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8" name="picture 20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27987" y="2173223"/>
            <a:ext cx="74675" cy="4069080"/>
          </a:xfrm>
          <a:prstGeom prst="rect">
            <a:avLst/>
          </a:prstGeom>
        </p:spPr>
      </p:pic>
      <p:sp>
        <p:nvSpPr>
          <p:cNvPr id="2010" name="textbox 2010"/>
          <p:cNvSpPr/>
          <p:nvPr/>
        </p:nvSpPr>
        <p:spPr>
          <a:xfrm>
            <a:off x="1453334" y="2644571"/>
            <a:ext cx="6637019" cy="378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38605" algn="l" rtl="0" eaLnBrk="0">
              <a:lnSpc>
                <a:spcPct val="87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不高于报价上限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56229" algn="l" rtl="0" eaLnBrk="0">
              <a:lnSpc>
                <a:spcPct val="88000"/>
              </a:lnSpc>
              <a:spcBef>
                <a:spcPts val="255"/>
              </a:spcBef>
              <a:tabLst>
                <a:tab pos="3043554" algn="l"/>
              </a:tabLst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从第2段开始均为价格响应负荷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12" name="picture 20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523930" y="2909315"/>
            <a:ext cx="537971" cy="67055"/>
          </a:xfrm>
          <a:prstGeom prst="rect">
            <a:avLst/>
          </a:prstGeom>
        </p:spPr>
      </p:pic>
      <p:pic>
        <p:nvPicPr>
          <p:cNvPr id="2014" name="picture 20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97323" y="2887979"/>
            <a:ext cx="539496" cy="67055"/>
          </a:xfrm>
          <a:prstGeom prst="rect">
            <a:avLst/>
          </a:prstGeom>
        </p:spPr>
      </p:pic>
      <p:sp>
        <p:nvSpPr>
          <p:cNvPr id="2016" name="path 2016"/>
          <p:cNvSpPr/>
          <p:nvPr/>
        </p:nvSpPr>
        <p:spPr>
          <a:xfrm>
            <a:off x="1466034" y="2916936"/>
            <a:ext cx="2843891" cy="42671"/>
          </a:xfrm>
          <a:custGeom>
            <a:avLst/>
            <a:gdLst/>
            <a:ahLst/>
            <a:cxnLst/>
            <a:rect l="0" t="0" r="0" b="0"/>
            <a:pathLst>
              <a:path w="4478" h="67">
                <a:moveTo>
                  <a:pt x="0" y="40"/>
                </a:moveTo>
                <a:lnTo>
                  <a:pt x="4478" y="26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18" name="textbox 2018"/>
          <p:cNvSpPr/>
          <p:nvPr/>
        </p:nvSpPr>
        <p:spPr>
          <a:xfrm>
            <a:off x="521426" y="1041599"/>
            <a:ext cx="5015865" cy="345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5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浙江负荷单元电能递减负荷报价格式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20" name="textbox 2020"/>
          <p:cNvSpPr/>
          <p:nvPr/>
        </p:nvSpPr>
        <p:spPr>
          <a:xfrm>
            <a:off x="9118299" y="4215832"/>
            <a:ext cx="563880" cy="2107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7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2560" indent="-6350" algn="l" rtl="0" eaLnBrk="0">
              <a:lnSpc>
                <a:spcPct val="99000"/>
              </a:lnSpc>
              <a:tabLst/>
            </a:pP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最多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10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段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2"/>
              </a:spcBef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22" name="path 2022"/>
          <p:cNvSpPr/>
          <p:nvPr/>
        </p:nvSpPr>
        <p:spPr>
          <a:xfrm>
            <a:off x="8799575" y="2755392"/>
            <a:ext cx="304800" cy="3407664"/>
          </a:xfrm>
          <a:custGeom>
            <a:avLst/>
            <a:gdLst/>
            <a:ahLst/>
            <a:cxnLst/>
            <a:rect l="0" t="0" r="0" b="0"/>
            <a:pathLst>
              <a:path w="480" h="5366">
                <a:moveTo>
                  <a:pt x="4" y="4"/>
                </a:moveTo>
                <a:cubicBezTo>
                  <a:pt x="134" y="4"/>
                  <a:pt x="240" y="23"/>
                  <a:pt x="240" y="45"/>
                </a:cubicBezTo>
                <a:lnTo>
                  <a:pt x="240" y="2644"/>
                </a:lnTo>
                <a:cubicBezTo>
                  <a:pt x="240" y="2666"/>
                  <a:pt x="345" y="2683"/>
                  <a:pt x="475" y="2683"/>
                </a:cubicBezTo>
                <a:cubicBezTo>
                  <a:pt x="345" y="2683"/>
                  <a:pt x="240" y="2700"/>
                  <a:pt x="240" y="2721"/>
                </a:cubicBezTo>
                <a:lnTo>
                  <a:pt x="240" y="5320"/>
                </a:lnTo>
                <a:cubicBezTo>
                  <a:pt x="240" y="5342"/>
                  <a:pt x="134" y="5361"/>
                  <a:pt x="4" y="5361"/>
                </a:cubicBezTo>
              </a:path>
            </a:pathLst>
          </a:custGeom>
          <a:noFill/>
          <a:ln w="6096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24" name="picture 20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466088" y="6204203"/>
            <a:ext cx="7554467" cy="74675"/>
          </a:xfrm>
          <a:prstGeom prst="rect">
            <a:avLst/>
          </a:prstGeom>
        </p:spPr>
      </p:pic>
      <p:sp>
        <p:nvSpPr>
          <p:cNvPr id="2026" name="textbox 2026"/>
          <p:cNvSpPr/>
          <p:nvPr/>
        </p:nvSpPr>
        <p:spPr>
          <a:xfrm>
            <a:off x="1711586" y="3081804"/>
            <a:ext cx="125920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830" algn="l" rtl="0" eaLnBrk="0">
              <a:lnSpc>
                <a:spcPct val="84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如第1段为报价上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205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限则代表刚性负荷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28" name="path 2028"/>
          <p:cNvSpPr/>
          <p:nvPr/>
        </p:nvSpPr>
        <p:spPr>
          <a:xfrm>
            <a:off x="5640323" y="4245863"/>
            <a:ext cx="659892" cy="576072"/>
          </a:xfrm>
          <a:custGeom>
            <a:avLst/>
            <a:gdLst/>
            <a:ahLst/>
            <a:cxnLst/>
            <a:rect l="0" t="0" r="0" b="0"/>
            <a:pathLst>
              <a:path w="1039" h="907">
                <a:moveTo>
                  <a:pt x="0" y="26"/>
                </a:moveTo>
                <a:lnTo>
                  <a:pt x="484" y="26"/>
                </a:lnTo>
                <a:moveTo>
                  <a:pt x="484" y="410"/>
                </a:moveTo>
                <a:lnTo>
                  <a:pt x="979" y="410"/>
                </a:lnTo>
                <a:moveTo>
                  <a:pt x="484" y="19"/>
                </a:moveTo>
                <a:lnTo>
                  <a:pt x="484" y="398"/>
                </a:lnTo>
                <a:moveTo>
                  <a:pt x="1012" y="403"/>
                </a:moveTo>
                <a:lnTo>
                  <a:pt x="1012" y="907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30" name="textbox 2030"/>
          <p:cNvSpPr/>
          <p:nvPr/>
        </p:nvSpPr>
        <p:spPr>
          <a:xfrm>
            <a:off x="6973492" y="3819546"/>
            <a:ext cx="1710689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价差不小于0.1元/兆瓦时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32" name="textbox 2032"/>
          <p:cNvSpPr/>
          <p:nvPr/>
        </p:nvSpPr>
        <p:spPr>
          <a:xfrm>
            <a:off x="4936597" y="5752157"/>
            <a:ext cx="1643379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负荷波段不小于0.1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34" name="path 2034"/>
          <p:cNvSpPr/>
          <p:nvPr/>
        </p:nvSpPr>
        <p:spPr>
          <a:xfrm>
            <a:off x="6277355" y="4820411"/>
            <a:ext cx="466344" cy="33528"/>
          </a:xfrm>
          <a:custGeom>
            <a:avLst/>
            <a:gdLst/>
            <a:ahLst/>
            <a:cxnLst/>
            <a:rect l="0" t="0" r="0" b="0"/>
            <a:pathLst>
              <a:path w="734" h="52">
                <a:moveTo>
                  <a:pt x="0" y="26"/>
                </a:moveTo>
                <a:lnTo>
                  <a:pt x="734" y="26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36" name="path 2036"/>
          <p:cNvSpPr/>
          <p:nvPr/>
        </p:nvSpPr>
        <p:spPr>
          <a:xfrm>
            <a:off x="6728459" y="4841747"/>
            <a:ext cx="348997" cy="484632"/>
          </a:xfrm>
          <a:custGeom>
            <a:avLst/>
            <a:gdLst/>
            <a:ahLst/>
            <a:cxnLst/>
            <a:rect l="0" t="0" r="0" b="0"/>
            <a:pathLst>
              <a:path w="549" h="763">
                <a:moveTo>
                  <a:pt x="33" y="391"/>
                </a:moveTo>
                <a:lnTo>
                  <a:pt x="520" y="391"/>
                </a:lnTo>
                <a:moveTo>
                  <a:pt x="26" y="0"/>
                </a:moveTo>
                <a:lnTo>
                  <a:pt x="26" y="376"/>
                </a:lnTo>
                <a:moveTo>
                  <a:pt x="523" y="383"/>
                </a:moveTo>
                <a:lnTo>
                  <a:pt x="523" y="763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38" name="textbox 2038"/>
          <p:cNvSpPr/>
          <p:nvPr/>
        </p:nvSpPr>
        <p:spPr>
          <a:xfrm>
            <a:off x="7721069" y="5322406"/>
            <a:ext cx="1113155" cy="183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不低于报价下限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40" name="path 2040"/>
          <p:cNvSpPr/>
          <p:nvPr/>
        </p:nvSpPr>
        <p:spPr>
          <a:xfrm>
            <a:off x="4767071" y="3747516"/>
            <a:ext cx="368808" cy="33528"/>
          </a:xfrm>
          <a:custGeom>
            <a:avLst/>
            <a:gdLst/>
            <a:ahLst/>
            <a:cxnLst/>
            <a:rect l="0" t="0" r="0" b="0"/>
            <a:pathLst>
              <a:path w="580" h="52">
                <a:moveTo>
                  <a:pt x="0" y="26"/>
                </a:moveTo>
                <a:lnTo>
                  <a:pt x="580" y="26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42" name="path 2042"/>
          <p:cNvSpPr/>
          <p:nvPr/>
        </p:nvSpPr>
        <p:spPr>
          <a:xfrm>
            <a:off x="4306823" y="3430523"/>
            <a:ext cx="483108" cy="338328"/>
          </a:xfrm>
          <a:custGeom>
            <a:avLst/>
            <a:gdLst/>
            <a:ahLst/>
            <a:cxnLst/>
            <a:rect l="0" t="0" r="0" b="0"/>
            <a:pathLst>
              <a:path w="760" h="532">
                <a:moveTo>
                  <a:pt x="0" y="26"/>
                </a:moveTo>
                <a:lnTo>
                  <a:pt x="734" y="26"/>
                </a:lnTo>
                <a:moveTo>
                  <a:pt x="734" y="26"/>
                </a:moveTo>
                <a:lnTo>
                  <a:pt x="734" y="532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44" name="textbox 2044"/>
          <p:cNvSpPr/>
          <p:nvPr/>
        </p:nvSpPr>
        <p:spPr>
          <a:xfrm>
            <a:off x="1060002" y="1938194"/>
            <a:ext cx="812800" cy="208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元/兆瓦时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46" name="picture 20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166360" y="3998976"/>
            <a:ext cx="2273807" cy="33528"/>
          </a:xfrm>
          <a:prstGeom prst="rect">
            <a:avLst/>
          </a:prstGeom>
        </p:spPr>
      </p:pic>
      <p:pic>
        <p:nvPicPr>
          <p:cNvPr id="2048" name="picture 20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12891" y="4020311"/>
            <a:ext cx="36576" cy="1648968"/>
          </a:xfrm>
          <a:prstGeom prst="rect">
            <a:avLst/>
          </a:prstGeom>
        </p:spPr>
      </p:pic>
      <p:pic>
        <p:nvPicPr>
          <p:cNvPr id="2050" name="picture 20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335523" y="3750564"/>
            <a:ext cx="2080259" cy="25908"/>
          </a:xfrm>
          <a:prstGeom prst="rect">
            <a:avLst/>
          </a:prstGeom>
        </p:spPr>
      </p:pic>
      <p:pic>
        <p:nvPicPr>
          <p:cNvPr id="2052" name="picture 205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0" y="1611629"/>
            <a:ext cx="2596896" cy="16764"/>
          </a:xfrm>
          <a:prstGeom prst="rect">
            <a:avLst/>
          </a:prstGeom>
        </p:spPr>
      </p:pic>
      <p:pic>
        <p:nvPicPr>
          <p:cNvPr id="2054" name="picture 205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926835" y="4576571"/>
            <a:ext cx="24384" cy="1077467"/>
          </a:xfrm>
          <a:prstGeom prst="rect">
            <a:avLst/>
          </a:prstGeom>
        </p:spPr>
      </p:pic>
      <p:pic>
        <p:nvPicPr>
          <p:cNvPr id="2056" name="picture 20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948172" y="5434584"/>
            <a:ext cx="521208" cy="67055"/>
          </a:xfrm>
          <a:prstGeom prst="rect">
            <a:avLst/>
          </a:prstGeom>
        </p:spPr>
      </p:pic>
      <p:pic>
        <p:nvPicPr>
          <p:cNvPr id="2058" name="picture 205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135880" y="5434584"/>
            <a:ext cx="481584" cy="67055"/>
          </a:xfrm>
          <a:prstGeom prst="rect">
            <a:avLst/>
          </a:prstGeom>
        </p:spPr>
      </p:pic>
      <p:pic>
        <p:nvPicPr>
          <p:cNvPr id="2060" name="picture 20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025640" y="3380231"/>
            <a:ext cx="67055" cy="379476"/>
          </a:xfrm>
          <a:prstGeom prst="rect">
            <a:avLst/>
          </a:prstGeom>
        </p:spPr>
      </p:pic>
      <p:pic>
        <p:nvPicPr>
          <p:cNvPr id="2062" name="picture 206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025640" y="4023359"/>
            <a:ext cx="67055" cy="367284"/>
          </a:xfrm>
          <a:prstGeom prst="rect">
            <a:avLst/>
          </a:prstGeom>
        </p:spPr>
      </p:pic>
      <p:sp>
        <p:nvSpPr>
          <p:cNvPr id="2064" name="path 2064"/>
          <p:cNvSpPr/>
          <p:nvPr/>
        </p:nvSpPr>
        <p:spPr>
          <a:xfrm>
            <a:off x="8074152" y="5594603"/>
            <a:ext cx="33528" cy="641604"/>
          </a:xfrm>
          <a:custGeom>
            <a:avLst/>
            <a:gdLst/>
            <a:ahLst/>
            <a:cxnLst/>
            <a:rect l="0" t="0" r="0" b="0"/>
            <a:pathLst>
              <a:path w="52" h="1010">
                <a:moveTo>
                  <a:pt x="26" y="0"/>
                </a:moveTo>
                <a:lnTo>
                  <a:pt x="26" y="1010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66" name="path 2066"/>
          <p:cNvSpPr/>
          <p:nvPr/>
        </p:nvSpPr>
        <p:spPr>
          <a:xfrm>
            <a:off x="7595403" y="5571744"/>
            <a:ext cx="482008" cy="39621"/>
          </a:xfrm>
          <a:custGeom>
            <a:avLst/>
            <a:gdLst/>
            <a:ahLst/>
            <a:cxnLst/>
            <a:rect l="0" t="0" r="0" b="0"/>
            <a:pathLst>
              <a:path w="759" h="62">
                <a:moveTo>
                  <a:pt x="0" y="26"/>
                </a:moveTo>
                <a:lnTo>
                  <a:pt x="758" y="35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68" name="path 2068"/>
          <p:cNvSpPr/>
          <p:nvPr/>
        </p:nvSpPr>
        <p:spPr>
          <a:xfrm>
            <a:off x="7059167" y="5324855"/>
            <a:ext cx="509015" cy="33528"/>
          </a:xfrm>
          <a:custGeom>
            <a:avLst/>
            <a:gdLst/>
            <a:ahLst/>
            <a:cxnLst/>
            <a:rect l="0" t="0" r="0" b="0"/>
            <a:pathLst>
              <a:path w="801" h="52">
                <a:moveTo>
                  <a:pt x="0" y="26"/>
                </a:moveTo>
                <a:lnTo>
                  <a:pt x="801" y="26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70" name="path 2070"/>
          <p:cNvSpPr/>
          <p:nvPr/>
        </p:nvSpPr>
        <p:spPr>
          <a:xfrm>
            <a:off x="4293107" y="2942843"/>
            <a:ext cx="33528" cy="487680"/>
          </a:xfrm>
          <a:custGeom>
            <a:avLst/>
            <a:gdLst/>
            <a:ahLst/>
            <a:cxnLst/>
            <a:rect l="0" t="0" r="0" b="0"/>
            <a:pathLst>
              <a:path w="52" h="768">
                <a:moveTo>
                  <a:pt x="26" y="0"/>
                </a:moveTo>
                <a:lnTo>
                  <a:pt x="26" y="768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72" name="textbox 2072"/>
          <p:cNvSpPr/>
          <p:nvPr/>
        </p:nvSpPr>
        <p:spPr>
          <a:xfrm>
            <a:off x="1415875" y="6329138"/>
            <a:ext cx="106679" cy="203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2074" name="path 2074"/>
          <p:cNvSpPr/>
          <p:nvPr/>
        </p:nvSpPr>
        <p:spPr>
          <a:xfrm>
            <a:off x="7572755" y="5335523"/>
            <a:ext cx="33528" cy="240792"/>
          </a:xfrm>
          <a:custGeom>
            <a:avLst/>
            <a:gdLst/>
            <a:ahLst/>
            <a:cxnLst/>
            <a:rect l="0" t="0" r="0" b="0"/>
            <a:pathLst>
              <a:path w="52" h="379">
                <a:moveTo>
                  <a:pt x="26" y="0"/>
                </a:moveTo>
                <a:lnTo>
                  <a:pt x="26" y="379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76" name="path 2076"/>
          <p:cNvSpPr/>
          <p:nvPr/>
        </p:nvSpPr>
        <p:spPr>
          <a:xfrm>
            <a:off x="5149596" y="3764280"/>
            <a:ext cx="33528" cy="239267"/>
          </a:xfrm>
          <a:custGeom>
            <a:avLst/>
            <a:gdLst/>
            <a:ahLst/>
            <a:cxnLst/>
            <a:rect l="0" t="0" r="0" b="0"/>
            <a:pathLst>
              <a:path w="52" h="376">
                <a:moveTo>
                  <a:pt x="26" y="0"/>
                </a:moveTo>
                <a:lnTo>
                  <a:pt x="26" y="376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78" name="path 2078"/>
          <p:cNvSpPr/>
          <p:nvPr/>
        </p:nvSpPr>
        <p:spPr>
          <a:xfrm>
            <a:off x="8087867" y="2746247"/>
            <a:ext cx="6096" cy="461771"/>
          </a:xfrm>
          <a:custGeom>
            <a:avLst/>
            <a:gdLst/>
            <a:ahLst/>
            <a:cxnLst/>
            <a:rect l="0" t="0" r="0" b="0"/>
            <a:pathLst>
              <a:path w="9" h="727">
                <a:moveTo>
                  <a:pt x="4" y="0"/>
                </a:moveTo>
                <a:lnTo>
                  <a:pt x="4" y="727"/>
                </a:lnTo>
              </a:path>
            </a:pathLst>
          </a:custGeom>
          <a:noFill/>
          <a:ln w="6096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roup 264"/>
          <p:cNvGrpSpPr/>
          <p:nvPr/>
        </p:nvGrpSpPr>
        <p:grpSpPr>
          <a:xfrm rot="21600000">
            <a:off x="525780" y="5009388"/>
            <a:ext cx="9877043" cy="1453895"/>
            <a:chOff x="0" y="0"/>
            <a:chExt cx="9877043" cy="1453895"/>
          </a:xfrm>
        </p:grpSpPr>
        <p:pic>
          <p:nvPicPr>
            <p:cNvPr id="2080" name="picture 20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877043" cy="1453895"/>
            </a:xfrm>
            <a:prstGeom prst="rect">
              <a:avLst/>
            </a:prstGeom>
          </p:spPr>
        </p:pic>
        <p:sp>
          <p:nvSpPr>
            <p:cNvPr id="2082" name="textbox 2082"/>
            <p:cNvSpPr/>
            <p:nvPr/>
          </p:nvSpPr>
          <p:spPr>
            <a:xfrm>
              <a:off x="-12700" y="-12700"/>
              <a:ext cx="9902825" cy="1479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97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99109" algn="l" rtl="0" eaLnBrk="0">
                <a:lnSpc>
                  <a:spcPct val="93000"/>
                </a:lnSpc>
                <a:tabLst/>
              </a:pPr>
              <a:r>
                <a:rPr sz="1400" b="1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    </a:t>
              </a:r>
              <a:r>
                <a:rPr sz="1400" b="1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一个售电公司可以有多个负荷单元，每个负荷单元是一组终端用户的组合，每</a:t>
              </a:r>
              <a:r>
                <a:rPr sz="14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个用户与一个上网购电节点相连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499109" algn="l" rtl="0" eaLnBrk="0">
                <a:lnSpc>
                  <a:spcPct val="93000"/>
                </a:lnSpc>
                <a:spcBef>
                  <a:spcPts val="1"/>
                </a:spcBef>
                <a:tabLst/>
              </a:pPr>
              <a:r>
                <a:rPr sz="1400" b="1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    </a:t>
              </a:r>
              <a:r>
                <a:rPr sz="1400" b="1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售电公司可以重新组合终端用户，变更负荷单元的用户构成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084" name="rect 2084"/>
          <p:cNvSpPr/>
          <p:nvPr/>
        </p:nvSpPr>
        <p:spPr>
          <a:xfrm>
            <a:off x="531876" y="2874264"/>
            <a:ext cx="3198875" cy="1588008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86" name="textbox 2086"/>
          <p:cNvSpPr/>
          <p:nvPr/>
        </p:nvSpPr>
        <p:spPr>
          <a:xfrm>
            <a:off x="531876" y="2874264"/>
            <a:ext cx="3199129" cy="1588135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1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8300" algn="l" rtl="0" eaLnBrk="0">
              <a:lnSpc>
                <a:spcPct val="88000"/>
              </a:lnSpc>
              <a:tabLst/>
            </a:pP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用户3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88" name="textbox 2088"/>
          <p:cNvSpPr/>
          <p:nvPr/>
        </p:nvSpPr>
        <p:spPr>
          <a:xfrm>
            <a:off x="4522193" y="2833620"/>
            <a:ext cx="5346700" cy="952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8000"/>
              </a:lnSpc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1、负荷单元申报电量按节点分配因子分配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到各节点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spcBef>
                <a:spcPts val="1"/>
              </a:spcBef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2、负荷单元出清量（中标量）按节点分配因子分配到各节点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90" name="textbox 2090"/>
          <p:cNvSpPr/>
          <p:nvPr/>
        </p:nvSpPr>
        <p:spPr>
          <a:xfrm>
            <a:off x="521248" y="1112886"/>
            <a:ext cx="4827270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浙江现货市场的负荷单元与购电节点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92" name="textbox 2092"/>
          <p:cNvSpPr/>
          <p:nvPr/>
        </p:nvSpPr>
        <p:spPr>
          <a:xfrm>
            <a:off x="2224458" y="3577632"/>
            <a:ext cx="1407794" cy="596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6094" algn="l" rtl="0" eaLnBrk="0">
              <a:lnSpc>
                <a:spcPct val="88000"/>
              </a:lnSpc>
              <a:tabLst/>
            </a:pP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用户1B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276"/>
              </a:spcBef>
              <a:tabLst/>
            </a:pP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用户1A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负荷单元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94" name="picture 20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2791" y="2590800"/>
            <a:ext cx="217169" cy="1495805"/>
          </a:xfrm>
          <a:prstGeom prst="rect">
            <a:avLst/>
          </a:prstGeom>
        </p:spPr>
      </p:pic>
      <p:pic>
        <p:nvPicPr>
          <p:cNvPr id="2096" name="picture 20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74876" y="2607564"/>
            <a:ext cx="215645" cy="1261109"/>
          </a:xfrm>
          <a:prstGeom prst="rect">
            <a:avLst/>
          </a:prstGeom>
        </p:spPr>
      </p:pic>
      <p:grpSp>
        <p:nvGrpSpPr>
          <p:cNvPr id="266" name="group 266"/>
          <p:cNvGrpSpPr/>
          <p:nvPr/>
        </p:nvGrpSpPr>
        <p:grpSpPr>
          <a:xfrm rot="21600000">
            <a:off x="2360676" y="2135123"/>
            <a:ext cx="467867" cy="467867"/>
            <a:chOff x="0" y="0"/>
            <a:chExt cx="467867" cy="467867"/>
          </a:xfrm>
        </p:grpSpPr>
        <p:sp>
          <p:nvSpPr>
            <p:cNvPr id="2098" name="path 2098"/>
            <p:cNvSpPr/>
            <p:nvPr/>
          </p:nvSpPr>
          <p:spPr>
            <a:xfrm>
              <a:off x="0" y="0"/>
              <a:ext cx="467867" cy="467867"/>
            </a:xfrm>
            <a:custGeom>
              <a:avLst/>
              <a:gdLst/>
              <a:ahLst/>
              <a:cxnLst/>
              <a:rect l="0" t="0" r="0" b="0"/>
              <a:pathLst>
                <a:path w="736" h="736">
                  <a:moveTo>
                    <a:pt x="0" y="369"/>
                  </a:moveTo>
                  <a:cubicBezTo>
                    <a:pt x="0" y="165"/>
                    <a:pt x="165" y="0"/>
                    <a:pt x="369" y="0"/>
                  </a:cubicBezTo>
                  <a:cubicBezTo>
                    <a:pt x="571" y="0"/>
                    <a:pt x="736" y="165"/>
                    <a:pt x="736" y="369"/>
                  </a:cubicBezTo>
                  <a:cubicBezTo>
                    <a:pt x="736" y="571"/>
                    <a:pt x="571" y="736"/>
                    <a:pt x="369" y="736"/>
                  </a:cubicBezTo>
                  <a:cubicBezTo>
                    <a:pt x="165" y="736"/>
                    <a:pt x="0" y="571"/>
                    <a:pt x="0" y="369"/>
                  </a:cubicBezTo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00" name="textbox 2100"/>
            <p:cNvSpPr/>
            <p:nvPr/>
          </p:nvSpPr>
          <p:spPr>
            <a:xfrm>
              <a:off x="-12700" y="-12700"/>
              <a:ext cx="493394" cy="4933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7785" algn="l" rtl="0" eaLnBrk="0">
                <a:lnSpc>
                  <a:spcPct val="94000"/>
                </a:lnSpc>
                <a:spcBef>
                  <a:spcPts val="7"/>
                </a:spcBef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  <a:endParaRPr sz="12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pic>
        <p:nvPicPr>
          <p:cNvPr id="2102" name="picture 21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296667" y="2505455"/>
            <a:ext cx="215646" cy="1163574"/>
          </a:xfrm>
          <a:prstGeom prst="rect">
            <a:avLst/>
          </a:prstGeom>
        </p:spPr>
      </p:pic>
      <p:grpSp>
        <p:nvGrpSpPr>
          <p:cNvPr id="268" name="group 268"/>
          <p:cNvGrpSpPr/>
          <p:nvPr/>
        </p:nvGrpSpPr>
        <p:grpSpPr>
          <a:xfrm rot="21600000">
            <a:off x="818388" y="2139696"/>
            <a:ext cx="467867" cy="467867"/>
            <a:chOff x="0" y="0"/>
            <a:chExt cx="467867" cy="467867"/>
          </a:xfrm>
        </p:grpSpPr>
        <p:sp>
          <p:nvSpPr>
            <p:cNvPr id="2104" name="path 2104"/>
            <p:cNvSpPr/>
            <p:nvPr/>
          </p:nvSpPr>
          <p:spPr>
            <a:xfrm>
              <a:off x="0" y="0"/>
              <a:ext cx="467867" cy="467867"/>
            </a:xfrm>
            <a:custGeom>
              <a:avLst/>
              <a:gdLst/>
              <a:ahLst/>
              <a:cxnLst/>
              <a:rect l="0" t="0" r="0" b="0"/>
              <a:pathLst>
                <a:path w="736" h="736">
                  <a:moveTo>
                    <a:pt x="0" y="369"/>
                  </a:moveTo>
                  <a:cubicBezTo>
                    <a:pt x="0" y="165"/>
                    <a:pt x="163" y="0"/>
                    <a:pt x="367" y="0"/>
                  </a:cubicBezTo>
                  <a:cubicBezTo>
                    <a:pt x="571" y="0"/>
                    <a:pt x="736" y="165"/>
                    <a:pt x="736" y="369"/>
                  </a:cubicBezTo>
                  <a:cubicBezTo>
                    <a:pt x="736" y="571"/>
                    <a:pt x="571" y="736"/>
                    <a:pt x="367" y="736"/>
                  </a:cubicBezTo>
                  <a:cubicBezTo>
                    <a:pt x="163" y="736"/>
                    <a:pt x="0" y="571"/>
                    <a:pt x="0" y="369"/>
                  </a:cubicBezTo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06" name="textbox 2106"/>
            <p:cNvSpPr/>
            <p:nvPr/>
          </p:nvSpPr>
          <p:spPr>
            <a:xfrm>
              <a:off x="-12700" y="-12700"/>
              <a:ext cx="493394" cy="4946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7785" algn="l" rtl="0" eaLnBrk="0">
                <a:lnSpc>
                  <a:spcPct val="85000"/>
                </a:lnSpc>
                <a:spcBef>
                  <a:spcPts val="6"/>
                </a:spcBef>
                <a:tabLst/>
              </a:pPr>
              <a:r>
                <a:rPr sz="1200" b="1" kern="0" spc="-2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grpSp>
        <p:nvGrpSpPr>
          <p:cNvPr id="270" name="group 270"/>
          <p:cNvGrpSpPr/>
          <p:nvPr/>
        </p:nvGrpSpPr>
        <p:grpSpPr>
          <a:xfrm rot="21600000">
            <a:off x="1546859" y="2139696"/>
            <a:ext cx="467867" cy="467867"/>
            <a:chOff x="0" y="0"/>
            <a:chExt cx="467867" cy="467867"/>
          </a:xfrm>
        </p:grpSpPr>
        <p:sp>
          <p:nvSpPr>
            <p:cNvPr id="2108" name="path 2108"/>
            <p:cNvSpPr/>
            <p:nvPr/>
          </p:nvSpPr>
          <p:spPr>
            <a:xfrm>
              <a:off x="0" y="0"/>
              <a:ext cx="467867" cy="467867"/>
            </a:xfrm>
            <a:custGeom>
              <a:avLst/>
              <a:gdLst/>
              <a:ahLst/>
              <a:cxnLst/>
              <a:rect l="0" t="0" r="0" b="0"/>
              <a:pathLst>
                <a:path w="736" h="736">
                  <a:moveTo>
                    <a:pt x="0" y="369"/>
                  </a:moveTo>
                  <a:cubicBezTo>
                    <a:pt x="0" y="165"/>
                    <a:pt x="163" y="0"/>
                    <a:pt x="367" y="0"/>
                  </a:cubicBezTo>
                  <a:cubicBezTo>
                    <a:pt x="571" y="0"/>
                    <a:pt x="736" y="165"/>
                    <a:pt x="736" y="369"/>
                  </a:cubicBezTo>
                  <a:cubicBezTo>
                    <a:pt x="736" y="571"/>
                    <a:pt x="571" y="736"/>
                    <a:pt x="367" y="736"/>
                  </a:cubicBezTo>
                  <a:cubicBezTo>
                    <a:pt x="163" y="736"/>
                    <a:pt x="0" y="571"/>
                    <a:pt x="0" y="369"/>
                  </a:cubicBezTo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10" name="textbox 2110"/>
            <p:cNvSpPr/>
            <p:nvPr/>
          </p:nvSpPr>
          <p:spPr>
            <a:xfrm>
              <a:off x="-12700" y="-12700"/>
              <a:ext cx="493394" cy="4946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7785" algn="l" rtl="0" eaLnBrk="0">
                <a:lnSpc>
                  <a:spcPct val="85000"/>
                </a:lnSpc>
                <a:spcBef>
                  <a:spcPts val="6"/>
                </a:spcBef>
                <a:tabLst/>
              </a:pPr>
              <a:r>
                <a:rPr sz="1200" b="1" kern="0" spc="-2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节点</a:t>
              </a:r>
              <a:endParaRPr sz="1200" dirty="0">
                <a:latin typeface="SimSun"/>
                <a:ea typeface="SimSun"/>
                <a:cs typeface="SimSun"/>
              </a:endParaRPr>
            </a:p>
          </p:txBody>
        </p:sp>
      </p:grpSp>
      <p:sp>
        <p:nvSpPr>
          <p:cNvPr id="2112" name="textbox 2112"/>
          <p:cNvSpPr/>
          <p:nvPr/>
        </p:nvSpPr>
        <p:spPr>
          <a:xfrm>
            <a:off x="1158690" y="2281100"/>
            <a:ext cx="829310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sz="12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114" name="picture 21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795016" y="2995422"/>
            <a:ext cx="215645" cy="530351"/>
          </a:xfrm>
          <a:prstGeom prst="rect">
            <a:avLst/>
          </a:prstGeom>
        </p:spPr>
      </p:pic>
      <p:sp>
        <p:nvSpPr>
          <p:cNvPr id="2116" name="textbox 2116"/>
          <p:cNvSpPr/>
          <p:nvPr/>
        </p:nvSpPr>
        <p:spPr>
          <a:xfrm>
            <a:off x="1605693" y="3946443"/>
            <a:ext cx="369570" cy="159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用户2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18" name="picture 21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2120" name="path 2120"/>
          <p:cNvSpPr/>
          <p:nvPr/>
        </p:nvSpPr>
        <p:spPr>
          <a:xfrm>
            <a:off x="4191000" y="2241803"/>
            <a:ext cx="6307835" cy="6096"/>
          </a:xfrm>
          <a:custGeom>
            <a:avLst/>
            <a:gdLst/>
            <a:ahLst/>
            <a:cxnLst/>
            <a:rect l="0" t="0" r="0" b="0"/>
            <a:pathLst>
              <a:path w="9933" h="9">
                <a:moveTo>
                  <a:pt x="0" y="4"/>
                </a:moveTo>
                <a:lnTo>
                  <a:pt x="9933" y="4"/>
                </a:lnTo>
              </a:path>
            </a:pathLst>
          </a:custGeom>
          <a:noFill/>
          <a:ln w="6096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22" name="path 2122"/>
          <p:cNvSpPr/>
          <p:nvPr/>
        </p:nvSpPr>
        <p:spPr>
          <a:xfrm>
            <a:off x="4191000" y="4396739"/>
            <a:ext cx="6307835" cy="6096"/>
          </a:xfrm>
          <a:custGeom>
            <a:avLst/>
            <a:gdLst/>
            <a:ahLst/>
            <a:cxnLst/>
            <a:rect l="0" t="0" r="0" b="0"/>
            <a:pathLst>
              <a:path w="9933" h="9">
                <a:moveTo>
                  <a:pt x="0" y="4"/>
                </a:moveTo>
                <a:lnTo>
                  <a:pt x="9933" y="4"/>
                </a:lnTo>
              </a:path>
            </a:pathLst>
          </a:custGeom>
          <a:noFill/>
          <a:ln w="6096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72" name="group 272"/>
          <p:cNvGrpSpPr/>
          <p:nvPr/>
        </p:nvGrpSpPr>
        <p:grpSpPr>
          <a:xfrm rot="21600000">
            <a:off x="2789682" y="2418588"/>
            <a:ext cx="10667" cy="1101852"/>
            <a:chOff x="0" y="0"/>
            <a:chExt cx="10667" cy="1101852"/>
          </a:xfrm>
        </p:grpSpPr>
        <p:sp>
          <p:nvSpPr>
            <p:cNvPr id="2124" name="path 2124"/>
            <p:cNvSpPr/>
            <p:nvPr/>
          </p:nvSpPr>
          <p:spPr>
            <a:xfrm>
              <a:off x="0" y="582167"/>
              <a:ext cx="10667" cy="519684"/>
            </a:xfrm>
            <a:custGeom>
              <a:avLst/>
              <a:gdLst/>
              <a:ahLst/>
              <a:cxnLst/>
              <a:rect l="0" t="0" r="0" b="0"/>
              <a:pathLst>
                <a:path w="16" h="818">
                  <a:moveTo>
                    <a:pt x="8" y="818"/>
                  </a:moveTo>
                  <a:lnTo>
                    <a:pt x="8" y="0"/>
                  </a:lnTo>
                </a:path>
              </a:pathLst>
            </a:custGeom>
            <a:noFill/>
            <a:ln w="10668" cap="flat">
              <a:solidFill>
                <a:srgbClr val="41719C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26" name="path 2126"/>
            <p:cNvSpPr/>
            <p:nvPr/>
          </p:nvSpPr>
          <p:spPr>
            <a:xfrm>
              <a:off x="2285" y="0"/>
              <a:ext cx="6096" cy="638555"/>
            </a:xfrm>
            <a:custGeom>
              <a:avLst/>
              <a:gdLst/>
              <a:ahLst/>
              <a:cxnLst/>
              <a:rect l="0" t="0" r="0" b="0"/>
              <a:pathLst>
                <a:path w="9" h="1005">
                  <a:moveTo>
                    <a:pt x="4" y="0"/>
                  </a:moveTo>
                  <a:lnTo>
                    <a:pt x="4" y="1005"/>
                  </a:lnTo>
                </a:path>
              </a:pathLst>
            </a:custGeom>
            <a:noFill/>
            <a:ln w="6096" cap="flat">
              <a:solidFill>
                <a:srgbClr val="0D426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128" name="path 2128"/>
          <p:cNvSpPr/>
          <p:nvPr/>
        </p:nvSpPr>
        <p:spPr>
          <a:xfrm>
            <a:off x="1286255" y="2371344"/>
            <a:ext cx="1074420" cy="6096"/>
          </a:xfrm>
          <a:custGeom>
            <a:avLst/>
            <a:gdLst/>
            <a:ahLst/>
            <a:cxnLst/>
            <a:rect l="0" t="0" r="0" b="0"/>
            <a:pathLst>
              <a:path w="1692" h="9">
                <a:moveTo>
                  <a:pt x="1692" y="4"/>
                </a:moveTo>
                <a:lnTo>
                  <a:pt x="1147" y="4"/>
                </a:lnTo>
                <a:moveTo>
                  <a:pt x="410" y="4"/>
                </a:moveTo>
                <a:lnTo>
                  <a:pt x="0" y="4"/>
                </a:lnTo>
              </a:path>
            </a:pathLst>
          </a:custGeom>
          <a:noFill/>
          <a:ln w="6096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30" name="path 2130"/>
          <p:cNvSpPr/>
          <p:nvPr/>
        </p:nvSpPr>
        <p:spPr>
          <a:xfrm>
            <a:off x="997458" y="3560064"/>
            <a:ext cx="10667" cy="521207"/>
          </a:xfrm>
          <a:custGeom>
            <a:avLst/>
            <a:gdLst/>
            <a:ahLst/>
            <a:cxnLst/>
            <a:rect l="0" t="0" r="0" b="0"/>
            <a:pathLst>
              <a:path w="16" h="820">
                <a:moveTo>
                  <a:pt x="8" y="820"/>
                </a:moveTo>
                <a:lnTo>
                  <a:pt x="8" y="0"/>
                </a:lnTo>
              </a:path>
            </a:pathLst>
          </a:custGeom>
          <a:noFill/>
          <a:ln w="10668" cap="flat">
            <a:solidFill>
              <a:srgbClr val="41719C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32" name="path 2132"/>
          <p:cNvSpPr/>
          <p:nvPr/>
        </p:nvSpPr>
        <p:spPr>
          <a:xfrm>
            <a:off x="1669541" y="3343655"/>
            <a:ext cx="10667" cy="519684"/>
          </a:xfrm>
          <a:custGeom>
            <a:avLst/>
            <a:gdLst/>
            <a:ahLst/>
            <a:cxnLst/>
            <a:rect l="0" t="0" r="0" b="0"/>
            <a:pathLst>
              <a:path w="16" h="818">
                <a:moveTo>
                  <a:pt x="8" y="818"/>
                </a:moveTo>
                <a:lnTo>
                  <a:pt x="8" y="0"/>
                </a:lnTo>
              </a:path>
            </a:pathLst>
          </a:custGeom>
          <a:noFill/>
          <a:ln w="10668" cap="flat">
            <a:solidFill>
              <a:srgbClr val="41719C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34" name="path 2134"/>
          <p:cNvSpPr/>
          <p:nvPr/>
        </p:nvSpPr>
        <p:spPr>
          <a:xfrm>
            <a:off x="2291333" y="3144011"/>
            <a:ext cx="10667" cy="519684"/>
          </a:xfrm>
          <a:custGeom>
            <a:avLst/>
            <a:gdLst/>
            <a:ahLst/>
            <a:cxnLst/>
            <a:rect l="0" t="0" r="0" b="0"/>
            <a:pathLst>
              <a:path w="16" h="818">
                <a:moveTo>
                  <a:pt x="8" y="818"/>
                </a:moveTo>
                <a:lnTo>
                  <a:pt x="8" y="0"/>
                </a:lnTo>
              </a:path>
            </a:pathLst>
          </a:custGeom>
          <a:noFill/>
          <a:ln w="10668" cap="flat">
            <a:solidFill>
              <a:srgbClr val="41719C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picture 21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44423" y="2194559"/>
            <a:ext cx="2843784" cy="3840479"/>
          </a:xfrm>
          <a:prstGeom prst="rect">
            <a:avLst/>
          </a:prstGeom>
        </p:spPr>
      </p:pic>
      <p:grpSp>
        <p:nvGrpSpPr>
          <p:cNvPr id="274" name="group 274"/>
          <p:cNvGrpSpPr/>
          <p:nvPr/>
        </p:nvGrpSpPr>
        <p:grpSpPr>
          <a:xfrm rot="21600000">
            <a:off x="3119627" y="2157983"/>
            <a:ext cx="3150108" cy="3915156"/>
            <a:chOff x="0" y="0"/>
            <a:chExt cx="3150108" cy="3915156"/>
          </a:xfrm>
        </p:grpSpPr>
        <p:pic>
          <p:nvPicPr>
            <p:cNvPr id="2138" name="picture 21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150108" cy="3915156"/>
            </a:xfrm>
            <a:prstGeom prst="rect">
              <a:avLst/>
            </a:prstGeom>
          </p:spPr>
        </p:pic>
        <p:sp>
          <p:nvSpPr>
            <p:cNvPr id="2140" name="textbox 2140"/>
            <p:cNvSpPr/>
            <p:nvPr/>
          </p:nvSpPr>
          <p:spPr>
            <a:xfrm>
              <a:off x="-12700" y="-12700"/>
              <a:ext cx="3175635" cy="39458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920239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1200" b="1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节点分配因子2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920239" algn="l" rtl="0" eaLnBrk="0">
                <a:lnSpc>
                  <a:spcPct val="86000"/>
                </a:lnSpc>
                <a:spcBef>
                  <a:spcPts val="370"/>
                </a:spcBef>
                <a:tabLst/>
              </a:pPr>
              <a:r>
                <a:rPr sz="1200" b="1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节点分配因子3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927860" algn="l" rtl="0" eaLnBrk="0">
                <a:lnSpc>
                  <a:spcPct val="86000"/>
                </a:lnSpc>
                <a:spcBef>
                  <a:spcPts val="4"/>
                </a:spcBef>
                <a:tabLst/>
              </a:pPr>
              <a:r>
                <a:rPr sz="1200" b="1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节点分配因子4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142" name="picture 21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69735" y="5448300"/>
            <a:ext cx="1767840" cy="1175003"/>
          </a:xfrm>
          <a:prstGeom prst="rect">
            <a:avLst/>
          </a:prstGeom>
        </p:spPr>
      </p:pic>
      <p:pic>
        <p:nvPicPr>
          <p:cNvPr id="2144" name="picture 21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69735" y="2877311"/>
            <a:ext cx="1767840" cy="1173479"/>
          </a:xfrm>
          <a:prstGeom prst="rect">
            <a:avLst/>
          </a:prstGeom>
        </p:spPr>
      </p:pic>
      <p:pic>
        <p:nvPicPr>
          <p:cNvPr id="2146" name="picture 21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69735" y="4158996"/>
            <a:ext cx="1767840" cy="1173479"/>
          </a:xfrm>
          <a:prstGeom prst="rect">
            <a:avLst/>
          </a:prstGeom>
        </p:spPr>
      </p:pic>
      <p:sp>
        <p:nvSpPr>
          <p:cNvPr id="2148" name="path 2148"/>
          <p:cNvSpPr/>
          <p:nvPr/>
        </p:nvSpPr>
        <p:spPr>
          <a:xfrm>
            <a:off x="8058150" y="1620773"/>
            <a:ext cx="396239" cy="4911852"/>
          </a:xfrm>
          <a:custGeom>
            <a:avLst/>
            <a:gdLst/>
            <a:ahLst/>
            <a:cxnLst/>
            <a:rect l="0" t="0" r="0" b="0"/>
            <a:pathLst>
              <a:path w="623" h="7735">
                <a:moveTo>
                  <a:pt x="13" y="13"/>
                </a:moveTo>
                <a:cubicBezTo>
                  <a:pt x="178" y="13"/>
                  <a:pt x="310" y="190"/>
                  <a:pt x="310" y="409"/>
                </a:cubicBezTo>
                <a:lnTo>
                  <a:pt x="310" y="3363"/>
                </a:lnTo>
                <a:cubicBezTo>
                  <a:pt x="310" y="3582"/>
                  <a:pt x="445" y="3757"/>
                  <a:pt x="610" y="3757"/>
                </a:cubicBezTo>
                <a:cubicBezTo>
                  <a:pt x="445" y="3757"/>
                  <a:pt x="310" y="3934"/>
                  <a:pt x="310" y="4153"/>
                </a:cubicBezTo>
                <a:lnTo>
                  <a:pt x="310" y="7328"/>
                </a:lnTo>
                <a:cubicBezTo>
                  <a:pt x="310" y="7546"/>
                  <a:pt x="178" y="7721"/>
                  <a:pt x="13" y="7721"/>
                </a:cubicBezTo>
              </a:path>
            </a:pathLst>
          </a:custGeom>
          <a:noFill/>
          <a:ln w="16763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150" name="picture 2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269735" y="1629155"/>
            <a:ext cx="1705355" cy="1132332"/>
          </a:xfrm>
          <a:prstGeom prst="rect">
            <a:avLst/>
          </a:prstGeom>
        </p:spPr>
      </p:pic>
      <p:sp>
        <p:nvSpPr>
          <p:cNvPr id="2152" name="textbox 2152"/>
          <p:cNvSpPr/>
          <p:nvPr/>
        </p:nvSpPr>
        <p:spPr>
          <a:xfrm>
            <a:off x="521248" y="1112886"/>
            <a:ext cx="4827270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浙江现货市场的负荷单元与购电节点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54" name="textbox 2154"/>
          <p:cNvSpPr/>
          <p:nvPr/>
        </p:nvSpPr>
        <p:spPr>
          <a:xfrm>
            <a:off x="9260776" y="3748468"/>
            <a:ext cx="1062355" cy="460375"/>
          </a:xfrm>
          <a:prstGeom prst="roundRect">
            <a:avLst>
              <a:gd name="adj" fmla="val 18587"/>
            </a:avLst>
          </a:prstGeom>
          <a:solidFill>
            <a:srgbClr val="0F4461">
              <a:alpha val="100000"/>
            </a:srgbClr>
          </a:solidFill>
          <a:ln w="9525" cap="flat">
            <a:solidFill>
              <a:srgbClr val="41719C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60654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出清优化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56" name="path 2156"/>
          <p:cNvSpPr/>
          <p:nvPr/>
        </p:nvSpPr>
        <p:spPr>
          <a:xfrm>
            <a:off x="8569451" y="3726180"/>
            <a:ext cx="568452" cy="504443"/>
          </a:xfrm>
          <a:custGeom>
            <a:avLst/>
            <a:gdLst/>
            <a:ahLst/>
            <a:cxnLst/>
            <a:rect l="0" t="0" r="0" b="0"/>
            <a:pathLst>
              <a:path w="895" h="794">
                <a:moveTo>
                  <a:pt x="0" y="199"/>
                </a:moveTo>
                <a:lnTo>
                  <a:pt x="496" y="199"/>
                </a:lnTo>
                <a:lnTo>
                  <a:pt x="496" y="0"/>
                </a:lnTo>
                <a:lnTo>
                  <a:pt x="895" y="398"/>
                </a:lnTo>
                <a:lnTo>
                  <a:pt x="496" y="794"/>
                </a:lnTo>
                <a:lnTo>
                  <a:pt x="496" y="597"/>
                </a:lnTo>
                <a:lnTo>
                  <a:pt x="0" y="597"/>
                </a:lnTo>
                <a:lnTo>
                  <a:pt x="0" y="199"/>
                </a:lnTo>
                <a:close/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58" name="textbox 2158"/>
          <p:cNvSpPr/>
          <p:nvPr/>
        </p:nvSpPr>
        <p:spPr>
          <a:xfrm>
            <a:off x="5022670" y="1970659"/>
            <a:ext cx="1046480" cy="183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节点分配因子1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60" name="picture 21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roup 276"/>
          <p:cNvGrpSpPr/>
          <p:nvPr/>
        </p:nvGrpSpPr>
        <p:grpSpPr>
          <a:xfrm rot="21600000">
            <a:off x="28955" y="1859279"/>
            <a:ext cx="10663427" cy="2667000"/>
            <a:chOff x="0" y="0"/>
            <a:chExt cx="10663427" cy="2667000"/>
          </a:xfrm>
        </p:grpSpPr>
        <p:pic>
          <p:nvPicPr>
            <p:cNvPr id="2162" name="picture 21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0663427" cy="2667000"/>
            </a:xfrm>
            <a:prstGeom prst="rect">
              <a:avLst/>
            </a:prstGeom>
          </p:spPr>
        </p:pic>
        <p:sp>
          <p:nvSpPr>
            <p:cNvPr id="2164" name="textbox 2164"/>
            <p:cNvSpPr/>
            <p:nvPr/>
          </p:nvSpPr>
          <p:spPr>
            <a:xfrm>
              <a:off x="239341" y="349976"/>
              <a:ext cx="4849495" cy="21012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8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8000"/>
                </a:lnSpc>
                <a:tabLst/>
              </a:pP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◆</a:t>
              </a:r>
              <a:r>
                <a:rPr sz="10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合约周期</a:t>
              </a:r>
              <a:r>
                <a:rPr sz="1000" b="1" kern="0" spc="1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：合约的起止时间，</a:t>
              </a:r>
              <a:r>
                <a:rPr sz="1000" b="1" kern="0" spc="-1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以日历日为基本单位；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marL="253365" indent="-240665" algn="l" rtl="0" eaLnBrk="0">
                <a:lnSpc>
                  <a:spcPct val="155000"/>
                </a:lnSpc>
                <a:spcBef>
                  <a:spcPts val="1361"/>
                </a:spcBef>
                <a:tabLst/>
              </a:pPr>
              <a:r>
                <a:rPr sz="1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◆</a:t>
              </a:r>
              <a:r>
                <a:rPr sz="10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合约电量：合约周期内交易的总电量，包括场外双边协商、 场内集中交</a:t>
              </a: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易、挂</a:t>
              </a: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牌交易等确认电量；合约电量在发电侧为机组上网电量，在用户侧为用电量。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1315"/>
                </a:spcBef>
                <a:tabLst/>
              </a:pP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◆</a:t>
              </a:r>
              <a:r>
                <a:rPr sz="10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分解曲线</a:t>
              </a:r>
              <a:r>
                <a:rPr sz="1000" b="1" kern="0" spc="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：将合约电量分解至每日分时电量，包括常用曲线和自定义曲线 。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1345"/>
                </a:spcBef>
                <a:tabLst/>
              </a:pP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◆   交易价格</a:t>
              </a:r>
              <a:r>
                <a:rPr sz="1000" b="1" kern="0" spc="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：合约电量的成交价格，采用绝对价格形式；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marL="259715" indent="-247015" algn="l" rtl="0" eaLnBrk="0">
                <a:lnSpc>
                  <a:spcPct val="155000"/>
                </a:lnSpc>
                <a:spcBef>
                  <a:spcPts val="1"/>
                </a:spcBef>
                <a:tabLst/>
              </a:pPr>
              <a:r>
                <a:rPr sz="1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◆   交割节点：</a:t>
              </a: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在初期，</a:t>
              </a:r>
              <a:r>
                <a:rPr sz="1000" b="1" kern="0" spc="-1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电厂按交割节点统一选取为全省统一结算点，该结算点的</a:t>
              </a:r>
              <a:r>
                <a:rPr sz="1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电价为相应时段全省加权平均</a:t>
              </a:r>
              <a:r>
                <a:rPr sz="10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综合电价；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166" name="picture 21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5800" y="4663440"/>
            <a:ext cx="798575" cy="794004"/>
          </a:xfrm>
          <a:prstGeom prst="rect">
            <a:avLst/>
          </a:prstGeom>
        </p:spPr>
      </p:pic>
      <p:grpSp>
        <p:nvGrpSpPr>
          <p:cNvPr id="278" name="group 278"/>
          <p:cNvGrpSpPr/>
          <p:nvPr/>
        </p:nvGrpSpPr>
        <p:grpSpPr>
          <a:xfrm rot="21600000">
            <a:off x="864107" y="4689348"/>
            <a:ext cx="9265919" cy="792479"/>
            <a:chOff x="0" y="0"/>
            <a:chExt cx="9265919" cy="792479"/>
          </a:xfrm>
        </p:grpSpPr>
        <p:pic>
          <p:nvPicPr>
            <p:cNvPr id="2168" name="picture 21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8471915" y="0"/>
              <a:ext cx="794004" cy="792479"/>
            </a:xfrm>
            <a:prstGeom prst="rect">
              <a:avLst/>
            </a:prstGeom>
          </p:spPr>
        </p:pic>
        <p:pic>
          <p:nvPicPr>
            <p:cNvPr id="2170" name="picture 21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606552" y="339851"/>
              <a:ext cx="7868411" cy="73151"/>
            </a:xfrm>
            <a:prstGeom prst="rect">
              <a:avLst/>
            </a:prstGeom>
          </p:spPr>
        </p:pic>
        <p:sp>
          <p:nvSpPr>
            <p:cNvPr id="2172" name="path 2172"/>
            <p:cNvSpPr/>
            <p:nvPr/>
          </p:nvSpPr>
          <p:spPr>
            <a:xfrm>
              <a:off x="0" y="140207"/>
              <a:ext cx="443484" cy="464819"/>
            </a:xfrm>
            <a:custGeom>
              <a:avLst/>
              <a:gdLst/>
              <a:ahLst/>
              <a:cxnLst/>
              <a:rect l="0" t="0" r="0" b="0"/>
              <a:pathLst>
                <a:path w="698" h="731">
                  <a:moveTo>
                    <a:pt x="585" y="196"/>
                  </a:moveTo>
                  <a:lnTo>
                    <a:pt x="698" y="81"/>
                  </a:lnTo>
                  <a:lnTo>
                    <a:pt x="648" y="64"/>
                  </a:lnTo>
                  <a:lnTo>
                    <a:pt x="650" y="62"/>
                  </a:lnTo>
                  <a:lnTo>
                    <a:pt x="650" y="62"/>
                  </a:lnTo>
                  <a:lnTo>
                    <a:pt x="655" y="60"/>
                  </a:lnTo>
                  <a:lnTo>
                    <a:pt x="655" y="55"/>
                  </a:lnTo>
                  <a:lnTo>
                    <a:pt x="655" y="52"/>
                  </a:lnTo>
                  <a:lnTo>
                    <a:pt x="650" y="47"/>
                  </a:lnTo>
                  <a:lnTo>
                    <a:pt x="650" y="47"/>
                  </a:lnTo>
                  <a:lnTo>
                    <a:pt x="648" y="45"/>
                  </a:lnTo>
                  <a:lnTo>
                    <a:pt x="643" y="45"/>
                  </a:lnTo>
                  <a:lnTo>
                    <a:pt x="640" y="45"/>
                  </a:lnTo>
                  <a:lnTo>
                    <a:pt x="636" y="47"/>
                  </a:lnTo>
                  <a:lnTo>
                    <a:pt x="633" y="50"/>
                  </a:lnTo>
                  <a:lnTo>
                    <a:pt x="616" y="0"/>
                  </a:lnTo>
                  <a:lnTo>
                    <a:pt x="501" y="112"/>
                  </a:lnTo>
                  <a:lnTo>
                    <a:pt x="518" y="163"/>
                  </a:lnTo>
                  <a:lnTo>
                    <a:pt x="511" y="170"/>
                  </a:lnTo>
                  <a:lnTo>
                    <a:pt x="511" y="172"/>
                  </a:lnTo>
                  <a:lnTo>
                    <a:pt x="484" y="196"/>
                  </a:lnTo>
                  <a:lnTo>
                    <a:pt x="484" y="196"/>
                  </a:lnTo>
                  <a:lnTo>
                    <a:pt x="465" y="179"/>
                  </a:lnTo>
                  <a:lnTo>
                    <a:pt x="441" y="163"/>
                  </a:lnTo>
                  <a:lnTo>
                    <a:pt x="420" y="148"/>
                  </a:lnTo>
                  <a:lnTo>
                    <a:pt x="393" y="136"/>
                  </a:lnTo>
                  <a:lnTo>
                    <a:pt x="369" y="129"/>
                  </a:lnTo>
                  <a:lnTo>
                    <a:pt x="343" y="119"/>
                  </a:lnTo>
                  <a:lnTo>
                    <a:pt x="314" y="117"/>
                  </a:lnTo>
                  <a:lnTo>
                    <a:pt x="285" y="117"/>
                  </a:lnTo>
                  <a:lnTo>
                    <a:pt x="285" y="117"/>
                  </a:lnTo>
                  <a:lnTo>
                    <a:pt x="256" y="117"/>
                  </a:lnTo>
                  <a:lnTo>
                    <a:pt x="230" y="119"/>
                  </a:lnTo>
                  <a:lnTo>
                    <a:pt x="204" y="129"/>
                  </a:lnTo>
                  <a:lnTo>
                    <a:pt x="175" y="139"/>
                  </a:lnTo>
                  <a:lnTo>
                    <a:pt x="151" y="148"/>
                  </a:lnTo>
                  <a:lnTo>
                    <a:pt x="127" y="163"/>
                  </a:lnTo>
                  <a:lnTo>
                    <a:pt x="105" y="17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64" y="220"/>
                  </a:lnTo>
                  <a:lnTo>
                    <a:pt x="48" y="244"/>
                  </a:lnTo>
                  <a:lnTo>
                    <a:pt x="31" y="271"/>
                  </a:lnTo>
                  <a:lnTo>
                    <a:pt x="19" y="295"/>
                  </a:lnTo>
                  <a:lnTo>
                    <a:pt x="12" y="319"/>
                  </a:lnTo>
                  <a:lnTo>
                    <a:pt x="4" y="347"/>
                  </a:lnTo>
                  <a:lnTo>
                    <a:pt x="0" y="374"/>
                  </a:lnTo>
                  <a:lnTo>
                    <a:pt x="0" y="403"/>
                  </a:lnTo>
                  <a:lnTo>
                    <a:pt x="0" y="429"/>
                  </a:lnTo>
                  <a:lnTo>
                    <a:pt x="4" y="456"/>
                  </a:lnTo>
                  <a:lnTo>
                    <a:pt x="12" y="484"/>
                  </a:lnTo>
                  <a:lnTo>
                    <a:pt x="19" y="508"/>
                  </a:lnTo>
                  <a:lnTo>
                    <a:pt x="31" y="535"/>
                  </a:lnTo>
                  <a:lnTo>
                    <a:pt x="48" y="559"/>
                  </a:lnTo>
                  <a:lnTo>
                    <a:pt x="64" y="583"/>
                  </a:lnTo>
                  <a:lnTo>
                    <a:pt x="84" y="604"/>
                  </a:lnTo>
                  <a:lnTo>
                    <a:pt x="84" y="604"/>
                  </a:lnTo>
                  <a:lnTo>
                    <a:pt x="96" y="614"/>
                  </a:lnTo>
                  <a:lnTo>
                    <a:pt x="110" y="626"/>
                  </a:lnTo>
                  <a:lnTo>
                    <a:pt x="79" y="731"/>
                  </a:lnTo>
                  <a:lnTo>
                    <a:pt x="168" y="731"/>
                  </a:lnTo>
                  <a:lnTo>
                    <a:pt x="184" y="669"/>
                  </a:lnTo>
                  <a:lnTo>
                    <a:pt x="184" y="669"/>
                  </a:lnTo>
                  <a:lnTo>
                    <a:pt x="208" y="679"/>
                  </a:lnTo>
                  <a:lnTo>
                    <a:pt x="232" y="683"/>
                  </a:lnTo>
                  <a:lnTo>
                    <a:pt x="261" y="686"/>
                  </a:lnTo>
                  <a:lnTo>
                    <a:pt x="285" y="688"/>
                  </a:lnTo>
                  <a:lnTo>
                    <a:pt x="285" y="688"/>
                  </a:lnTo>
                  <a:lnTo>
                    <a:pt x="285" y="688"/>
                  </a:lnTo>
                  <a:lnTo>
                    <a:pt x="285" y="688"/>
                  </a:lnTo>
                  <a:lnTo>
                    <a:pt x="312" y="686"/>
                  </a:lnTo>
                  <a:lnTo>
                    <a:pt x="338" y="683"/>
                  </a:lnTo>
                  <a:lnTo>
                    <a:pt x="362" y="679"/>
                  </a:lnTo>
                  <a:lnTo>
                    <a:pt x="386" y="669"/>
                  </a:lnTo>
                  <a:lnTo>
                    <a:pt x="403" y="731"/>
                  </a:lnTo>
                  <a:lnTo>
                    <a:pt x="489" y="731"/>
                  </a:lnTo>
                  <a:lnTo>
                    <a:pt x="460" y="628"/>
                  </a:lnTo>
                  <a:lnTo>
                    <a:pt x="460" y="628"/>
                  </a:lnTo>
                  <a:lnTo>
                    <a:pt x="475" y="619"/>
                  </a:lnTo>
                  <a:lnTo>
                    <a:pt x="487" y="604"/>
                  </a:lnTo>
                  <a:lnTo>
                    <a:pt x="487" y="604"/>
                  </a:lnTo>
                  <a:lnTo>
                    <a:pt x="508" y="583"/>
                  </a:lnTo>
                  <a:lnTo>
                    <a:pt x="523" y="561"/>
                  </a:lnTo>
                  <a:lnTo>
                    <a:pt x="537" y="537"/>
                  </a:lnTo>
                  <a:lnTo>
                    <a:pt x="549" y="513"/>
                  </a:lnTo>
                  <a:lnTo>
                    <a:pt x="559" y="487"/>
                  </a:lnTo>
                  <a:lnTo>
                    <a:pt x="566" y="458"/>
                  </a:lnTo>
                  <a:lnTo>
                    <a:pt x="571" y="431"/>
                  </a:lnTo>
                  <a:lnTo>
                    <a:pt x="573" y="403"/>
                  </a:lnTo>
                  <a:lnTo>
                    <a:pt x="573" y="403"/>
                  </a:lnTo>
                  <a:lnTo>
                    <a:pt x="571" y="376"/>
                  </a:lnTo>
                  <a:lnTo>
                    <a:pt x="566" y="350"/>
                  </a:lnTo>
                  <a:lnTo>
                    <a:pt x="561" y="326"/>
                  </a:lnTo>
                  <a:lnTo>
                    <a:pt x="554" y="299"/>
                  </a:lnTo>
                  <a:lnTo>
                    <a:pt x="544" y="278"/>
                  </a:lnTo>
                  <a:lnTo>
                    <a:pt x="530" y="254"/>
                  </a:lnTo>
                  <a:lnTo>
                    <a:pt x="518" y="232"/>
                  </a:lnTo>
                  <a:lnTo>
                    <a:pt x="501" y="213"/>
                  </a:lnTo>
                  <a:lnTo>
                    <a:pt x="535" y="179"/>
                  </a:lnTo>
                  <a:lnTo>
                    <a:pt x="585" y="196"/>
                  </a:lnTo>
                  <a:close/>
                  <a:moveTo>
                    <a:pt x="662" y="91"/>
                  </a:moveTo>
                  <a:lnTo>
                    <a:pt x="580" y="172"/>
                  </a:lnTo>
                  <a:lnTo>
                    <a:pt x="549" y="163"/>
                  </a:lnTo>
                  <a:lnTo>
                    <a:pt x="633" y="81"/>
                  </a:lnTo>
                  <a:lnTo>
                    <a:pt x="662" y="91"/>
                  </a:lnTo>
                  <a:close/>
                  <a:moveTo>
                    <a:pt x="537" y="148"/>
                  </a:moveTo>
                  <a:lnTo>
                    <a:pt x="525" y="117"/>
                  </a:lnTo>
                  <a:lnTo>
                    <a:pt x="607" y="36"/>
                  </a:lnTo>
                  <a:lnTo>
                    <a:pt x="619" y="64"/>
                  </a:lnTo>
                  <a:lnTo>
                    <a:pt x="578" y="105"/>
                  </a:lnTo>
                  <a:lnTo>
                    <a:pt x="537" y="148"/>
                  </a:lnTo>
                  <a:close/>
                  <a:moveTo>
                    <a:pt x="151" y="712"/>
                  </a:moveTo>
                  <a:lnTo>
                    <a:pt x="108" y="712"/>
                  </a:lnTo>
                  <a:lnTo>
                    <a:pt x="127" y="640"/>
                  </a:lnTo>
                  <a:lnTo>
                    <a:pt x="127" y="640"/>
                  </a:lnTo>
                  <a:lnTo>
                    <a:pt x="146" y="652"/>
                  </a:lnTo>
                  <a:lnTo>
                    <a:pt x="165" y="662"/>
                  </a:lnTo>
                  <a:lnTo>
                    <a:pt x="151" y="712"/>
                  </a:lnTo>
                  <a:close/>
                  <a:moveTo>
                    <a:pt x="463" y="712"/>
                  </a:moveTo>
                  <a:lnTo>
                    <a:pt x="420" y="712"/>
                  </a:lnTo>
                  <a:lnTo>
                    <a:pt x="405" y="662"/>
                  </a:lnTo>
                  <a:lnTo>
                    <a:pt x="405" y="662"/>
                  </a:lnTo>
                  <a:lnTo>
                    <a:pt x="424" y="652"/>
                  </a:lnTo>
                  <a:lnTo>
                    <a:pt x="441" y="640"/>
                  </a:lnTo>
                  <a:lnTo>
                    <a:pt x="463" y="712"/>
                  </a:lnTo>
                  <a:close/>
                  <a:moveTo>
                    <a:pt x="552" y="403"/>
                  </a:moveTo>
                  <a:lnTo>
                    <a:pt x="552" y="403"/>
                  </a:lnTo>
                  <a:lnTo>
                    <a:pt x="549" y="427"/>
                  </a:lnTo>
                  <a:lnTo>
                    <a:pt x="547" y="453"/>
                  </a:lnTo>
                  <a:lnTo>
                    <a:pt x="540" y="479"/>
                  </a:lnTo>
                  <a:lnTo>
                    <a:pt x="530" y="503"/>
                  </a:lnTo>
                  <a:lnTo>
                    <a:pt x="520" y="527"/>
                  </a:lnTo>
                  <a:lnTo>
                    <a:pt x="506" y="549"/>
                  </a:lnTo>
                  <a:lnTo>
                    <a:pt x="489" y="571"/>
                  </a:lnTo>
                  <a:lnTo>
                    <a:pt x="472" y="590"/>
                  </a:lnTo>
                  <a:lnTo>
                    <a:pt x="472" y="590"/>
                  </a:lnTo>
                  <a:lnTo>
                    <a:pt x="456" y="607"/>
                  </a:lnTo>
                  <a:lnTo>
                    <a:pt x="432" y="623"/>
                  </a:lnTo>
                  <a:lnTo>
                    <a:pt x="410" y="636"/>
                  </a:lnTo>
                  <a:lnTo>
                    <a:pt x="386" y="647"/>
                  </a:lnTo>
                  <a:lnTo>
                    <a:pt x="364" y="657"/>
                  </a:lnTo>
                  <a:lnTo>
                    <a:pt x="338" y="662"/>
                  </a:lnTo>
                  <a:lnTo>
                    <a:pt x="312" y="667"/>
                  </a:lnTo>
                  <a:lnTo>
                    <a:pt x="285" y="667"/>
                  </a:lnTo>
                  <a:lnTo>
                    <a:pt x="285" y="667"/>
                  </a:lnTo>
                  <a:lnTo>
                    <a:pt x="285" y="667"/>
                  </a:lnTo>
                  <a:lnTo>
                    <a:pt x="285" y="667"/>
                  </a:lnTo>
                  <a:lnTo>
                    <a:pt x="259" y="667"/>
                  </a:lnTo>
                  <a:lnTo>
                    <a:pt x="232" y="662"/>
                  </a:lnTo>
                  <a:lnTo>
                    <a:pt x="208" y="657"/>
                  </a:lnTo>
                  <a:lnTo>
                    <a:pt x="184" y="647"/>
                  </a:lnTo>
                  <a:lnTo>
                    <a:pt x="160" y="636"/>
                  </a:lnTo>
                  <a:lnTo>
                    <a:pt x="136" y="623"/>
                  </a:lnTo>
                  <a:lnTo>
                    <a:pt x="117" y="607"/>
                  </a:lnTo>
                  <a:lnTo>
                    <a:pt x="98" y="590"/>
                  </a:lnTo>
                  <a:lnTo>
                    <a:pt x="98" y="590"/>
                  </a:lnTo>
                  <a:lnTo>
                    <a:pt x="79" y="571"/>
                  </a:lnTo>
                  <a:lnTo>
                    <a:pt x="64" y="549"/>
                  </a:lnTo>
                  <a:lnTo>
                    <a:pt x="50" y="525"/>
                  </a:lnTo>
                  <a:lnTo>
                    <a:pt x="38" y="501"/>
                  </a:lnTo>
                  <a:lnTo>
                    <a:pt x="31" y="477"/>
                  </a:lnTo>
                  <a:lnTo>
                    <a:pt x="26" y="453"/>
                  </a:lnTo>
                  <a:lnTo>
                    <a:pt x="19" y="427"/>
                  </a:lnTo>
                  <a:lnTo>
                    <a:pt x="19" y="403"/>
                  </a:lnTo>
                  <a:lnTo>
                    <a:pt x="19" y="376"/>
                  </a:lnTo>
                  <a:lnTo>
                    <a:pt x="26" y="350"/>
                  </a:lnTo>
                  <a:lnTo>
                    <a:pt x="31" y="326"/>
                  </a:lnTo>
                  <a:lnTo>
                    <a:pt x="38" y="302"/>
                  </a:lnTo>
                  <a:lnTo>
                    <a:pt x="50" y="278"/>
                  </a:lnTo>
                  <a:lnTo>
                    <a:pt x="64" y="256"/>
                  </a:lnTo>
                  <a:lnTo>
                    <a:pt x="79" y="235"/>
                  </a:lnTo>
                  <a:lnTo>
                    <a:pt x="98" y="216"/>
                  </a:lnTo>
                  <a:lnTo>
                    <a:pt x="98" y="216"/>
                  </a:lnTo>
                  <a:lnTo>
                    <a:pt x="117" y="196"/>
                  </a:lnTo>
                  <a:lnTo>
                    <a:pt x="136" y="179"/>
                  </a:lnTo>
                  <a:lnTo>
                    <a:pt x="160" y="167"/>
                  </a:lnTo>
                  <a:lnTo>
                    <a:pt x="184" y="156"/>
                  </a:lnTo>
                  <a:lnTo>
                    <a:pt x="208" y="148"/>
                  </a:lnTo>
                  <a:lnTo>
                    <a:pt x="232" y="141"/>
                  </a:lnTo>
                  <a:lnTo>
                    <a:pt x="259" y="139"/>
                  </a:lnTo>
                  <a:lnTo>
                    <a:pt x="285" y="136"/>
                  </a:lnTo>
                  <a:lnTo>
                    <a:pt x="285" y="136"/>
                  </a:lnTo>
                  <a:lnTo>
                    <a:pt x="312" y="139"/>
                  </a:lnTo>
                  <a:lnTo>
                    <a:pt x="338" y="141"/>
                  </a:lnTo>
                  <a:lnTo>
                    <a:pt x="362" y="148"/>
                  </a:lnTo>
                  <a:lnTo>
                    <a:pt x="386" y="156"/>
                  </a:lnTo>
                  <a:lnTo>
                    <a:pt x="408" y="165"/>
                  </a:lnTo>
                  <a:lnTo>
                    <a:pt x="432" y="179"/>
                  </a:lnTo>
                  <a:lnTo>
                    <a:pt x="451" y="194"/>
                  </a:lnTo>
                  <a:lnTo>
                    <a:pt x="470" y="213"/>
                  </a:lnTo>
                  <a:lnTo>
                    <a:pt x="436" y="249"/>
                  </a:lnTo>
                  <a:lnTo>
                    <a:pt x="436" y="249"/>
                  </a:lnTo>
                  <a:lnTo>
                    <a:pt x="420" y="232"/>
                  </a:lnTo>
                  <a:lnTo>
                    <a:pt x="405" y="220"/>
                  </a:lnTo>
                  <a:lnTo>
                    <a:pt x="386" y="211"/>
                  </a:lnTo>
                  <a:lnTo>
                    <a:pt x="367" y="201"/>
                  </a:lnTo>
                  <a:lnTo>
                    <a:pt x="348" y="196"/>
                  </a:lnTo>
                  <a:lnTo>
                    <a:pt x="328" y="189"/>
                  </a:lnTo>
                  <a:lnTo>
                    <a:pt x="307" y="189"/>
                  </a:lnTo>
                  <a:lnTo>
                    <a:pt x="285" y="187"/>
                  </a:lnTo>
                  <a:lnTo>
                    <a:pt x="285" y="187"/>
                  </a:lnTo>
                  <a:lnTo>
                    <a:pt x="266" y="189"/>
                  </a:lnTo>
                  <a:lnTo>
                    <a:pt x="244" y="191"/>
                  </a:lnTo>
                  <a:lnTo>
                    <a:pt x="223" y="196"/>
                  </a:lnTo>
                  <a:lnTo>
                    <a:pt x="204" y="201"/>
                  </a:lnTo>
                  <a:lnTo>
                    <a:pt x="184" y="211"/>
                  </a:lnTo>
                  <a:lnTo>
                    <a:pt x="168" y="223"/>
                  </a:lnTo>
                  <a:lnTo>
                    <a:pt x="148" y="235"/>
                  </a:lnTo>
                  <a:lnTo>
                    <a:pt x="134" y="249"/>
                  </a:lnTo>
                  <a:lnTo>
                    <a:pt x="134" y="249"/>
                  </a:lnTo>
                  <a:lnTo>
                    <a:pt x="117" y="266"/>
                  </a:lnTo>
                  <a:lnTo>
                    <a:pt x="105" y="283"/>
                  </a:lnTo>
                  <a:lnTo>
                    <a:pt x="93" y="299"/>
                  </a:lnTo>
                  <a:lnTo>
                    <a:pt x="86" y="321"/>
                  </a:lnTo>
                  <a:lnTo>
                    <a:pt x="79" y="340"/>
                  </a:lnTo>
                  <a:lnTo>
                    <a:pt x="74" y="359"/>
                  </a:lnTo>
                  <a:lnTo>
                    <a:pt x="72" y="381"/>
                  </a:lnTo>
                  <a:lnTo>
                    <a:pt x="72" y="403"/>
                  </a:lnTo>
                  <a:lnTo>
                    <a:pt x="72" y="424"/>
                  </a:lnTo>
                  <a:lnTo>
                    <a:pt x="74" y="443"/>
                  </a:lnTo>
                  <a:lnTo>
                    <a:pt x="79" y="465"/>
                  </a:lnTo>
                  <a:lnTo>
                    <a:pt x="86" y="482"/>
                  </a:lnTo>
                  <a:lnTo>
                    <a:pt x="93" y="503"/>
                  </a:lnTo>
                  <a:lnTo>
                    <a:pt x="105" y="520"/>
                  </a:lnTo>
                  <a:lnTo>
                    <a:pt x="117" y="537"/>
                  </a:lnTo>
                  <a:lnTo>
                    <a:pt x="134" y="554"/>
                  </a:lnTo>
                  <a:lnTo>
                    <a:pt x="134" y="554"/>
                  </a:lnTo>
                  <a:lnTo>
                    <a:pt x="148" y="568"/>
                  </a:lnTo>
                  <a:lnTo>
                    <a:pt x="168" y="583"/>
                  </a:lnTo>
                  <a:lnTo>
                    <a:pt x="184" y="592"/>
                  </a:lnTo>
                  <a:lnTo>
                    <a:pt x="204" y="602"/>
                  </a:lnTo>
                  <a:lnTo>
                    <a:pt x="223" y="607"/>
                  </a:lnTo>
                  <a:lnTo>
                    <a:pt x="244" y="614"/>
                  </a:lnTo>
                  <a:lnTo>
                    <a:pt x="266" y="619"/>
                  </a:lnTo>
                  <a:lnTo>
                    <a:pt x="285" y="619"/>
                  </a:lnTo>
                  <a:lnTo>
                    <a:pt x="285" y="619"/>
                  </a:lnTo>
                  <a:lnTo>
                    <a:pt x="307" y="619"/>
                  </a:lnTo>
                  <a:lnTo>
                    <a:pt x="328" y="614"/>
                  </a:lnTo>
                  <a:lnTo>
                    <a:pt x="348" y="607"/>
                  </a:lnTo>
                  <a:lnTo>
                    <a:pt x="369" y="602"/>
                  </a:lnTo>
                  <a:lnTo>
                    <a:pt x="386" y="592"/>
                  </a:lnTo>
                  <a:lnTo>
                    <a:pt x="405" y="583"/>
                  </a:lnTo>
                  <a:lnTo>
                    <a:pt x="422" y="568"/>
                  </a:lnTo>
                  <a:lnTo>
                    <a:pt x="439" y="554"/>
                  </a:lnTo>
                  <a:lnTo>
                    <a:pt x="439" y="554"/>
                  </a:lnTo>
                  <a:lnTo>
                    <a:pt x="453" y="539"/>
                  </a:lnTo>
                  <a:lnTo>
                    <a:pt x="465" y="523"/>
                  </a:lnTo>
                  <a:lnTo>
                    <a:pt x="477" y="503"/>
                  </a:lnTo>
                  <a:lnTo>
                    <a:pt x="484" y="484"/>
                  </a:lnTo>
                  <a:lnTo>
                    <a:pt x="492" y="465"/>
                  </a:lnTo>
                  <a:lnTo>
                    <a:pt x="496" y="446"/>
                  </a:lnTo>
                  <a:lnTo>
                    <a:pt x="501" y="424"/>
                  </a:lnTo>
                  <a:lnTo>
                    <a:pt x="501" y="403"/>
                  </a:lnTo>
                  <a:lnTo>
                    <a:pt x="501" y="403"/>
                  </a:lnTo>
                  <a:lnTo>
                    <a:pt x="501" y="383"/>
                  </a:lnTo>
                  <a:lnTo>
                    <a:pt x="499" y="364"/>
                  </a:lnTo>
                  <a:lnTo>
                    <a:pt x="494" y="347"/>
                  </a:lnTo>
                  <a:lnTo>
                    <a:pt x="489" y="328"/>
                  </a:lnTo>
                  <a:lnTo>
                    <a:pt x="482" y="311"/>
                  </a:lnTo>
                  <a:lnTo>
                    <a:pt x="470" y="292"/>
                  </a:lnTo>
                  <a:lnTo>
                    <a:pt x="463" y="278"/>
                  </a:lnTo>
                  <a:lnTo>
                    <a:pt x="448" y="263"/>
                  </a:lnTo>
                  <a:lnTo>
                    <a:pt x="484" y="227"/>
                  </a:lnTo>
                  <a:lnTo>
                    <a:pt x="484" y="227"/>
                  </a:lnTo>
                  <a:lnTo>
                    <a:pt x="501" y="247"/>
                  </a:lnTo>
                  <a:lnTo>
                    <a:pt x="516" y="266"/>
                  </a:lnTo>
                  <a:lnTo>
                    <a:pt x="525" y="287"/>
                  </a:lnTo>
                  <a:lnTo>
                    <a:pt x="535" y="309"/>
                  </a:lnTo>
                  <a:lnTo>
                    <a:pt x="542" y="331"/>
                  </a:lnTo>
                  <a:lnTo>
                    <a:pt x="547" y="355"/>
                  </a:lnTo>
                  <a:lnTo>
                    <a:pt x="549" y="376"/>
                  </a:lnTo>
                  <a:lnTo>
                    <a:pt x="552" y="403"/>
                  </a:lnTo>
                  <a:lnTo>
                    <a:pt x="552" y="403"/>
                  </a:lnTo>
                  <a:close/>
                  <a:moveTo>
                    <a:pt x="338" y="403"/>
                  </a:moveTo>
                  <a:lnTo>
                    <a:pt x="338" y="403"/>
                  </a:lnTo>
                  <a:lnTo>
                    <a:pt x="336" y="412"/>
                  </a:lnTo>
                  <a:lnTo>
                    <a:pt x="333" y="422"/>
                  </a:lnTo>
                  <a:lnTo>
                    <a:pt x="328" y="431"/>
                  </a:lnTo>
                  <a:lnTo>
                    <a:pt x="321" y="439"/>
                  </a:lnTo>
                  <a:lnTo>
                    <a:pt x="321" y="439"/>
                  </a:lnTo>
                  <a:lnTo>
                    <a:pt x="314" y="446"/>
                  </a:lnTo>
                  <a:lnTo>
                    <a:pt x="307" y="451"/>
                  </a:lnTo>
                  <a:lnTo>
                    <a:pt x="295" y="453"/>
                  </a:lnTo>
                  <a:lnTo>
                    <a:pt x="285" y="453"/>
                  </a:lnTo>
                  <a:lnTo>
                    <a:pt x="285" y="453"/>
                  </a:lnTo>
                  <a:lnTo>
                    <a:pt x="276" y="453"/>
                  </a:lnTo>
                  <a:lnTo>
                    <a:pt x="266" y="451"/>
                  </a:lnTo>
                  <a:lnTo>
                    <a:pt x="256" y="446"/>
                  </a:lnTo>
                  <a:lnTo>
                    <a:pt x="249" y="439"/>
                  </a:lnTo>
                  <a:lnTo>
                    <a:pt x="249" y="439"/>
                  </a:lnTo>
                  <a:lnTo>
                    <a:pt x="244" y="431"/>
                  </a:lnTo>
                  <a:lnTo>
                    <a:pt x="237" y="422"/>
                  </a:lnTo>
                  <a:lnTo>
                    <a:pt x="235" y="412"/>
                  </a:lnTo>
                  <a:lnTo>
                    <a:pt x="232" y="403"/>
                  </a:lnTo>
                  <a:lnTo>
                    <a:pt x="235" y="391"/>
                  </a:lnTo>
                  <a:lnTo>
                    <a:pt x="237" y="383"/>
                  </a:lnTo>
                  <a:lnTo>
                    <a:pt x="244" y="374"/>
                  </a:lnTo>
                  <a:lnTo>
                    <a:pt x="249" y="364"/>
                  </a:lnTo>
                  <a:lnTo>
                    <a:pt x="249" y="364"/>
                  </a:lnTo>
                  <a:lnTo>
                    <a:pt x="256" y="357"/>
                  </a:lnTo>
                  <a:lnTo>
                    <a:pt x="266" y="355"/>
                  </a:lnTo>
                  <a:lnTo>
                    <a:pt x="276" y="350"/>
                  </a:lnTo>
                  <a:lnTo>
                    <a:pt x="285" y="350"/>
                  </a:lnTo>
                  <a:lnTo>
                    <a:pt x="285" y="350"/>
                  </a:lnTo>
                  <a:lnTo>
                    <a:pt x="295" y="350"/>
                  </a:lnTo>
                  <a:lnTo>
                    <a:pt x="304" y="355"/>
                  </a:lnTo>
                  <a:lnTo>
                    <a:pt x="312" y="357"/>
                  </a:lnTo>
                  <a:lnTo>
                    <a:pt x="321" y="364"/>
                  </a:lnTo>
                  <a:lnTo>
                    <a:pt x="307" y="379"/>
                  </a:lnTo>
                  <a:lnTo>
                    <a:pt x="307" y="379"/>
                  </a:lnTo>
                  <a:lnTo>
                    <a:pt x="302" y="383"/>
                  </a:lnTo>
                  <a:lnTo>
                    <a:pt x="302" y="386"/>
                  </a:lnTo>
                  <a:lnTo>
                    <a:pt x="302" y="391"/>
                  </a:lnTo>
                  <a:lnTo>
                    <a:pt x="307" y="393"/>
                  </a:lnTo>
                  <a:lnTo>
                    <a:pt x="307" y="393"/>
                  </a:lnTo>
                  <a:lnTo>
                    <a:pt x="309" y="396"/>
                  </a:lnTo>
                  <a:lnTo>
                    <a:pt x="312" y="396"/>
                  </a:lnTo>
                  <a:lnTo>
                    <a:pt x="312" y="396"/>
                  </a:lnTo>
                  <a:lnTo>
                    <a:pt x="316" y="396"/>
                  </a:lnTo>
                  <a:lnTo>
                    <a:pt x="321" y="393"/>
                  </a:lnTo>
                  <a:lnTo>
                    <a:pt x="331" y="381"/>
                  </a:lnTo>
                  <a:lnTo>
                    <a:pt x="331" y="381"/>
                  </a:lnTo>
                  <a:lnTo>
                    <a:pt x="336" y="391"/>
                  </a:lnTo>
                  <a:lnTo>
                    <a:pt x="338" y="403"/>
                  </a:lnTo>
                  <a:lnTo>
                    <a:pt x="338" y="403"/>
                  </a:lnTo>
                  <a:close/>
                  <a:moveTo>
                    <a:pt x="333" y="350"/>
                  </a:moveTo>
                  <a:lnTo>
                    <a:pt x="333" y="350"/>
                  </a:lnTo>
                  <a:lnTo>
                    <a:pt x="324" y="340"/>
                  </a:lnTo>
                  <a:lnTo>
                    <a:pt x="312" y="336"/>
                  </a:lnTo>
                  <a:lnTo>
                    <a:pt x="300" y="333"/>
                  </a:lnTo>
                  <a:lnTo>
                    <a:pt x="285" y="331"/>
                  </a:lnTo>
                  <a:lnTo>
                    <a:pt x="285" y="331"/>
                  </a:lnTo>
                  <a:lnTo>
                    <a:pt x="271" y="333"/>
                  </a:lnTo>
                  <a:lnTo>
                    <a:pt x="259" y="336"/>
                  </a:lnTo>
                  <a:lnTo>
                    <a:pt x="247" y="340"/>
                  </a:lnTo>
                  <a:lnTo>
                    <a:pt x="235" y="350"/>
                  </a:lnTo>
                  <a:lnTo>
                    <a:pt x="235" y="350"/>
                  </a:lnTo>
                  <a:lnTo>
                    <a:pt x="225" y="362"/>
                  </a:lnTo>
                  <a:lnTo>
                    <a:pt x="220" y="374"/>
                  </a:lnTo>
                  <a:lnTo>
                    <a:pt x="213" y="388"/>
                  </a:lnTo>
                  <a:lnTo>
                    <a:pt x="213" y="403"/>
                  </a:lnTo>
                  <a:lnTo>
                    <a:pt x="213" y="415"/>
                  </a:lnTo>
                  <a:lnTo>
                    <a:pt x="220" y="429"/>
                  </a:lnTo>
                  <a:lnTo>
                    <a:pt x="225" y="443"/>
                  </a:lnTo>
                  <a:lnTo>
                    <a:pt x="235" y="453"/>
                  </a:lnTo>
                  <a:lnTo>
                    <a:pt x="235" y="453"/>
                  </a:lnTo>
                  <a:lnTo>
                    <a:pt x="247" y="463"/>
                  </a:lnTo>
                  <a:lnTo>
                    <a:pt x="259" y="467"/>
                  </a:lnTo>
                  <a:lnTo>
                    <a:pt x="271" y="472"/>
                  </a:lnTo>
                  <a:lnTo>
                    <a:pt x="285" y="472"/>
                  </a:lnTo>
                  <a:lnTo>
                    <a:pt x="285" y="472"/>
                  </a:lnTo>
                  <a:lnTo>
                    <a:pt x="300" y="472"/>
                  </a:lnTo>
                  <a:lnTo>
                    <a:pt x="314" y="467"/>
                  </a:lnTo>
                  <a:lnTo>
                    <a:pt x="326" y="463"/>
                  </a:lnTo>
                  <a:lnTo>
                    <a:pt x="338" y="453"/>
                  </a:lnTo>
                  <a:lnTo>
                    <a:pt x="338" y="453"/>
                  </a:lnTo>
                  <a:lnTo>
                    <a:pt x="345" y="443"/>
                  </a:lnTo>
                  <a:lnTo>
                    <a:pt x="352" y="429"/>
                  </a:lnTo>
                  <a:lnTo>
                    <a:pt x="355" y="417"/>
                  </a:lnTo>
                  <a:lnTo>
                    <a:pt x="357" y="403"/>
                  </a:lnTo>
                  <a:lnTo>
                    <a:pt x="357" y="403"/>
                  </a:lnTo>
                  <a:lnTo>
                    <a:pt x="357" y="391"/>
                  </a:lnTo>
                  <a:lnTo>
                    <a:pt x="352" y="383"/>
                  </a:lnTo>
                  <a:lnTo>
                    <a:pt x="350" y="374"/>
                  </a:lnTo>
                  <a:lnTo>
                    <a:pt x="348" y="364"/>
                  </a:lnTo>
                  <a:lnTo>
                    <a:pt x="388" y="321"/>
                  </a:lnTo>
                  <a:lnTo>
                    <a:pt x="388" y="321"/>
                  </a:lnTo>
                  <a:lnTo>
                    <a:pt x="400" y="340"/>
                  </a:lnTo>
                  <a:lnTo>
                    <a:pt x="408" y="359"/>
                  </a:lnTo>
                  <a:lnTo>
                    <a:pt x="412" y="381"/>
                  </a:lnTo>
                  <a:lnTo>
                    <a:pt x="415" y="403"/>
                  </a:lnTo>
                  <a:lnTo>
                    <a:pt x="415" y="403"/>
                  </a:lnTo>
                  <a:lnTo>
                    <a:pt x="415" y="415"/>
                  </a:lnTo>
                  <a:lnTo>
                    <a:pt x="412" y="427"/>
                  </a:lnTo>
                  <a:lnTo>
                    <a:pt x="410" y="439"/>
                  </a:lnTo>
                  <a:lnTo>
                    <a:pt x="405" y="451"/>
                  </a:lnTo>
                  <a:lnTo>
                    <a:pt x="400" y="465"/>
                  </a:lnTo>
                  <a:lnTo>
                    <a:pt x="393" y="475"/>
                  </a:lnTo>
                  <a:lnTo>
                    <a:pt x="386" y="484"/>
                  </a:lnTo>
                  <a:lnTo>
                    <a:pt x="379" y="494"/>
                  </a:lnTo>
                  <a:lnTo>
                    <a:pt x="379" y="494"/>
                  </a:lnTo>
                  <a:lnTo>
                    <a:pt x="369" y="503"/>
                  </a:lnTo>
                  <a:lnTo>
                    <a:pt x="357" y="511"/>
                  </a:lnTo>
                  <a:lnTo>
                    <a:pt x="345" y="516"/>
                  </a:lnTo>
                  <a:lnTo>
                    <a:pt x="336" y="523"/>
                  </a:lnTo>
                  <a:lnTo>
                    <a:pt x="324" y="527"/>
                  </a:lnTo>
                  <a:lnTo>
                    <a:pt x="312" y="530"/>
                  </a:lnTo>
                  <a:lnTo>
                    <a:pt x="300" y="530"/>
                  </a:lnTo>
                  <a:lnTo>
                    <a:pt x="285" y="532"/>
                  </a:lnTo>
                  <a:lnTo>
                    <a:pt x="285" y="532"/>
                  </a:lnTo>
                  <a:lnTo>
                    <a:pt x="285" y="532"/>
                  </a:lnTo>
                  <a:lnTo>
                    <a:pt x="285" y="532"/>
                  </a:lnTo>
                  <a:lnTo>
                    <a:pt x="273" y="530"/>
                  </a:lnTo>
                  <a:lnTo>
                    <a:pt x="261" y="530"/>
                  </a:lnTo>
                  <a:lnTo>
                    <a:pt x="247" y="527"/>
                  </a:lnTo>
                  <a:lnTo>
                    <a:pt x="235" y="523"/>
                  </a:lnTo>
                  <a:lnTo>
                    <a:pt x="225" y="516"/>
                  </a:lnTo>
                  <a:lnTo>
                    <a:pt x="213" y="511"/>
                  </a:lnTo>
                  <a:lnTo>
                    <a:pt x="204" y="503"/>
                  </a:lnTo>
                  <a:lnTo>
                    <a:pt x="192" y="494"/>
                  </a:lnTo>
                  <a:lnTo>
                    <a:pt x="192" y="494"/>
                  </a:lnTo>
                  <a:lnTo>
                    <a:pt x="184" y="484"/>
                  </a:lnTo>
                  <a:lnTo>
                    <a:pt x="177" y="472"/>
                  </a:lnTo>
                  <a:lnTo>
                    <a:pt x="170" y="463"/>
                  </a:lnTo>
                  <a:lnTo>
                    <a:pt x="165" y="451"/>
                  </a:lnTo>
                  <a:lnTo>
                    <a:pt x="160" y="439"/>
                  </a:lnTo>
                  <a:lnTo>
                    <a:pt x="158" y="427"/>
                  </a:lnTo>
                  <a:lnTo>
                    <a:pt x="156" y="415"/>
                  </a:lnTo>
                  <a:lnTo>
                    <a:pt x="156" y="403"/>
                  </a:lnTo>
                  <a:lnTo>
                    <a:pt x="156" y="391"/>
                  </a:lnTo>
                  <a:lnTo>
                    <a:pt x="158" y="376"/>
                  </a:lnTo>
                  <a:lnTo>
                    <a:pt x="160" y="364"/>
                  </a:lnTo>
                  <a:lnTo>
                    <a:pt x="165" y="352"/>
                  </a:lnTo>
                  <a:lnTo>
                    <a:pt x="170" y="340"/>
                  </a:lnTo>
                  <a:lnTo>
                    <a:pt x="177" y="331"/>
                  </a:lnTo>
                  <a:lnTo>
                    <a:pt x="184" y="319"/>
                  </a:lnTo>
                  <a:lnTo>
                    <a:pt x="192" y="311"/>
                  </a:lnTo>
                  <a:lnTo>
                    <a:pt x="192" y="311"/>
                  </a:lnTo>
                  <a:lnTo>
                    <a:pt x="204" y="299"/>
                  </a:lnTo>
                  <a:lnTo>
                    <a:pt x="213" y="292"/>
                  </a:lnTo>
                  <a:lnTo>
                    <a:pt x="225" y="287"/>
                  </a:lnTo>
                  <a:lnTo>
                    <a:pt x="235" y="280"/>
                  </a:lnTo>
                  <a:lnTo>
                    <a:pt x="247" y="278"/>
                  </a:lnTo>
                  <a:lnTo>
                    <a:pt x="261" y="273"/>
                  </a:lnTo>
                  <a:lnTo>
                    <a:pt x="273" y="273"/>
                  </a:lnTo>
                  <a:lnTo>
                    <a:pt x="285" y="271"/>
                  </a:lnTo>
                  <a:lnTo>
                    <a:pt x="285" y="271"/>
                  </a:lnTo>
                  <a:lnTo>
                    <a:pt x="300" y="273"/>
                  </a:lnTo>
                  <a:lnTo>
                    <a:pt x="309" y="273"/>
                  </a:lnTo>
                  <a:lnTo>
                    <a:pt x="324" y="278"/>
                  </a:lnTo>
                  <a:lnTo>
                    <a:pt x="333" y="280"/>
                  </a:lnTo>
                  <a:lnTo>
                    <a:pt x="345" y="287"/>
                  </a:lnTo>
                  <a:lnTo>
                    <a:pt x="355" y="292"/>
                  </a:lnTo>
                  <a:lnTo>
                    <a:pt x="367" y="299"/>
                  </a:lnTo>
                  <a:lnTo>
                    <a:pt x="376" y="309"/>
                  </a:lnTo>
                  <a:lnTo>
                    <a:pt x="333" y="350"/>
                  </a:lnTo>
                  <a:close/>
                  <a:moveTo>
                    <a:pt x="391" y="292"/>
                  </a:moveTo>
                  <a:lnTo>
                    <a:pt x="391" y="292"/>
                  </a:lnTo>
                  <a:lnTo>
                    <a:pt x="379" y="283"/>
                  </a:lnTo>
                  <a:lnTo>
                    <a:pt x="369" y="276"/>
                  </a:lnTo>
                  <a:lnTo>
                    <a:pt x="355" y="268"/>
                  </a:lnTo>
                  <a:lnTo>
                    <a:pt x="343" y="261"/>
                  </a:lnTo>
                  <a:lnTo>
                    <a:pt x="328" y="256"/>
                  </a:lnTo>
                  <a:lnTo>
                    <a:pt x="314" y="254"/>
                  </a:lnTo>
                  <a:lnTo>
                    <a:pt x="302" y="251"/>
                  </a:lnTo>
                  <a:lnTo>
                    <a:pt x="285" y="251"/>
                  </a:lnTo>
                  <a:lnTo>
                    <a:pt x="285" y="251"/>
                  </a:lnTo>
                  <a:lnTo>
                    <a:pt x="271" y="251"/>
                  </a:lnTo>
                  <a:lnTo>
                    <a:pt x="254" y="254"/>
                  </a:lnTo>
                  <a:lnTo>
                    <a:pt x="242" y="256"/>
                  </a:lnTo>
                  <a:lnTo>
                    <a:pt x="228" y="263"/>
                  </a:lnTo>
                  <a:lnTo>
                    <a:pt x="213" y="271"/>
                  </a:lnTo>
                  <a:lnTo>
                    <a:pt x="204" y="276"/>
                  </a:lnTo>
                  <a:lnTo>
                    <a:pt x="189" y="285"/>
                  </a:lnTo>
                  <a:lnTo>
                    <a:pt x="177" y="295"/>
                  </a:lnTo>
                  <a:lnTo>
                    <a:pt x="177" y="295"/>
                  </a:lnTo>
                  <a:lnTo>
                    <a:pt x="170" y="307"/>
                  </a:lnTo>
                  <a:lnTo>
                    <a:pt x="160" y="319"/>
                  </a:lnTo>
                  <a:lnTo>
                    <a:pt x="151" y="333"/>
                  </a:lnTo>
                  <a:lnTo>
                    <a:pt x="146" y="345"/>
                  </a:lnTo>
                  <a:lnTo>
                    <a:pt x="141" y="357"/>
                  </a:lnTo>
                  <a:lnTo>
                    <a:pt x="136" y="374"/>
                  </a:lnTo>
                  <a:lnTo>
                    <a:pt x="134" y="388"/>
                  </a:lnTo>
                  <a:lnTo>
                    <a:pt x="134" y="403"/>
                  </a:lnTo>
                  <a:lnTo>
                    <a:pt x="134" y="417"/>
                  </a:lnTo>
                  <a:lnTo>
                    <a:pt x="136" y="431"/>
                  </a:lnTo>
                  <a:lnTo>
                    <a:pt x="141" y="446"/>
                  </a:lnTo>
                  <a:lnTo>
                    <a:pt x="146" y="458"/>
                  </a:lnTo>
                  <a:lnTo>
                    <a:pt x="151" y="472"/>
                  </a:lnTo>
                  <a:lnTo>
                    <a:pt x="160" y="487"/>
                  </a:lnTo>
                  <a:lnTo>
                    <a:pt x="170" y="496"/>
                  </a:lnTo>
                  <a:lnTo>
                    <a:pt x="177" y="508"/>
                  </a:lnTo>
                  <a:lnTo>
                    <a:pt x="177" y="508"/>
                  </a:lnTo>
                  <a:lnTo>
                    <a:pt x="189" y="518"/>
                  </a:lnTo>
                  <a:lnTo>
                    <a:pt x="204" y="527"/>
                  </a:lnTo>
                  <a:lnTo>
                    <a:pt x="213" y="535"/>
                  </a:lnTo>
                  <a:lnTo>
                    <a:pt x="228" y="542"/>
                  </a:lnTo>
                  <a:lnTo>
                    <a:pt x="242" y="547"/>
                  </a:lnTo>
                  <a:lnTo>
                    <a:pt x="254" y="549"/>
                  </a:lnTo>
                  <a:lnTo>
                    <a:pt x="271" y="551"/>
                  </a:lnTo>
                  <a:lnTo>
                    <a:pt x="285" y="551"/>
                  </a:lnTo>
                  <a:lnTo>
                    <a:pt x="285" y="551"/>
                  </a:lnTo>
                  <a:lnTo>
                    <a:pt x="285" y="551"/>
                  </a:lnTo>
                  <a:lnTo>
                    <a:pt x="285" y="551"/>
                  </a:lnTo>
                  <a:lnTo>
                    <a:pt x="302" y="551"/>
                  </a:lnTo>
                  <a:lnTo>
                    <a:pt x="314" y="549"/>
                  </a:lnTo>
                  <a:lnTo>
                    <a:pt x="328" y="547"/>
                  </a:lnTo>
                  <a:lnTo>
                    <a:pt x="343" y="542"/>
                  </a:lnTo>
                  <a:lnTo>
                    <a:pt x="357" y="535"/>
                  </a:lnTo>
                  <a:lnTo>
                    <a:pt x="369" y="527"/>
                  </a:lnTo>
                  <a:lnTo>
                    <a:pt x="381" y="518"/>
                  </a:lnTo>
                  <a:lnTo>
                    <a:pt x="391" y="508"/>
                  </a:lnTo>
                  <a:lnTo>
                    <a:pt x="391" y="508"/>
                  </a:lnTo>
                  <a:lnTo>
                    <a:pt x="403" y="496"/>
                  </a:lnTo>
                  <a:lnTo>
                    <a:pt x="410" y="487"/>
                  </a:lnTo>
                  <a:lnTo>
                    <a:pt x="420" y="472"/>
                  </a:lnTo>
                  <a:lnTo>
                    <a:pt x="424" y="458"/>
                  </a:lnTo>
                  <a:lnTo>
                    <a:pt x="429" y="446"/>
                  </a:lnTo>
                  <a:lnTo>
                    <a:pt x="434" y="431"/>
                  </a:lnTo>
                  <a:lnTo>
                    <a:pt x="436" y="417"/>
                  </a:lnTo>
                  <a:lnTo>
                    <a:pt x="436" y="403"/>
                  </a:lnTo>
                  <a:lnTo>
                    <a:pt x="436" y="403"/>
                  </a:lnTo>
                  <a:lnTo>
                    <a:pt x="436" y="388"/>
                  </a:lnTo>
                  <a:lnTo>
                    <a:pt x="434" y="376"/>
                  </a:lnTo>
                  <a:lnTo>
                    <a:pt x="432" y="364"/>
                  </a:lnTo>
                  <a:lnTo>
                    <a:pt x="427" y="352"/>
                  </a:lnTo>
                  <a:lnTo>
                    <a:pt x="424" y="340"/>
                  </a:lnTo>
                  <a:lnTo>
                    <a:pt x="420" y="328"/>
                  </a:lnTo>
                  <a:lnTo>
                    <a:pt x="412" y="319"/>
                  </a:lnTo>
                  <a:lnTo>
                    <a:pt x="405" y="309"/>
                  </a:lnTo>
                  <a:lnTo>
                    <a:pt x="436" y="278"/>
                  </a:lnTo>
                  <a:lnTo>
                    <a:pt x="436" y="278"/>
                  </a:lnTo>
                  <a:lnTo>
                    <a:pt x="446" y="292"/>
                  </a:lnTo>
                  <a:lnTo>
                    <a:pt x="456" y="307"/>
                  </a:lnTo>
                  <a:lnTo>
                    <a:pt x="463" y="319"/>
                  </a:lnTo>
                  <a:lnTo>
                    <a:pt x="468" y="336"/>
                  </a:lnTo>
                  <a:lnTo>
                    <a:pt x="475" y="350"/>
                  </a:lnTo>
                  <a:lnTo>
                    <a:pt x="477" y="369"/>
                  </a:lnTo>
                  <a:lnTo>
                    <a:pt x="480" y="386"/>
                  </a:lnTo>
                  <a:lnTo>
                    <a:pt x="482" y="403"/>
                  </a:lnTo>
                  <a:lnTo>
                    <a:pt x="482" y="403"/>
                  </a:lnTo>
                  <a:lnTo>
                    <a:pt x="480" y="422"/>
                  </a:lnTo>
                  <a:lnTo>
                    <a:pt x="477" y="439"/>
                  </a:lnTo>
                  <a:lnTo>
                    <a:pt x="472" y="458"/>
                  </a:lnTo>
                  <a:lnTo>
                    <a:pt x="465" y="475"/>
                  </a:lnTo>
                  <a:lnTo>
                    <a:pt x="458" y="494"/>
                  </a:lnTo>
                  <a:lnTo>
                    <a:pt x="448" y="511"/>
                  </a:lnTo>
                  <a:lnTo>
                    <a:pt x="439" y="527"/>
                  </a:lnTo>
                  <a:lnTo>
                    <a:pt x="424" y="542"/>
                  </a:lnTo>
                  <a:lnTo>
                    <a:pt x="424" y="542"/>
                  </a:lnTo>
                  <a:lnTo>
                    <a:pt x="408" y="551"/>
                  </a:lnTo>
                  <a:lnTo>
                    <a:pt x="393" y="563"/>
                  </a:lnTo>
                  <a:lnTo>
                    <a:pt x="379" y="576"/>
                  </a:lnTo>
                  <a:lnTo>
                    <a:pt x="362" y="583"/>
                  </a:lnTo>
                  <a:lnTo>
                    <a:pt x="343" y="590"/>
                  </a:lnTo>
                  <a:lnTo>
                    <a:pt x="324" y="592"/>
                  </a:lnTo>
                  <a:lnTo>
                    <a:pt x="307" y="597"/>
                  </a:lnTo>
                  <a:lnTo>
                    <a:pt x="285" y="597"/>
                  </a:lnTo>
                  <a:lnTo>
                    <a:pt x="285" y="597"/>
                  </a:lnTo>
                  <a:lnTo>
                    <a:pt x="266" y="597"/>
                  </a:lnTo>
                  <a:lnTo>
                    <a:pt x="247" y="592"/>
                  </a:lnTo>
                  <a:lnTo>
                    <a:pt x="230" y="590"/>
                  </a:lnTo>
                  <a:lnTo>
                    <a:pt x="211" y="583"/>
                  </a:lnTo>
                  <a:lnTo>
                    <a:pt x="194" y="576"/>
                  </a:lnTo>
                  <a:lnTo>
                    <a:pt x="177" y="563"/>
                  </a:lnTo>
                  <a:lnTo>
                    <a:pt x="163" y="551"/>
                  </a:lnTo>
                  <a:lnTo>
                    <a:pt x="148" y="542"/>
                  </a:lnTo>
                  <a:lnTo>
                    <a:pt x="148" y="542"/>
                  </a:lnTo>
                  <a:lnTo>
                    <a:pt x="134" y="525"/>
                  </a:lnTo>
                  <a:lnTo>
                    <a:pt x="122" y="508"/>
                  </a:lnTo>
                  <a:lnTo>
                    <a:pt x="112" y="494"/>
                  </a:lnTo>
                  <a:lnTo>
                    <a:pt x="105" y="475"/>
                  </a:lnTo>
                  <a:lnTo>
                    <a:pt x="98" y="458"/>
                  </a:lnTo>
                  <a:lnTo>
                    <a:pt x="93" y="439"/>
                  </a:lnTo>
                  <a:lnTo>
                    <a:pt x="91" y="419"/>
                  </a:lnTo>
                  <a:lnTo>
                    <a:pt x="91" y="403"/>
                  </a:lnTo>
                  <a:lnTo>
                    <a:pt x="91" y="383"/>
                  </a:lnTo>
                  <a:lnTo>
                    <a:pt x="93" y="364"/>
                  </a:lnTo>
                  <a:lnTo>
                    <a:pt x="98" y="347"/>
                  </a:lnTo>
                  <a:lnTo>
                    <a:pt x="105" y="328"/>
                  </a:lnTo>
                  <a:lnTo>
                    <a:pt x="112" y="311"/>
                  </a:lnTo>
                  <a:lnTo>
                    <a:pt x="122" y="295"/>
                  </a:lnTo>
                  <a:lnTo>
                    <a:pt x="134" y="278"/>
                  </a:lnTo>
                  <a:lnTo>
                    <a:pt x="148" y="263"/>
                  </a:lnTo>
                  <a:lnTo>
                    <a:pt x="148" y="263"/>
                  </a:lnTo>
                  <a:lnTo>
                    <a:pt x="163" y="251"/>
                  </a:lnTo>
                  <a:lnTo>
                    <a:pt x="177" y="239"/>
                  </a:lnTo>
                  <a:lnTo>
                    <a:pt x="194" y="230"/>
                  </a:lnTo>
                  <a:lnTo>
                    <a:pt x="211" y="220"/>
                  </a:lnTo>
                  <a:lnTo>
                    <a:pt x="230" y="216"/>
                  </a:lnTo>
                  <a:lnTo>
                    <a:pt x="247" y="211"/>
                  </a:lnTo>
                  <a:lnTo>
                    <a:pt x="266" y="208"/>
                  </a:lnTo>
                  <a:lnTo>
                    <a:pt x="285" y="208"/>
                  </a:lnTo>
                  <a:lnTo>
                    <a:pt x="285" y="208"/>
                  </a:lnTo>
                  <a:lnTo>
                    <a:pt x="304" y="208"/>
                  </a:lnTo>
                  <a:lnTo>
                    <a:pt x="324" y="211"/>
                  </a:lnTo>
                  <a:lnTo>
                    <a:pt x="343" y="216"/>
                  </a:lnTo>
                  <a:lnTo>
                    <a:pt x="360" y="220"/>
                  </a:lnTo>
                  <a:lnTo>
                    <a:pt x="376" y="230"/>
                  </a:lnTo>
                  <a:lnTo>
                    <a:pt x="391" y="237"/>
                  </a:lnTo>
                  <a:lnTo>
                    <a:pt x="408" y="249"/>
                  </a:lnTo>
                  <a:lnTo>
                    <a:pt x="422" y="261"/>
                  </a:lnTo>
                  <a:lnTo>
                    <a:pt x="391" y="2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174" name="picture 217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8654795" y="199644"/>
              <a:ext cx="432816" cy="393191"/>
            </a:xfrm>
            <a:prstGeom prst="rect">
              <a:avLst/>
            </a:prstGeom>
          </p:spPr>
        </p:pic>
      </p:grpSp>
      <p:sp>
        <p:nvSpPr>
          <p:cNvPr id="2176" name="textbox 2176"/>
          <p:cNvSpPr/>
          <p:nvPr/>
        </p:nvSpPr>
        <p:spPr>
          <a:xfrm>
            <a:off x="1138513" y="5679328"/>
            <a:ext cx="3477895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62" rIns="0" bIns="0"/>
          <a:lstStyle/>
          <a:p>
            <a:pPr marL="12700" indent="2540" algn="l" rtl="0" eaLnBrk="0">
              <a:lnSpc>
                <a:spcPct val="116000"/>
              </a:lnSpc>
              <a:spcBef>
                <a:spcPts val="4"/>
              </a:spcBef>
              <a:tabLst/>
            </a:pPr>
            <a:r>
              <a:rPr sz="12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由交易系统提供若干常用电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力交割曲线，</a:t>
            </a:r>
            <a:r>
              <a:rPr sz="1200" b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由交易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中心的系统自动将合约电量分解为分时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电量曲线。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78" name="textbox 2178"/>
          <p:cNvSpPr/>
          <p:nvPr/>
        </p:nvSpPr>
        <p:spPr>
          <a:xfrm>
            <a:off x="6894440" y="5690576"/>
            <a:ext cx="3165475" cy="4514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15" rIns="0" bIns="0"/>
          <a:lstStyle/>
          <a:p>
            <a:pPr marL="98425" indent="-85725" algn="l" rtl="0" eaLnBrk="0">
              <a:lnSpc>
                <a:spcPct val="116000"/>
              </a:lnSpc>
              <a:spcBef>
                <a:spcPts val="2"/>
              </a:spcBef>
              <a:tabLst/>
            </a:pPr>
            <a:r>
              <a:rPr sz="12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由合同双方自行确定电力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交割曲线，并按要求</a:t>
            </a: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（D-3日前）</a:t>
            </a:r>
            <a:r>
              <a:rPr sz="1200" b="1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申报至交易系统。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80" name="picture 21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847843" y="4664963"/>
            <a:ext cx="946403" cy="946403"/>
          </a:xfrm>
          <a:prstGeom prst="rect">
            <a:avLst/>
          </a:prstGeom>
        </p:spPr>
      </p:pic>
      <p:sp>
        <p:nvSpPr>
          <p:cNvPr id="2182" name="textbox 2182"/>
          <p:cNvSpPr/>
          <p:nvPr/>
        </p:nvSpPr>
        <p:spPr>
          <a:xfrm>
            <a:off x="537460" y="1114052"/>
            <a:ext cx="2108835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中长期合约要素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84" name="textbox 2184"/>
          <p:cNvSpPr/>
          <p:nvPr/>
        </p:nvSpPr>
        <p:spPr>
          <a:xfrm>
            <a:off x="7803881" y="3433184"/>
            <a:ext cx="2244725" cy="29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000" b="1" kern="0" spc="10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——合约要素——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86" name="textbox 2186"/>
          <p:cNvSpPr/>
          <p:nvPr/>
        </p:nvSpPr>
        <p:spPr>
          <a:xfrm>
            <a:off x="7822394" y="5213800"/>
            <a:ext cx="89852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自定义曲线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88" name="textbox 2188"/>
          <p:cNvSpPr/>
          <p:nvPr/>
        </p:nvSpPr>
        <p:spPr>
          <a:xfrm>
            <a:off x="2267087" y="5275637"/>
            <a:ext cx="731519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1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常用曲线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90" name="picture 21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2192" name="picture 219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80872" y="5673851"/>
            <a:ext cx="39623" cy="522732"/>
          </a:xfrm>
          <a:prstGeom prst="rect">
            <a:avLst/>
          </a:prstGeom>
        </p:spPr>
      </p:pic>
      <p:pic>
        <p:nvPicPr>
          <p:cNvPr id="2194" name="picture 219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771132" y="5695188"/>
            <a:ext cx="39623" cy="52273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6" name="table 2196"/>
          <p:cNvGraphicFramePr>
            <a:graphicFrameLocks noGrp="1"/>
          </p:cNvGraphicFramePr>
          <p:nvPr/>
        </p:nvGraphicFramePr>
        <p:xfrm>
          <a:off x="5199126" y="2359914"/>
          <a:ext cx="5203825" cy="3138804"/>
        </p:xfrm>
        <a:graphic>
          <a:graphicData uri="http://schemas.openxmlformats.org/drawingml/2006/table">
            <a:tbl>
              <a:tblPr/>
              <a:tblGrid>
                <a:gridCol w="3100070"/>
                <a:gridCol w="2103754"/>
              </a:tblGrid>
              <a:tr h="14947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601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峰平谷曲线D1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0464" indent="-930910" algn="l" rtl="0" eaLnBrk="0">
                        <a:lnSpc>
                          <a:spcPct val="14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r>
                        <a:rPr sz="8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r>
                        <a:rPr sz="8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11       13       15       17       19</a:t>
                      </a:r>
                      <a:r>
                        <a:rPr sz="8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21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23      </a:t>
                      </a: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全天平均曲线D2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indent="-1270" algn="l" rtl="0" eaLnBrk="0">
                        <a:lnSpc>
                          <a:spcPct val="13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根据统调历史负荷确定峰、</a:t>
                      </a: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平、谷三段负荷比例;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668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全天为一条直线；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6639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ts val="1068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r>
                        <a:rPr sz="8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11       13       15       17       19       21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  <a:endParaRPr sz="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196339" algn="l" rtl="0" eaLnBrk="0">
                        <a:lnSpc>
                          <a:spcPts val="1488"/>
                        </a:lnSpc>
                        <a:tabLst/>
                      </a:pP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高峰时段曲线D3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高峰时段为一条直线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3789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ts val="1068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r>
                        <a:rPr sz="8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r>
                        <a:rPr sz="8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11       13       15       17       19</a:t>
                      </a:r>
                      <a:r>
                        <a:rPr sz="8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21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  <a:endParaRPr sz="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196339" algn="l" rtl="0" eaLnBrk="0">
                        <a:lnSpc>
                          <a:spcPct val="88000"/>
                        </a:lnSpc>
                        <a:spcBef>
                          <a:spcPts val="1076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低谷时段曲线D4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indent="2656204" algn="l" rtl="0" eaLnBrk="0">
                        <a:lnSpc>
                          <a:spcPct val="133000"/>
                        </a:lnSpc>
                        <a:spcBef>
                          <a:spcPts val="2"/>
                        </a:spcBef>
                        <a:tabLst>
                          <a:tab pos="3267709" algn="l"/>
                        </a:tabLst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低谷时段为一条直线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r>
                        <a:rPr sz="8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11       13       15       17       19       21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  <a:endParaRPr sz="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198" name="picture 21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62955" y="5017769"/>
            <a:ext cx="2737866" cy="222504"/>
          </a:xfrm>
          <a:prstGeom prst="rect">
            <a:avLst/>
          </a:prstGeom>
        </p:spPr>
      </p:pic>
      <p:graphicFrame>
        <p:nvGraphicFramePr>
          <p:cNvPr id="2200" name="table 2200"/>
          <p:cNvGraphicFramePr>
            <a:graphicFrameLocks noGrp="1"/>
          </p:cNvGraphicFramePr>
          <p:nvPr/>
        </p:nvGraphicFramePr>
        <p:xfrm>
          <a:off x="318515" y="2363723"/>
          <a:ext cx="4661534" cy="3052445"/>
        </p:xfrm>
        <a:graphic>
          <a:graphicData uri="http://schemas.openxmlformats.org/drawingml/2006/table">
            <a:tbl>
              <a:tblPr/>
              <a:tblGrid>
                <a:gridCol w="1089660"/>
                <a:gridCol w="883919"/>
                <a:gridCol w="1457960"/>
                <a:gridCol w="1229995"/>
              </a:tblGrid>
              <a:tr h="3581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765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交易方式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3354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基数合约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4819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市场合约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844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电量分解曲线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  <a:tr h="341629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765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双边交易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69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最小合约周期为一周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400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自定义曲线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1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734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无需分解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765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双边转让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仅关停电量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2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414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集中竞争交易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825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560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年、月、周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indent="-26797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年：Y-M-D1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Y-M-D2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9250" indent="145414" algn="l" rtl="0" eaLnBrk="0">
                        <a:lnSpc>
                          <a:spcPct val="108000"/>
                        </a:lnSpc>
                        <a:spcBef>
                          <a:spcPts val="186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Y-M-D3   </a:t>
                      </a: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月、周：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77215" algn="l" rtl="0" eaLnBrk="0">
                        <a:lnSpc>
                          <a:spcPct val="69000"/>
                        </a:lnSpc>
                        <a:spcBef>
                          <a:spcPts val="186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M-D1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77215" algn="l" rtl="0" eaLnBrk="0">
                        <a:lnSpc>
                          <a:spcPts val="1259"/>
                        </a:lnSpc>
                        <a:tabLst/>
                      </a:pPr>
                      <a:r>
                        <a:rPr sz="1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M-D2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77215" algn="l" rtl="0" eaLnBrk="0">
                        <a:lnSpc>
                          <a:spcPct val="79000"/>
                        </a:lnSpc>
                        <a:spcBef>
                          <a:spcPts val="435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M-D3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8105" algn="l" rtl="0" eaLnBrk="0">
                        <a:lnSpc>
                          <a:spcPct val="88000"/>
                        </a:lnSpc>
                        <a:spcBef>
                          <a:spcPts val="254"/>
                        </a:spcBef>
                        <a:tabLst/>
                      </a:pP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基数合约无需分解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765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挂牌交易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69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230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4004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自定义曲线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02" name="path 2202"/>
          <p:cNvSpPr/>
          <p:nvPr/>
        </p:nvSpPr>
        <p:spPr>
          <a:xfrm>
            <a:off x="313943" y="5690616"/>
            <a:ext cx="2220467" cy="789432"/>
          </a:xfrm>
          <a:custGeom>
            <a:avLst/>
            <a:gdLst/>
            <a:ahLst/>
            <a:cxnLst/>
            <a:rect l="0" t="0" r="0" b="0"/>
            <a:pathLst>
              <a:path w="3496" h="1243">
                <a:moveTo>
                  <a:pt x="0" y="0"/>
                </a:moveTo>
                <a:lnTo>
                  <a:pt x="4" y="0"/>
                </a:lnTo>
                <a:lnTo>
                  <a:pt x="4" y="1238"/>
                </a:lnTo>
                <a:lnTo>
                  <a:pt x="3496" y="1238"/>
                </a:lnTo>
                <a:lnTo>
                  <a:pt x="3496" y="1243"/>
                </a:lnTo>
                <a:lnTo>
                  <a:pt x="0" y="1243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04" name="textbox 2204"/>
          <p:cNvSpPr/>
          <p:nvPr/>
        </p:nvSpPr>
        <p:spPr>
          <a:xfrm>
            <a:off x="472776" y="5489562"/>
            <a:ext cx="4619625" cy="763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2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设置月度净合约量上下限和月度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累计交易量上限；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0350" indent="-247650" algn="l" rtl="0" eaLnBrk="0">
              <a:lnSpc>
                <a:spcPct val="125000"/>
              </a:lnSpc>
              <a:tabLst/>
            </a:pPr>
            <a:r>
              <a:rPr sz="12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开展市场信用管理和交易额度限制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的管理，收取售电公司履约保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函作为信用管理和交易额定限制。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06" name="path 2206"/>
          <p:cNvSpPr/>
          <p:nvPr/>
        </p:nvSpPr>
        <p:spPr>
          <a:xfrm>
            <a:off x="8414003" y="5690616"/>
            <a:ext cx="1984247" cy="789432"/>
          </a:xfrm>
          <a:custGeom>
            <a:avLst/>
            <a:gdLst/>
            <a:ahLst/>
            <a:cxnLst/>
            <a:rect l="0" t="0" r="0" b="0"/>
            <a:pathLst>
              <a:path w="3124" h="1243">
                <a:moveTo>
                  <a:pt x="0" y="1243"/>
                </a:moveTo>
                <a:lnTo>
                  <a:pt x="0" y="1238"/>
                </a:lnTo>
                <a:lnTo>
                  <a:pt x="3120" y="1238"/>
                </a:lnTo>
                <a:lnTo>
                  <a:pt x="3120" y="0"/>
                </a:lnTo>
                <a:lnTo>
                  <a:pt x="3124" y="0"/>
                </a:lnTo>
                <a:lnTo>
                  <a:pt x="3124" y="1243"/>
                </a:lnTo>
                <a:lnTo>
                  <a:pt x="0" y="1243"/>
                </a:lnTo>
                <a:close/>
              </a:path>
            </a:pathLst>
          </a:cu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08" name="textbox 2208"/>
          <p:cNvSpPr/>
          <p:nvPr/>
        </p:nvSpPr>
        <p:spPr>
          <a:xfrm>
            <a:off x="5442589" y="5635912"/>
            <a:ext cx="4744720" cy="687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</a:t>
            </a: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根据上一年统调电力电量历史数据确定年度分月电量比例；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50825" indent="-238125" algn="l" rtl="0" eaLnBrk="0">
              <a:lnSpc>
                <a:spcPct val="129000"/>
              </a:lnSpc>
              <a:spcBef>
                <a:spcPts val="141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</a:t>
            </a:r>
            <a:r>
              <a:rPr sz="12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月分日比例（M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）：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根据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上一年统调日电量历史数据确定工作日、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周六、周日、节假日四类典型日的电量比例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10" name="textbox 2210"/>
          <p:cNvSpPr/>
          <p:nvPr/>
        </p:nvSpPr>
        <p:spPr>
          <a:xfrm>
            <a:off x="537460" y="1050438"/>
            <a:ext cx="3869054" cy="424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3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中长期合约交易品种（广东）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12" name="picture 22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46192" y="2812541"/>
            <a:ext cx="2737864" cy="297180"/>
          </a:xfrm>
          <a:prstGeom prst="rect">
            <a:avLst/>
          </a:prstGeom>
        </p:spPr>
      </p:pic>
      <p:pic>
        <p:nvPicPr>
          <p:cNvPr id="2214" name="picture 22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20863" y="4232909"/>
            <a:ext cx="2682247" cy="302513"/>
          </a:xfrm>
          <a:prstGeom prst="rect">
            <a:avLst/>
          </a:prstGeom>
        </p:spPr>
      </p:pic>
      <p:pic>
        <p:nvPicPr>
          <p:cNvPr id="2216" name="picture 22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46192" y="3553205"/>
            <a:ext cx="2745485" cy="272034"/>
          </a:xfrm>
          <a:prstGeom prst="rect">
            <a:avLst/>
          </a:prstGeom>
        </p:spPr>
      </p:pic>
      <p:sp>
        <p:nvSpPr>
          <p:cNvPr id="2218" name="textbox 2218"/>
          <p:cNvSpPr/>
          <p:nvPr/>
        </p:nvSpPr>
        <p:spPr>
          <a:xfrm>
            <a:off x="1950426" y="2008778"/>
            <a:ext cx="1263014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中长期合约市场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20" name="textbox 2220"/>
          <p:cNvSpPr/>
          <p:nvPr/>
        </p:nvSpPr>
        <p:spPr>
          <a:xfrm>
            <a:off x="7479133" y="2015764"/>
            <a:ext cx="731519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常用曲线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22" name="picture 22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2224" name="path 2224"/>
          <p:cNvSpPr/>
          <p:nvPr/>
        </p:nvSpPr>
        <p:spPr>
          <a:xfrm>
            <a:off x="313943" y="6471666"/>
            <a:ext cx="2225801" cy="13716"/>
          </a:xfrm>
          <a:custGeom>
            <a:avLst/>
            <a:gdLst/>
            <a:ahLst/>
            <a:cxnLst/>
            <a:rect l="0" t="0" r="0" b="0"/>
            <a:pathLst>
              <a:path w="3505" h="21">
                <a:moveTo>
                  <a:pt x="4" y="8"/>
                </a:moveTo>
                <a:lnTo>
                  <a:pt x="3496" y="8"/>
                </a:lnTo>
                <a:lnTo>
                  <a:pt x="3496" y="13"/>
                </a:lnTo>
                <a:lnTo>
                  <a:pt x="0" y="13"/>
                </a:lnTo>
              </a:path>
            </a:pathLst>
          </a:custGeom>
          <a:noFill/>
          <a:ln w="10668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6" name="path 2226"/>
          <p:cNvSpPr/>
          <p:nvPr/>
        </p:nvSpPr>
        <p:spPr>
          <a:xfrm>
            <a:off x="8408669" y="6471666"/>
            <a:ext cx="1989581" cy="13716"/>
          </a:xfrm>
          <a:custGeom>
            <a:avLst/>
            <a:gdLst/>
            <a:ahLst/>
            <a:cxnLst/>
            <a:rect l="0" t="0" r="0" b="0"/>
            <a:pathLst>
              <a:path w="3133" h="21">
                <a:moveTo>
                  <a:pt x="8" y="13"/>
                </a:moveTo>
                <a:lnTo>
                  <a:pt x="8" y="8"/>
                </a:lnTo>
                <a:lnTo>
                  <a:pt x="3128" y="8"/>
                </a:lnTo>
                <a:moveTo>
                  <a:pt x="3133" y="13"/>
                </a:moveTo>
                <a:lnTo>
                  <a:pt x="8" y="13"/>
                </a:lnTo>
              </a:path>
            </a:pathLst>
          </a:custGeom>
          <a:noFill/>
          <a:ln w="10668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8" name="path 2228"/>
          <p:cNvSpPr/>
          <p:nvPr/>
        </p:nvSpPr>
        <p:spPr>
          <a:xfrm>
            <a:off x="308609" y="5685282"/>
            <a:ext cx="13716" cy="794766"/>
          </a:xfrm>
          <a:custGeom>
            <a:avLst/>
            <a:gdLst/>
            <a:ahLst/>
            <a:cxnLst/>
            <a:rect l="0" t="0" r="0" b="0"/>
            <a:pathLst>
              <a:path w="21" h="1251">
                <a:moveTo>
                  <a:pt x="8" y="8"/>
                </a:moveTo>
                <a:lnTo>
                  <a:pt x="13" y="8"/>
                </a:lnTo>
                <a:lnTo>
                  <a:pt x="13" y="1246"/>
                </a:lnTo>
                <a:moveTo>
                  <a:pt x="8" y="1251"/>
                </a:moveTo>
                <a:lnTo>
                  <a:pt x="8" y="8"/>
                </a:lnTo>
              </a:path>
            </a:pathLst>
          </a:custGeom>
          <a:noFill/>
          <a:ln w="10668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30" name="path 2230"/>
          <p:cNvSpPr/>
          <p:nvPr/>
        </p:nvSpPr>
        <p:spPr>
          <a:xfrm>
            <a:off x="10389870" y="5685282"/>
            <a:ext cx="13715" cy="794766"/>
          </a:xfrm>
          <a:custGeom>
            <a:avLst/>
            <a:gdLst/>
            <a:ahLst/>
            <a:cxnLst/>
            <a:rect l="0" t="0" r="0" b="0"/>
            <a:pathLst>
              <a:path w="21" h="1251">
                <a:moveTo>
                  <a:pt x="8" y="1246"/>
                </a:moveTo>
                <a:lnTo>
                  <a:pt x="8" y="8"/>
                </a:lnTo>
                <a:lnTo>
                  <a:pt x="13" y="8"/>
                </a:lnTo>
                <a:lnTo>
                  <a:pt x="13" y="1251"/>
                </a:lnTo>
              </a:path>
            </a:pathLst>
          </a:custGeom>
          <a:noFill/>
          <a:ln w="10668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textbox 2232"/>
          <p:cNvSpPr/>
          <p:nvPr/>
        </p:nvSpPr>
        <p:spPr>
          <a:xfrm>
            <a:off x="6315180" y="5070149"/>
            <a:ext cx="786765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51"/>
              </a:lnSpc>
              <a:tabLst/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买二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0.48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34" name="picture 22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9224" y="4325111"/>
            <a:ext cx="9415271" cy="2237232"/>
          </a:xfrm>
          <a:prstGeom prst="rect">
            <a:avLst/>
          </a:prstGeom>
        </p:spPr>
      </p:pic>
      <p:pic>
        <p:nvPicPr>
          <p:cNvPr id="2236" name="picture 22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32815" y="1952244"/>
            <a:ext cx="9622535" cy="1975103"/>
          </a:xfrm>
          <a:prstGeom prst="rect">
            <a:avLst/>
          </a:prstGeom>
        </p:spPr>
      </p:pic>
      <p:sp>
        <p:nvSpPr>
          <p:cNvPr id="2238" name="textbox 2238"/>
          <p:cNvSpPr/>
          <p:nvPr/>
        </p:nvSpPr>
        <p:spPr>
          <a:xfrm>
            <a:off x="3266303" y="2164184"/>
            <a:ext cx="5755640" cy="1601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2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年度竞价：次年年度市场合约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电量，发电企业只能为卖方，售电公司只能为买方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855"/>
              </a:spcBef>
              <a:tabLst/>
            </a:pP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月度竞价：后续1至12个月的分月市场合约电量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854"/>
              </a:spcBef>
              <a:tabLst/>
            </a:pPr>
            <a:r>
              <a:rPr sz="12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周竞价：后续1至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4周的分周市场合约电量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94000"/>
              </a:lnSpc>
              <a:spcBef>
                <a:spcPts val="855"/>
              </a:spcBef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申报价格上限：</a:t>
            </a:r>
            <a:r>
              <a:rPr sz="1200" b="1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申报价格上限=上一交易日综合价（或首日指导价）</a:t>
            </a:r>
            <a:r>
              <a:rPr sz="1200" b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×（1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+U%）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854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申报价格下限：</a:t>
            </a:r>
            <a:r>
              <a:rPr sz="1200" b="1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申报价格下限=上一交易日综合价（或首日指导价）</a:t>
            </a:r>
            <a:r>
              <a:rPr sz="1200" b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×（1-U%）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综合价格=总交易金额÷总交易电量，</a:t>
            </a:r>
            <a:r>
              <a:rPr sz="12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即该标的全天量价的加权平均值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40" name="textbox 2240"/>
          <p:cNvSpPr/>
          <p:nvPr/>
        </p:nvSpPr>
        <p:spPr>
          <a:xfrm>
            <a:off x="537460" y="1050438"/>
            <a:ext cx="4469129" cy="424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3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中长期合约竞价交易规则（广东）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42" name="textbox 2242"/>
          <p:cNvSpPr/>
          <p:nvPr/>
        </p:nvSpPr>
        <p:spPr>
          <a:xfrm>
            <a:off x="4780827" y="5198502"/>
            <a:ext cx="956310" cy="739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未成交申报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统一出清价格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44" name="textbox 2244"/>
          <p:cNvSpPr/>
          <p:nvPr/>
        </p:nvSpPr>
        <p:spPr>
          <a:xfrm>
            <a:off x="1027917" y="5041681"/>
            <a:ext cx="644525" cy="981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买方申报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卖方申报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46" name="textbox 2246"/>
          <p:cNvSpPr/>
          <p:nvPr/>
        </p:nvSpPr>
        <p:spPr>
          <a:xfrm>
            <a:off x="7405945" y="5265378"/>
            <a:ext cx="955675" cy="560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5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96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前一笔成交价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买一价格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269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卖一价格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48" name="textbox 2248"/>
          <p:cNvSpPr/>
          <p:nvPr/>
        </p:nvSpPr>
        <p:spPr>
          <a:xfrm>
            <a:off x="1889507" y="5186700"/>
            <a:ext cx="612140" cy="694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tabLst/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报量、报价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报量、报价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50" name="textbox 2250"/>
          <p:cNvSpPr/>
          <p:nvPr/>
        </p:nvSpPr>
        <p:spPr>
          <a:xfrm>
            <a:off x="8781441" y="5343919"/>
            <a:ext cx="1111885" cy="367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40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indent="-6350" algn="l" rtl="0" eaLnBrk="0">
              <a:lnSpc>
                <a:spcPct val="96000"/>
              </a:lnSpc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大小排序，</a:t>
            </a:r>
            <a:r>
              <a:rPr sz="1200" b="1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中间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的为成交价格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52" name="path 2252"/>
          <p:cNvSpPr/>
          <p:nvPr/>
        </p:nvSpPr>
        <p:spPr>
          <a:xfrm>
            <a:off x="1205484" y="3038855"/>
            <a:ext cx="922019" cy="376428"/>
          </a:xfrm>
          <a:custGeom>
            <a:avLst/>
            <a:gdLst/>
            <a:ahLst/>
            <a:cxnLst/>
            <a:rect l="0" t="0" r="0" b="0"/>
            <a:pathLst>
              <a:path w="1451" h="592">
                <a:moveTo>
                  <a:pt x="0" y="0"/>
                </a:moveTo>
                <a:lnTo>
                  <a:pt x="0" y="592"/>
                </a:lnTo>
                <a:lnTo>
                  <a:pt x="1451" y="592"/>
                </a:lnTo>
                <a:lnTo>
                  <a:pt x="1451" y="0"/>
                </a:lnTo>
                <a:lnTo>
                  <a:pt x="0" y="0"/>
                </a:lnTo>
                <a:close/>
                <a:moveTo>
                  <a:pt x="1322" y="527"/>
                </a:moveTo>
                <a:lnTo>
                  <a:pt x="129" y="527"/>
                </a:lnTo>
                <a:lnTo>
                  <a:pt x="129" y="62"/>
                </a:lnTo>
                <a:lnTo>
                  <a:pt x="1322" y="62"/>
                </a:lnTo>
                <a:lnTo>
                  <a:pt x="1322" y="527"/>
                </a:lnTo>
                <a:close/>
              </a:path>
              <a:path w="1451" h="592">
                <a:moveTo>
                  <a:pt x="249" y="403"/>
                </a:moveTo>
                <a:cubicBezTo>
                  <a:pt x="273" y="412"/>
                  <a:pt x="309" y="410"/>
                  <a:pt x="333" y="396"/>
                </a:cubicBezTo>
                <a:cubicBezTo>
                  <a:pt x="333" y="396"/>
                  <a:pt x="333" y="396"/>
                  <a:pt x="333" y="396"/>
                </a:cubicBezTo>
                <a:cubicBezTo>
                  <a:pt x="393" y="355"/>
                  <a:pt x="393" y="355"/>
                  <a:pt x="393" y="355"/>
                </a:cubicBezTo>
                <a:cubicBezTo>
                  <a:pt x="487" y="429"/>
                  <a:pt x="487" y="429"/>
                  <a:pt x="487" y="429"/>
                </a:cubicBezTo>
                <a:cubicBezTo>
                  <a:pt x="501" y="439"/>
                  <a:pt x="523" y="444"/>
                  <a:pt x="547" y="441"/>
                </a:cubicBezTo>
                <a:cubicBezTo>
                  <a:pt x="566" y="441"/>
                  <a:pt x="585" y="432"/>
                  <a:pt x="590" y="42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818" y="465"/>
                  <a:pt x="818" y="465"/>
                  <a:pt x="818" y="465"/>
                </a:cubicBezTo>
                <a:cubicBezTo>
                  <a:pt x="825" y="477"/>
                  <a:pt x="849" y="484"/>
                  <a:pt x="873" y="484"/>
                </a:cubicBezTo>
                <a:cubicBezTo>
                  <a:pt x="873" y="484"/>
                  <a:pt x="873" y="484"/>
                  <a:pt x="873" y="484"/>
                </a:cubicBezTo>
                <a:cubicBezTo>
                  <a:pt x="897" y="484"/>
                  <a:pt x="923" y="475"/>
                  <a:pt x="928" y="463"/>
                </a:cubicBezTo>
                <a:cubicBezTo>
                  <a:pt x="1058" y="225"/>
                  <a:pt x="1058" y="225"/>
                  <a:pt x="1058" y="225"/>
                </a:cubicBezTo>
                <a:cubicBezTo>
                  <a:pt x="1111" y="290"/>
                  <a:pt x="1111" y="290"/>
                  <a:pt x="1111" y="290"/>
                </a:cubicBezTo>
                <a:cubicBezTo>
                  <a:pt x="1125" y="304"/>
                  <a:pt x="1161" y="312"/>
                  <a:pt x="1190" y="302"/>
                </a:cubicBezTo>
                <a:cubicBezTo>
                  <a:pt x="1221" y="295"/>
                  <a:pt x="1231" y="276"/>
                  <a:pt x="1216" y="259"/>
                </a:cubicBezTo>
                <a:cubicBezTo>
                  <a:pt x="1096" y="117"/>
                  <a:pt x="1096" y="117"/>
                  <a:pt x="1096" y="117"/>
                </a:cubicBezTo>
                <a:cubicBezTo>
                  <a:pt x="1087" y="107"/>
                  <a:pt x="1063" y="98"/>
                  <a:pt x="1036" y="100"/>
                </a:cubicBezTo>
                <a:cubicBezTo>
                  <a:pt x="1012" y="100"/>
                  <a:pt x="993" y="110"/>
                  <a:pt x="983" y="124"/>
                </a:cubicBezTo>
                <a:cubicBezTo>
                  <a:pt x="863" y="355"/>
                  <a:pt x="863" y="355"/>
                  <a:pt x="863" y="355"/>
                </a:cubicBezTo>
                <a:cubicBezTo>
                  <a:pt x="734" y="189"/>
                  <a:pt x="734" y="189"/>
                  <a:pt x="734" y="189"/>
                </a:cubicBezTo>
                <a:cubicBezTo>
                  <a:pt x="724" y="180"/>
                  <a:pt x="705" y="170"/>
                  <a:pt x="681" y="170"/>
                </a:cubicBezTo>
                <a:cubicBezTo>
                  <a:pt x="655" y="170"/>
                  <a:pt x="635" y="180"/>
                  <a:pt x="626" y="189"/>
                </a:cubicBezTo>
                <a:cubicBezTo>
                  <a:pt x="523" y="340"/>
                  <a:pt x="523" y="340"/>
                  <a:pt x="523" y="340"/>
                </a:cubicBezTo>
                <a:cubicBezTo>
                  <a:pt x="443" y="280"/>
                  <a:pt x="443" y="280"/>
                  <a:pt x="443" y="280"/>
                </a:cubicBezTo>
                <a:cubicBezTo>
                  <a:pt x="431" y="273"/>
                  <a:pt x="412" y="271"/>
                  <a:pt x="398" y="271"/>
                </a:cubicBezTo>
                <a:cubicBezTo>
                  <a:pt x="379" y="266"/>
                  <a:pt x="357" y="273"/>
                  <a:pt x="347" y="280"/>
                </a:cubicBezTo>
                <a:cubicBezTo>
                  <a:pt x="239" y="355"/>
                  <a:pt x="239" y="355"/>
                  <a:pt x="239" y="355"/>
                </a:cubicBezTo>
                <a:cubicBezTo>
                  <a:pt x="220" y="369"/>
                  <a:pt x="225" y="391"/>
                  <a:pt x="249" y="403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54" name="textbox 2254"/>
          <p:cNvSpPr/>
          <p:nvPr/>
        </p:nvSpPr>
        <p:spPr>
          <a:xfrm>
            <a:off x="6313575" y="5283556"/>
            <a:ext cx="788669" cy="474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05000"/>
              </a:lnSpc>
              <a:tabLst/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买一</a:t>
            </a: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0.49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卖一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0.47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56" name="textbox 2256"/>
          <p:cNvSpPr/>
          <p:nvPr/>
        </p:nvSpPr>
        <p:spPr>
          <a:xfrm>
            <a:off x="1123248" y="2530761"/>
            <a:ext cx="1081405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0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常用曲线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58" name="textbox 2258"/>
          <p:cNvSpPr/>
          <p:nvPr/>
        </p:nvSpPr>
        <p:spPr>
          <a:xfrm>
            <a:off x="6313575" y="5925113"/>
            <a:ext cx="788669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51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卖三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0.53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60" name="textbox 2260"/>
          <p:cNvSpPr/>
          <p:nvPr/>
        </p:nvSpPr>
        <p:spPr>
          <a:xfrm>
            <a:off x="6313575" y="5710227"/>
            <a:ext cx="788669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51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卖二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0.50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62" name="textbox 2262"/>
          <p:cNvSpPr/>
          <p:nvPr/>
        </p:nvSpPr>
        <p:spPr>
          <a:xfrm>
            <a:off x="6315180" y="4855274"/>
            <a:ext cx="786765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51"/>
              </a:lnSpc>
              <a:tabLst/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买三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0.47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64" name="textbox 2264"/>
          <p:cNvSpPr/>
          <p:nvPr/>
        </p:nvSpPr>
        <p:spPr>
          <a:xfrm>
            <a:off x="7580849" y="4393469"/>
            <a:ext cx="73660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连续竞价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66" name="textbox 2266"/>
          <p:cNvSpPr/>
          <p:nvPr/>
        </p:nvSpPr>
        <p:spPr>
          <a:xfrm>
            <a:off x="2125735" y="4425509"/>
            <a:ext cx="737234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集合竞价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68" name="textbox 2268"/>
          <p:cNvSpPr/>
          <p:nvPr/>
        </p:nvSpPr>
        <p:spPr>
          <a:xfrm>
            <a:off x="8984197" y="4312864"/>
            <a:ext cx="645159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连续申报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70" name="textbox 2270"/>
          <p:cNvSpPr/>
          <p:nvPr/>
        </p:nvSpPr>
        <p:spPr>
          <a:xfrm>
            <a:off x="3570718" y="5403516"/>
            <a:ext cx="645794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统一出清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72" name="textbox 2272"/>
          <p:cNvSpPr/>
          <p:nvPr/>
        </p:nvSpPr>
        <p:spPr>
          <a:xfrm>
            <a:off x="3120418" y="6288131"/>
            <a:ext cx="559434" cy="159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关闸时间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74" name="picture 22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rect 2276"/>
          <p:cNvSpPr/>
          <p:nvPr/>
        </p:nvSpPr>
        <p:spPr>
          <a:xfrm>
            <a:off x="4675631" y="1946147"/>
            <a:ext cx="5394959" cy="4704588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78" name="rect 2278"/>
          <p:cNvSpPr/>
          <p:nvPr/>
        </p:nvSpPr>
        <p:spPr>
          <a:xfrm>
            <a:off x="6470903" y="1720595"/>
            <a:ext cx="1930907" cy="556260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280" name="table 2280"/>
          <p:cNvGraphicFramePr>
            <a:graphicFrameLocks noGrp="1"/>
          </p:cNvGraphicFramePr>
          <p:nvPr/>
        </p:nvGraphicFramePr>
        <p:xfrm>
          <a:off x="4670297" y="1918585"/>
          <a:ext cx="5405119" cy="4737100"/>
        </p:xfrm>
        <a:graphic>
          <a:graphicData uri="http://schemas.openxmlformats.org/drawingml/2006/table">
            <a:tbl>
              <a:tblPr/>
              <a:tblGrid>
                <a:gridCol w="5405119"/>
              </a:tblGrid>
              <a:tr h="4727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9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109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规则要点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1615" algn="l" rtl="0" eaLnBrk="0">
                        <a:lnSpc>
                          <a:spcPct val="98000"/>
                        </a:lnSpc>
                        <a:spcBef>
                          <a:spcPts val="455"/>
                        </a:spcBef>
                        <a:tabLst/>
                      </a:pP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交易D+2和D+3日的分时合约电量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21615" algn="l" rtl="0" eaLnBrk="0">
                        <a:lnSpc>
                          <a:spcPct val="98000"/>
                        </a:lnSpc>
                        <a:spcBef>
                          <a:spcPts val="1068"/>
                        </a:spcBef>
                        <a:tabLst/>
                      </a:pPr>
                      <a:r>
                        <a:rPr sz="1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1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价格上限1300 元/兆瓦</a:t>
                      </a:r>
                      <a:r>
                        <a:rPr sz="15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21615" algn="l" rtl="0" eaLnBrk="0">
                        <a:lnSpc>
                          <a:spcPts val="2089"/>
                        </a:lnSpc>
                        <a:spcBef>
                          <a:spcPts val="834"/>
                        </a:spcBef>
                        <a:tabLst/>
                      </a:pPr>
                      <a:r>
                        <a:rPr sz="15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5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下限-80 元/兆瓦时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21615" algn="l" rtl="0" eaLnBrk="0">
                        <a:lnSpc>
                          <a:spcPct val="98000"/>
                        </a:lnSpc>
                        <a:spcBef>
                          <a:spcPts val="1002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即时匹配撮合，</a:t>
                      </a:r>
                      <a:r>
                        <a:rPr sz="1500" b="1" kern="0" spc="-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买方价</a:t>
                      </a: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格＞卖方价格允许成交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21615" algn="l" rtl="0" eaLnBrk="0">
                        <a:lnSpc>
                          <a:spcPct val="98000"/>
                        </a:lnSpc>
                        <a:spcBef>
                          <a:spcPts val="1068"/>
                        </a:spcBef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买方由高到低成交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161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卖方由低到高成交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82" name="rect 2282"/>
          <p:cNvSpPr/>
          <p:nvPr/>
        </p:nvSpPr>
        <p:spPr>
          <a:xfrm>
            <a:off x="0" y="1915667"/>
            <a:ext cx="4130040" cy="4765547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284" name="table 2284"/>
          <p:cNvGraphicFramePr>
            <a:graphicFrameLocks noGrp="1"/>
          </p:cNvGraphicFramePr>
          <p:nvPr/>
        </p:nvGraphicFramePr>
        <p:xfrm>
          <a:off x="0" y="1909571"/>
          <a:ext cx="4135754" cy="4776470"/>
        </p:xfrm>
        <a:graphic>
          <a:graphicData uri="http://schemas.openxmlformats.org/drawingml/2006/table">
            <a:tbl>
              <a:tblPr/>
              <a:tblGrid>
                <a:gridCol w="1365250"/>
                <a:gridCol w="922020"/>
                <a:gridCol w="920114"/>
                <a:gridCol w="928370"/>
              </a:tblGrid>
              <a:tr h="196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01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交易代码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22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成交电量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75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最高成交价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93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最低成交价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D20220513H0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D20220513H0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D20220513H0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D20220513H0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D20220513H0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D20220513H0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D20220513H0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D20220513H0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380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380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D20220513H0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349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348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D20220513H1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310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310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D20220513H1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282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299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288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D20220513H1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156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299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260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D20220513H1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410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259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255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D20220513H1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260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D20220513H1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350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310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D20220513H1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374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340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190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D20220513H1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D20220513H1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ts val="42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D20220513H1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520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520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D20220513H2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ts val="42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D20220513H2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450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413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D20220513H2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1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49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1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49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430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1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49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415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D20220513H2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70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420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410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5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6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D20220513H2</a:t>
                      </a: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ts val="42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ts val="42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86" name="textbox 2286"/>
          <p:cNvSpPr/>
          <p:nvPr/>
        </p:nvSpPr>
        <p:spPr>
          <a:xfrm>
            <a:off x="526352" y="1050438"/>
            <a:ext cx="2979420" cy="424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连续撮合交易（山东）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88" name="picture 22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path 2290"/>
          <p:cNvSpPr/>
          <p:nvPr/>
        </p:nvSpPr>
        <p:spPr>
          <a:xfrm>
            <a:off x="720852" y="6062471"/>
            <a:ext cx="1714500" cy="6096"/>
          </a:xfrm>
          <a:custGeom>
            <a:avLst/>
            <a:gdLst/>
            <a:ahLst/>
            <a:cxnLst/>
            <a:rect l="0" t="0" r="0" b="0"/>
            <a:pathLst>
              <a:path w="2700" h="9">
                <a:moveTo>
                  <a:pt x="0" y="4"/>
                </a:moveTo>
                <a:lnTo>
                  <a:pt x="2700" y="4"/>
                </a:lnTo>
              </a:path>
            </a:pathLst>
          </a:custGeom>
          <a:noFill/>
          <a:ln w="6096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92" name="path 2292"/>
          <p:cNvSpPr/>
          <p:nvPr/>
        </p:nvSpPr>
        <p:spPr>
          <a:xfrm>
            <a:off x="2795012" y="5763767"/>
            <a:ext cx="7531615" cy="35051"/>
          </a:xfrm>
          <a:custGeom>
            <a:avLst/>
            <a:gdLst/>
            <a:ahLst/>
            <a:cxnLst/>
            <a:rect l="0" t="0" r="0" b="0"/>
            <a:pathLst>
              <a:path w="11860" h="55">
                <a:moveTo>
                  <a:pt x="0" y="28"/>
                </a:moveTo>
                <a:lnTo>
                  <a:pt x="11860" y="26"/>
                </a:lnTo>
              </a:path>
            </a:pathLst>
          </a:custGeom>
          <a:noFill/>
          <a:ln w="33527" cap="flat">
            <a:solidFill>
              <a:srgbClr val="003C84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94" name="path 2294"/>
          <p:cNvSpPr/>
          <p:nvPr/>
        </p:nvSpPr>
        <p:spPr>
          <a:xfrm>
            <a:off x="2674616" y="4892039"/>
            <a:ext cx="7652011" cy="35053"/>
          </a:xfrm>
          <a:custGeom>
            <a:avLst/>
            <a:gdLst/>
            <a:ahLst/>
            <a:cxnLst/>
            <a:rect l="0" t="0" r="0" b="0"/>
            <a:pathLst>
              <a:path w="12050" h="55">
                <a:moveTo>
                  <a:pt x="0" y="28"/>
                </a:moveTo>
                <a:lnTo>
                  <a:pt x="12050" y="26"/>
                </a:lnTo>
              </a:path>
            </a:pathLst>
          </a:custGeom>
          <a:noFill/>
          <a:ln w="33527" cap="flat">
            <a:solidFill>
              <a:srgbClr val="003C84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96" name="picture 22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5552" y="2418588"/>
            <a:ext cx="2647187" cy="3649979"/>
          </a:xfrm>
          <a:prstGeom prst="rect">
            <a:avLst/>
          </a:prstGeom>
        </p:spPr>
      </p:pic>
      <p:sp>
        <p:nvSpPr>
          <p:cNvPr id="2298" name="textbox 2298"/>
          <p:cNvSpPr/>
          <p:nvPr/>
        </p:nvSpPr>
        <p:spPr>
          <a:xfrm>
            <a:off x="3545946" y="5187719"/>
            <a:ext cx="6353175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2"/>
              </a:spcBef>
              <a:tabLst>
                <a:tab pos="128904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合约起始日的前3个工作日前完成提交确认（一</a:t>
            </a: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方上报，</a:t>
            </a:r>
            <a:r>
              <a:rPr sz="15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另一方确认）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00" name="picture 23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58646" y="5232606"/>
            <a:ext cx="116475" cy="222893"/>
          </a:xfrm>
          <a:prstGeom prst="rect">
            <a:avLst/>
          </a:prstGeom>
        </p:spPr>
      </p:pic>
      <p:sp>
        <p:nvSpPr>
          <p:cNvPr id="2302" name="textbox 2302"/>
          <p:cNvSpPr/>
          <p:nvPr/>
        </p:nvSpPr>
        <p:spPr>
          <a:xfrm>
            <a:off x="537460" y="1114052"/>
            <a:ext cx="3309620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中长期合约双边交易规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则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04" name="textbox 2304"/>
          <p:cNvSpPr/>
          <p:nvPr/>
        </p:nvSpPr>
        <p:spPr>
          <a:xfrm>
            <a:off x="3545946" y="4372507"/>
            <a:ext cx="4070984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>
                <a:tab pos="128904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合约电量不得超过交易双方的交易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电量约束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06" name="picture 23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58646" y="4385207"/>
            <a:ext cx="116475" cy="222893"/>
          </a:xfrm>
          <a:prstGeom prst="rect">
            <a:avLst/>
          </a:prstGeom>
        </p:spPr>
      </p:pic>
      <p:sp>
        <p:nvSpPr>
          <p:cNvPr id="2308" name="textbox 2308"/>
          <p:cNvSpPr/>
          <p:nvPr/>
        </p:nvSpPr>
        <p:spPr>
          <a:xfrm>
            <a:off x="3545946" y="2816503"/>
            <a:ext cx="367030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>
                <a:tab pos="128904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每周开展，</a:t>
            </a:r>
            <a:r>
              <a:rPr sz="1500" b="1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以周为最小单元的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合约电量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10" name="picture 23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558646" y="2829203"/>
            <a:ext cx="116475" cy="222893"/>
          </a:xfrm>
          <a:prstGeom prst="rect">
            <a:avLst/>
          </a:prstGeom>
        </p:spPr>
      </p:pic>
      <p:sp>
        <p:nvSpPr>
          <p:cNvPr id="2312" name="textbox 2312"/>
          <p:cNvSpPr/>
          <p:nvPr/>
        </p:nvSpPr>
        <p:spPr>
          <a:xfrm>
            <a:off x="345439" y="4231377"/>
            <a:ext cx="2063114" cy="397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5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ct val="87000"/>
              </a:lnSpc>
              <a:tabLst>
                <a:tab pos="304165" algn="l"/>
              </a:tabLst>
            </a:pPr>
            <a:r>
              <a:rPr sz="2800" b="1" kern="0" spc="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800" b="1" kern="0" spc="-6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自定义曲线</a:t>
            </a:r>
            <a:endParaRPr sz="2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14" name="picture 23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58139" y="4293108"/>
            <a:ext cx="103632" cy="277367"/>
          </a:xfrm>
          <a:prstGeom prst="rect">
            <a:avLst/>
          </a:prstGeom>
        </p:spPr>
      </p:pic>
      <p:sp>
        <p:nvSpPr>
          <p:cNvPr id="2316" name="textbox 2316"/>
          <p:cNvSpPr/>
          <p:nvPr/>
        </p:nvSpPr>
        <p:spPr>
          <a:xfrm>
            <a:off x="3545946" y="3625790"/>
            <a:ext cx="2668904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>
                <a:tab pos="128904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合同价格满足最小变动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价位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18" name="picture 23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58646" y="3638490"/>
            <a:ext cx="116475" cy="222893"/>
          </a:xfrm>
          <a:prstGeom prst="rect">
            <a:avLst/>
          </a:prstGeom>
        </p:spPr>
      </p:pic>
      <p:sp>
        <p:nvSpPr>
          <p:cNvPr id="2320" name="path 2320"/>
          <p:cNvSpPr/>
          <p:nvPr/>
        </p:nvSpPr>
        <p:spPr>
          <a:xfrm>
            <a:off x="1229867" y="3561588"/>
            <a:ext cx="760476" cy="481584"/>
          </a:xfrm>
          <a:custGeom>
            <a:avLst/>
            <a:gdLst/>
            <a:ahLst/>
            <a:cxnLst/>
            <a:rect l="0" t="0" r="0" b="0"/>
            <a:pathLst>
              <a:path w="1197" h="758">
                <a:moveTo>
                  <a:pt x="1080" y="0"/>
                </a:moveTo>
                <a:cubicBezTo>
                  <a:pt x="1017" y="0"/>
                  <a:pt x="964" y="43"/>
                  <a:pt x="964" y="100"/>
                </a:cubicBezTo>
                <a:cubicBezTo>
                  <a:pt x="964" y="122"/>
                  <a:pt x="976" y="148"/>
                  <a:pt x="993" y="165"/>
                </a:cubicBezTo>
                <a:cubicBezTo>
                  <a:pt x="794" y="422"/>
                  <a:pt x="794" y="422"/>
                  <a:pt x="794" y="422"/>
                </a:cubicBezTo>
                <a:cubicBezTo>
                  <a:pt x="780" y="420"/>
                  <a:pt x="772" y="420"/>
                  <a:pt x="760" y="420"/>
                </a:cubicBezTo>
                <a:cubicBezTo>
                  <a:pt x="739" y="420"/>
                  <a:pt x="722" y="422"/>
                  <a:pt x="705" y="429"/>
                </a:cubicBezTo>
                <a:cubicBezTo>
                  <a:pt x="540" y="285"/>
                  <a:pt x="540" y="285"/>
                  <a:pt x="540" y="285"/>
                </a:cubicBezTo>
                <a:cubicBezTo>
                  <a:pt x="547" y="273"/>
                  <a:pt x="551" y="256"/>
                  <a:pt x="551" y="242"/>
                </a:cubicBezTo>
                <a:cubicBezTo>
                  <a:pt x="551" y="184"/>
                  <a:pt x="501" y="141"/>
                  <a:pt x="436" y="141"/>
                </a:cubicBezTo>
                <a:cubicBezTo>
                  <a:pt x="374" y="141"/>
                  <a:pt x="323" y="184"/>
                  <a:pt x="323" y="242"/>
                </a:cubicBezTo>
                <a:cubicBezTo>
                  <a:pt x="323" y="264"/>
                  <a:pt x="331" y="285"/>
                  <a:pt x="348" y="302"/>
                </a:cubicBezTo>
                <a:cubicBezTo>
                  <a:pt x="148" y="564"/>
                  <a:pt x="148" y="564"/>
                  <a:pt x="148" y="564"/>
                </a:cubicBezTo>
                <a:cubicBezTo>
                  <a:pt x="141" y="559"/>
                  <a:pt x="127" y="559"/>
                  <a:pt x="115" y="559"/>
                </a:cubicBezTo>
                <a:cubicBezTo>
                  <a:pt x="52" y="559"/>
                  <a:pt x="0" y="602"/>
                  <a:pt x="0" y="660"/>
                </a:cubicBezTo>
                <a:cubicBezTo>
                  <a:pt x="0" y="715"/>
                  <a:pt x="52" y="758"/>
                  <a:pt x="115" y="758"/>
                </a:cubicBezTo>
                <a:cubicBezTo>
                  <a:pt x="177" y="758"/>
                  <a:pt x="232" y="715"/>
                  <a:pt x="232" y="660"/>
                </a:cubicBezTo>
                <a:cubicBezTo>
                  <a:pt x="232" y="636"/>
                  <a:pt x="223" y="614"/>
                  <a:pt x="206" y="600"/>
                </a:cubicBezTo>
                <a:cubicBezTo>
                  <a:pt x="408" y="338"/>
                  <a:pt x="408" y="338"/>
                  <a:pt x="408" y="338"/>
                </a:cubicBezTo>
                <a:cubicBezTo>
                  <a:pt x="415" y="338"/>
                  <a:pt x="427" y="343"/>
                  <a:pt x="436" y="343"/>
                </a:cubicBezTo>
                <a:cubicBezTo>
                  <a:pt x="456" y="343"/>
                  <a:pt x="472" y="335"/>
                  <a:pt x="489" y="331"/>
                </a:cubicBezTo>
                <a:cubicBezTo>
                  <a:pt x="655" y="477"/>
                  <a:pt x="655" y="477"/>
                  <a:pt x="655" y="477"/>
                </a:cubicBezTo>
                <a:cubicBezTo>
                  <a:pt x="647" y="487"/>
                  <a:pt x="643" y="506"/>
                  <a:pt x="643" y="520"/>
                </a:cubicBezTo>
                <a:cubicBezTo>
                  <a:pt x="643" y="573"/>
                  <a:pt x="693" y="621"/>
                  <a:pt x="760" y="621"/>
                </a:cubicBezTo>
                <a:cubicBezTo>
                  <a:pt x="823" y="621"/>
                  <a:pt x="876" y="573"/>
                  <a:pt x="876" y="520"/>
                </a:cubicBezTo>
                <a:cubicBezTo>
                  <a:pt x="876" y="499"/>
                  <a:pt x="868" y="477"/>
                  <a:pt x="852" y="458"/>
                </a:cubicBezTo>
                <a:cubicBezTo>
                  <a:pt x="1051" y="199"/>
                  <a:pt x="1051" y="199"/>
                  <a:pt x="1051" y="199"/>
                </a:cubicBezTo>
                <a:cubicBezTo>
                  <a:pt x="1058" y="199"/>
                  <a:pt x="1072" y="201"/>
                  <a:pt x="1080" y="201"/>
                </a:cubicBezTo>
                <a:cubicBezTo>
                  <a:pt x="1147" y="201"/>
                  <a:pt x="1197" y="155"/>
                  <a:pt x="1197" y="100"/>
                </a:cubicBezTo>
                <a:cubicBezTo>
                  <a:pt x="1197" y="43"/>
                  <a:pt x="1147" y="0"/>
                  <a:pt x="1080" y="0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22" name="path 2322"/>
          <p:cNvSpPr/>
          <p:nvPr/>
        </p:nvSpPr>
        <p:spPr>
          <a:xfrm>
            <a:off x="2854448" y="3238500"/>
            <a:ext cx="7543806" cy="35052"/>
          </a:xfrm>
          <a:custGeom>
            <a:avLst/>
            <a:gdLst/>
            <a:ahLst/>
            <a:cxnLst/>
            <a:rect l="0" t="0" r="0" b="0"/>
            <a:pathLst>
              <a:path w="11880" h="55">
                <a:moveTo>
                  <a:pt x="0" y="28"/>
                </a:moveTo>
                <a:lnTo>
                  <a:pt x="11880" y="26"/>
                </a:lnTo>
              </a:path>
            </a:pathLst>
          </a:custGeom>
          <a:noFill/>
          <a:ln w="33527" cap="flat">
            <a:solidFill>
              <a:srgbClr val="003C84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24" name="path 2324"/>
          <p:cNvSpPr/>
          <p:nvPr/>
        </p:nvSpPr>
        <p:spPr>
          <a:xfrm>
            <a:off x="2854451" y="4087367"/>
            <a:ext cx="7491983" cy="33528"/>
          </a:xfrm>
          <a:custGeom>
            <a:avLst/>
            <a:gdLst/>
            <a:ahLst/>
            <a:cxnLst/>
            <a:rect l="0" t="0" r="0" b="0"/>
            <a:pathLst>
              <a:path w="11798" h="52">
                <a:moveTo>
                  <a:pt x="0" y="26"/>
                </a:moveTo>
                <a:lnTo>
                  <a:pt x="11798" y="26"/>
                </a:lnTo>
              </a:path>
            </a:pathLst>
          </a:custGeom>
          <a:noFill/>
          <a:ln w="33527" cap="flat">
            <a:solidFill>
              <a:srgbClr val="003C84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26" name="table 2326"/>
          <p:cNvGraphicFramePr>
            <a:graphicFrameLocks noGrp="1"/>
          </p:cNvGraphicFramePr>
          <p:nvPr/>
        </p:nvGraphicFramePr>
        <p:xfrm>
          <a:off x="3623309" y="1783841"/>
          <a:ext cx="6958330" cy="4672329"/>
        </p:xfrm>
        <a:graphic>
          <a:graphicData uri="http://schemas.openxmlformats.org/drawingml/2006/table">
            <a:tbl>
              <a:tblPr/>
              <a:tblGrid>
                <a:gridCol w="6958330"/>
              </a:tblGrid>
              <a:tr h="46564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2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8980" algn="l" rtl="0" eaLnBrk="0">
                        <a:lnSpc>
                          <a:spcPct val="88000"/>
                        </a:lnSpc>
                        <a:tabLst>
                          <a:tab pos="892175" algn="l"/>
                        </a:tabLst>
                      </a:pPr>
                      <a:r>
                        <a:rPr sz="2000" b="1" kern="0" spc="0" dirty="0">
                          <a:solidFill>
                            <a:srgbClr val="FDA10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50" dirty="0">
                          <a:solidFill>
                            <a:srgbClr val="FDA10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自定义曲线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3259" algn="l" rtl="0" eaLnBrk="0">
                        <a:lnSpc>
                          <a:spcPct val="98000"/>
                        </a:lnSpc>
                        <a:spcBef>
                          <a:spcPts val="461"/>
                        </a:spcBef>
                        <a:tabLst/>
                      </a:pPr>
                      <a:r>
                        <a:rPr sz="15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 挂牌信息包括：合约周期、交易电量、交易价格、分解曲线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0" algn="l" rtl="0" eaLnBrk="0">
                        <a:lnSpc>
                          <a:spcPct val="98000"/>
                        </a:lnSpc>
                        <a:spcBef>
                          <a:spcPts val="457"/>
                        </a:spcBef>
                        <a:tabLst/>
                      </a:pPr>
                      <a:r>
                        <a:rPr sz="15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 挂牌方主体不得在已挂牌合约周期内参加相同曲线摘牌交易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90550" algn="l" rtl="0" eaLnBrk="0">
                        <a:lnSpc>
                          <a:spcPct val="101000"/>
                        </a:lnSpc>
                        <a:spcBef>
                          <a:spcPts val="58"/>
                        </a:spcBef>
                        <a:tabLst>
                          <a:tab pos="5888990" algn="l"/>
                        </a:tabLst>
                      </a:pPr>
                      <a:r>
                        <a:rPr sz="1000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uFill>
                            <a:solidFill>
                              <a:srgbClr val="181717"/>
                            </a:solidFill>
                          </a:u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328" name="picture 23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282440" y="2171700"/>
            <a:ext cx="70103" cy="205740"/>
          </a:xfrm>
          <a:prstGeom prst="rect">
            <a:avLst/>
          </a:prstGeom>
        </p:spPr>
      </p:pic>
      <p:pic>
        <p:nvPicPr>
          <p:cNvPr id="2330" name="picture 23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155" y="1941576"/>
            <a:ext cx="3441191" cy="4509516"/>
          </a:xfrm>
          <a:prstGeom prst="rect">
            <a:avLst/>
          </a:prstGeom>
        </p:spPr>
      </p:pic>
      <p:graphicFrame>
        <p:nvGraphicFramePr>
          <p:cNvPr id="2332" name="table 2332"/>
          <p:cNvGraphicFramePr>
            <a:graphicFrameLocks noGrp="1"/>
          </p:cNvGraphicFramePr>
          <p:nvPr/>
        </p:nvGraphicFramePr>
        <p:xfrm>
          <a:off x="4191000" y="2700527"/>
          <a:ext cx="5321300" cy="1757045"/>
        </p:xfrm>
        <a:graphic>
          <a:graphicData uri="http://schemas.openxmlformats.org/drawingml/2006/table">
            <a:tbl>
              <a:tblPr/>
              <a:tblGrid>
                <a:gridCol w="5321300"/>
              </a:tblGrid>
              <a:tr h="5867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7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57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5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 每周开展，</a:t>
                      </a:r>
                      <a:r>
                        <a:rPr sz="1500" b="1" kern="0" spc="-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以周为最小单元的</a:t>
                      </a:r>
                      <a:r>
                        <a:rPr sz="15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合约电量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18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8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0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57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5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 发用两侧可同时作为挂牌方和</a:t>
                      </a:r>
                      <a:r>
                        <a:rPr sz="15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摘牌方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18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8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57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5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 挂牌采用匿名机制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18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8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34" name="table 2334"/>
          <p:cNvGraphicFramePr>
            <a:graphicFrameLocks noGrp="1"/>
          </p:cNvGraphicFramePr>
          <p:nvPr/>
        </p:nvGraphicFramePr>
        <p:xfrm>
          <a:off x="793242" y="1742694"/>
          <a:ext cx="1856104" cy="4602479"/>
        </p:xfrm>
        <a:graphic>
          <a:graphicData uri="http://schemas.openxmlformats.org/drawingml/2006/table">
            <a:tbl>
              <a:tblPr/>
              <a:tblGrid>
                <a:gridCol w="1856104"/>
              </a:tblGrid>
              <a:tr h="45548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336" name="picture 23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6676" y="1787652"/>
            <a:ext cx="1769363" cy="4514087"/>
          </a:xfrm>
          <a:prstGeom prst="rect">
            <a:avLst/>
          </a:prstGeom>
        </p:spPr>
      </p:pic>
      <p:pic>
        <p:nvPicPr>
          <p:cNvPr id="2338" name="picture 23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049267" y="5999988"/>
            <a:ext cx="6371842" cy="368807"/>
          </a:xfrm>
          <a:prstGeom prst="rect">
            <a:avLst/>
          </a:prstGeom>
        </p:spPr>
      </p:pic>
      <p:sp>
        <p:nvSpPr>
          <p:cNvPr id="2340" name="textbox 2340"/>
          <p:cNvSpPr/>
          <p:nvPr/>
        </p:nvSpPr>
        <p:spPr>
          <a:xfrm>
            <a:off x="537460" y="1113751"/>
            <a:ext cx="3309620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8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中长期合约挂牌交易规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则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42" name="picture 23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2344" name="path 2344"/>
          <p:cNvSpPr/>
          <p:nvPr/>
        </p:nvSpPr>
        <p:spPr>
          <a:xfrm>
            <a:off x="4191000" y="5035296"/>
            <a:ext cx="5298947" cy="6096"/>
          </a:xfrm>
          <a:custGeom>
            <a:avLst/>
            <a:gdLst/>
            <a:ahLst/>
            <a:cxnLst/>
            <a:rect l="0" t="0" r="0" b="0"/>
            <a:pathLst>
              <a:path w="8344" h="9">
                <a:moveTo>
                  <a:pt x="0" y="4"/>
                </a:moveTo>
                <a:lnTo>
                  <a:pt x="8344" y="4"/>
                </a:lnTo>
              </a:path>
            </a:pathLst>
          </a:custGeom>
          <a:noFill/>
          <a:ln w="6096" cap="flat">
            <a:solidFill>
              <a:srgbClr val="181717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6" name="picture 23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3087" y="2348484"/>
            <a:ext cx="10046207" cy="4280915"/>
          </a:xfrm>
          <a:prstGeom prst="rect">
            <a:avLst/>
          </a:prstGeom>
        </p:spPr>
      </p:pic>
      <p:sp>
        <p:nvSpPr>
          <p:cNvPr id="2348" name="textbox 2348"/>
          <p:cNvSpPr/>
          <p:nvPr/>
        </p:nvSpPr>
        <p:spPr>
          <a:xfrm>
            <a:off x="3526058" y="4569180"/>
            <a:ext cx="1646554" cy="1928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</a:t>
            </a:r>
            <a:r>
              <a:rPr sz="1400" b="1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300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累计合约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74294" algn="l" rtl="0" eaLnBrk="0">
              <a:lnSpc>
                <a:spcPct val="99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量上限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427"/>
              </a:spcBef>
              <a:tabLst/>
            </a:pP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</a:t>
            </a:r>
            <a:r>
              <a:rPr sz="1400" b="1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88000"/>
              </a:lnSpc>
              <a:spcBef>
                <a:spcPts val="312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累计合约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92075" algn="l" rtl="0" eaLnBrk="0">
              <a:lnSpc>
                <a:spcPct val="99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量上限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2350" name="textbox 2350"/>
          <p:cNvSpPr/>
          <p:nvPr/>
        </p:nvSpPr>
        <p:spPr>
          <a:xfrm>
            <a:off x="6110334" y="3318093"/>
            <a:ext cx="935989" cy="3175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5294" indent="-424180" algn="l" rtl="0" eaLnBrk="0">
              <a:lnSpc>
                <a:spcPct val="92000"/>
              </a:lnSpc>
              <a:tabLst/>
            </a:pPr>
            <a:r>
              <a:rPr sz="1600" b="1" kern="0" spc="10" baseline="9766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F2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累计合约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量上限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303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累计合约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74294" algn="l" rtl="0" eaLnBrk="0">
              <a:lnSpc>
                <a:spcPct val="99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量上限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8000"/>
              </a:lnSpc>
              <a:spcBef>
                <a:spcPts val="303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累计合约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78739" algn="l" rtl="0" eaLnBrk="0">
              <a:lnSpc>
                <a:spcPct val="99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量上限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2352" name="textbox 2352"/>
          <p:cNvSpPr/>
          <p:nvPr/>
        </p:nvSpPr>
        <p:spPr>
          <a:xfrm>
            <a:off x="7249471" y="4546282"/>
            <a:ext cx="1393189" cy="1875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</a:t>
            </a:r>
            <a:r>
              <a:rPr sz="14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819150" algn="l" rtl="0" eaLnBrk="0">
              <a:lnSpc>
                <a:spcPct val="88000"/>
              </a:lnSpc>
              <a:spcBef>
                <a:spcPts val="863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净量额定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275" algn="l" rtl="0" eaLnBrk="0">
              <a:lnSpc>
                <a:spcPct val="81000"/>
              </a:lnSpc>
              <a:spcBef>
                <a:spcPts val="429"/>
              </a:spcBef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</a:t>
            </a:r>
            <a:r>
              <a:rPr sz="14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981710" indent="-135254" algn="l" rtl="0" eaLnBrk="0">
              <a:lnSpc>
                <a:spcPct val="93000"/>
              </a:lnSpc>
              <a:spcBef>
                <a:spcPts val="5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基数合约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净量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pic>
        <p:nvPicPr>
          <p:cNvPr id="2354" name="picture 23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89747" y="5423916"/>
            <a:ext cx="2383536" cy="1059179"/>
          </a:xfrm>
          <a:prstGeom prst="rect">
            <a:avLst/>
          </a:prstGeom>
        </p:spPr>
      </p:pic>
      <p:sp>
        <p:nvSpPr>
          <p:cNvPr id="2356" name="textbox 2356"/>
          <p:cNvSpPr/>
          <p:nvPr/>
        </p:nvSpPr>
        <p:spPr>
          <a:xfrm>
            <a:off x="2032810" y="4569180"/>
            <a:ext cx="1364614" cy="1852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</a:t>
            </a:r>
            <a:r>
              <a:rPr sz="14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88000"/>
              </a:lnSpc>
              <a:spcBef>
                <a:spcPts val="852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净量额定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81000"/>
              </a:lnSpc>
              <a:spcBef>
                <a:spcPts val="428"/>
              </a:spcBef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</a:t>
            </a:r>
            <a:r>
              <a:rPr sz="14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902969" indent="-33655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双边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挂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牌净量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2358" name="textbox 2358"/>
          <p:cNvSpPr/>
          <p:nvPr/>
        </p:nvSpPr>
        <p:spPr>
          <a:xfrm>
            <a:off x="523049" y="1050438"/>
            <a:ext cx="5384165" cy="424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发电侧中长期合约交易电量约束</a:t>
            </a:r>
            <a:r>
              <a:rPr sz="23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（广东）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60" name="textbox 2360"/>
          <p:cNvSpPr/>
          <p:nvPr/>
        </p:nvSpPr>
        <p:spPr>
          <a:xfrm>
            <a:off x="5369097" y="3307146"/>
            <a:ext cx="617855" cy="3110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净合约量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7310" algn="l" rtl="0" eaLnBrk="0">
              <a:lnSpc>
                <a:spcPct val="88000"/>
              </a:lnSpc>
              <a:spcBef>
                <a:spcPts val="301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净量额定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05740" indent="-135254" algn="l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集中竞价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净量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2362" name="textbox 2362"/>
          <p:cNvSpPr/>
          <p:nvPr/>
        </p:nvSpPr>
        <p:spPr>
          <a:xfrm>
            <a:off x="652410" y="4332610"/>
            <a:ext cx="1055369" cy="1769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79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卖</a:t>
            </a: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买</a:t>
            </a:r>
            <a:r>
              <a:rPr sz="15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37490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500" b="1" kern="0" spc="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执行上限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64" name="textbox 2364"/>
          <p:cNvSpPr/>
          <p:nvPr/>
        </p:nvSpPr>
        <p:spPr>
          <a:xfrm>
            <a:off x="1980716" y="1947202"/>
            <a:ext cx="6598919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交易量执行限额是根据政府给定的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交易额度、分类净持仓量综合计算得出。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66" name="textbox 2366"/>
          <p:cNvSpPr/>
          <p:nvPr/>
        </p:nvSpPr>
        <p:spPr>
          <a:xfrm>
            <a:off x="7426094" y="3084659"/>
            <a:ext cx="2025650" cy="594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84679" algn="l" rtl="0" eaLnBrk="0">
              <a:lnSpc>
                <a:spcPct val="90000"/>
              </a:lnSpc>
              <a:tabLst/>
            </a:pPr>
            <a:r>
              <a:rPr sz="500" b="1" kern="0" spc="6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403"/>
              </a:spcBef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双边+挂牌净量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基数合约净量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68" name="textbox 2368"/>
          <p:cNvSpPr/>
          <p:nvPr/>
        </p:nvSpPr>
        <p:spPr>
          <a:xfrm>
            <a:off x="8742281" y="4913346"/>
            <a:ext cx="583565" cy="158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6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660" indent="-61594" algn="l" rtl="0" eaLnBrk="0">
              <a:lnSpc>
                <a:spcPct val="93000"/>
              </a:lnSpc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累计合约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量上限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03504" indent="-61594" algn="l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累计合约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量上限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2370" name="table 2370"/>
          <p:cNvGraphicFramePr>
            <a:graphicFrameLocks noGrp="1"/>
          </p:cNvGraphicFramePr>
          <p:nvPr/>
        </p:nvGraphicFramePr>
        <p:xfrm>
          <a:off x="2910077" y="3752849"/>
          <a:ext cx="1120139" cy="313690"/>
        </p:xfrm>
        <a:graphic>
          <a:graphicData uri="http://schemas.openxmlformats.org/drawingml/2006/table">
            <a:tbl>
              <a:tblPr>
                <a:solidFill>
                  <a:srgbClr val="FDA103"/>
                </a:solidFill>
              </a:tblPr>
              <a:tblGrid>
                <a:gridCol w="1120139"/>
              </a:tblGrid>
              <a:tr h="2978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双边+挂牌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2" name="table 2372"/>
          <p:cNvGraphicFramePr>
            <a:graphicFrameLocks noGrp="1"/>
          </p:cNvGraphicFramePr>
          <p:nvPr/>
        </p:nvGraphicFramePr>
        <p:xfrm>
          <a:off x="8711945" y="2500122"/>
          <a:ext cx="205105" cy="325754"/>
        </p:xfrm>
        <a:graphic>
          <a:graphicData uri="http://schemas.openxmlformats.org/drawingml/2006/table">
            <a:tbl>
              <a:tblPr/>
              <a:tblGrid>
                <a:gridCol w="205105"/>
              </a:tblGrid>
              <a:tr h="3162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74" name="table 2374"/>
          <p:cNvGraphicFramePr>
            <a:graphicFrameLocks noGrp="1"/>
          </p:cNvGraphicFramePr>
          <p:nvPr/>
        </p:nvGraphicFramePr>
        <p:xfrm>
          <a:off x="8711945" y="2809494"/>
          <a:ext cx="205105" cy="324484"/>
        </p:xfrm>
        <a:graphic>
          <a:graphicData uri="http://schemas.openxmlformats.org/drawingml/2006/table">
            <a:tbl>
              <a:tblPr>
                <a:solidFill>
                  <a:srgbClr val="00B0F0"/>
                </a:solidFill>
              </a:tblPr>
              <a:tblGrid>
                <a:gridCol w="205105"/>
              </a:tblGrid>
              <a:tr h="3149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6" name="table 2376"/>
          <p:cNvGraphicFramePr>
            <a:graphicFrameLocks noGrp="1"/>
          </p:cNvGraphicFramePr>
          <p:nvPr/>
        </p:nvGraphicFramePr>
        <p:xfrm>
          <a:off x="8711945" y="3123438"/>
          <a:ext cx="205105" cy="324484"/>
        </p:xfrm>
        <a:graphic>
          <a:graphicData uri="http://schemas.openxmlformats.org/drawingml/2006/table">
            <a:tbl>
              <a:tblPr>
                <a:solidFill>
                  <a:srgbClr val="BF9000"/>
                </a:solidFill>
              </a:tblPr>
              <a:tblGrid>
                <a:gridCol w="205105"/>
              </a:tblGrid>
              <a:tr h="3149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8" name="table 2378"/>
          <p:cNvGraphicFramePr>
            <a:graphicFrameLocks noGrp="1"/>
          </p:cNvGraphicFramePr>
          <p:nvPr/>
        </p:nvGraphicFramePr>
        <p:xfrm>
          <a:off x="8711945" y="3440430"/>
          <a:ext cx="205105" cy="324484"/>
        </p:xfrm>
        <a:graphic>
          <a:graphicData uri="http://schemas.openxmlformats.org/drawingml/2006/table">
            <a:tbl>
              <a:tblPr>
                <a:solidFill>
                  <a:srgbClr val="843C0C"/>
                </a:solidFill>
              </a:tblPr>
              <a:tblGrid>
                <a:gridCol w="205105"/>
              </a:tblGrid>
              <a:tr h="3149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843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3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3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3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C0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0" name="table 2380"/>
          <p:cNvGraphicFramePr>
            <a:graphicFrameLocks noGrp="1"/>
          </p:cNvGraphicFramePr>
          <p:nvPr/>
        </p:nvGraphicFramePr>
        <p:xfrm>
          <a:off x="8102345" y="3749801"/>
          <a:ext cx="1119505" cy="313690"/>
        </p:xfrm>
        <a:graphic>
          <a:graphicData uri="http://schemas.openxmlformats.org/drawingml/2006/table">
            <a:tbl>
              <a:tblPr>
                <a:solidFill>
                  <a:srgbClr val="FDA103"/>
                </a:solidFill>
              </a:tblPr>
              <a:tblGrid>
                <a:gridCol w="1119505"/>
              </a:tblGrid>
              <a:tr h="2978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447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基数合约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2" name="table 2382"/>
          <p:cNvGraphicFramePr>
            <a:graphicFrameLocks noGrp="1"/>
          </p:cNvGraphicFramePr>
          <p:nvPr/>
        </p:nvGraphicFramePr>
        <p:xfrm>
          <a:off x="5491733" y="3746753"/>
          <a:ext cx="1120140" cy="313690"/>
        </p:xfrm>
        <a:graphic>
          <a:graphicData uri="http://schemas.openxmlformats.org/drawingml/2006/table">
            <a:tbl>
              <a:tblPr>
                <a:solidFill>
                  <a:srgbClr val="FDA103"/>
                </a:solidFill>
              </a:tblPr>
              <a:tblGrid>
                <a:gridCol w="1120140"/>
              </a:tblGrid>
              <a:tr h="2978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集中竞价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3"/>
                    </a:solidFill>
                  </a:tcPr>
                </a:tc>
              </a:tr>
            </a:tbl>
          </a:graphicData>
        </a:graphic>
      </p:graphicFrame>
      <p:sp>
        <p:nvSpPr>
          <p:cNvPr id="2384" name="textbox 2384"/>
          <p:cNvSpPr/>
          <p:nvPr/>
        </p:nvSpPr>
        <p:spPr>
          <a:xfrm>
            <a:off x="7491888" y="2584503"/>
            <a:ext cx="828675" cy="462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5414" algn="l" rtl="0" eaLnBrk="0">
              <a:lnSpc>
                <a:spcPct val="88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净量额度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集中竞价净量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86" name="textbox 2386"/>
          <p:cNvSpPr/>
          <p:nvPr/>
        </p:nvSpPr>
        <p:spPr>
          <a:xfrm>
            <a:off x="2589378" y="3267331"/>
            <a:ext cx="1166494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45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55650" indent="-743584" algn="l" rtl="0" eaLnBrk="0">
              <a:lnSpc>
                <a:spcPct val="98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装机容量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可用小时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月度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2388" name="textbox 2388"/>
          <p:cNvSpPr/>
          <p:nvPr/>
        </p:nvSpPr>
        <p:spPr>
          <a:xfrm>
            <a:off x="3980318" y="3298251"/>
            <a:ext cx="916939" cy="312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4825" indent="-492125" algn="l" rtl="0" eaLnBrk="0">
              <a:lnSpc>
                <a:spcPct val="92000"/>
              </a:lnSpc>
              <a:tabLst/>
            </a:pPr>
            <a:r>
              <a:rPr sz="1600" b="1" kern="0" spc="10" baseline="9766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F0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净合约量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上限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2390" name="textbox 2390"/>
          <p:cNvSpPr/>
          <p:nvPr/>
        </p:nvSpPr>
        <p:spPr>
          <a:xfrm>
            <a:off x="1453090" y="2570219"/>
            <a:ext cx="227329" cy="944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62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政府给定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392" name="table 2392"/>
          <p:cNvGraphicFramePr>
            <a:graphicFrameLocks noGrp="1"/>
          </p:cNvGraphicFramePr>
          <p:nvPr/>
        </p:nvGraphicFramePr>
        <p:xfrm>
          <a:off x="8911589" y="4092702"/>
          <a:ext cx="207009" cy="790575"/>
        </p:xfrm>
        <a:graphic>
          <a:graphicData uri="http://schemas.openxmlformats.org/drawingml/2006/table">
            <a:tbl>
              <a:tblPr>
                <a:solidFill>
                  <a:srgbClr val="094161"/>
                </a:solidFill>
              </a:tblPr>
              <a:tblGrid>
                <a:gridCol w="207009"/>
              </a:tblGrid>
              <a:tr h="781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94" name="table 2394"/>
          <p:cNvGraphicFramePr>
            <a:graphicFrameLocks noGrp="1"/>
          </p:cNvGraphicFramePr>
          <p:nvPr/>
        </p:nvGraphicFramePr>
        <p:xfrm>
          <a:off x="3713225" y="5366766"/>
          <a:ext cx="207009" cy="790575"/>
        </p:xfrm>
        <a:graphic>
          <a:graphicData uri="http://schemas.openxmlformats.org/drawingml/2006/table">
            <a:tbl>
              <a:tblPr>
                <a:solidFill>
                  <a:srgbClr val="094161"/>
                </a:solidFill>
              </a:tblPr>
              <a:tblGrid>
                <a:gridCol w="207009"/>
              </a:tblGrid>
              <a:tr h="781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96" name="table 2396"/>
          <p:cNvGraphicFramePr>
            <a:graphicFrameLocks noGrp="1"/>
          </p:cNvGraphicFramePr>
          <p:nvPr/>
        </p:nvGraphicFramePr>
        <p:xfrm>
          <a:off x="3694938" y="4114038"/>
          <a:ext cx="207009" cy="790575"/>
        </p:xfrm>
        <a:graphic>
          <a:graphicData uri="http://schemas.openxmlformats.org/drawingml/2006/table">
            <a:tbl>
              <a:tblPr>
                <a:solidFill>
                  <a:srgbClr val="094161"/>
                </a:solidFill>
              </a:tblPr>
              <a:tblGrid>
                <a:gridCol w="207009"/>
              </a:tblGrid>
              <a:tr h="781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98" name="table 2398"/>
          <p:cNvGraphicFramePr>
            <a:graphicFrameLocks noGrp="1"/>
          </p:cNvGraphicFramePr>
          <p:nvPr/>
        </p:nvGraphicFramePr>
        <p:xfrm>
          <a:off x="6279641" y="4114038"/>
          <a:ext cx="207009" cy="790575"/>
        </p:xfrm>
        <a:graphic>
          <a:graphicData uri="http://schemas.openxmlformats.org/drawingml/2006/table">
            <a:tbl>
              <a:tblPr>
                <a:solidFill>
                  <a:srgbClr val="094161"/>
                </a:solidFill>
              </a:tblPr>
              <a:tblGrid>
                <a:gridCol w="207009"/>
              </a:tblGrid>
              <a:tr h="781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00" name="table 2400"/>
          <p:cNvGraphicFramePr>
            <a:graphicFrameLocks noGrp="1"/>
          </p:cNvGraphicFramePr>
          <p:nvPr/>
        </p:nvGraphicFramePr>
        <p:xfrm>
          <a:off x="6660641" y="2498597"/>
          <a:ext cx="207009" cy="790575"/>
        </p:xfrm>
        <a:graphic>
          <a:graphicData uri="http://schemas.openxmlformats.org/drawingml/2006/table">
            <a:tbl>
              <a:tblPr>
                <a:solidFill>
                  <a:srgbClr val="094161"/>
                </a:solidFill>
              </a:tblPr>
              <a:tblGrid>
                <a:gridCol w="207009"/>
              </a:tblGrid>
              <a:tr h="781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02" name="table 2402"/>
          <p:cNvGraphicFramePr>
            <a:graphicFrameLocks noGrp="1"/>
          </p:cNvGraphicFramePr>
          <p:nvPr/>
        </p:nvGraphicFramePr>
        <p:xfrm>
          <a:off x="6284214" y="5362194"/>
          <a:ext cx="207009" cy="790575"/>
        </p:xfrm>
        <a:graphic>
          <a:graphicData uri="http://schemas.openxmlformats.org/drawingml/2006/table">
            <a:tbl>
              <a:tblPr>
                <a:solidFill>
                  <a:srgbClr val="094161"/>
                </a:solidFill>
              </a:tblPr>
              <a:tblGrid>
                <a:gridCol w="207009"/>
              </a:tblGrid>
              <a:tr h="781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04" name="table 2404"/>
          <p:cNvGraphicFramePr>
            <a:graphicFrameLocks noGrp="1"/>
          </p:cNvGraphicFramePr>
          <p:nvPr/>
        </p:nvGraphicFramePr>
        <p:xfrm>
          <a:off x="8940545" y="5366766"/>
          <a:ext cx="207009" cy="790575"/>
        </p:xfrm>
        <a:graphic>
          <a:graphicData uri="http://schemas.openxmlformats.org/drawingml/2006/table">
            <a:tbl>
              <a:tblPr>
                <a:solidFill>
                  <a:srgbClr val="094161"/>
                </a:solidFill>
              </a:tblPr>
              <a:tblGrid>
                <a:gridCol w="207009"/>
              </a:tblGrid>
              <a:tr h="781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</a:tbl>
          </a:graphicData>
        </a:graphic>
      </p:graphicFrame>
      <p:sp>
        <p:nvSpPr>
          <p:cNvPr id="2406" name="textbox 2406"/>
          <p:cNvSpPr/>
          <p:nvPr/>
        </p:nvSpPr>
        <p:spPr>
          <a:xfrm>
            <a:off x="9441177" y="3350103"/>
            <a:ext cx="558165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0" indent="-133350" algn="l" rtl="0" eaLnBrk="0">
              <a:lnSpc>
                <a:spcPct val="93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净合约量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上限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2408" name="textbox 2408"/>
          <p:cNvSpPr/>
          <p:nvPr/>
        </p:nvSpPr>
        <p:spPr>
          <a:xfrm>
            <a:off x="650622" y="2802604"/>
            <a:ext cx="226695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65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b="1" kern="0" spc="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发电侧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410" name="table 2410"/>
          <p:cNvGraphicFramePr>
            <a:graphicFrameLocks noGrp="1"/>
          </p:cNvGraphicFramePr>
          <p:nvPr/>
        </p:nvGraphicFramePr>
        <p:xfrm>
          <a:off x="9614154" y="2701290"/>
          <a:ext cx="205740" cy="606425"/>
        </p:xfrm>
        <a:graphic>
          <a:graphicData uri="http://schemas.openxmlformats.org/drawingml/2006/table">
            <a:tbl>
              <a:tblPr>
                <a:solidFill>
                  <a:srgbClr val="C55A11"/>
                </a:solidFill>
              </a:tblPr>
              <a:tblGrid>
                <a:gridCol w="205740"/>
              </a:tblGrid>
              <a:tr h="596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12" name="table 2412"/>
          <p:cNvGraphicFramePr>
            <a:graphicFrameLocks noGrp="1"/>
          </p:cNvGraphicFramePr>
          <p:nvPr/>
        </p:nvGraphicFramePr>
        <p:xfrm>
          <a:off x="5543549" y="2666238"/>
          <a:ext cx="205740" cy="606425"/>
        </p:xfrm>
        <a:graphic>
          <a:graphicData uri="http://schemas.openxmlformats.org/drawingml/2006/table">
            <a:tbl>
              <a:tblPr>
                <a:solidFill>
                  <a:srgbClr val="C55A11"/>
                </a:solidFill>
              </a:tblPr>
              <a:tblGrid>
                <a:gridCol w="205740"/>
              </a:tblGrid>
              <a:tr h="596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14" name="table 2414"/>
          <p:cNvGraphicFramePr>
            <a:graphicFrameLocks noGrp="1"/>
          </p:cNvGraphicFramePr>
          <p:nvPr/>
        </p:nvGraphicFramePr>
        <p:xfrm>
          <a:off x="4513325" y="2649473"/>
          <a:ext cx="205740" cy="606425"/>
        </p:xfrm>
        <a:graphic>
          <a:graphicData uri="http://schemas.openxmlformats.org/drawingml/2006/table">
            <a:tbl>
              <a:tblPr>
                <a:solidFill>
                  <a:srgbClr val="C55A11"/>
                </a:solidFill>
              </a:tblPr>
              <a:tblGrid>
                <a:gridCol w="205740"/>
              </a:tblGrid>
              <a:tr h="596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16" name="table 2416"/>
          <p:cNvGraphicFramePr>
            <a:graphicFrameLocks noGrp="1"/>
          </p:cNvGraphicFramePr>
          <p:nvPr/>
        </p:nvGraphicFramePr>
        <p:xfrm>
          <a:off x="6090666" y="2817113"/>
          <a:ext cx="205104" cy="450850"/>
        </p:xfrm>
        <a:graphic>
          <a:graphicData uri="http://schemas.openxmlformats.org/drawingml/2006/table">
            <a:tbl>
              <a:tblPr/>
              <a:tblGrid>
                <a:gridCol w="205104"/>
              </a:tblGrid>
              <a:tr h="441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18" name="table 2418"/>
          <p:cNvGraphicFramePr>
            <a:graphicFrameLocks noGrp="1"/>
          </p:cNvGraphicFramePr>
          <p:nvPr/>
        </p:nvGraphicFramePr>
        <p:xfrm>
          <a:off x="5596889" y="4370069"/>
          <a:ext cx="205740" cy="449579"/>
        </p:xfrm>
        <a:graphic>
          <a:graphicData uri="http://schemas.openxmlformats.org/drawingml/2006/table">
            <a:tbl>
              <a:tblPr/>
              <a:tblGrid>
                <a:gridCol w="205740"/>
              </a:tblGrid>
              <a:tr h="4400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20" name="table 2420"/>
          <p:cNvGraphicFramePr>
            <a:graphicFrameLocks noGrp="1"/>
          </p:cNvGraphicFramePr>
          <p:nvPr/>
        </p:nvGraphicFramePr>
        <p:xfrm>
          <a:off x="3030473" y="5622797"/>
          <a:ext cx="205739" cy="449580"/>
        </p:xfrm>
        <a:graphic>
          <a:graphicData uri="http://schemas.openxmlformats.org/drawingml/2006/table">
            <a:tbl>
              <a:tblPr>
                <a:solidFill>
                  <a:srgbClr val="BF9000"/>
                </a:solidFill>
              </a:tblPr>
              <a:tblGrid>
                <a:gridCol w="205739"/>
              </a:tblGrid>
              <a:tr h="4400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22" name="table 2422"/>
          <p:cNvGraphicFramePr>
            <a:graphicFrameLocks noGrp="1"/>
          </p:cNvGraphicFramePr>
          <p:nvPr/>
        </p:nvGraphicFramePr>
        <p:xfrm>
          <a:off x="3941825" y="2798825"/>
          <a:ext cx="205740" cy="448945"/>
        </p:xfrm>
        <a:graphic>
          <a:graphicData uri="http://schemas.openxmlformats.org/drawingml/2006/table">
            <a:tbl>
              <a:tblPr/>
              <a:tblGrid>
                <a:gridCol w="205740"/>
              </a:tblGrid>
              <a:tr h="4394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24" name="table 2424"/>
          <p:cNvGraphicFramePr>
            <a:graphicFrameLocks noGrp="1"/>
          </p:cNvGraphicFramePr>
          <p:nvPr/>
        </p:nvGraphicFramePr>
        <p:xfrm>
          <a:off x="2763773" y="2788158"/>
          <a:ext cx="205739" cy="448945"/>
        </p:xfrm>
        <a:graphic>
          <a:graphicData uri="http://schemas.openxmlformats.org/drawingml/2006/table">
            <a:tbl>
              <a:tblPr>
                <a:solidFill>
                  <a:srgbClr val="094161"/>
                </a:solidFill>
              </a:tblPr>
              <a:tblGrid>
                <a:gridCol w="205739"/>
              </a:tblGrid>
              <a:tr h="4394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26" name="table 2426"/>
          <p:cNvGraphicFramePr>
            <a:graphicFrameLocks noGrp="1"/>
          </p:cNvGraphicFramePr>
          <p:nvPr/>
        </p:nvGraphicFramePr>
        <p:xfrm>
          <a:off x="5601461" y="5618226"/>
          <a:ext cx="205104" cy="448944"/>
        </p:xfrm>
        <a:graphic>
          <a:graphicData uri="http://schemas.openxmlformats.org/drawingml/2006/table">
            <a:tbl>
              <a:tblPr>
                <a:solidFill>
                  <a:srgbClr val="00B0F0"/>
                </a:solidFill>
              </a:tblPr>
              <a:tblGrid>
                <a:gridCol w="205104"/>
              </a:tblGrid>
              <a:tr h="4394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28" name="table 2428"/>
          <p:cNvGraphicFramePr>
            <a:graphicFrameLocks noGrp="1"/>
          </p:cNvGraphicFramePr>
          <p:nvPr/>
        </p:nvGraphicFramePr>
        <p:xfrm>
          <a:off x="8230361" y="4348733"/>
          <a:ext cx="203834" cy="449579"/>
        </p:xfrm>
        <a:graphic>
          <a:graphicData uri="http://schemas.openxmlformats.org/drawingml/2006/table">
            <a:tbl>
              <a:tblPr/>
              <a:tblGrid>
                <a:gridCol w="203834"/>
              </a:tblGrid>
              <a:tr h="4400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30" name="table 2430"/>
          <p:cNvGraphicFramePr>
            <a:graphicFrameLocks noGrp="1"/>
          </p:cNvGraphicFramePr>
          <p:nvPr/>
        </p:nvGraphicFramePr>
        <p:xfrm>
          <a:off x="3013709" y="4370069"/>
          <a:ext cx="203835" cy="449579"/>
        </p:xfrm>
        <a:graphic>
          <a:graphicData uri="http://schemas.openxmlformats.org/drawingml/2006/table">
            <a:tbl>
              <a:tblPr/>
              <a:tblGrid>
                <a:gridCol w="203835"/>
              </a:tblGrid>
              <a:tr h="4400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32" name="table 2432"/>
          <p:cNvGraphicFramePr>
            <a:graphicFrameLocks noGrp="1"/>
          </p:cNvGraphicFramePr>
          <p:nvPr/>
        </p:nvGraphicFramePr>
        <p:xfrm>
          <a:off x="3371849" y="2788158"/>
          <a:ext cx="203834" cy="448945"/>
        </p:xfrm>
        <a:graphic>
          <a:graphicData uri="http://schemas.openxmlformats.org/drawingml/2006/table">
            <a:tbl>
              <a:tblPr>
                <a:solidFill>
                  <a:srgbClr val="B4C7E7"/>
                </a:solidFill>
              </a:tblPr>
              <a:tblGrid>
                <a:gridCol w="203834"/>
              </a:tblGrid>
              <a:tr h="4394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</a:tbl>
          </a:graphicData>
        </a:graphic>
      </p:graphicFrame>
      <p:pic>
        <p:nvPicPr>
          <p:cNvPr id="2434" name="picture 24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textbox 2436"/>
          <p:cNvSpPr/>
          <p:nvPr/>
        </p:nvSpPr>
        <p:spPr>
          <a:xfrm>
            <a:off x="743712" y="1796795"/>
            <a:ext cx="9206865" cy="82931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57605" algn="l" rtl="0" eaLnBrk="0">
              <a:lnSpc>
                <a:spcPct val="144000"/>
              </a:lnSpc>
              <a:spcBef>
                <a:spcPts val="4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售电公司可申报买入电量</a:t>
            </a:r>
            <a:r>
              <a:rPr sz="14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4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 { 净量额度  累计量额度 预缴保函对应可交易额度（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竞价） }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售电公司可申报卖出电量</a:t>
            </a:r>
            <a:r>
              <a:rPr sz="1400" b="1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4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 { 持有净量 累计量额度 预缴保函对应可交易额度（竞价） }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38" name="textbox 2438"/>
          <p:cNvSpPr/>
          <p:nvPr/>
        </p:nvSpPr>
        <p:spPr>
          <a:xfrm>
            <a:off x="5540755" y="5275688"/>
            <a:ext cx="2942589" cy="1345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1832610" algn="l"/>
              </a:tabLst>
            </a:pPr>
            <a:r>
              <a:rPr sz="9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b="1" u="sng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量上限</a:t>
            </a:r>
            <a:r>
              <a:rPr sz="900" b="1" u="sng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900" b="1" u="sng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交易额度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2904" algn="l" rtl="0" eaLnBrk="0">
              <a:lnSpc>
                <a:spcPct val="81000"/>
              </a:lnSpc>
              <a:spcBef>
                <a:spcPts val="431"/>
              </a:spcBef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</a:t>
            </a:r>
            <a:r>
              <a:rPr sz="14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ts val="1209"/>
              </a:lnSpc>
              <a:spcBef>
                <a:spcPts val="1076"/>
              </a:spcBef>
              <a:tabLst/>
            </a:pPr>
            <a:r>
              <a:rPr sz="1400" b="1" kern="0" spc="40" baseline="9002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集中竞价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400" b="1" kern="0" spc="40" baseline="1272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累</a:t>
            </a:r>
            <a:r>
              <a:rPr sz="1400" b="1" kern="0" spc="30" baseline="1272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计合约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b="1" kern="0" spc="30" baseline="-5879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预交保函</a:t>
            </a:r>
            <a:endParaRPr sz="1400" baseline="-5879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ts val="1191"/>
              </a:lnSpc>
              <a:tabLst/>
            </a:pPr>
            <a:r>
              <a:rPr sz="1400" b="1" kern="0" spc="30" baseline="1232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净量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1400" b="1" kern="0" spc="20" baseline="1232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量上限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400" b="1" kern="0" spc="20" baseline="-627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交易额度</a:t>
            </a:r>
            <a:endParaRPr sz="1400" baseline="-6278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40" name="picture 24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0036" y="6632257"/>
            <a:ext cx="8836342" cy="40575"/>
          </a:xfrm>
          <a:prstGeom prst="rect">
            <a:avLst/>
          </a:prstGeom>
        </p:spPr>
      </p:pic>
      <p:sp>
        <p:nvSpPr>
          <p:cNvPr id="2442" name="path 2442"/>
          <p:cNvSpPr/>
          <p:nvPr/>
        </p:nvSpPr>
        <p:spPr>
          <a:xfrm>
            <a:off x="1089650" y="4083558"/>
            <a:ext cx="8729491" cy="25907"/>
          </a:xfrm>
          <a:custGeom>
            <a:avLst/>
            <a:gdLst/>
            <a:ahLst/>
            <a:cxnLst/>
            <a:rect l="0" t="0" r="0" b="0"/>
            <a:pathLst>
              <a:path w="13747" h="40">
                <a:moveTo>
                  <a:pt x="0" y="32"/>
                </a:moveTo>
                <a:lnTo>
                  <a:pt x="13747" y="8"/>
                </a:lnTo>
              </a:path>
            </a:pathLst>
          </a:custGeom>
          <a:noFill/>
          <a:ln w="10668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444" name="picture 24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93251" y="4096511"/>
            <a:ext cx="1337309" cy="2557271"/>
          </a:xfrm>
          <a:prstGeom prst="rect">
            <a:avLst/>
          </a:prstGeom>
        </p:spPr>
      </p:pic>
      <p:sp>
        <p:nvSpPr>
          <p:cNvPr id="2446" name="textbox 2446"/>
          <p:cNvSpPr/>
          <p:nvPr/>
        </p:nvSpPr>
        <p:spPr>
          <a:xfrm>
            <a:off x="527553" y="1050438"/>
            <a:ext cx="5379720" cy="424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用电侧中长期合约交易电</a:t>
            </a:r>
            <a:r>
              <a:rPr sz="23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量约束（广东）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48" name="picture 24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23232" y="4396739"/>
            <a:ext cx="1013459" cy="2031492"/>
          </a:xfrm>
          <a:prstGeom prst="rect">
            <a:avLst/>
          </a:prstGeom>
        </p:spPr>
      </p:pic>
      <p:pic>
        <p:nvPicPr>
          <p:cNvPr id="2450" name="picture 24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92239" y="5552694"/>
            <a:ext cx="2174748" cy="931925"/>
          </a:xfrm>
          <a:prstGeom prst="rect">
            <a:avLst/>
          </a:prstGeom>
        </p:spPr>
      </p:pic>
      <p:pic>
        <p:nvPicPr>
          <p:cNvPr id="2452" name="picture 24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905810" y="2767393"/>
            <a:ext cx="463486" cy="3874389"/>
          </a:xfrm>
          <a:prstGeom prst="rect">
            <a:avLst/>
          </a:prstGeom>
        </p:spPr>
      </p:pic>
      <p:pic>
        <p:nvPicPr>
          <p:cNvPr id="2454" name="picture 24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18553" y="2738627"/>
            <a:ext cx="9269348" cy="120586"/>
          </a:xfrm>
          <a:prstGeom prst="rect">
            <a:avLst/>
          </a:prstGeom>
        </p:spPr>
      </p:pic>
      <p:pic>
        <p:nvPicPr>
          <p:cNvPr id="2456" name="picture 24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23087" y="5309615"/>
            <a:ext cx="694944" cy="1359407"/>
          </a:xfrm>
          <a:prstGeom prst="rect">
            <a:avLst/>
          </a:prstGeom>
        </p:spPr>
      </p:pic>
      <p:sp>
        <p:nvSpPr>
          <p:cNvPr id="2458" name="textbox 2458"/>
          <p:cNvSpPr/>
          <p:nvPr/>
        </p:nvSpPr>
        <p:spPr>
          <a:xfrm>
            <a:off x="5896106" y="4784055"/>
            <a:ext cx="1915160" cy="515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</a:t>
            </a:r>
            <a:r>
              <a:rPr sz="14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62"/>
              </a:lnSpc>
              <a:spcBef>
                <a:spcPts val="7"/>
              </a:spcBef>
              <a:tabLst/>
            </a:pPr>
            <a:r>
              <a:rPr sz="1400" b="1" kern="0" spc="40" baseline="-5256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净量额定</a:t>
            </a: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400" b="1" kern="0" spc="40" baseline="9625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累计合约</a:t>
            </a:r>
            <a:endParaRPr sz="1400" baseline="9625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60" name="rect 2460"/>
          <p:cNvSpPr/>
          <p:nvPr/>
        </p:nvSpPr>
        <p:spPr>
          <a:xfrm>
            <a:off x="3528059" y="3928871"/>
            <a:ext cx="1016508" cy="29718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62" name="textbox 2462"/>
          <p:cNvSpPr/>
          <p:nvPr/>
        </p:nvSpPr>
        <p:spPr>
          <a:xfrm>
            <a:off x="3602703" y="3975676"/>
            <a:ext cx="429704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双边+挂牌          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集中竞价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64" name="textbox 2464"/>
          <p:cNvSpPr/>
          <p:nvPr/>
        </p:nvSpPr>
        <p:spPr>
          <a:xfrm>
            <a:off x="1227534" y="2983891"/>
            <a:ext cx="236220" cy="2734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47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</a:t>
            </a:r>
            <a:r>
              <a:rPr sz="15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 侧                   执</a:t>
            </a:r>
            <a:r>
              <a:rPr sz="15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 上 限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66" name="textbox 2466"/>
          <p:cNvSpPr/>
          <p:nvPr/>
        </p:nvSpPr>
        <p:spPr>
          <a:xfrm>
            <a:off x="7386322" y="3088691"/>
            <a:ext cx="848360" cy="721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3039" algn="l" rtl="0" eaLnBrk="0">
              <a:lnSpc>
                <a:spcPct val="88000"/>
              </a:lnSpc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净量额度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2700" indent="59689" algn="l" rtl="0" eaLnBrk="0">
              <a:lnSpc>
                <a:spcPct val="207000"/>
              </a:lnSpc>
              <a:spcBef>
                <a:spcPts val="61"/>
              </a:spcBef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集中竞价净量</a:t>
            </a: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双边+挂牌净量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68" name="picture 24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633727" y="5059680"/>
            <a:ext cx="963167" cy="434339"/>
          </a:xfrm>
          <a:prstGeom prst="rect">
            <a:avLst/>
          </a:prstGeom>
        </p:spPr>
      </p:pic>
      <p:sp>
        <p:nvSpPr>
          <p:cNvPr id="2470" name="textbox 2470"/>
          <p:cNvSpPr/>
          <p:nvPr/>
        </p:nvSpPr>
        <p:spPr>
          <a:xfrm>
            <a:off x="1959544" y="4603905"/>
            <a:ext cx="225425" cy="1682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79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买</a:t>
            </a:r>
            <a:r>
              <a:rPr sz="15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         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卖 出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72" name="picture 247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23087" y="2858833"/>
            <a:ext cx="283654" cy="946594"/>
          </a:xfrm>
          <a:prstGeom prst="rect">
            <a:avLst/>
          </a:prstGeom>
        </p:spPr>
      </p:pic>
      <p:sp>
        <p:nvSpPr>
          <p:cNvPr id="2474" name="textbox 2474"/>
          <p:cNvSpPr/>
          <p:nvPr/>
        </p:nvSpPr>
        <p:spPr>
          <a:xfrm>
            <a:off x="9084817" y="3438175"/>
            <a:ext cx="582930" cy="494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500" b="1" kern="0" spc="6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05740" indent="-1270" algn="l" rtl="0" eaLnBrk="0">
              <a:lnSpc>
                <a:spcPct val="106000"/>
              </a:lnSpc>
              <a:spcBef>
                <a:spcPts val="4"/>
              </a:spcBef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净合约</a:t>
            </a: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量上限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76" name="textbox 2476"/>
          <p:cNvSpPr/>
          <p:nvPr/>
        </p:nvSpPr>
        <p:spPr>
          <a:xfrm>
            <a:off x="6037615" y="3635080"/>
            <a:ext cx="866775" cy="312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28625" indent="-416559" algn="l" rtl="0" eaLnBrk="0">
              <a:lnSpc>
                <a:spcPct val="108000"/>
              </a:lnSpc>
              <a:tabLst/>
            </a:pPr>
            <a:r>
              <a:rPr sz="1400" b="1" kern="0" spc="30" baseline="37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F2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累计合约</a:t>
            </a: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量上限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78" name="textbox 2478"/>
          <p:cNvSpPr/>
          <p:nvPr/>
        </p:nvSpPr>
        <p:spPr>
          <a:xfrm>
            <a:off x="4074659" y="3507041"/>
            <a:ext cx="769619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5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1795" indent="-379729" algn="l" rtl="0" eaLnBrk="0">
              <a:lnSpc>
                <a:spcPct val="107000"/>
              </a:lnSpc>
              <a:tabLst/>
            </a:pPr>
            <a:r>
              <a:rPr sz="1400" b="1" kern="0" spc="20" baseline="37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F0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净合约</a:t>
            </a: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量上限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80" name="textbox 2480"/>
          <p:cNvSpPr/>
          <p:nvPr/>
        </p:nvSpPr>
        <p:spPr>
          <a:xfrm>
            <a:off x="2758138" y="3491009"/>
            <a:ext cx="511809" cy="439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8000"/>
              </a:lnSpc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上一年度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218"/>
              </a:spcBef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对应月用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39700" algn="l" rtl="0" eaLnBrk="0">
              <a:lnSpc>
                <a:spcPct val="86000"/>
              </a:lnSpc>
              <a:spcBef>
                <a:spcPts val="212"/>
              </a:spcBef>
              <a:tabLst/>
            </a:pP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电量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82" name="textbox 2482"/>
          <p:cNvSpPr/>
          <p:nvPr/>
        </p:nvSpPr>
        <p:spPr>
          <a:xfrm>
            <a:off x="1965144" y="2865880"/>
            <a:ext cx="227329" cy="944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62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政府给定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84" name="textbox 2484"/>
          <p:cNvSpPr/>
          <p:nvPr/>
        </p:nvSpPr>
        <p:spPr>
          <a:xfrm>
            <a:off x="3204443" y="6258407"/>
            <a:ext cx="604519" cy="305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02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9070" indent="-166370" algn="l" rtl="0" eaLnBrk="0">
              <a:lnSpc>
                <a:spcPct val="105000"/>
              </a:lnSpc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双边+挂牌</a:t>
            </a: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净量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86" name="path 2486"/>
          <p:cNvSpPr/>
          <p:nvPr/>
        </p:nvSpPr>
        <p:spPr>
          <a:xfrm>
            <a:off x="3041903" y="4459223"/>
            <a:ext cx="182880" cy="827532"/>
          </a:xfrm>
          <a:custGeom>
            <a:avLst/>
            <a:gdLst/>
            <a:ahLst/>
            <a:cxnLst/>
            <a:rect l="0" t="0" r="0" b="0"/>
            <a:pathLst>
              <a:path w="288" h="1303">
                <a:moveTo>
                  <a:pt x="283" y="1298"/>
                </a:moveTo>
                <a:cubicBezTo>
                  <a:pt x="206" y="1298"/>
                  <a:pt x="143" y="1286"/>
                  <a:pt x="143" y="1274"/>
                </a:cubicBezTo>
                <a:lnTo>
                  <a:pt x="143" y="674"/>
                </a:lnTo>
                <a:cubicBezTo>
                  <a:pt x="143" y="662"/>
                  <a:pt x="81" y="652"/>
                  <a:pt x="4" y="652"/>
                </a:cubicBezTo>
                <a:cubicBezTo>
                  <a:pt x="81" y="652"/>
                  <a:pt x="143" y="640"/>
                  <a:pt x="143" y="628"/>
                </a:cubicBezTo>
                <a:lnTo>
                  <a:pt x="143" y="28"/>
                </a:lnTo>
                <a:cubicBezTo>
                  <a:pt x="143" y="16"/>
                  <a:pt x="206" y="4"/>
                  <a:pt x="283" y="4"/>
                </a:cubicBezTo>
              </a:path>
            </a:pathLst>
          </a:custGeom>
          <a:noFill/>
          <a:ln w="6096" cap="flat">
            <a:solidFill>
              <a:srgbClr val="5B9BD5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88" name="path 2488"/>
          <p:cNvSpPr/>
          <p:nvPr/>
        </p:nvSpPr>
        <p:spPr>
          <a:xfrm>
            <a:off x="3058667" y="5629655"/>
            <a:ext cx="182880" cy="827531"/>
          </a:xfrm>
          <a:custGeom>
            <a:avLst/>
            <a:gdLst/>
            <a:ahLst/>
            <a:cxnLst/>
            <a:rect l="0" t="0" r="0" b="0"/>
            <a:pathLst>
              <a:path w="288" h="1303">
                <a:moveTo>
                  <a:pt x="283" y="1298"/>
                </a:moveTo>
                <a:cubicBezTo>
                  <a:pt x="206" y="1298"/>
                  <a:pt x="143" y="1286"/>
                  <a:pt x="143" y="1274"/>
                </a:cubicBezTo>
                <a:lnTo>
                  <a:pt x="143" y="674"/>
                </a:lnTo>
                <a:cubicBezTo>
                  <a:pt x="143" y="662"/>
                  <a:pt x="81" y="650"/>
                  <a:pt x="4" y="650"/>
                </a:cubicBezTo>
                <a:cubicBezTo>
                  <a:pt x="81" y="650"/>
                  <a:pt x="143" y="640"/>
                  <a:pt x="143" y="628"/>
                </a:cubicBezTo>
                <a:lnTo>
                  <a:pt x="143" y="28"/>
                </a:lnTo>
                <a:cubicBezTo>
                  <a:pt x="143" y="14"/>
                  <a:pt x="206" y="4"/>
                  <a:pt x="283" y="4"/>
                </a:cubicBezTo>
              </a:path>
            </a:pathLst>
          </a:custGeom>
          <a:noFill/>
          <a:ln w="6096" cap="flat">
            <a:solidFill>
              <a:srgbClr val="5B9BD5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90" name="path 2490"/>
          <p:cNvSpPr/>
          <p:nvPr/>
        </p:nvSpPr>
        <p:spPr>
          <a:xfrm>
            <a:off x="6478523" y="4460747"/>
            <a:ext cx="182879" cy="827532"/>
          </a:xfrm>
          <a:custGeom>
            <a:avLst/>
            <a:gdLst/>
            <a:ahLst/>
            <a:cxnLst/>
            <a:rect l="0" t="0" r="0" b="0"/>
            <a:pathLst>
              <a:path w="287" h="1303">
                <a:moveTo>
                  <a:pt x="283" y="1298"/>
                </a:moveTo>
                <a:cubicBezTo>
                  <a:pt x="206" y="1298"/>
                  <a:pt x="143" y="1286"/>
                  <a:pt x="143" y="1274"/>
                </a:cubicBezTo>
                <a:lnTo>
                  <a:pt x="143" y="674"/>
                </a:lnTo>
                <a:cubicBezTo>
                  <a:pt x="143" y="662"/>
                  <a:pt x="81" y="650"/>
                  <a:pt x="4" y="650"/>
                </a:cubicBezTo>
                <a:cubicBezTo>
                  <a:pt x="81" y="650"/>
                  <a:pt x="143" y="640"/>
                  <a:pt x="143" y="628"/>
                </a:cubicBezTo>
                <a:lnTo>
                  <a:pt x="143" y="28"/>
                </a:lnTo>
                <a:cubicBezTo>
                  <a:pt x="143" y="16"/>
                  <a:pt x="206" y="4"/>
                  <a:pt x="283" y="4"/>
                </a:cubicBezTo>
              </a:path>
            </a:pathLst>
          </a:custGeom>
          <a:noFill/>
          <a:ln w="6096" cap="flat">
            <a:solidFill>
              <a:srgbClr val="5B9BD5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92" name="rect 2492"/>
          <p:cNvSpPr/>
          <p:nvPr/>
        </p:nvSpPr>
        <p:spPr>
          <a:xfrm>
            <a:off x="6536435" y="2904743"/>
            <a:ext cx="178308" cy="710184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494" name="table 2494"/>
          <p:cNvGraphicFramePr>
            <a:graphicFrameLocks noGrp="1"/>
          </p:cNvGraphicFramePr>
          <p:nvPr/>
        </p:nvGraphicFramePr>
        <p:xfrm>
          <a:off x="6531102" y="2899409"/>
          <a:ext cx="188594" cy="720725"/>
        </p:xfrm>
        <a:graphic>
          <a:graphicData uri="http://schemas.openxmlformats.org/drawingml/2006/table">
            <a:tbl>
              <a:tblPr/>
              <a:tblGrid>
                <a:gridCol w="188594"/>
              </a:tblGrid>
              <a:tr h="71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96" name="table 2496"/>
          <p:cNvGraphicFramePr>
            <a:graphicFrameLocks noGrp="1"/>
          </p:cNvGraphicFramePr>
          <p:nvPr/>
        </p:nvGraphicFramePr>
        <p:xfrm>
          <a:off x="3996690" y="4363973"/>
          <a:ext cx="188595" cy="720725"/>
        </p:xfrm>
        <a:graphic>
          <a:graphicData uri="http://schemas.openxmlformats.org/drawingml/2006/table">
            <a:tbl>
              <a:tblPr>
                <a:solidFill>
                  <a:srgbClr val="FDA103"/>
                </a:solidFill>
              </a:tblPr>
              <a:tblGrid>
                <a:gridCol w="188595"/>
              </a:tblGrid>
              <a:tr h="71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98" name="table 2498"/>
          <p:cNvGraphicFramePr>
            <a:graphicFrameLocks noGrp="1"/>
          </p:cNvGraphicFramePr>
          <p:nvPr/>
        </p:nvGraphicFramePr>
        <p:xfrm>
          <a:off x="8090154" y="4354830"/>
          <a:ext cx="188594" cy="720725"/>
        </p:xfrm>
        <a:graphic>
          <a:graphicData uri="http://schemas.openxmlformats.org/drawingml/2006/table">
            <a:tbl>
              <a:tblPr>
                <a:solidFill>
                  <a:srgbClr val="094161"/>
                </a:solidFill>
              </a:tblPr>
              <a:tblGrid>
                <a:gridCol w="188594"/>
              </a:tblGrid>
              <a:tr h="71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00" name="table 2500"/>
          <p:cNvGraphicFramePr>
            <a:graphicFrameLocks noGrp="1"/>
          </p:cNvGraphicFramePr>
          <p:nvPr/>
        </p:nvGraphicFramePr>
        <p:xfrm>
          <a:off x="4011930" y="5534405"/>
          <a:ext cx="188595" cy="720725"/>
        </p:xfrm>
        <a:graphic>
          <a:graphicData uri="http://schemas.openxmlformats.org/drawingml/2006/table">
            <a:tbl>
              <a:tblPr>
                <a:solidFill>
                  <a:srgbClr val="FDA103"/>
                </a:solidFill>
              </a:tblPr>
              <a:tblGrid>
                <a:gridCol w="188595"/>
              </a:tblGrid>
              <a:tr h="71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02" name="table 2502"/>
          <p:cNvGraphicFramePr>
            <a:graphicFrameLocks noGrp="1"/>
          </p:cNvGraphicFramePr>
          <p:nvPr/>
        </p:nvGraphicFramePr>
        <p:xfrm>
          <a:off x="7433310" y="4365497"/>
          <a:ext cx="188594" cy="720725"/>
        </p:xfrm>
        <a:graphic>
          <a:graphicData uri="http://schemas.openxmlformats.org/drawingml/2006/table">
            <a:tbl>
              <a:tblPr>
                <a:solidFill>
                  <a:srgbClr val="FDA103"/>
                </a:solidFill>
              </a:tblPr>
              <a:tblGrid>
                <a:gridCol w="188594"/>
              </a:tblGrid>
              <a:tr h="71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3"/>
                    </a:solidFill>
                  </a:tcPr>
                </a:tc>
              </a:tr>
            </a:tbl>
          </a:graphicData>
        </a:graphic>
      </p:graphicFrame>
      <p:sp>
        <p:nvSpPr>
          <p:cNvPr id="2504" name="textbox 2504"/>
          <p:cNvSpPr/>
          <p:nvPr/>
        </p:nvSpPr>
        <p:spPr>
          <a:xfrm>
            <a:off x="3872327" y="6278361"/>
            <a:ext cx="511809" cy="294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累计合约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73660" algn="l" rtl="0" eaLnBrk="0">
              <a:lnSpc>
                <a:spcPct val="87000"/>
              </a:lnSpc>
              <a:spcBef>
                <a:spcPts val="229"/>
              </a:spcBef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量上限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06" name="textbox 2506"/>
          <p:cNvSpPr/>
          <p:nvPr/>
        </p:nvSpPr>
        <p:spPr>
          <a:xfrm>
            <a:off x="3838840" y="5080465"/>
            <a:ext cx="511809" cy="29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累计合约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73660" algn="l" rtl="0" eaLnBrk="0">
              <a:lnSpc>
                <a:spcPct val="87000"/>
              </a:lnSpc>
              <a:spcBef>
                <a:spcPts val="229"/>
              </a:spcBef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量上限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08" name="path 2508"/>
          <p:cNvSpPr/>
          <p:nvPr/>
        </p:nvSpPr>
        <p:spPr>
          <a:xfrm>
            <a:off x="8843771" y="3019044"/>
            <a:ext cx="150876" cy="841247"/>
          </a:xfrm>
          <a:custGeom>
            <a:avLst/>
            <a:gdLst/>
            <a:ahLst/>
            <a:cxnLst/>
            <a:rect l="0" t="0" r="0" b="0"/>
            <a:pathLst>
              <a:path w="237" h="1324">
                <a:moveTo>
                  <a:pt x="4" y="4"/>
                </a:moveTo>
                <a:cubicBezTo>
                  <a:pt x="67" y="4"/>
                  <a:pt x="117" y="11"/>
                  <a:pt x="117" y="23"/>
                </a:cubicBezTo>
                <a:lnTo>
                  <a:pt x="117" y="643"/>
                </a:lnTo>
                <a:cubicBezTo>
                  <a:pt x="117" y="652"/>
                  <a:pt x="170" y="662"/>
                  <a:pt x="232" y="662"/>
                </a:cubicBezTo>
                <a:cubicBezTo>
                  <a:pt x="170" y="662"/>
                  <a:pt x="117" y="669"/>
                  <a:pt x="117" y="681"/>
                </a:cubicBezTo>
                <a:lnTo>
                  <a:pt x="117" y="1300"/>
                </a:lnTo>
                <a:cubicBezTo>
                  <a:pt x="117" y="1310"/>
                  <a:pt x="67" y="1320"/>
                  <a:pt x="4" y="1320"/>
                </a:cubicBezTo>
              </a:path>
            </a:pathLst>
          </a:custGeom>
          <a:noFill/>
          <a:ln w="6096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510" name="table 2510"/>
          <p:cNvGraphicFramePr>
            <a:graphicFrameLocks noGrp="1"/>
          </p:cNvGraphicFramePr>
          <p:nvPr/>
        </p:nvGraphicFramePr>
        <p:xfrm>
          <a:off x="9377933" y="3038094"/>
          <a:ext cx="188594" cy="553084"/>
        </p:xfrm>
        <a:graphic>
          <a:graphicData uri="http://schemas.openxmlformats.org/drawingml/2006/table">
            <a:tbl>
              <a:tblPr>
                <a:solidFill>
                  <a:srgbClr val="C55A11"/>
                </a:solidFill>
              </a:tblPr>
              <a:tblGrid>
                <a:gridCol w="188594"/>
              </a:tblGrid>
              <a:tr h="5435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12" name="table 2512"/>
          <p:cNvGraphicFramePr>
            <a:graphicFrameLocks noGrp="1"/>
          </p:cNvGraphicFramePr>
          <p:nvPr/>
        </p:nvGraphicFramePr>
        <p:xfrm>
          <a:off x="5516117" y="3051809"/>
          <a:ext cx="187325" cy="553084"/>
        </p:xfrm>
        <a:graphic>
          <a:graphicData uri="http://schemas.openxmlformats.org/drawingml/2006/table">
            <a:tbl>
              <a:tblPr>
                <a:solidFill>
                  <a:srgbClr val="C55A11"/>
                </a:solidFill>
              </a:tblPr>
              <a:tblGrid>
                <a:gridCol w="187325"/>
              </a:tblGrid>
              <a:tr h="5435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14" name="table 2514"/>
          <p:cNvGraphicFramePr>
            <a:graphicFrameLocks noGrp="1"/>
          </p:cNvGraphicFramePr>
          <p:nvPr/>
        </p:nvGraphicFramePr>
        <p:xfrm>
          <a:off x="4554473" y="2923794"/>
          <a:ext cx="187325" cy="553084"/>
        </p:xfrm>
        <a:graphic>
          <a:graphicData uri="http://schemas.openxmlformats.org/drawingml/2006/table">
            <a:tbl>
              <a:tblPr>
                <a:solidFill>
                  <a:srgbClr val="C55A11"/>
                </a:solidFill>
              </a:tblPr>
              <a:tblGrid>
                <a:gridCol w="187325"/>
              </a:tblGrid>
              <a:tr h="5435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16" name="table 2516"/>
          <p:cNvGraphicFramePr>
            <a:graphicFrameLocks noGrp="1"/>
          </p:cNvGraphicFramePr>
          <p:nvPr/>
        </p:nvGraphicFramePr>
        <p:xfrm>
          <a:off x="6811517" y="4598669"/>
          <a:ext cx="188594" cy="409575"/>
        </p:xfrm>
        <a:graphic>
          <a:graphicData uri="http://schemas.openxmlformats.org/drawingml/2006/table">
            <a:tbl>
              <a:tblPr/>
              <a:tblGrid>
                <a:gridCol w="188594"/>
              </a:tblGrid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18" name="table 2518"/>
          <p:cNvGraphicFramePr>
            <a:graphicFrameLocks noGrp="1"/>
          </p:cNvGraphicFramePr>
          <p:nvPr/>
        </p:nvGraphicFramePr>
        <p:xfrm>
          <a:off x="3374897" y="4597146"/>
          <a:ext cx="188595" cy="409575"/>
        </p:xfrm>
        <a:graphic>
          <a:graphicData uri="http://schemas.openxmlformats.org/drawingml/2006/table">
            <a:tbl>
              <a:tblPr/>
              <a:tblGrid>
                <a:gridCol w="188595"/>
              </a:tblGrid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20" name="table 2520"/>
          <p:cNvGraphicFramePr>
            <a:graphicFrameLocks noGrp="1"/>
          </p:cNvGraphicFramePr>
          <p:nvPr/>
        </p:nvGraphicFramePr>
        <p:xfrm>
          <a:off x="3391661" y="5767578"/>
          <a:ext cx="188595" cy="409575"/>
        </p:xfrm>
        <a:graphic>
          <a:graphicData uri="http://schemas.openxmlformats.org/drawingml/2006/table">
            <a:tbl>
              <a:tblPr>
                <a:solidFill>
                  <a:srgbClr val="BF9000"/>
                </a:solidFill>
              </a:tblPr>
              <a:tblGrid>
                <a:gridCol w="188595"/>
              </a:tblGrid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</a:tr>
            </a:tbl>
          </a:graphicData>
        </a:graphic>
      </p:graphicFrame>
      <p:sp>
        <p:nvSpPr>
          <p:cNvPr id="2522" name="rect 2522"/>
          <p:cNvSpPr/>
          <p:nvPr/>
        </p:nvSpPr>
        <p:spPr>
          <a:xfrm>
            <a:off x="4040123" y="3064764"/>
            <a:ext cx="178307" cy="399288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524" name="table 2524"/>
          <p:cNvGraphicFramePr>
            <a:graphicFrameLocks noGrp="1"/>
          </p:cNvGraphicFramePr>
          <p:nvPr/>
        </p:nvGraphicFramePr>
        <p:xfrm>
          <a:off x="4034790" y="3059430"/>
          <a:ext cx="188595" cy="409575"/>
        </p:xfrm>
        <a:graphic>
          <a:graphicData uri="http://schemas.openxmlformats.org/drawingml/2006/table">
            <a:tbl>
              <a:tblPr/>
              <a:tblGrid>
                <a:gridCol w="188595"/>
              </a:tblGrid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26" name="table 2526"/>
          <p:cNvGraphicFramePr>
            <a:graphicFrameLocks noGrp="1"/>
          </p:cNvGraphicFramePr>
          <p:nvPr/>
        </p:nvGraphicFramePr>
        <p:xfrm>
          <a:off x="6012941" y="3190494"/>
          <a:ext cx="187325" cy="409575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187325"/>
              </a:tblGrid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28" name="table 2528"/>
          <p:cNvGraphicFramePr>
            <a:graphicFrameLocks noGrp="1"/>
          </p:cNvGraphicFramePr>
          <p:nvPr/>
        </p:nvGraphicFramePr>
        <p:xfrm>
          <a:off x="2964941" y="3050285"/>
          <a:ext cx="187325" cy="409575"/>
        </p:xfrm>
        <a:graphic>
          <a:graphicData uri="http://schemas.openxmlformats.org/drawingml/2006/table">
            <a:tbl>
              <a:tblPr>
                <a:solidFill>
                  <a:srgbClr val="FDA103"/>
                </a:solidFill>
              </a:tblPr>
              <a:tblGrid>
                <a:gridCol w="187325"/>
              </a:tblGrid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30" name="table 2530"/>
          <p:cNvGraphicFramePr>
            <a:graphicFrameLocks noGrp="1"/>
          </p:cNvGraphicFramePr>
          <p:nvPr/>
        </p:nvGraphicFramePr>
        <p:xfrm>
          <a:off x="3516630" y="3050285"/>
          <a:ext cx="187325" cy="409575"/>
        </p:xfrm>
        <a:graphic>
          <a:graphicData uri="http://schemas.openxmlformats.org/drawingml/2006/table">
            <a:tbl>
              <a:tblPr>
                <a:solidFill>
                  <a:srgbClr val="002060"/>
                </a:solidFill>
              </a:tblPr>
              <a:tblGrid>
                <a:gridCol w="187325"/>
              </a:tblGrid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2532" name="textbox 2532"/>
          <p:cNvSpPr/>
          <p:nvPr/>
        </p:nvSpPr>
        <p:spPr>
          <a:xfrm>
            <a:off x="2459514" y="4782488"/>
            <a:ext cx="550544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</a:t>
            </a:r>
            <a:r>
              <a:rPr sz="1400" b="1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34" name="textbox 2534"/>
          <p:cNvSpPr/>
          <p:nvPr/>
        </p:nvSpPr>
        <p:spPr>
          <a:xfrm>
            <a:off x="2476230" y="5952985"/>
            <a:ext cx="550544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</a:t>
            </a:r>
            <a:r>
              <a:rPr sz="1400" b="1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36" name="textbox 2536"/>
          <p:cNvSpPr/>
          <p:nvPr/>
        </p:nvSpPr>
        <p:spPr>
          <a:xfrm>
            <a:off x="7956341" y="5129452"/>
            <a:ext cx="511809" cy="146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预交保函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38" name="textbox 2538"/>
          <p:cNvSpPr/>
          <p:nvPr/>
        </p:nvSpPr>
        <p:spPr>
          <a:xfrm>
            <a:off x="5323418" y="3640237"/>
            <a:ext cx="513080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净合约量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40" name="textbox 2540"/>
          <p:cNvSpPr/>
          <p:nvPr/>
        </p:nvSpPr>
        <p:spPr>
          <a:xfrm>
            <a:off x="3233949" y="5070031"/>
            <a:ext cx="513080" cy="146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7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净量额定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542" name="table 2542"/>
          <p:cNvGraphicFramePr>
            <a:graphicFrameLocks noGrp="1"/>
          </p:cNvGraphicFramePr>
          <p:nvPr/>
        </p:nvGraphicFramePr>
        <p:xfrm>
          <a:off x="8554973" y="3009138"/>
          <a:ext cx="188594" cy="295275"/>
        </p:xfrm>
        <a:graphic>
          <a:graphicData uri="http://schemas.openxmlformats.org/drawingml/2006/table">
            <a:tbl>
              <a:tblPr/>
              <a:tblGrid>
                <a:gridCol w="188594"/>
              </a:tblGrid>
              <a:tr h="285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44" name="table 2544"/>
          <p:cNvGraphicFramePr>
            <a:graphicFrameLocks noGrp="1"/>
          </p:cNvGraphicFramePr>
          <p:nvPr/>
        </p:nvGraphicFramePr>
        <p:xfrm>
          <a:off x="8554973" y="3289553"/>
          <a:ext cx="188594" cy="296545"/>
        </p:xfrm>
        <a:graphic>
          <a:graphicData uri="http://schemas.openxmlformats.org/drawingml/2006/table">
            <a:tbl>
              <a:tblPr>
                <a:solidFill>
                  <a:srgbClr val="00B0F0"/>
                </a:solidFill>
              </a:tblPr>
              <a:tblGrid>
                <a:gridCol w="188594"/>
              </a:tblGrid>
              <a:tr h="2870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46" name="table 2546"/>
          <p:cNvGraphicFramePr>
            <a:graphicFrameLocks noGrp="1"/>
          </p:cNvGraphicFramePr>
          <p:nvPr/>
        </p:nvGraphicFramePr>
        <p:xfrm>
          <a:off x="8554973" y="3574541"/>
          <a:ext cx="188594" cy="297179"/>
        </p:xfrm>
        <a:graphic>
          <a:graphicData uri="http://schemas.openxmlformats.org/drawingml/2006/table">
            <a:tbl>
              <a:tblPr>
                <a:solidFill>
                  <a:srgbClr val="BF9000"/>
                </a:solidFill>
              </a:tblPr>
              <a:tblGrid>
                <a:gridCol w="188594"/>
              </a:tblGrid>
              <a:tr h="2876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9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</a:tr>
            </a:tbl>
          </a:graphicData>
        </a:graphic>
      </p:graphicFrame>
      <p:sp>
        <p:nvSpPr>
          <p:cNvPr id="2548" name="textbox 2548"/>
          <p:cNvSpPr/>
          <p:nvPr/>
        </p:nvSpPr>
        <p:spPr>
          <a:xfrm>
            <a:off x="3416015" y="3491252"/>
            <a:ext cx="390525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分档级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50" name="picture 25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grpSp>
        <p:nvGrpSpPr>
          <p:cNvPr id="280" name="group 280"/>
          <p:cNvGrpSpPr/>
          <p:nvPr/>
        </p:nvGrpSpPr>
        <p:grpSpPr>
          <a:xfrm rot="21600000">
            <a:off x="3826001" y="3190494"/>
            <a:ext cx="140208" cy="163067"/>
            <a:chOff x="0" y="0"/>
            <a:chExt cx="140208" cy="163067"/>
          </a:xfrm>
        </p:grpSpPr>
        <p:sp>
          <p:nvSpPr>
            <p:cNvPr id="2552" name="path 2552"/>
            <p:cNvSpPr/>
            <p:nvPr/>
          </p:nvSpPr>
          <p:spPr>
            <a:xfrm>
              <a:off x="5334" y="5333"/>
              <a:ext cx="129540" cy="152400"/>
            </a:xfrm>
            <a:custGeom>
              <a:avLst/>
              <a:gdLst/>
              <a:ahLst/>
              <a:cxnLst/>
              <a:rect l="0" t="0" r="0" b="0"/>
              <a:pathLst>
                <a:path w="204" h="240">
                  <a:moveTo>
                    <a:pt x="0" y="28"/>
                  </a:moveTo>
                  <a:lnTo>
                    <a:pt x="35" y="0"/>
                  </a:lnTo>
                  <a:lnTo>
                    <a:pt x="103" y="84"/>
                  </a:lnTo>
                  <a:lnTo>
                    <a:pt x="170" y="0"/>
                  </a:lnTo>
                  <a:lnTo>
                    <a:pt x="204" y="28"/>
                  </a:lnTo>
                  <a:lnTo>
                    <a:pt x="132" y="120"/>
                  </a:lnTo>
                  <a:lnTo>
                    <a:pt x="204" y="211"/>
                  </a:lnTo>
                  <a:lnTo>
                    <a:pt x="170" y="240"/>
                  </a:lnTo>
                  <a:lnTo>
                    <a:pt x="103" y="155"/>
                  </a:lnTo>
                  <a:lnTo>
                    <a:pt x="35" y="240"/>
                  </a:lnTo>
                  <a:lnTo>
                    <a:pt x="0" y="211"/>
                  </a:lnTo>
                  <a:lnTo>
                    <a:pt x="74" y="12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54" name="path 2554"/>
            <p:cNvSpPr/>
            <p:nvPr/>
          </p:nvSpPr>
          <p:spPr>
            <a:xfrm>
              <a:off x="0" y="0"/>
              <a:ext cx="140208" cy="163067"/>
            </a:xfrm>
            <a:custGeom>
              <a:avLst/>
              <a:gdLst/>
              <a:ahLst/>
              <a:cxnLst/>
              <a:rect l="0" t="0" r="0" b="0"/>
              <a:pathLst>
                <a:path w="220" h="256">
                  <a:moveTo>
                    <a:pt x="8" y="37"/>
                  </a:moveTo>
                  <a:lnTo>
                    <a:pt x="44" y="8"/>
                  </a:lnTo>
                  <a:lnTo>
                    <a:pt x="111" y="92"/>
                  </a:lnTo>
                  <a:lnTo>
                    <a:pt x="178" y="8"/>
                  </a:lnTo>
                  <a:lnTo>
                    <a:pt x="212" y="37"/>
                  </a:lnTo>
                  <a:lnTo>
                    <a:pt x="140" y="128"/>
                  </a:lnTo>
                  <a:lnTo>
                    <a:pt x="212" y="219"/>
                  </a:lnTo>
                  <a:lnTo>
                    <a:pt x="178" y="248"/>
                  </a:lnTo>
                  <a:lnTo>
                    <a:pt x="111" y="164"/>
                  </a:lnTo>
                  <a:lnTo>
                    <a:pt x="44" y="248"/>
                  </a:lnTo>
                  <a:lnTo>
                    <a:pt x="8" y="219"/>
                  </a:lnTo>
                  <a:lnTo>
                    <a:pt x="82" y="128"/>
                  </a:lnTo>
                  <a:lnTo>
                    <a:pt x="8" y="37"/>
                  </a:lnTo>
                  <a:close/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82" name="group 282"/>
          <p:cNvGrpSpPr/>
          <p:nvPr/>
        </p:nvGrpSpPr>
        <p:grpSpPr>
          <a:xfrm rot="21600000">
            <a:off x="5804153" y="3321558"/>
            <a:ext cx="140208" cy="161543"/>
            <a:chOff x="0" y="0"/>
            <a:chExt cx="140208" cy="161543"/>
          </a:xfrm>
        </p:grpSpPr>
        <p:sp>
          <p:nvSpPr>
            <p:cNvPr id="2556" name="path 2556"/>
            <p:cNvSpPr/>
            <p:nvPr/>
          </p:nvSpPr>
          <p:spPr>
            <a:xfrm>
              <a:off x="5334" y="5333"/>
              <a:ext cx="129540" cy="150876"/>
            </a:xfrm>
            <a:custGeom>
              <a:avLst/>
              <a:gdLst/>
              <a:ahLst/>
              <a:cxnLst/>
              <a:rect l="0" t="0" r="0" b="0"/>
              <a:pathLst>
                <a:path w="204" h="237">
                  <a:moveTo>
                    <a:pt x="0" y="28"/>
                  </a:moveTo>
                  <a:lnTo>
                    <a:pt x="33" y="0"/>
                  </a:lnTo>
                  <a:lnTo>
                    <a:pt x="103" y="84"/>
                  </a:lnTo>
                  <a:lnTo>
                    <a:pt x="170" y="0"/>
                  </a:lnTo>
                  <a:lnTo>
                    <a:pt x="204" y="28"/>
                  </a:lnTo>
                  <a:lnTo>
                    <a:pt x="132" y="120"/>
                  </a:lnTo>
                  <a:lnTo>
                    <a:pt x="204" y="211"/>
                  </a:lnTo>
                  <a:lnTo>
                    <a:pt x="170" y="237"/>
                  </a:lnTo>
                  <a:lnTo>
                    <a:pt x="103" y="153"/>
                  </a:lnTo>
                  <a:lnTo>
                    <a:pt x="33" y="237"/>
                  </a:lnTo>
                  <a:lnTo>
                    <a:pt x="0" y="211"/>
                  </a:lnTo>
                  <a:lnTo>
                    <a:pt x="74" y="12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58" name="path 2558"/>
            <p:cNvSpPr/>
            <p:nvPr/>
          </p:nvSpPr>
          <p:spPr>
            <a:xfrm>
              <a:off x="0" y="0"/>
              <a:ext cx="140208" cy="161543"/>
            </a:xfrm>
            <a:custGeom>
              <a:avLst/>
              <a:gdLst/>
              <a:ahLst/>
              <a:cxnLst/>
              <a:rect l="0" t="0" r="0" b="0"/>
              <a:pathLst>
                <a:path w="220" h="254">
                  <a:moveTo>
                    <a:pt x="8" y="37"/>
                  </a:moveTo>
                  <a:lnTo>
                    <a:pt x="42" y="8"/>
                  </a:lnTo>
                  <a:lnTo>
                    <a:pt x="111" y="92"/>
                  </a:lnTo>
                  <a:lnTo>
                    <a:pt x="178" y="8"/>
                  </a:lnTo>
                  <a:lnTo>
                    <a:pt x="212" y="37"/>
                  </a:lnTo>
                  <a:lnTo>
                    <a:pt x="140" y="128"/>
                  </a:lnTo>
                  <a:lnTo>
                    <a:pt x="212" y="219"/>
                  </a:lnTo>
                  <a:lnTo>
                    <a:pt x="178" y="245"/>
                  </a:lnTo>
                  <a:lnTo>
                    <a:pt x="111" y="161"/>
                  </a:lnTo>
                  <a:lnTo>
                    <a:pt x="42" y="245"/>
                  </a:lnTo>
                  <a:lnTo>
                    <a:pt x="8" y="219"/>
                  </a:lnTo>
                  <a:lnTo>
                    <a:pt x="82" y="128"/>
                  </a:lnTo>
                  <a:lnTo>
                    <a:pt x="8" y="37"/>
                  </a:lnTo>
                  <a:close/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84" name="group 284"/>
          <p:cNvGrpSpPr/>
          <p:nvPr/>
        </p:nvGrpSpPr>
        <p:grpSpPr>
          <a:xfrm rot="21600000">
            <a:off x="3265169" y="3202685"/>
            <a:ext cx="152400" cy="132588"/>
            <a:chOff x="0" y="0"/>
            <a:chExt cx="152400" cy="132588"/>
          </a:xfrm>
        </p:grpSpPr>
        <p:sp>
          <p:nvSpPr>
            <p:cNvPr id="2560" name="path 2560"/>
            <p:cNvSpPr/>
            <p:nvPr/>
          </p:nvSpPr>
          <p:spPr>
            <a:xfrm>
              <a:off x="5333" y="5333"/>
              <a:ext cx="141732" cy="121920"/>
            </a:xfrm>
            <a:custGeom>
              <a:avLst/>
              <a:gdLst/>
              <a:ahLst/>
              <a:cxnLst/>
              <a:rect l="0" t="0" r="0" b="0"/>
              <a:pathLst>
                <a:path w="223" h="192">
                  <a:moveTo>
                    <a:pt x="0" y="48"/>
                  </a:moveTo>
                  <a:lnTo>
                    <a:pt x="129" y="48"/>
                  </a:lnTo>
                  <a:lnTo>
                    <a:pt x="129" y="0"/>
                  </a:lnTo>
                  <a:lnTo>
                    <a:pt x="223" y="96"/>
                  </a:lnTo>
                  <a:lnTo>
                    <a:pt x="129" y="192"/>
                  </a:lnTo>
                  <a:lnTo>
                    <a:pt x="129" y="144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62" name="path 2562"/>
            <p:cNvSpPr/>
            <p:nvPr/>
          </p:nvSpPr>
          <p:spPr>
            <a:xfrm>
              <a:off x="0" y="0"/>
              <a:ext cx="152400" cy="132588"/>
            </a:xfrm>
            <a:custGeom>
              <a:avLst/>
              <a:gdLst/>
              <a:ahLst/>
              <a:cxnLst/>
              <a:rect l="0" t="0" r="0" b="0"/>
              <a:pathLst>
                <a:path w="240" h="208">
                  <a:moveTo>
                    <a:pt x="8" y="56"/>
                  </a:moveTo>
                  <a:lnTo>
                    <a:pt x="138" y="56"/>
                  </a:lnTo>
                  <a:lnTo>
                    <a:pt x="138" y="8"/>
                  </a:lnTo>
                  <a:lnTo>
                    <a:pt x="231" y="104"/>
                  </a:lnTo>
                  <a:lnTo>
                    <a:pt x="138" y="200"/>
                  </a:lnTo>
                  <a:lnTo>
                    <a:pt x="138" y="152"/>
                  </a:lnTo>
                  <a:lnTo>
                    <a:pt x="8" y="152"/>
                  </a:lnTo>
                  <a:lnTo>
                    <a:pt x="8" y="56"/>
                  </a:lnTo>
                  <a:close/>
                </a:path>
              </a:pathLst>
            </a:custGeom>
            <a:noFill/>
            <a:ln w="10668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86" name="group 286"/>
          <p:cNvGrpSpPr/>
          <p:nvPr/>
        </p:nvGrpSpPr>
        <p:grpSpPr>
          <a:xfrm rot="21600000">
            <a:off x="4304537" y="3216401"/>
            <a:ext cx="170688" cy="117348"/>
            <a:chOff x="0" y="0"/>
            <a:chExt cx="170688" cy="117348"/>
          </a:xfrm>
        </p:grpSpPr>
        <p:sp>
          <p:nvSpPr>
            <p:cNvPr id="2564" name="path 2564"/>
            <p:cNvSpPr/>
            <p:nvPr/>
          </p:nvSpPr>
          <p:spPr>
            <a:xfrm>
              <a:off x="5334" y="5334"/>
              <a:ext cx="160020" cy="106679"/>
            </a:xfrm>
            <a:custGeom>
              <a:avLst/>
              <a:gdLst/>
              <a:ahLst/>
              <a:cxnLst/>
              <a:rect l="0" t="0" r="0" b="0"/>
              <a:pathLst>
                <a:path w="252" h="167">
                  <a:moveTo>
                    <a:pt x="0" y="0"/>
                  </a:moveTo>
                  <a:lnTo>
                    <a:pt x="252" y="0"/>
                  </a:lnTo>
                  <a:lnTo>
                    <a:pt x="252" y="33"/>
                  </a:lnTo>
                  <a:lnTo>
                    <a:pt x="0" y="33"/>
                  </a:lnTo>
                  <a:lnTo>
                    <a:pt x="0" y="0"/>
                  </a:lnTo>
                  <a:close/>
                  <a:moveTo>
                    <a:pt x="0" y="132"/>
                  </a:moveTo>
                  <a:lnTo>
                    <a:pt x="252" y="132"/>
                  </a:lnTo>
                  <a:lnTo>
                    <a:pt x="252" y="167"/>
                  </a:lnTo>
                  <a:lnTo>
                    <a:pt x="0" y="167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66" name="path 2566"/>
            <p:cNvSpPr/>
            <p:nvPr/>
          </p:nvSpPr>
          <p:spPr>
            <a:xfrm>
              <a:off x="0" y="0"/>
              <a:ext cx="170688" cy="117348"/>
            </a:xfrm>
            <a:custGeom>
              <a:avLst/>
              <a:gdLst/>
              <a:ahLst/>
              <a:cxnLst/>
              <a:rect l="0" t="0" r="0" b="0"/>
              <a:pathLst>
                <a:path w="268" h="184">
                  <a:moveTo>
                    <a:pt x="8" y="8"/>
                  </a:moveTo>
                  <a:lnTo>
                    <a:pt x="260" y="8"/>
                  </a:lnTo>
                  <a:lnTo>
                    <a:pt x="260" y="42"/>
                  </a:lnTo>
                  <a:lnTo>
                    <a:pt x="8" y="42"/>
                  </a:lnTo>
                  <a:lnTo>
                    <a:pt x="8" y="8"/>
                  </a:lnTo>
                  <a:close/>
                  <a:moveTo>
                    <a:pt x="8" y="140"/>
                  </a:moveTo>
                  <a:lnTo>
                    <a:pt x="260" y="140"/>
                  </a:lnTo>
                  <a:lnTo>
                    <a:pt x="260" y="176"/>
                  </a:lnTo>
                  <a:lnTo>
                    <a:pt x="8" y="176"/>
                  </a:lnTo>
                  <a:lnTo>
                    <a:pt x="8" y="140"/>
                  </a:lnTo>
                  <a:close/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88" name="group 288"/>
          <p:cNvGrpSpPr/>
          <p:nvPr/>
        </p:nvGrpSpPr>
        <p:grpSpPr>
          <a:xfrm rot="21600000">
            <a:off x="6282688" y="3345941"/>
            <a:ext cx="170688" cy="117348"/>
            <a:chOff x="0" y="0"/>
            <a:chExt cx="170688" cy="117348"/>
          </a:xfrm>
        </p:grpSpPr>
        <p:sp>
          <p:nvSpPr>
            <p:cNvPr id="2568" name="path 2568"/>
            <p:cNvSpPr/>
            <p:nvPr/>
          </p:nvSpPr>
          <p:spPr>
            <a:xfrm>
              <a:off x="5334" y="5334"/>
              <a:ext cx="160020" cy="106679"/>
            </a:xfrm>
            <a:custGeom>
              <a:avLst/>
              <a:gdLst/>
              <a:ahLst/>
              <a:cxnLst/>
              <a:rect l="0" t="0" r="0" b="0"/>
              <a:pathLst>
                <a:path w="252" h="167">
                  <a:moveTo>
                    <a:pt x="0" y="0"/>
                  </a:moveTo>
                  <a:lnTo>
                    <a:pt x="252" y="0"/>
                  </a:lnTo>
                  <a:lnTo>
                    <a:pt x="252" y="35"/>
                  </a:lnTo>
                  <a:lnTo>
                    <a:pt x="0" y="35"/>
                  </a:lnTo>
                  <a:lnTo>
                    <a:pt x="0" y="0"/>
                  </a:lnTo>
                  <a:close/>
                  <a:moveTo>
                    <a:pt x="0" y="134"/>
                  </a:moveTo>
                  <a:lnTo>
                    <a:pt x="252" y="134"/>
                  </a:lnTo>
                  <a:lnTo>
                    <a:pt x="252" y="167"/>
                  </a:lnTo>
                  <a:lnTo>
                    <a:pt x="0" y="167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70" name="path 2570"/>
            <p:cNvSpPr/>
            <p:nvPr/>
          </p:nvSpPr>
          <p:spPr>
            <a:xfrm>
              <a:off x="0" y="0"/>
              <a:ext cx="170688" cy="117348"/>
            </a:xfrm>
            <a:custGeom>
              <a:avLst/>
              <a:gdLst/>
              <a:ahLst/>
              <a:cxnLst/>
              <a:rect l="0" t="0" r="0" b="0"/>
              <a:pathLst>
                <a:path w="268" h="184">
                  <a:moveTo>
                    <a:pt x="8" y="8"/>
                  </a:moveTo>
                  <a:lnTo>
                    <a:pt x="260" y="8"/>
                  </a:lnTo>
                  <a:lnTo>
                    <a:pt x="260" y="44"/>
                  </a:lnTo>
                  <a:lnTo>
                    <a:pt x="8" y="44"/>
                  </a:lnTo>
                  <a:lnTo>
                    <a:pt x="8" y="8"/>
                  </a:lnTo>
                  <a:close/>
                  <a:moveTo>
                    <a:pt x="8" y="142"/>
                  </a:moveTo>
                  <a:lnTo>
                    <a:pt x="260" y="142"/>
                  </a:lnTo>
                  <a:lnTo>
                    <a:pt x="260" y="176"/>
                  </a:lnTo>
                  <a:lnTo>
                    <a:pt x="8" y="176"/>
                  </a:lnTo>
                  <a:lnTo>
                    <a:pt x="8" y="142"/>
                  </a:lnTo>
                  <a:close/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2572" name="picture 25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295132" y="3404615"/>
            <a:ext cx="265176" cy="67055"/>
          </a:xfrm>
          <a:prstGeom prst="rect">
            <a:avLst/>
          </a:prstGeom>
        </p:spPr>
      </p:pic>
      <p:pic>
        <p:nvPicPr>
          <p:cNvPr id="2574" name="picture 257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295132" y="3125723"/>
            <a:ext cx="265176" cy="65532"/>
          </a:xfrm>
          <a:prstGeom prst="rect">
            <a:avLst/>
          </a:prstGeom>
        </p:spPr>
      </p:pic>
      <p:pic>
        <p:nvPicPr>
          <p:cNvPr id="2576" name="picture 257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307323" y="3691128"/>
            <a:ext cx="252983" cy="67055"/>
          </a:xfrm>
          <a:prstGeom prst="rect">
            <a:avLst/>
          </a:prstGeom>
        </p:spPr>
      </p:pic>
      <p:pic>
        <p:nvPicPr>
          <p:cNvPr id="2578" name="picture 257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2613659" y="5407151"/>
            <a:ext cx="1943100" cy="7620"/>
          </a:xfrm>
          <a:prstGeom prst="rect">
            <a:avLst/>
          </a:prstGeom>
        </p:spPr>
      </p:pic>
      <p:pic>
        <p:nvPicPr>
          <p:cNvPr id="2580" name="picture 258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635251" y="5518403"/>
            <a:ext cx="12192" cy="1135380"/>
          </a:xfrm>
          <a:prstGeom prst="rect">
            <a:avLst/>
          </a:prstGeom>
        </p:spPr>
      </p:pic>
      <p:pic>
        <p:nvPicPr>
          <p:cNvPr id="2582" name="picture 258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645920" y="2763011"/>
            <a:ext cx="10667" cy="893064"/>
          </a:xfrm>
          <a:prstGeom prst="rect">
            <a:avLst/>
          </a:prstGeom>
        </p:spPr>
      </p:pic>
      <p:pic>
        <p:nvPicPr>
          <p:cNvPr id="2584" name="picture 258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23087" y="4573523"/>
            <a:ext cx="10668" cy="702564"/>
          </a:xfrm>
          <a:prstGeom prst="rect">
            <a:avLst/>
          </a:prstGeom>
        </p:spPr>
      </p:pic>
      <p:pic>
        <p:nvPicPr>
          <p:cNvPr id="2586" name="picture 258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23087" y="3838955"/>
            <a:ext cx="10668" cy="701040"/>
          </a:xfrm>
          <a:prstGeom prst="rect">
            <a:avLst/>
          </a:prstGeom>
        </p:spPr>
      </p:pic>
      <p:pic>
        <p:nvPicPr>
          <p:cNvPr id="2588" name="picture 258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1644396" y="3681983"/>
            <a:ext cx="9144" cy="434340"/>
          </a:xfrm>
          <a:prstGeom prst="rect">
            <a:avLst/>
          </a:prstGeom>
        </p:spPr>
      </p:pic>
      <p:pic>
        <p:nvPicPr>
          <p:cNvPr id="2590" name="picture 259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1641348" y="4600955"/>
            <a:ext cx="9144" cy="434339"/>
          </a:xfrm>
          <a:prstGeom prst="rect">
            <a:avLst/>
          </a:prstGeom>
        </p:spPr>
      </p:pic>
      <p:pic>
        <p:nvPicPr>
          <p:cNvPr id="2592" name="picture 259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1642872" y="4140708"/>
            <a:ext cx="9144" cy="43433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path 2594"/>
          <p:cNvSpPr/>
          <p:nvPr/>
        </p:nvSpPr>
        <p:spPr>
          <a:xfrm>
            <a:off x="338327" y="2354579"/>
            <a:ext cx="10151363" cy="3890771"/>
          </a:xfrm>
          <a:custGeom>
            <a:avLst/>
            <a:gdLst/>
            <a:ahLst/>
            <a:cxnLst/>
            <a:rect l="0" t="0" r="0" b="0"/>
            <a:pathLst>
              <a:path w="15986" h="6127">
                <a:moveTo>
                  <a:pt x="0" y="0"/>
                </a:moveTo>
                <a:lnTo>
                  <a:pt x="15986" y="0"/>
                </a:lnTo>
                <a:lnTo>
                  <a:pt x="15986" y="156"/>
                </a:lnTo>
                <a:lnTo>
                  <a:pt x="0" y="156"/>
                </a:lnTo>
                <a:lnTo>
                  <a:pt x="0" y="0"/>
                </a:lnTo>
                <a:close/>
                <a:moveTo>
                  <a:pt x="0" y="5973"/>
                </a:moveTo>
                <a:lnTo>
                  <a:pt x="15986" y="5973"/>
                </a:lnTo>
                <a:lnTo>
                  <a:pt x="15986" y="6127"/>
                </a:lnTo>
                <a:lnTo>
                  <a:pt x="0" y="6127"/>
                </a:lnTo>
                <a:lnTo>
                  <a:pt x="0" y="5973"/>
                </a:lnTo>
                <a:close/>
              </a:path>
            </a:pathLst>
          </a:custGeom>
          <a:solidFill>
            <a:srgbClr val="16375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96" name="textbox 2596"/>
          <p:cNvSpPr/>
          <p:nvPr/>
        </p:nvSpPr>
        <p:spPr>
          <a:xfrm>
            <a:off x="2367853" y="2823999"/>
            <a:ext cx="1432560" cy="2413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9225" algn="l" rtl="0" eaLnBrk="0">
              <a:lnSpc>
                <a:spcPts val="2089"/>
              </a:lnSpc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1.5元/千瓦时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53"/>
              </a:spcBef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分时上下限价格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4135" algn="l" rtl="0" eaLnBrk="0">
              <a:lnSpc>
                <a:spcPts val="2089"/>
              </a:lnSpc>
              <a:spcBef>
                <a:spcPts val="1"/>
              </a:spcBef>
              <a:tabLst/>
            </a:pP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0.07元/千瓦时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98" name="textbox 2598"/>
          <p:cNvSpPr/>
          <p:nvPr/>
        </p:nvSpPr>
        <p:spPr>
          <a:xfrm>
            <a:off x="6269533" y="3396167"/>
            <a:ext cx="2633345" cy="509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7320" indent="-134620" algn="l" rtl="0" eaLnBrk="0">
              <a:lnSpc>
                <a:spcPct val="106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与分时电量的加权均价不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得突</a:t>
            </a: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破0.372</a:t>
            </a:r>
            <a:r>
              <a:rPr sz="15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~0.554元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/千瓦时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00" name="textbox 2600"/>
          <p:cNvSpPr/>
          <p:nvPr/>
        </p:nvSpPr>
        <p:spPr>
          <a:xfrm>
            <a:off x="523950" y="1082263"/>
            <a:ext cx="3323590" cy="391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84"/>
              </a:lnSpc>
              <a:tabLst/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广东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2022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年长协价格控制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02" name="picture 26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84975" y="4374641"/>
            <a:ext cx="2984753" cy="297180"/>
          </a:xfrm>
          <a:prstGeom prst="rect">
            <a:avLst/>
          </a:prstGeom>
        </p:spPr>
      </p:pic>
      <p:sp>
        <p:nvSpPr>
          <p:cNvPr id="2604" name="textbox 2604"/>
          <p:cNvSpPr/>
          <p:nvPr/>
        </p:nvSpPr>
        <p:spPr>
          <a:xfrm>
            <a:off x="6373273" y="4709872"/>
            <a:ext cx="2967989" cy="306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ts val="1105"/>
              </a:lnSpc>
              <a:tabLst/>
            </a:pPr>
            <a:r>
              <a:rPr sz="8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1      3      </a:t>
            </a:r>
            <a:r>
              <a:rPr sz="8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5      7      9      11</a:t>
            </a:r>
            <a:r>
              <a:rPr sz="8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8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13</a:t>
            </a:r>
            <a:r>
              <a:rPr sz="8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8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</a:t>
            </a:r>
            <a:r>
              <a:rPr sz="8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8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17</a:t>
            </a:r>
            <a:r>
              <a:rPr sz="8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8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19</a:t>
            </a:r>
            <a:r>
              <a:rPr sz="8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8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1105"/>
              </a:lnSpc>
              <a:tabLst/>
            </a:pPr>
            <a:r>
              <a:rPr sz="8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23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06" name="path 2606"/>
          <p:cNvSpPr/>
          <p:nvPr/>
        </p:nvSpPr>
        <p:spPr>
          <a:xfrm>
            <a:off x="4512564" y="3797808"/>
            <a:ext cx="701040" cy="513587"/>
          </a:xfrm>
          <a:custGeom>
            <a:avLst/>
            <a:gdLst/>
            <a:ahLst/>
            <a:cxnLst/>
            <a:rect l="0" t="0" r="0" b="0"/>
            <a:pathLst>
              <a:path w="1104" h="808">
                <a:moveTo>
                  <a:pt x="0" y="439"/>
                </a:moveTo>
                <a:lnTo>
                  <a:pt x="84" y="484"/>
                </a:lnTo>
                <a:lnTo>
                  <a:pt x="67" y="808"/>
                </a:lnTo>
                <a:lnTo>
                  <a:pt x="175" y="808"/>
                </a:lnTo>
                <a:lnTo>
                  <a:pt x="182" y="530"/>
                </a:lnTo>
                <a:lnTo>
                  <a:pt x="232" y="530"/>
                </a:lnTo>
                <a:lnTo>
                  <a:pt x="249" y="808"/>
                </a:lnTo>
                <a:lnTo>
                  <a:pt x="357" y="808"/>
                </a:lnTo>
                <a:lnTo>
                  <a:pt x="340" y="484"/>
                </a:lnTo>
                <a:lnTo>
                  <a:pt x="324" y="285"/>
                </a:lnTo>
                <a:lnTo>
                  <a:pt x="564" y="285"/>
                </a:lnTo>
                <a:lnTo>
                  <a:pt x="631" y="213"/>
                </a:lnTo>
                <a:lnTo>
                  <a:pt x="357" y="199"/>
                </a:lnTo>
                <a:lnTo>
                  <a:pt x="232" y="199"/>
                </a:lnTo>
                <a:lnTo>
                  <a:pt x="232" y="213"/>
                </a:lnTo>
                <a:lnTo>
                  <a:pt x="215" y="240"/>
                </a:lnTo>
                <a:lnTo>
                  <a:pt x="249" y="381"/>
                </a:lnTo>
                <a:lnTo>
                  <a:pt x="215" y="415"/>
                </a:lnTo>
                <a:lnTo>
                  <a:pt x="215" y="415"/>
                </a:lnTo>
                <a:lnTo>
                  <a:pt x="199" y="415"/>
                </a:lnTo>
                <a:lnTo>
                  <a:pt x="199" y="415"/>
                </a:lnTo>
                <a:lnTo>
                  <a:pt x="199" y="415"/>
                </a:lnTo>
                <a:lnTo>
                  <a:pt x="175" y="381"/>
                </a:lnTo>
                <a:lnTo>
                  <a:pt x="182" y="240"/>
                </a:lnTo>
                <a:lnTo>
                  <a:pt x="182" y="213"/>
                </a:lnTo>
                <a:lnTo>
                  <a:pt x="182" y="199"/>
                </a:lnTo>
                <a:lnTo>
                  <a:pt x="67" y="199"/>
                </a:lnTo>
                <a:lnTo>
                  <a:pt x="0" y="439"/>
                </a:lnTo>
                <a:lnTo>
                  <a:pt x="0" y="439"/>
                </a:lnTo>
                <a:close/>
                <a:moveTo>
                  <a:pt x="215" y="0"/>
                </a:moveTo>
                <a:lnTo>
                  <a:pt x="215" y="0"/>
                </a:lnTo>
                <a:lnTo>
                  <a:pt x="175" y="0"/>
                </a:lnTo>
                <a:lnTo>
                  <a:pt x="124" y="26"/>
                </a:lnTo>
                <a:lnTo>
                  <a:pt x="91" y="57"/>
                </a:lnTo>
                <a:lnTo>
                  <a:pt x="91" y="95"/>
                </a:lnTo>
                <a:lnTo>
                  <a:pt x="91" y="95"/>
                </a:lnTo>
                <a:lnTo>
                  <a:pt x="91" y="129"/>
                </a:lnTo>
                <a:lnTo>
                  <a:pt x="124" y="155"/>
                </a:lnTo>
                <a:lnTo>
                  <a:pt x="175" y="175"/>
                </a:lnTo>
                <a:lnTo>
                  <a:pt x="215" y="175"/>
                </a:lnTo>
                <a:lnTo>
                  <a:pt x="215" y="175"/>
                </a:lnTo>
                <a:lnTo>
                  <a:pt x="266" y="175"/>
                </a:lnTo>
                <a:lnTo>
                  <a:pt x="290" y="155"/>
                </a:lnTo>
                <a:lnTo>
                  <a:pt x="324" y="129"/>
                </a:lnTo>
                <a:lnTo>
                  <a:pt x="324" y="95"/>
                </a:lnTo>
                <a:lnTo>
                  <a:pt x="324" y="95"/>
                </a:lnTo>
                <a:lnTo>
                  <a:pt x="324" y="57"/>
                </a:lnTo>
                <a:lnTo>
                  <a:pt x="290" y="26"/>
                </a:lnTo>
                <a:lnTo>
                  <a:pt x="266" y="0"/>
                </a:lnTo>
                <a:lnTo>
                  <a:pt x="215" y="0"/>
                </a:lnTo>
                <a:lnTo>
                  <a:pt x="215" y="0"/>
                </a:lnTo>
                <a:close/>
                <a:moveTo>
                  <a:pt x="472" y="388"/>
                </a:moveTo>
                <a:lnTo>
                  <a:pt x="580" y="369"/>
                </a:lnTo>
                <a:lnTo>
                  <a:pt x="580" y="369"/>
                </a:lnTo>
                <a:lnTo>
                  <a:pt x="597" y="369"/>
                </a:lnTo>
                <a:lnTo>
                  <a:pt x="672" y="400"/>
                </a:lnTo>
                <a:lnTo>
                  <a:pt x="739" y="259"/>
                </a:lnTo>
                <a:lnTo>
                  <a:pt x="746" y="240"/>
                </a:lnTo>
                <a:lnTo>
                  <a:pt x="763" y="259"/>
                </a:lnTo>
                <a:lnTo>
                  <a:pt x="830" y="309"/>
                </a:lnTo>
                <a:lnTo>
                  <a:pt x="921" y="187"/>
                </a:lnTo>
                <a:lnTo>
                  <a:pt x="945" y="199"/>
                </a:lnTo>
                <a:lnTo>
                  <a:pt x="837" y="328"/>
                </a:lnTo>
                <a:lnTo>
                  <a:pt x="837" y="355"/>
                </a:lnTo>
                <a:lnTo>
                  <a:pt x="830" y="343"/>
                </a:lnTo>
                <a:lnTo>
                  <a:pt x="763" y="297"/>
                </a:lnTo>
                <a:lnTo>
                  <a:pt x="705" y="439"/>
                </a:lnTo>
                <a:lnTo>
                  <a:pt x="688" y="453"/>
                </a:lnTo>
                <a:lnTo>
                  <a:pt x="672" y="439"/>
                </a:lnTo>
                <a:lnTo>
                  <a:pt x="580" y="388"/>
                </a:lnTo>
                <a:lnTo>
                  <a:pt x="472" y="427"/>
                </a:lnTo>
                <a:lnTo>
                  <a:pt x="472" y="388"/>
                </a:lnTo>
                <a:lnTo>
                  <a:pt x="472" y="388"/>
                </a:lnTo>
                <a:close/>
                <a:moveTo>
                  <a:pt x="489" y="758"/>
                </a:moveTo>
                <a:lnTo>
                  <a:pt x="837" y="758"/>
                </a:lnTo>
                <a:lnTo>
                  <a:pt x="837" y="808"/>
                </a:lnTo>
                <a:lnTo>
                  <a:pt x="489" y="808"/>
                </a:lnTo>
                <a:lnTo>
                  <a:pt x="489" y="758"/>
                </a:lnTo>
                <a:lnTo>
                  <a:pt x="489" y="758"/>
                </a:lnTo>
                <a:close/>
                <a:moveTo>
                  <a:pt x="722" y="595"/>
                </a:moveTo>
                <a:lnTo>
                  <a:pt x="722" y="736"/>
                </a:lnTo>
                <a:lnTo>
                  <a:pt x="614" y="736"/>
                </a:lnTo>
                <a:lnTo>
                  <a:pt x="614" y="595"/>
                </a:lnTo>
                <a:lnTo>
                  <a:pt x="415" y="595"/>
                </a:lnTo>
                <a:lnTo>
                  <a:pt x="415" y="530"/>
                </a:lnTo>
                <a:lnTo>
                  <a:pt x="1020" y="530"/>
                </a:lnTo>
                <a:lnTo>
                  <a:pt x="1020" y="83"/>
                </a:lnTo>
                <a:lnTo>
                  <a:pt x="381" y="83"/>
                </a:lnTo>
                <a:lnTo>
                  <a:pt x="381" y="26"/>
                </a:lnTo>
                <a:lnTo>
                  <a:pt x="1070" y="26"/>
                </a:lnTo>
                <a:lnTo>
                  <a:pt x="1104" y="26"/>
                </a:lnTo>
                <a:lnTo>
                  <a:pt x="1104" y="45"/>
                </a:lnTo>
                <a:lnTo>
                  <a:pt x="1104" y="568"/>
                </a:lnTo>
                <a:lnTo>
                  <a:pt x="1104" y="595"/>
                </a:lnTo>
                <a:lnTo>
                  <a:pt x="1070" y="595"/>
                </a:lnTo>
                <a:lnTo>
                  <a:pt x="722" y="595"/>
                </a:lnTo>
                <a:close/>
              </a:path>
            </a:pathLst>
          </a:cu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08" name="textbox 2608"/>
          <p:cNvSpPr/>
          <p:nvPr/>
        </p:nvSpPr>
        <p:spPr>
          <a:xfrm>
            <a:off x="4498757" y="5811184"/>
            <a:ext cx="1831339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下限0.372元/千瓦时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10" name="textbox 2610"/>
          <p:cNvSpPr/>
          <p:nvPr/>
        </p:nvSpPr>
        <p:spPr>
          <a:xfrm>
            <a:off x="4498757" y="2537692"/>
            <a:ext cx="1831339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上限0.554元/千瓦时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12" name="path 2612"/>
          <p:cNvSpPr/>
          <p:nvPr/>
        </p:nvSpPr>
        <p:spPr>
          <a:xfrm>
            <a:off x="1216152" y="3869435"/>
            <a:ext cx="525780" cy="406907"/>
          </a:xfrm>
          <a:custGeom>
            <a:avLst/>
            <a:gdLst/>
            <a:ahLst/>
            <a:cxnLst/>
            <a:rect l="0" t="0" r="0" b="0"/>
            <a:pathLst>
              <a:path w="828" h="640">
                <a:moveTo>
                  <a:pt x="57" y="0"/>
                </a:moveTo>
                <a:cubicBezTo>
                  <a:pt x="772" y="0"/>
                  <a:pt x="772" y="0"/>
                  <a:pt x="772" y="0"/>
                </a:cubicBezTo>
                <a:cubicBezTo>
                  <a:pt x="794" y="0"/>
                  <a:pt x="828" y="19"/>
                  <a:pt x="828" y="48"/>
                </a:cubicBezTo>
                <a:cubicBezTo>
                  <a:pt x="828" y="432"/>
                  <a:pt x="828" y="432"/>
                  <a:pt x="828" y="432"/>
                </a:cubicBezTo>
                <a:cubicBezTo>
                  <a:pt x="828" y="451"/>
                  <a:pt x="794" y="470"/>
                  <a:pt x="772" y="470"/>
                </a:cubicBezTo>
                <a:cubicBezTo>
                  <a:pt x="736" y="470"/>
                  <a:pt x="736" y="470"/>
                  <a:pt x="736" y="470"/>
                </a:cubicBezTo>
                <a:cubicBezTo>
                  <a:pt x="736" y="460"/>
                  <a:pt x="736" y="441"/>
                  <a:pt x="736" y="432"/>
                </a:cubicBezTo>
                <a:cubicBezTo>
                  <a:pt x="760" y="432"/>
                  <a:pt x="760" y="432"/>
                  <a:pt x="760" y="432"/>
                </a:cubicBezTo>
                <a:cubicBezTo>
                  <a:pt x="760" y="48"/>
                  <a:pt x="760" y="48"/>
                  <a:pt x="760" y="48"/>
                </a:cubicBezTo>
                <a:cubicBezTo>
                  <a:pt x="69" y="48"/>
                  <a:pt x="69" y="48"/>
                  <a:pt x="69" y="48"/>
                </a:cubicBezTo>
                <a:cubicBezTo>
                  <a:pt x="69" y="432"/>
                  <a:pt x="69" y="432"/>
                  <a:pt x="69" y="432"/>
                </a:cubicBezTo>
                <a:cubicBezTo>
                  <a:pt x="319" y="432"/>
                  <a:pt x="319" y="432"/>
                  <a:pt x="319" y="432"/>
                </a:cubicBezTo>
                <a:cubicBezTo>
                  <a:pt x="340" y="441"/>
                  <a:pt x="340" y="441"/>
                  <a:pt x="340" y="441"/>
                </a:cubicBezTo>
                <a:cubicBezTo>
                  <a:pt x="340" y="451"/>
                  <a:pt x="352" y="460"/>
                  <a:pt x="362" y="470"/>
                </a:cubicBezTo>
                <a:cubicBezTo>
                  <a:pt x="57" y="470"/>
                  <a:pt x="57" y="470"/>
                  <a:pt x="57" y="470"/>
                </a:cubicBezTo>
                <a:cubicBezTo>
                  <a:pt x="24" y="470"/>
                  <a:pt x="0" y="451"/>
                  <a:pt x="0" y="43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19"/>
                  <a:pt x="24" y="0"/>
                  <a:pt x="57" y="0"/>
                </a:cubicBezTo>
                <a:moveTo>
                  <a:pt x="568" y="259"/>
                </a:moveTo>
                <a:cubicBezTo>
                  <a:pt x="568" y="268"/>
                  <a:pt x="568" y="268"/>
                  <a:pt x="568" y="268"/>
                </a:cubicBezTo>
                <a:cubicBezTo>
                  <a:pt x="727" y="268"/>
                  <a:pt x="727" y="268"/>
                  <a:pt x="727" y="268"/>
                </a:cubicBezTo>
                <a:cubicBezTo>
                  <a:pt x="727" y="259"/>
                  <a:pt x="727" y="259"/>
                  <a:pt x="727" y="259"/>
                </a:cubicBezTo>
                <a:cubicBezTo>
                  <a:pt x="568" y="259"/>
                  <a:pt x="568" y="259"/>
                  <a:pt x="568" y="259"/>
                </a:cubicBezTo>
                <a:moveTo>
                  <a:pt x="568" y="211"/>
                </a:moveTo>
                <a:cubicBezTo>
                  <a:pt x="568" y="230"/>
                  <a:pt x="568" y="230"/>
                  <a:pt x="568" y="230"/>
                </a:cubicBezTo>
                <a:cubicBezTo>
                  <a:pt x="727" y="230"/>
                  <a:pt x="727" y="230"/>
                  <a:pt x="727" y="230"/>
                </a:cubicBezTo>
                <a:cubicBezTo>
                  <a:pt x="727" y="211"/>
                  <a:pt x="727" y="211"/>
                  <a:pt x="727" y="211"/>
                </a:cubicBezTo>
                <a:cubicBezTo>
                  <a:pt x="568" y="211"/>
                  <a:pt x="568" y="211"/>
                  <a:pt x="568" y="211"/>
                </a:cubicBezTo>
                <a:moveTo>
                  <a:pt x="648" y="163"/>
                </a:moveTo>
                <a:cubicBezTo>
                  <a:pt x="648" y="172"/>
                  <a:pt x="648" y="172"/>
                  <a:pt x="648" y="172"/>
                </a:cubicBezTo>
                <a:cubicBezTo>
                  <a:pt x="727" y="172"/>
                  <a:pt x="727" y="172"/>
                  <a:pt x="727" y="172"/>
                </a:cubicBezTo>
                <a:cubicBezTo>
                  <a:pt x="727" y="163"/>
                  <a:pt x="727" y="163"/>
                  <a:pt x="727" y="163"/>
                </a:cubicBezTo>
                <a:cubicBezTo>
                  <a:pt x="648" y="163"/>
                  <a:pt x="648" y="163"/>
                  <a:pt x="648" y="163"/>
                </a:cubicBezTo>
                <a:moveTo>
                  <a:pt x="648" y="124"/>
                </a:moveTo>
                <a:cubicBezTo>
                  <a:pt x="648" y="143"/>
                  <a:pt x="648" y="143"/>
                  <a:pt x="648" y="143"/>
                </a:cubicBezTo>
                <a:cubicBezTo>
                  <a:pt x="727" y="143"/>
                  <a:pt x="727" y="143"/>
                  <a:pt x="727" y="143"/>
                </a:cubicBezTo>
                <a:cubicBezTo>
                  <a:pt x="727" y="124"/>
                  <a:pt x="727" y="124"/>
                  <a:pt x="727" y="124"/>
                </a:cubicBezTo>
                <a:cubicBezTo>
                  <a:pt x="648" y="124"/>
                  <a:pt x="648" y="124"/>
                  <a:pt x="648" y="124"/>
                </a:cubicBezTo>
                <a:moveTo>
                  <a:pt x="648" y="86"/>
                </a:moveTo>
                <a:cubicBezTo>
                  <a:pt x="648" y="105"/>
                  <a:pt x="648" y="105"/>
                  <a:pt x="648" y="105"/>
                </a:cubicBezTo>
                <a:cubicBezTo>
                  <a:pt x="727" y="105"/>
                  <a:pt x="727" y="105"/>
                  <a:pt x="727" y="105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48" y="86"/>
                  <a:pt x="648" y="86"/>
                  <a:pt x="648" y="86"/>
                </a:cubicBezTo>
                <a:moveTo>
                  <a:pt x="477" y="96"/>
                </a:moveTo>
                <a:cubicBezTo>
                  <a:pt x="477" y="192"/>
                  <a:pt x="477" y="192"/>
                  <a:pt x="477" y="192"/>
                </a:cubicBezTo>
                <a:cubicBezTo>
                  <a:pt x="624" y="192"/>
                  <a:pt x="624" y="192"/>
                  <a:pt x="624" y="192"/>
                </a:cubicBezTo>
                <a:cubicBezTo>
                  <a:pt x="624" y="96"/>
                  <a:pt x="624" y="96"/>
                  <a:pt x="624" y="96"/>
                </a:cubicBezTo>
                <a:cubicBezTo>
                  <a:pt x="477" y="96"/>
                  <a:pt x="477" y="96"/>
                  <a:pt x="477" y="96"/>
                </a:cubicBezTo>
                <a:moveTo>
                  <a:pt x="204" y="316"/>
                </a:moveTo>
                <a:cubicBezTo>
                  <a:pt x="237" y="316"/>
                  <a:pt x="237" y="316"/>
                  <a:pt x="237" y="316"/>
                </a:cubicBezTo>
                <a:cubicBezTo>
                  <a:pt x="237" y="220"/>
                  <a:pt x="237" y="220"/>
                  <a:pt x="237" y="220"/>
                </a:cubicBezTo>
                <a:cubicBezTo>
                  <a:pt x="204" y="220"/>
                  <a:pt x="204" y="220"/>
                  <a:pt x="204" y="220"/>
                </a:cubicBezTo>
                <a:cubicBezTo>
                  <a:pt x="204" y="316"/>
                  <a:pt x="204" y="316"/>
                  <a:pt x="204" y="316"/>
                </a:cubicBezTo>
                <a:moveTo>
                  <a:pt x="112" y="220"/>
                </a:moveTo>
                <a:cubicBezTo>
                  <a:pt x="124" y="240"/>
                  <a:pt x="124" y="240"/>
                  <a:pt x="124" y="240"/>
                </a:cubicBezTo>
                <a:cubicBezTo>
                  <a:pt x="204" y="192"/>
                  <a:pt x="204" y="192"/>
                  <a:pt x="204" y="192"/>
                </a:cubicBezTo>
                <a:cubicBezTo>
                  <a:pt x="249" y="192"/>
                  <a:pt x="249" y="192"/>
                  <a:pt x="249" y="192"/>
                </a:cubicBezTo>
                <a:cubicBezTo>
                  <a:pt x="273" y="211"/>
                  <a:pt x="273" y="211"/>
                  <a:pt x="273" y="211"/>
                </a:cubicBezTo>
                <a:cubicBezTo>
                  <a:pt x="273" y="220"/>
                  <a:pt x="273" y="220"/>
                  <a:pt x="273" y="220"/>
                </a:cubicBezTo>
                <a:cubicBezTo>
                  <a:pt x="283" y="220"/>
                  <a:pt x="283" y="220"/>
                  <a:pt x="283" y="220"/>
                </a:cubicBezTo>
                <a:cubicBezTo>
                  <a:pt x="319" y="230"/>
                  <a:pt x="319" y="230"/>
                  <a:pt x="319" y="230"/>
                </a:cubicBezTo>
                <a:cubicBezTo>
                  <a:pt x="328" y="230"/>
                  <a:pt x="328" y="230"/>
                  <a:pt x="328" y="230"/>
                </a:cubicBezTo>
                <a:cubicBezTo>
                  <a:pt x="340" y="220"/>
                  <a:pt x="340" y="220"/>
                  <a:pt x="340" y="220"/>
                </a:cubicBezTo>
                <a:cubicBezTo>
                  <a:pt x="352" y="153"/>
                  <a:pt x="352" y="153"/>
                  <a:pt x="352" y="153"/>
                </a:cubicBezTo>
                <a:cubicBezTo>
                  <a:pt x="374" y="153"/>
                  <a:pt x="374" y="153"/>
                  <a:pt x="374" y="153"/>
                </a:cubicBezTo>
                <a:cubicBezTo>
                  <a:pt x="386" y="172"/>
                  <a:pt x="386" y="172"/>
                  <a:pt x="386" y="172"/>
                </a:cubicBezTo>
                <a:cubicBezTo>
                  <a:pt x="408" y="143"/>
                  <a:pt x="408" y="143"/>
                  <a:pt x="408" y="143"/>
                </a:cubicBezTo>
                <a:cubicBezTo>
                  <a:pt x="431" y="124"/>
                  <a:pt x="431" y="124"/>
                  <a:pt x="431" y="124"/>
                </a:cubicBezTo>
                <a:cubicBezTo>
                  <a:pt x="398" y="115"/>
                  <a:pt x="398" y="115"/>
                  <a:pt x="398" y="115"/>
                </a:cubicBezTo>
                <a:cubicBezTo>
                  <a:pt x="362" y="105"/>
                  <a:pt x="362" y="105"/>
                  <a:pt x="362" y="105"/>
                </a:cubicBezTo>
                <a:cubicBezTo>
                  <a:pt x="362" y="124"/>
                  <a:pt x="362" y="124"/>
                  <a:pt x="362" y="124"/>
                </a:cubicBezTo>
                <a:cubicBezTo>
                  <a:pt x="328" y="134"/>
                  <a:pt x="328" y="134"/>
                  <a:pt x="328" y="134"/>
                </a:cubicBezTo>
                <a:cubicBezTo>
                  <a:pt x="328" y="134"/>
                  <a:pt x="328" y="134"/>
                  <a:pt x="328" y="134"/>
                </a:cubicBezTo>
                <a:cubicBezTo>
                  <a:pt x="319" y="143"/>
                  <a:pt x="319" y="143"/>
                  <a:pt x="319" y="143"/>
                </a:cubicBezTo>
                <a:cubicBezTo>
                  <a:pt x="307" y="201"/>
                  <a:pt x="307" y="201"/>
                  <a:pt x="307" y="201"/>
                </a:cubicBezTo>
                <a:cubicBezTo>
                  <a:pt x="295" y="192"/>
                  <a:pt x="295" y="192"/>
                  <a:pt x="295" y="192"/>
                </a:cubicBezTo>
                <a:cubicBezTo>
                  <a:pt x="273" y="172"/>
                  <a:pt x="273" y="172"/>
                  <a:pt x="273" y="172"/>
                </a:cubicBezTo>
                <a:cubicBezTo>
                  <a:pt x="273" y="172"/>
                  <a:pt x="273" y="172"/>
                  <a:pt x="273" y="172"/>
                </a:cubicBezTo>
                <a:cubicBezTo>
                  <a:pt x="261" y="172"/>
                  <a:pt x="261" y="172"/>
                  <a:pt x="261" y="172"/>
                </a:cubicBezTo>
                <a:cubicBezTo>
                  <a:pt x="204" y="163"/>
                  <a:pt x="204" y="163"/>
                  <a:pt x="204" y="163"/>
                </a:cubicBezTo>
                <a:cubicBezTo>
                  <a:pt x="112" y="220"/>
                  <a:pt x="112" y="220"/>
                  <a:pt x="112" y="220"/>
                </a:cubicBezTo>
                <a:moveTo>
                  <a:pt x="148" y="316"/>
                </a:moveTo>
                <a:cubicBezTo>
                  <a:pt x="182" y="316"/>
                  <a:pt x="182" y="316"/>
                  <a:pt x="182" y="316"/>
                </a:cubicBezTo>
                <a:cubicBezTo>
                  <a:pt x="182" y="249"/>
                  <a:pt x="182" y="249"/>
                  <a:pt x="182" y="249"/>
                </a:cubicBezTo>
                <a:cubicBezTo>
                  <a:pt x="148" y="249"/>
                  <a:pt x="148" y="249"/>
                  <a:pt x="148" y="249"/>
                </a:cubicBezTo>
                <a:cubicBezTo>
                  <a:pt x="148" y="316"/>
                  <a:pt x="148" y="316"/>
                  <a:pt x="148" y="316"/>
                </a:cubicBezTo>
                <a:moveTo>
                  <a:pt x="374" y="316"/>
                </a:moveTo>
                <a:cubicBezTo>
                  <a:pt x="408" y="316"/>
                  <a:pt x="408" y="316"/>
                  <a:pt x="408" y="316"/>
                </a:cubicBezTo>
                <a:cubicBezTo>
                  <a:pt x="408" y="182"/>
                  <a:pt x="408" y="182"/>
                  <a:pt x="408" y="182"/>
                </a:cubicBezTo>
                <a:cubicBezTo>
                  <a:pt x="374" y="182"/>
                  <a:pt x="374" y="182"/>
                  <a:pt x="374" y="182"/>
                </a:cubicBezTo>
                <a:cubicBezTo>
                  <a:pt x="374" y="316"/>
                  <a:pt x="374" y="316"/>
                  <a:pt x="374" y="316"/>
                </a:cubicBezTo>
                <a:moveTo>
                  <a:pt x="319" y="316"/>
                </a:moveTo>
                <a:cubicBezTo>
                  <a:pt x="352" y="316"/>
                  <a:pt x="352" y="316"/>
                  <a:pt x="352" y="316"/>
                </a:cubicBezTo>
                <a:cubicBezTo>
                  <a:pt x="352" y="259"/>
                  <a:pt x="352" y="259"/>
                  <a:pt x="352" y="259"/>
                </a:cubicBezTo>
                <a:cubicBezTo>
                  <a:pt x="319" y="259"/>
                  <a:pt x="319" y="259"/>
                  <a:pt x="319" y="259"/>
                </a:cubicBezTo>
                <a:cubicBezTo>
                  <a:pt x="319" y="316"/>
                  <a:pt x="319" y="316"/>
                  <a:pt x="319" y="316"/>
                </a:cubicBezTo>
                <a:moveTo>
                  <a:pt x="261" y="316"/>
                </a:moveTo>
                <a:cubicBezTo>
                  <a:pt x="295" y="316"/>
                  <a:pt x="295" y="316"/>
                  <a:pt x="295" y="316"/>
                </a:cubicBezTo>
                <a:cubicBezTo>
                  <a:pt x="295" y="240"/>
                  <a:pt x="295" y="240"/>
                  <a:pt x="295" y="240"/>
                </a:cubicBezTo>
                <a:cubicBezTo>
                  <a:pt x="261" y="240"/>
                  <a:pt x="261" y="240"/>
                  <a:pt x="261" y="240"/>
                </a:cubicBezTo>
                <a:cubicBezTo>
                  <a:pt x="261" y="316"/>
                  <a:pt x="261" y="316"/>
                  <a:pt x="261" y="316"/>
                </a:cubicBezTo>
                <a:moveTo>
                  <a:pt x="532" y="374"/>
                </a:moveTo>
                <a:cubicBezTo>
                  <a:pt x="532" y="326"/>
                  <a:pt x="532" y="278"/>
                  <a:pt x="523" y="230"/>
                </a:cubicBezTo>
                <a:cubicBezTo>
                  <a:pt x="511" y="230"/>
                  <a:pt x="487" y="230"/>
                  <a:pt x="477" y="230"/>
                </a:cubicBezTo>
                <a:cubicBezTo>
                  <a:pt x="477" y="307"/>
                  <a:pt x="477" y="374"/>
                  <a:pt x="477" y="451"/>
                </a:cubicBezTo>
                <a:cubicBezTo>
                  <a:pt x="465" y="432"/>
                  <a:pt x="444" y="403"/>
                  <a:pt x="398" y="393"/>
                </a:cubicBezTo>
                <a:cubicBezTo>
                  <a:pt x="386" y="403"/>
                  <a:pt x="386" y="403"/>
                  <a:pt x="374" y="412"/>
                </a:cubicBezTo>
                <a:cubicBezTo>
                  <a:pt x="408" y="441"/>
                  <a:pt x="420" y="480"/>
                  <a:pt x="431" y="508"/>
                </a:cubicBezTo>
                <a:cubicBezTo>
                  <a:pt x="444" y="595"/>
                  <a:pt x="444" y="595"/>
                  <a:pt x="444" y="595"/>
                </a:cubicBezTo>
                <a:cubicBezTo>
                  <a:pt x="453" y="604"/>
                  <a:pt x="465" y="623"/>
                  <a:pt x="477" y="640"/>
                </a:cubicBezTo>
                <a:cubicBezTo>
                  <a:pt x="532" y="640"/>
                  <a:pt x="578" y="640"/>
                  <a:pt x="648" y="640"/>
                </a:cubicBezTo>
                <a:cubicBezTo>
                  <a:pt x="648" y="623"/>
                  <a:pt x="657" y="614"/>
                  <a:pt x="657" y="604"/>
                </a:cubicBezTo>
                <a:cubicBezTo>
                  <a:pt x="669" y="547"/>
                  <a:pt x="693" y="432"/>
                  <a:pt x="681" y="374"/>
                </a:cubicBezTo>
                <a:cubicBezTo>
                  <a:pt x="669" y="374"/>
                  <a:pt x="657" y="364"/>
                  <a:pt x="648" y="364"/>
                </a:cubicBezTo>
                <a:cubicBezTo>
                  <a:pt x="635" y="374"/>
                  <a:pt x="635" y="393"/>
                  <a:pt x="635" y="403"/>
                </a:cubicBezTo>
                <a:cubicBezTo>
                  <a:pt x="635" y="383"/>
                  <a:pt x="635" y="364"/>
                  <a:pt x="635" y="336"/>
                </a:cubicBezTo>
                <a:cubicBezTo>
                  <a:pt x="611" y="336"/>
                  <a:pt x="602" y="336"/>
                  <a:pt x="590" y="336"/>
                </a:cubicBezTo>
                <a:cubicBezTo>
                  <a:pt x="590" y="336"/>
                  <a:pt x="590" y="345"/>
                  <a:pt x="590" y="345"/>
                </a:cubicBezTo>
                <a:cubicBezTo>
                  <a:pt x="578" y="345"/>
                  <a:pt x="578" y="336"/>
                  <a:pt x="578" y="326"/>
                </a:cubicBezTo>
                <a:cubicBezTo>
                  <a:pt x="568" y="326"/>
                  <a:pt x="556" y="316"/>
                  <a:pt x="544" y="316"/>
                </a:cubicBezTo>
                <a:cubicBezTo>
                  <a:pt x="544" y="336"/>
                  <a:pt x="544" y="355"/>
                  <a:pt x="532" y="374"/>
                </a:cubicBezTo>
                <a:moveTo>
                  <a:pt x="24" y="172"/>
                </a:moveTo>
                <a:cubicBezTo>
                  <a:pt x="24" y="297"/>
                  <a:pt x="24" y="297"/>
                  <a:pt x="24" y="297"/>
                </a:cubicBezTo>
                <a:cubicBezTo>
                  <a:pt x="45" y="297"/>
                  <a:pt x="45" y="297"/>
                  <a:pt x="45" y="297"/>
                </a:cubicBezTo>
                <a:cubicBezTo>
                  <a:pt x="45" y="172"/>
                  <a:pt x="45" y="172"/>
                  <a:pt x="45" y="172"/>
                </a:cubicBezTo>
                <a:lnTo>
                  <a:pt x="24" y="172"/>
                </a:lnTo>
                <a:close/>
              </a:path>
            </a:pathLst>
          </a:cu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14" name="textbox 2614"/>
          <p:cNvSpPr/>
          <p:nvPr/>
        </p:nvSpPr>
        <p:spPr>
          <a:xfrm>
            <a:off x="1146628" y="3055499"/>
            <a:ext cx="828039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统一价格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16" name="textbox 2616"/>
          <p:cNvSpPr/>
          <p:nvPr/>
        </p:nvSpPr>
        <p:spPr>
          <a:xfrm>
            <a:off x="1145622" y="4662801"/>
            <a:ext cx="82867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分时价格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18" name="picture 26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49523" y="3140964"/>
            <a:ext cx="67055" cy="751332"/>
          </a:xfrm>
          <a:prstGeom prst="rect">
            <a:avLst/>
          </a:prstGeom>
        </p:spPr>
      </p:pic>
      <p:pic>
        <p:nvPicPr>
          <p:cNvPr id="2620" name="picture 26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037331" y="4216908"/>
            <a:ext cx="67055" cy="723900"/>
          </a:xfrm>
          <a:prstGeom prst="rect">
            <a:avLst/>
          </a:prstGeom>
        </p:spPr>
      </p:pic>
      <p:pic>
        <p:nvPicPr>
          <p:cNvPr id="2622" name="picture 26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4" name="picture 26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48583" y="2665475"/>
            <a:ext cx="4509516" cy="3224783"/>
          </a:xfrm>
          <a:prstGeom prst="rect">
            <a:avLst/>
          </a:prstGeom>
        </p:spPr>
      </p:pic>
      <p:pic>
        <p:nvPicPr>
          <p:cNvPr id="2626" name="picture 26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8055" y="2740152"/>
            <a:ext cx="1581911" cy="3067811"/>
          </a:xfrm>
          <a:prstGeom prst="rect">
            <a:avLst/>
          </a:prstGeom>
        </p:spPr>
      </p:pic>
      <p:pic>
        <p:nvPicPr>
          <p:cNvPr id="2628" name="picture 26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659367" y="2740152"/>
            <a:ext cx="1581911" cy="3067811"/>
          </a:xfrm>
          <a:prstGeom prst="rect">
            <a:avLst/>
          </a:prstGeom>
        </p:spPr>
      </p:pic>
      <p:sp>
        <p:nvSpPr>
          <p:cNvPr id="2630" name="textbox 2630"/>
          <p:cNvSpPr/>
          <p:nvPr/>
        </p:nvSpPr>
        <p:spPr>
          <a:xfrm>
            <a:off x="2204194" y="1917174"/>
            <a:ext cx="6254115" cy="638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89"/>
              </a:lnSpc>
              <a:tabLst/>
            </a:pP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差额回收= （日前市场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月度加权均价-月度中长期加权均价）</a:t>
            </a:r>
            <a:r>
              <a:rPr sz="1500" b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×h（1.0）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89"/>
              </a:lnSpc>
              <a:spcBef>
                <a:spcPts val="5"/>
              </a:spcBef>
              <a:tabLst/>
            </a:pP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超额回收= （月度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中长期加权均价日-前市场月度加权均价）</a:t>
            </a:r>
            <a:r>
              <a:rPr sz="1500" b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×h（1.0）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32" name="textbox 2632"/>
          <p:cNvSpPr/>
          <p:nvPr/>
        </p:nvSpPr>
        <p:spPr>
          <a:xfrm>
            <a:off x="2269711" y="5939028"/>
            <a:ext cx="6254115" cy="638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89"/>
              </a:lnSpc>
              <a:tabLst/>
            </a:pP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差额回收= （月度中长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期加权均价日-前市场月度加权均价）</a:t>
            </a:r>
            <a:r>
              <a:rPr sz="1500" b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×h（1.0）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89"/>
              </a:lnSpc>
              <a:spcBef>
                <a:spcPts val="5"/>
              </a:spcBef>
              <a:tabLst/>
            </a:pP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超额回收= （日前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市场月度加权均价-月度中长期加权均价）</a:t>
            </a:r>
            <a:r>
              <a:rPr sz="1500" b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×h（1.0）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34" name="textbox 2634"/>
          <p:cNvSpPr/>
          <p:nvPr/>
        </p:nvSpPr>
        <p:spPr>
          <a:xfrm>
            <a:off x="541964" y="1114352"/>
            <a:ext cx="3305175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山东中长期交易偏差回收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36" name="textbox 2636"/>
          <p:cNvSpPr/>
          <p:nvPr/>
        </p:nvSpPr>
        <p:spPr>
          <a:xfrm>
            <a:off x="9193368" y="2791978"/>
            <a:ext cx="535940" cy="711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89"/>
              </a:lnSpc>
              <a:tabLst/>
            </a:pPr>
            <a:r>
              <a:rPr sz="1500" b="1" kern="0" spc="-50" dirty="0">
                <a:solidFill>
                  <a:srgbClr val="32323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110%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8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230" algn="l" rtl="0" eaLnBrk="0">
              <a:lnSpc>
                <a:spcPts val="2089"/>
              </a:lnSpc>
              <a:tabLst/>
            </a:pP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90%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38" name="textbox 2638"/>
          <p:cNvSpPr/>
          <p:nvPr/>
        </p:nvSpPr>
        <p:spPr>
          <a:xfrm>
            <a:off x="982037" y="2791978"/>
            <a:ext cx="535940" cy="697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89"/>
              </a:lnSpc>
              <a:tabLst/>
            </a:pPr>
            <a:r>
              <a:rPr sz="1500" b="1" kern="0" spc="-50" dirty="0">
                <a:solidFill>
                  <a:srgbClr val="32323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115%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60325" algn="l" rtl="0" eaLnBrk="0">
              <a:lnSpc>
                <a:spcPts val="2089"/>
              </a:lnSpc>
              <a:spcBef>
                <a:spcPts val="3"/>
              </a:spcBef>
              <a:tabLst/>
            </a:pP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85%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40" name="picture 26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432304" y="3741420"/>
            <a:ext cx="644651" cy="315467"/>
          </a:xfrm>
          <a:prstGeom prst="rect">
            <a:avLst/>
          </a:prstGeom>
        </p:spPr>
      </p:pic>
      <p:sp>
        <p:nvSpPr>
          <p:cNvPr id="2642" name="textbox 2642"/>
          <p:cNvSpPr/>
          <p:nvPr/>
        </p:nvSpPr>
        <p:spPr>
          <a:xfrm>
            <a:off x="8939833" y="4366269"/>
            <a:ext cx="1028064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实际用电量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44" name="textbox 2644"/>
          <p:cNvSpPr/>
          <p:nvPr/>
        </p:nvSpPr>
        <p:spPr>
          <a:xfrm>
            <a:off x="729242" y="4364459"/>
            <a:ext cx="102552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市场化电量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46" name="path 2646"/>
          <p:cNvSpPr/>
          <p:nvPr/>
        </p:nvSpPr>
        <p:spPr>
          <a:xfrm>
            <a:off x="7674864" y="3781043"/>
            <a:ext cx="539496" cy="272796"/>
          </a:xfrm>
          <a:custGeom>
            <a:avLst/>
            <a:gdLst/>
            <a:ahLst/>
            <a:cxnLst/>
            <a:rect l="0" t="0" r="0" b="0"/>
            <a:pathLst>
              <a:path w="849" h="429">
                <a:moveTo>
                  <a:pt x="0" y="429"/>
                </a:moveTo>
                <a:lnTo>
                  <a:pt x="91" y="429"/>
                </a:lnTo>
                <a:lnTo>
                  <a:pt x="403" y="429"/>
                </a:lnTo>
                <a:lnTo>
                  <a:pt x="439" y="429"/>
                </a:lnTo>
                <a:lnTo>
                  <a:pt x="775" y="429"/>
                </a:lnTo>
                <a:lnTo>
                  <a:pt x="849" y="429"/>
                </a:lnTo>
                <a:lnTo>
                  <a:pt x="849" y="398"/>
                </a:lnTo>
                <a:lnTo>
                  <a:pt x="775" y="398"/>
                </a:lnTo>
                <a:lnTo>
                  <a:pt x="775" y="141"/>
                </a:lnTo>
                <a:lnTo>
                  <a:pt x="439" y="141"/>
                </a:lnTo>
                <a:lnTo>
                  <a:pt x="439" y="0"/>
                </a:lnTo>
                <a:lnTo>
                  <a:pt x="91" y="0"/>
                </a:lnTo>
                <a:lnTo>
                  <a:pt x="91" y="398"/>
                </a:lnTo>
                <a:lnTo>
                  <a:pt x="0" y="398"/>
                </a:lnTo>
                <a:lnTo>
                  <a:pt x="0" y="429"/>
                </a:lnTo>
                <a:lnTo>
                  <a:pt x="0" y="429"/>
                </a:lnTo>
                <a:close/>
                <a:moveTo>
                  <a:pt x="470" y="213"/>
                </a:moveTo>
                <a:lnTo>
                  <a:pt x="470" y="213"/>
                </a:lnTo>
                <a:lnTo>
                  <a:pt x="715" y="213"/>
                </a:lnTo>
                <a:lnTo>
                  <a:pt x="715" y="213"/>
                </a:lnTo>
                <a:lnTo>
                  <a:pt x="715" y="235"/>
                </a:lnTo>
                <a:lnTo>
                  <a:pt x="715" y="235"/>
                </a:lnTo>
                <a:lnTo>
                  <a:pt x="470" y="235"/>
                </a:lnTo>
                <a:lnTo>
                  <a:pt x="470" y="235"/>
                </a:lnTo>
                <a:lnTo>
                  <a:pt x="470" y="213"/>
                </a:lnTo>
                <a:lnTo>
                  <a:pt x="470" y="213"/>
                </a:lnTo>
                <a:close/>
                <a:moveTo>
                  <a:pt x="201" y="338"/>
                </a:moveTo>
                <a:lnTo>
                  <a:pt x="201" y="338"/>
                </a:lnTo>
                <a:lnTo>
                  <a:pt x="225" y="338"/>
                </a:lnTo>
                <a:lnTo>
                  <a:pt x="225" y="338"/>
                </a:lnTo>
                <a:lnTo>
                  <a:pt x="225" y="360"/>
                </a:lnTo>
                <a:lnTo>
                  <a:pt x="225" y="360"/>
                </a:lnTo>
                <a:lnTo>
                  <a:pt x="201" y="360"/>
                </a:lnTo>
                <a:lnTo>
                  <a:pt x="201" y="360"/>
                </a:lnTo>
                <a:lnTo>
                  <a:pt x="201" y="338"/>
                </a:lnTo>
                <a:lnTo>
                  <a:pt x="201" y="338"/>
                </a:lnTo>
                <a:close/>
                <a:moveTo>
                  <a:pt x="146" y="338"/>
                </a:moveTo>
                <a:lnTo>
                  <a:pt x="177" y="338"/>
                </a:lnTo>
                <a:lnTo>
                  <a:pt x="177" y="360"/>
                </a:lnTo>
                <a:lnTo>
                  <a:pt x="146" y="360"/>
                </a:lnTo>
                <a:lnTo>
                  <a:pt x="146" y="338"/>
                </a:lnTo>
                <a:lnTo>
                  <a:pt x="146" y="338"/>
                </a:lnTo>
                <a:close/>
                <a:moveTo>
                  <a:pt x="244" y="338"/>
                </a:moveTo>
                <a:lnTo>
                  <a:pt x="244" y="338"/>
                </a:lnTo>
                <a:lnTo>
                  <a:pt x="280" y="338"/>
                </a:lnTo>
                <a:lnTo>
                  <a:pt x="280" y="338"/>
                </a:lnTo>
                <a:lnTo>
                  <a:pt x="280" y="360"/>
                </a:lnTo>
                <a:lnTo>
                  <a:pt x="280" y="360"/>
                </a:lnTo>
                <a:lnTo>
                  <a:pt x="244" y="360"/>
                </a:lnTo>
                <a:lnTo>
                  <a:pt x="244" y="360"/>
                </a:lnTo>
                <a:lnTo>
                  <a:pt x="244" y="338"/>
                </a:lnTo>
                <a:lnTo>
                  <a:pt x="244" y="338"/>
                </a:lnTo>
                <a:close/>
                <a:moveTo>
                  <a:pt x="304" y="338"/>
                </a:moveTo>
                <a:lnTo>
                  <a:pt x="304" y="338"/>
                </a:lnTo>
                <a:lnTo>
                  <a:pt x="323" y="338"/>
                </a:lnTo>
                <a:lnTo>
                  <a:pt x="323" y="338"/>
                </a:lnTo>
                <a:lnTo>
                  <a:pt x="323" y="360"/>
                </a:lnTo>
                <a:lnTo>
                  <a:pt x="323" y="360"/>
                </a:lnTo>
                <a:lnTo>
                  <a:pt x="304" y="360"/>
                </a:lnTo>
                <a:lnTo>
                  <a:pt x="304" y="360"/>
                </a:lnTo>
                <a:lnTo>
                  <a:pt x="304" y="338"/>
                </a:lnTo>
                <a:lnTo>
                  <a:pt x="304" y="338"/>
                </a:lnTo>
                <a:close/>
                <a:moveTo>
                  <a:pt x="348" y="338"/>
                </a:moveTo>
                <a:lnTo>
                  <a:pt x="371" y="338"/>
                </a:lnTo>
                <a:lnTo>
                  <a:pt x="371" y="360"/>
                </a:lnTo>
                <a:lnTo>
                  <a:pt x="348" y="360"/>
                </a:lnTo>
                <a:lnTo>
                  <a:pt x="348" y="338"/>
                </a:lnTo>
                <a:lnTo>
                  <a:pt x="348" y="338"/>
                </a:lnTo>
                <a:close/>
                <a:moveTo>
                  <a:pt x="201" y="84"/>
                </a:moveTo>
                <a:lnTo>
                  <a:pt x="201" y="84"/>
                </a:lnTo>
                <a:lnTo>
                  <a:pt x="225" y="84"/>
                </a:lnTo>
                <a:lnTo>
                  <a:pt x="225" y="84"/>
                </a:lnTo>
                <a:lnTo>
                  <a:pt x="225" y="103"/>
                </a:lnTo>
                <a:lnTo>
                  <a:pt x="225" y="103"/>
                </a:lnTo>
                <a:lnTo>
                  <a:pt x="201" y="103"/>
                </a:lnTo>
                <a:lnTo>
                  <a:pt x="201" y="103"/>
                </a:lnTo>
                <a:lnTo>
                  <a:pt x="201" y="84"/>
                </a:lnTo>
                <a:lnTo>
                  <a:pt x="201" y="84"/>
                </a:lnTo>
                <a:close/>
                <a:moveTo>
                  <a:pt x="146" y="84"/>
                </a:moveTo>
                <a:lnTo>
                  <a:pt x="146" y="84"/>
                </a:lnTo>
                <a:lnTo>
                  <a:pt x="177" y="84"/>
                </a:lnTo>
                <a:lnTo>
                  <a:pt x="177" y="84"/>
                </a:lnTo>
                <a:lnTo>
                  <a:pt x="177" y="103"/>
                </a:lnTo>
                <a:lnTo>
                  <a:pt x="177" y="103"/>
                </a:lnTo>
                <a:lnTo>
                  <a:pt x="146" y="103"/>
                </a:lnTo>
                <a:lnTo>
                  <a:pt x="146" y="103"/>
                </a:lnTo>
                <a:lnTo>
                  <a:pt x="146" y="84"/>
                </a:lnTo>
                <a:lnTo>
                  <a:pt x="146" y="84"/>
                </a:lnTo>
                <a:close/>
                <a:moveTo>
                  <a:pt x="244" y="84"/>
                </a:moveTo>
                <a:lnTo>
                  <a:pt x="244" y="84"/>
                </a:lnTo>
                <a:lnTo>
                  <a:pt x="280" y="84"/>
                </a:lnTo>
                <a:lnTo>
                  <a:pt x="280" y="84"/>
                </a:lnTo>
                <a:lnTo>
                  <a:pt x="280" y="103"/>
                </a:lnTo>
                <a:lnTo>
                  <a:pt x="280" y="103"/>
                </a:lnTo>
                <a:lnTo>
                  <a:pt x="244" y="103"/>
                </a:lnTo>
                <a:lnTo>
                  <a:pt x="244" y="103"/>
                </a:lnTo>
                <a:lnTo>
                  <a:pt x="244" y="84"/>
                </a:lnTo>
                <a:lnTo>
                  <a:pt x="244" y="84"/>
                </a:lnTo>
                <a:close/>
                <a:moveTo>
                  <a:pt x="304" y="84"/>
                </a:moveTo>
                <a:lnTo>
                  <a:pt x="304" y="84"/>
                </a:lnTo>
                <a:lnTo>
                  <a:pt x="323" y="84"/>
                </a:lnTo>
                <a:lnTo>
                  <a:pt x="323" y="84"/>
                </a:lnTo>
                <a:lnTo>
                  <a:pt x="323" y="103"/>
                </a:lnTo>
                <a:lnTo>
                  <a:pt x="323" y="103"/>
                </a:lnTo>
                <a:lnTo>
                  <a:pt x="304" y="103"/>
                </a:lnTo>
                <a:lnTo>
                  <a:pt x="304" y="103"/>
                </a:lnTo>
                <a:lnTo>
                  <a:pt x="304" y="84"/>
                </a:lnTo>
                <a:lnTo>
                  <a:pt x="304" y="84"/>
                </a:lnTo>
                <a:close/>
                <a:moveTo>
                  <a:pt x="348" y="84"/>
                </a:moveTo>
                <a:lnTo>
                  <a:pt x="348" y="84"/>
                </a:lnTo>
                <a:lnTo>
                  <a:pt x="371" y="84"/>
                </a:lnTo>
                <a:lnTo>
                  <a:pt x="371" y="84"/>
                </a:lnTo>
                <a:lnTo>
                  <a:pt x="371" y="103"/>
                </a:lnTo>
                <a:lnTo>
                  <a:pt x="371" y="103"/>
                </a:lnTo>
                <a:lnTo>
                  <a:pt x="348" y="103"/>
                </a:lnTo>
                <a:lnTo>
                  <a:pt x="348" y="103"/>
                </a:lnTo>
                <a:lnTo>
                  <a:pt x="348" y="84"/>
                </a:lnTo>
                <a:lnTo>
                  <a:pt x="348" y="84"/>
                </a:lnTo>
                <a:close/>
                <a:moveTo>
                  <a:pt x="201" y="134"/>
                </a:moveTo>
                <a:lnTo>
                  <a:pt x="201" y="134"/>
                </a:lnTo>
                <a:lnTo>
                  <a:pt x="225" y="134"/>
                </a:lnTo>
                <a:lnTo>
                  <a:pt x="225" y="134"/>
                </a:lnTo>
                <a:lnTo>
                  <a:pt x="225" y="155"/>
                </a:lnTo>
                <a:lnTo>
                  <a:pt x="225" y="155"/>
                </a:lnTo>
                <a:lnTo>
                  <a:pt x="201" y="155"/>
                </a:lnTo>
                <a:lnTo>
                  <a:pt x="201" y="155"/>
                </a:lnTo>
                <a:lnTo>
                  <a:pt x="201" y="134"/>
                </a:lnTo>
                <a:lnTo>
                  <a:pt x="201" y="134"/>
                </a:lnTo>
                <a:close/>
                <a:moveTo>
                  <a:pt x="146" y="134"/>
                </a:moveTo>
                <a:lnTo>
                  <a:pt x="146" y="134"/>
                </a:lnTo>
                <a:lnTo>
                  <a:pt x="177" y="134"/>
                </a:lnTo>
                <a:lnTo>
                  <a:pt x="177" y="134"/>
                </a:lnTo>
                <a:lnTo>
                  <a:pt x="177" y="155"/>
                </a:lnTo>
                <a:lnTo>
                  <a:pt x="177" y="155"/>
                </a:lnTo>
                <a:lnTo>
                  <a:pt x="146" y="155"/>
                </a:lnTo>
                <a:lnTo>
                  <a:pt x="146" y="155"/>
                </a:lnTo>
                <a:lnTo>
                  <a:pt x="146" y="134"/>
                </a:lnTo>
                <a:lnTo>
                  <a:pt x="146" y="134"/>
                </a:lnTo>
                <a:close/>
                <a:moveTo>
                  <a:pt x="244" y="134"/>
                </a:moveTo>
                <a:lnTo>
                  <a:pt x="244" y="134"/>
                </a:lnTo>
                <a:lnTo>
                  <a:pt x="280" y="134"/>
                </a:lnTo>
                <a:lnTo>
                  <a:pt x="280" y="134"/>
                </a:lnTo>
                <a:lnTo>
                  <a:pt x="280" y="155"/>
                </a:lnTo>
                <a:lnTo>
                  <a:pt x="280" y="155"/>
                </a:lnTo>
                <a:lnTo>
                  <a:pt x="244" y="155"/>
                </a:lnTo>
                <a:lnTo>
                  <a:pt x="244" y="155"/>
                </a:lnTo>
                <a:lnTo>
                  <a:pt x="244" y="134"/>
                </a:lnTo>
                <a:lnTo>
                  <a:pt x="244" y="134"/>
                </a:lnTo>
                <a:close/>
                <a:moveTo>
                  <a:pt x="304" y="134"/>
                </a:moveTo>
                <a:lnTo>
                  <a:pt x="304" y="134"/>
                </a:lnTo>
                <a:lnTo>
                  <a:pt x="323" y="134"/>
                </a:lnTo>
                <a:lnTo>
                  <a:pt x="323" y="134"/>
                </a:lnTo>
                <a:lnTo>
                  <a:pt x="323" y="155"/>
                </a:lnTo>
                <a:lnTo>
                  <a:pt x="323" y="155"/>
                </a:lnTo>
                <a:lnTo>
                  <a:pt x="304" y="155"/>
                </a:lnTo>
                <a:lnTo>
                  <a:pt x="304" y="155"/>
                </a:lnTo>
                <a:lnTo>
                  <a:pt x="304" y="134"/>
                </a:lnTo>
                <a:lnTo>
                  <a:pt x="304" y="134"/>
                </a:lnTo>
                <a:close/>
                <a:moveTo>
                  <a:pt x="348" y="134"/>
                </a:moveTo>
                <a:lnTo>
                  <a:pt x="348" y="134"/>
                </a:lnTo>
                <a:lnTo>
                  <a:pt x="371" y="134"/>
                </a:lnTo>
                <a:lnTo>
                  <a:pt x="371" y="134"/>
                </a:lnTo>
                <a:lnTo>
                  <a:pt x="371" y="155"/>
                </a:lnTo>
                <a:lnTo>
                  <a:pt x="371" y="155"/>
                </a:lnTo>
                <a:lnTo>
                  <a:pt x="348" y="155"/>
                </a:lnTo>
                <a:lnTo>
                  <a:pt x="348" y="155"/>
                </a:lnTo>
                <a:lnTo>
                  <a:pt x="348" y="134"/>
                </a:lnTo>
                <a:lnTo>
                  <a:pt x="348" y="134"/>
                </a:lnTo>
                <a:close/>
                <a:moveTo>
                  <a:pt x="201" y="180"/>
                </a:moveTo>
                <a:lnTo>
                  <a:pt x="201" y="180"/>
                </a:lnTo>
                <a:lnTo>
                  <a:pt x="225" y="180"/>
                </a:lnTo>
                <a:lnTo>
                  <a:pt x="225" y="180"/>
                </a:lnTo>
                <a:lnTo>
                  <a:pt x="225" y="206"/>
                </a:lnTo>
                <a:lnTo>
                  <a:pt x="225" y="206"/>
                </a:lnTo>
                <a:lnTo>
                  <a:pt x="201" y="206"/>
                </a:lnTo>
                <a:lnTo>
                  <a:pt x="201" y="206"/>
                </a:lnTo>
                <a:lnTo>
                  <a:pt x="201" y="180"/>
                </a:lnTo>
                <a:lnTo>
                  <a:pt x="201" y="180"/>
                </a:lnTo>
                <a:close/>
                <a:moveTo>
                  <a:pt x="146" y="180"/>
                </a:moveTo>
                <a:lnTo>
                  <a:pt x="146" y="180"/>
                </a:lnTo>
                <a:lnTo>
                  <a:pt x="177" y="180"/>
                </a:lnTo>
                <a:lnTo>
                  <a:pt x="177" y="180"/>
                </a:lnTo>
                <a:lnTo>
                  <a:pt x="177" y="206"/>
                </a:lnTo>
                <a:lnTo>
                  <a:pt x="177" y="206"/>
                </a:lnTo>
                <a:lnTo>
                  <a:pt x="146" y="206"/>
                </a:lnTo>
                <a:lnTo>
                  <a:pt x="146" y="206"/>
                </a:lnTo>
                <a:lnTo>
                  <a:pt x="146" y="180"/>
                </a:lnTo>
                <a:lnTo>
                  <a:pt x="146" y="180"/>
                </a:lnTo>
                <a:close/>
                <a:moveTo>
                  <a:pt x="244" y="180"/>
                </a:moveTo>
                <a:lnTo>
                  <a:pt x="244" y="180"/>
                </a:lnTo>
                <a:lnTo>
                  <a:pt x="280" y="180"/>
                </a:lnTo>
                <a:lnTo>
                  <a:pt x="280" y="180"/>
                </a:lnTo>
                <a:lnTo>
                  <a:pt x="280" y="206"/>
                </a:lnTo>
                <a:lnTo>
                  <a:pt x="280" y="206"/>
                </a:lnTo>
                <a:lnTo>
                  <a:pt x="244" y="206"/>
                </a:lnTo>
                <a:lnTo>
                  <a:pt x="244" y="206"/>
                </a:lnTo>
                <a:lnTo>
                  <a:pt x="244" y="180"/>
                </a:lnTo>
                <a:lnTo>
                  <a:pt x="244" y="180"/>
                </a:lnTo>
                <a:close/>
                <a:moveTo>
                  <a:pt x="304" y="180"/>
                </a:moveTo>
                <a:lnTo>
                  <a:pt x="304" y="180"/>
                </a:lnTo>
                <a:lnTo>
                  <a:pt x="323" y="180"/>
                </a:lnTo>
                <a:lnTo>
                  <a:pt x="323" y="180"/>
                </a:lnTo>
                <a:lnTo>
                  <a:pt x="323" y="206"/>
                </a:lnTo>
                <a:lnTo>
                  <a:pt x="323" y="206"/>
                </a:lnTo>
                <a:lnTo>
                  <a:pt x="304" y="206"/>
                </a:lnTo>
                <a:lnTo>
                  <a:pt x="304" y="206"/>
                </a:lnTo>
                <a:lnTo>
                  <a:pt x="304" y="180"/>
                </a:lnTo>
                <a:lnTo>
                  <a:pt x="304" y="180"/>
                </a:lnTo>
                <a:close/>
                <a:moveTo>
                  <a:pt x="348" y="180"/>
                </a:moveTo>
                <a:lnTo>
                  <a:pt x="348" y="180"/>
                </a:lnTo>
                <a:lnTo>
                  <a:pt x="371" y="180"/>
                </a:lnTo>
                <a:lnTo>
                  <a:pt x="371" y="180"/>
                </a:lnTo>
                <a:lnTo>
                  <a:pt x="371" y="206"/>
                </a:lnTo>
                <a:lnTo>
                  <a:pt x="371" y="206"/>
                </a:lnTo>
                <a:lnTo>
                  <a:pt x="348" y="206"/>
                </a:lnTo>
                <a:lnTo>
                  <a:pt x="348" y="206"/>
                </a:lnTo>
                <a:lnTo>
                  <a:pt x="348" y="180"/>
                </a:lnTo>
                <a:lnTo>
                  <a:pt x="348" y="180"/>
                </a:lnTo>
                <a:close/>
                <a:moveTo>
                  <a:pt x="201" y="235"/>
                </a:moveTo>
                <a:lnTo>
                  <a:pt x="201" y="235"/>
                </a:lnTo>
                <a:lnTo>
                  <a:pt x="225" y="235"/>
                </a:lnTo>
                <a:lnTo>
                  <a:pt x="225" y="235"/>
                </a:lnTo>
                <a:lnTo>
                  <a:pt x="225" y="252"/>
                </a:lnTo>
                <a:lnTo>
                  <a:pt x="225" y="252"/>
                </a:lnTo>
                <a:lnTo>
                  <a:pt x="201" y="252"/>
                </a:lnTo>
                <a:lnTo>
                  <a:pt x="201" y="252"/>
                </a:lnTo>
                <a:lnTo>
                  <a:pt x="201" y="235"/>
                </a:lnTo>
                <a:lnTo>
                  <a:pt x="201" y="235"/>
                </a:lnTo>
                <a:close/>
                <a:moveTo>
                  <a:pt x="146" y="235"/>
                </a:moveTo>
                <a:lnTo>
                  <a:pt x="146" y="235"/>
                </a:lnTo>
                <a:lnTo>
                  <a:pt x="177" y="235"/>
                </a:lnTo>
                <a:lnTo>
                  <a:pt x="177" y="235"/>
                </a:lnTo>
                <a:lnTo>
                  <a:pt x="177" y="252"/>
                </a:lnTo>
                <a:lnTo>
                  <a:pt x="177" y="252"/>
                </a:lnTo>
                <a:lnTo>
                  <a:pt x="146" y="252"/>
                </a:lnTo>
                <a:lnTo>
                  <a:pt x="146" y="252"/>
                </a:lnTo>
                <a:lnTo>
                  <a:pt x="146" y="235"/>
                </a:lnTo>
                <a:lnTo>
                  <a:pt x="146" y="235"/>
                </a:lnTo>
                <a:close/>
                <a:moveTo>
                  <a:pt x="244" y="235"/>
                </a:moveTo>
                <a:lnTo>
                  <a:pt x="244" y="235"/>
                </a:lnTo>
                <a:lnTo>
                  <a:pt x="280" y="235"/>
                </a:lnTo>
                <a:lnTo>
                  <a:pt x="280" y="235"/>
                </a:lnTo>
                <a:lnTo>
                  <a:pt x="280" y="252"/>
                </a:lnTo>
                <a:lnTo>
                  <a:pt x="280" y="252"/>
                </a:lnTo>
                <a:lnTo>
                  <a:pt x="244" y="252"/>
                </a:lnTo>
                <a:lnTo>
                  <a:pt x="244" y="252"/>
                </a:lnTo>
                <a:lnTo>
                  <a:pt x="244" y="235"/>
                </a:lnTo>
                <a:lnTo>
                  <a:pt x="244" y="235"/>
                </a:lnTo>
                <a:close/>
                <a:moveTo>
                  <a:pt x="304" y="235"/>
                </a:moveTo>
                <a:lnTo>
                  <a:pt x="304" y="235"/>
                </a:lnTo>
                <a:lnTo>
                  <a:pt x="323" y="235"/>
                </a:lnTo>
                <a:lnTo>
                  <a:pt x="323" y="235"/>
                </a:lnTo>
                <a:lnTo>
                  <a:pt x="323" y="252"/>
                </a:lnTo>
                <a:lnTo>
                  <a:pt x="323" y="252"/>
                </a:lnTo>
                <a:lnTo>
                  <a:pt x="304" y="252"/>
                </a:lnTo>
                <a:lnTo>
                  <a:pt x="304" y="252"/>
                </a:lnTo>
                <a:lnTo>
                  <a:pt x="304" y="235"/>
                </a:lnTo>
                <a:lnTo>
                  <a:pt x="304" y="235"/>
                </a:lnTo>
                <a:close/>
                <a:moveTo>
                  <a:pt x="348" y="235"/>
                </a:moveTo>
                <a:lnTo>
                  <a:pt x="348" y="235"/>
                </a:lnTo>
                <a:lnTo>
                  <a:pt x="371" y="235"/>
                </a:lnTo>
                <a:lnTo>
                  <a:pt x="371" y="235"/>
                </a:lnTo>
                <a:lnTo>
                  <a:pt x="371" y="252"/>
                </a:lnTo>
                <a:lnTo>
                  <a:pt x="371" y="252"/>
                </a:lnTo>
                <a:lnTo>
                  <a:pt x="348" y="252"/>
                </a:lnTo>
                <a:lnTo>
                  <a:pt x="348" y="252"/>
                </a:lnTo>
                <a:lnTo>
                  <a:pt x="348" y="235"/>
                </a:lnTo>
                <a:lnTo>
                  <a:pt x="348" y="235"/>
                </a:lnTo>
                <a:close/>
                <a:moveTo>
                  <a:pt x="201" y="283"/>
                </a:moveTo>
                <a:lnTo>
                  <a:pt x="201" y="283"/>
                </a:lnTo>
                <a:lnTo>
                  <a:pt x="225" y="283"/>
                </a:lnTo>
                <a:lnTo>
                  <a:pt x="225" y="283"/>
                </a:lnTo>
                <a:lnTo>
                  <a:pt x="225" y="304"/>
                </a:lnTo>
                <a:lnTo>
                  <a:pt x="225" y="304"/>
                </a:lnTo>
                <a:lnTo>
                  <a:pt x="201" y="304"/>
                </a:lnTo>
                <a:lnTo>
                  <a:pt x="201" y="304"/>
                </a:lnTo>
                <a:lnTo>
                  <a:pt x="201" y="283"/>
                </a:lnTo>
                <a:lnTo>
                  <a:pt x="201" y="283"/>
                </a:lnTo>
                <a:close/>
                <a:moveTo>
                  <a:pt x="146" y="283"/>
                </a:moveTo>
                <a:lnTo>
                  <a:pt x="146" y="283"/>
                </a:lnTo>
                <a:lnTo>
                  <a:pt x="177" y="283"/>
                </a:lnTo>
                <a:lnTo>
                  <a:pt x="177" y="283"/>
                </a:lnTo>
                <a:lnTo>
                  <a:pt x="177" y="304"/>
                </a:lnTo>
                <a:lnTo>
                  <a:pt x="177" y="304"/>
                </a:lnTo>
                <a:lnTo>
                  <a:pt x="146" y="304"/>
                </a:lnTo>
                <a:lnTo>
                  <a:pt x="146" y="304"/>
                </a:lnTo>
                <a:lnTo>
                  <a:pt x="146" y="283"/>
                </a:lnTo>
                <a:lnTo>
                  <a:pt x="146" y="283"/>
                </a:lnTo>
                <a:close/>
                <a:moveTo>
                  <a:pt x="244" y="283"/>
                </a:moveTo>
                <a:lnTo>
                  <a:pt x="244" y="283"/>
                </a:lnTo>
                <a:lnTo>
                  <a:pt x="280" y="283"/>
                </a:lnTo>
                <a:lnTo>
                  <a:pt x="280" y="283"/>
                </a:lnTo>
                <a:lnTo>
                  <a:pt x="280" y="304"/>
                </a:lnTo>
                <a:lnTo>
                  <a:pt x="280" y="304"/>
                </a:lnTo>
                <a:lnTo>
                  <a:pt x="244" y="304"/>
                </a:lnTo>
                <a:lnTo>
                  <a:pt x="244" y="304"/>
                </a:lnTo>
                <a:lnTo>
                  <a:pt x="244" y="283"/>
                </a:lnTo>
                <a:lnTo>
                  <a:pt x="244" y="283"/>
                </a:lnTo>
                <a:close/>
                <a:moveTo>
                  <a:pt x="304" y="283"/>
                </a:moveTo>
                <a:lnTo>
                  <a:pt x="304" y="283"/>
                </a:lnTo>
                <a:lnTo>
                  <a:pt x="323" y="283"/>
                </a:lnTo>
                <a:lnTo>
                  <a:pt x="323" y="283"/>
                </a:lnTo>
                <a:lnTo>
                  <a:pt x="323" y="304"/>
                </a:lnTo>
                <a:lnTo>
                  <a:pt x="323" y="304"/>
                </a:lnTo>
                <a:lnTo>
                  <a:pt x="304" y="304"/>
                </a:lnTo>
                <a:lnTo>
                  <a:pt x="304" y="304"/>
                </a:lnTo>
                <a:lnTo>
                  <a:pt x="304" y="283"/>
                </a:lnTo>
                <a:lnTo>
                  <a:pt x="304" y="283"/>
                </a:lnTo>
                <a:close/>
                <a:moveTo>
                  <a:pt x="348" y="283"/>
                </a:moveTo>
                <a:lnTo>
                  <a:pt x="348" y="283"/>
                </a:lnTo>
                <a:lnTo>
                  <a:pt x="371" y="283"/>
                </a:lnTo>
                <a:lnTo>
                  <a:pt x="371" y="283"/>
                </a:lnTo>
                <a:lnTo>
                  <a:pt x="371" y="304"/>
                </a:lnTo>
                <a:lnTo>
                  <a:pt x="371" y="304"/>
                </a:lnTo>
                <a:lnTo>
                  <a:pt x="348" y="304"/>
                </a:lnTo>
                <a:lnTo>
                  <a:pt x="348" y="304"/>
                </a:lnTo>
                <a:lnTo>
                  <a:pt x="348" y="283"/>
                </a:lnTo>
                <a:lnTo>
                  <a:pt x="348" y="283"/>
                </a:lnTo>
                <a:close/>
                <a:moveTo>
                  <a:pt x="201" y="31"/>
                </a:moveTo>
                <a:lnTo>
                  <a:pt x="201" y="31"/>
                </a:lnTo>
                <a:lnTo>
                  <a:pt x="225" y="31"/>
                </a:lnTo>
                <a:lnTo>
                  <a:pt x="225" y="31"/>
                </a:lnTo>
                <a:lnTo>
                  <a:pt x="225" y="48"/>
                </a:lnTo>
                <a:lnTo>
                  <a:pt x="225" y="48"/>
                </a:lnTo>
                <a:lnTo>
                  <a:pt x="201" y="48"/>
                </a:lnTo>
                <a:lnTo>
                  <a:pt x="201" y="48"/>
                </a:lnTo>
                <a:lnTo>
                  <a:pt x="201" y="31"/>
                </a:lnTo>
                <a:lnTo>
                  <a:pt x="201" y="31"/>
                </a:lnTo>
                <a:close/>
                <a:moveTo>
                  <a:pt x="146" y="31"/>
                </a:moveTo>
                <a:lnTo>
                  <a:pt x="177" y="31"/>
                </a:lnTo>
                <a:lnTo>
                  <a:pt x="177" y="48"/>
                </a:lnTo>
                <a:lnTo>
                  <a:pt x="146" y="48"/>
                </a:lnTo>
                <a:lnTo>
                  <a:pt x="146" y="31"/>
                </a:lnTo>
                <a:lnTo>
                  <a:pt x="146" y="31"/>
                </a:lnTo>
                <a:close/>
                <a:moveTo>
                  <a:pt x="244" y="31"/>
                </a:moveTo>
                <a:lnTo>
                  <a:pt x="244" y="31"/>
                </a:lnTo>
                <a:lnTo>
                  <a:pt x="280" y="31"/>
                </a:lnTo>
                <a:lnTo>
                  <a:pt x="280" y="31"/>
                </a:lnTo>
                <a:lnTo>
                  <a:pt x="280" y="48"/>
                </a:lnTo>
                <a:lnTo>
                  <a:pt x="280" y="48"/>
                </a:lnTo>
                <a:lnTo>
                  <a:pt x="244" y="48"/>
                </a:lnTo>
                <a:lnTo>
                  <a:pt x="244" y="48"/>
                </a:lnTo>
                <a:lnTo>
                  <a:pt x="244" y="31"/>
                </a:lnTo>
                <a:lnTo>
                  <a:pt x="244" y="31"/>
                </a:lnTo>
                <a:close/>
                <a:moveTo>
                  <a:pt x="304" y="31"/>
                </a:moveTo>
                <a:lnTo>
                  <a:pt x="304" y="31"/>
                </a:lnTo>
                <a:lnTo>
                  <a:pt x="323" y="31"/>
                </a:lnTo>
                <a:lnTo>
                  <a:pt x="323" y="31"/>
                </a:lnTo>
                <a:lnTo>
                  <a:pt x="323" y="48"/>
                </a:lnTo>
                <a:lnTo>
                  <a:pt x="323" y="48"/>
                </a:lnTo>
                <a:lnTo>
                  <a:pt x="304" y="48"/>
                </a:lnTo>
                <a:lnTo>
                  <a:pt x="304" y="48"/>
                </a:lnTo>
                <a:lnTo>
                  <a:pt x="304" y="31"/>
                </a:lnTo>
                <a:lnTo>
                  <a:pt x="304" y="31"/>
                </a:lnTo>
                <a:close/>
                <a:moveTo>
                  <a:pt x="348" y="31"/>
                </a:moveTo>
                <a:lnTo>
                  <a:pt x="371" y="31"/>
                </a:lnTo>
                <a:lnTo>
                  <a:pt x="371" y="48"/>
                </a:lnTo>
                <a:lnTo>
                  <a:pt x="348" y="48"/>
                </a:lnTo>
                <a:lnTo>
                  <a:pt x="348" y="31"/>
                </a:lnTo>
                <a:lnTo>
                  <a:pt x="348" y="31"/>
                </a:lnTo>
                <a:close/>
                <a:moveTo>
                  <a:pt x="470" y="172"/>
                </a:moveTo>
                <a:lnTo>
                  <a:pt x="715" y="172"/>
                </a:lnTo>
                <a:lnTo>
                  <a:pt x="715" y="194"/>
                </a:lnTo>
                <a:lnTo>
                  <a:pt x="470" y="194"/>
                </a:lnTo>
                <a:lnTo>
                  <a:pt x="470" y="172"/>
                </a:lnTo>
                <a:lnTo>
                  <a:pt x="470" y="172"/>
                </a:lnTo>
                <a:close/>
                <a:moveTo>
                  <a:pt x="470" y="252"/>
                </a:moveTo>
                <a:lnTo>
                  <a:pt x="470" y="252"/>
                </a:lnTo>
                <a:lnTo>
                  <a:pt x="715" y="252"/>
                </a:lnTo>
                <a:lnTo>
                  <a:pt x="715" y="252"/>
                </a:lnTo>
                <a:lnTo>
                  <a:pt x="715" y="273"/>
                </a:lnTo>
                <a:lnTo>
                  <a:pt x="715" y="273"/>
                </a:lnTo>
                <a:lnTo>
                  <a:pt x="470" y="273"/>
                </a:lnTo>
                <a:lnTo>
                  <a:pt x="470" y="273"/>
                </a:lnTo>
                <a:lnTo>
                  <a:pt x="470" y="252"/>
                </a:lnTo>
                <a:lnTo>
                  <a:pt x="470" y="252"/>
                </a:lnTo>
                <a:close/>
                <a:moveTo>
                  <a:pt x="470" y="297"/>
                </a:moveTo>
                <a:lnTo>
                  <a:pt x="470" y="297"/>
                </a:lnTo>
                <a:lnTo>
                  <a:pt x="715" y="297"/>
                </a:lnTo>
                <a:lnTo>
                  <a:pt x="715" y="297"/>
                </a:lnTo>
                <a:lnTo>
                  <a:pt x="715" y="319"/>
                </a:lnTo>
                <a:lnTo>
                  <a:pt x="715" y="319"/>
                </a:lnTo>
                <a:lnTo>
                  <a:pt x="470" y="319"/>
                </a:lnTo>
                <a:lnTo>
                  <a:pt x="470" y="319"/>
                </a:lnTo>
                <a:lnTo>
                  <a:pt x="470" y="297"/>
                </a:lnTo>
                <a:lnTo>
                  <a:pt x="470" y="297"/>
                </a:lnTo>
                <a:close/>
                <a:moveTo>
                  <a:pt x="470" y="338"/>
                </a:moveTo>
                <a:lnTo>
                  <a:pt x="715" y="338"/>
                </a:lnTo>
                <a:lnTo>
                  <a:pt x="715" y="360"/>
                </a:lnTo>
                <a:lnTo>
                  <a:pt x="470" y="360"/>
                </a:lnTo>
                <a:lnTo>
                  <a:pt x="470" y="338"/>
                </a:lnTo>
                <a:close/>
              </a:path>
            </a:pathLst>
          </a:custGeom>
          <a:solidFill>
            <a:srgbClr val="6A6F7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48" name="textbox 2648"/>
          <p:cNvSpPr/>
          <p:nvPr/>
        </p:nvSpPr>
        <p:spPr>
          <a:xfrm>
            <a:off x="2506861" y="4123046"/>
            <a:ext cx="490219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发电侧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50" name="textbox 2650"/>
          <p:cNvSpPr/>
          <p:nvPr/>
        </p:nvSpPr>
        <p:spPr>
          <a:xfrm>
            <a:off x="7693052" y="4123978"/>
            <a:ext cx="488950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用电侧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52" name="picture 26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2654" name="path 2654"/>
          <p:cNvSpPr/>
          <p:nvPr/>
        </p:nvSpPr>
        <p:spPr>
          <a:xfrm>
            <a:off x="8665464" y="3570732"/>
            <a:ext cx="1569720" cy="6096"/>
          </a:xfrm>
          <a:custGeom>
            <a:avLst/>
            <a:gdLst/>
            <a:ahLst/>
            <a:cxnLst/>
            <a:rect l="0" t="0" r="0" b="0"/>
            <a:pathLst>
              <a:path w="2472" h="9">
                <a:moveTo>
                  <a:pt x="0" y="4"/>
                </a:moveTo>
                <a:lnTo>
                  <a:pt x="2472" y="4"/>
                </a:lnTo>
              </a:path>
            </a:pathLst>
          </a:custGeom>
          <a:noFill/>
          <a:ln w="6096" cap="flat">
            <a:solidFill>
              <a:srgbClr val="5B9BD5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56" name="path 2656"/>
          <p:cNvSpPr/>
          <p:nvPr/>
        </p:nvSpPr>
        <p:spPr>
          <a:xfrm>
            <a:off x="454152" y="3558539"/>
            <a:ext cx="1569719" cy="6096"/>
          </a:xfrm>
          <a:custGeom>
            <a:avLst/>
            <a:gdLst/>
            <a:ahLst/>
            <a:cxnLst/>
            <a:rect l="0" t="0" r="0" b="0"/>
            <a:pathLst>
              <a:path w="2471" h="9">
                <a:moveTo>
                  <a:pt x="0" y="4"/>
                </a:moveTo>
                <a:lnTo>
                  <a:pt x="2471" y="4"/>
                </a:lnTo>
              </a:path>
            </a:pathLst>
          </a:custGeom>
          <a:noFill/>
          <a:ln w="6096" cap="flat">
            <a:solidFill>
              <a:srgbClr val="5B9BD5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8" name="table 2658"/>
          <p:cNvGraphicFramePr>
            <a:graphicFrameLocks noGrp="1"/>
          </p:cNvGraphicFramePr>
          <p:nvPr/>
        </p:nvGraphicFramePr>
        <p:xfrm>
          <a:off x="92201" y="2574797"/>
          <a:ext cx="5527039" cy="2623820"/>
        </p:xfrm>
        <a:graphic>
          <a:graphicData uri="http://schemas.openxmlformats.org/drawingml/2006/table">
            <a:tbl>
              <a:tblPr/>
              <a:tblGrid>
                <a:gridCol w="5527039"/>
              </a:tblGrid>
              <a:tr h="26142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 T日交易履约风险=所有单品种持有合约交易风</a:t>
                      </a:r>
                      <a:r>
                        <a:rPr sz="11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险;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97789" algn="l" rtl="0" eaLnBrk="0">
                        <a:lnSpc>
                          <a:spcPct val="96000"/>
                        </a:lnSpc>
                        <a:spcBef>
                          <a:spcPts val="833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 单品种持有合约交易风险=单品种持有合约成本-单品种持有合约价值×（1-Q%</a:t>
                      </a:r>
                      <a:r>
                        <a:rPr sz="11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）;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38125" indent="-140335" algn="l" rtl="0" eaLnBrk="0">
                        <a:lnSpc>
                          <a:spcPct val="158000"/>
                        </a:lnSpc>
                        <a:spcBef>
                          <a:spcPts val="74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 单品种持有合约成本=∑（买入合约量</a:t>
                      </a:r>
                      <a:r>
                        <a:rPr sz="11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×买入合约价）</a:t>
                      </a:r>
                      <a:r>
                        <a:rPr sz="1100" b="1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 ∑ （卖出合约量×卖出合约</a:t>
                      </a:r>
                      <a:r>
                        <a:rPr sz="1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</a:t>
                      </a:r>
                      <a:r>
                        <a:rPr sz="1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）；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97789" algn="l" rtl="0" eaLnBrk="0">
                        <a:lnSpc>
                          <a:spcPct val="96000"/>
                        </a:lnSpc>
                        <a:spcBef>
                          <a:spcPts val="801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 单品种持有合约价值=单品种T日综合价格</a:t>
                      </a:r>
                      <a:r>
                        <a:rPr sz="11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×单品种T日净合约量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92710" algn="l" rtl="0" eaLnBrk="0">
                        <a:lnSpc>
                          <a:spcPts val="2022"/>
                        </a:lnSpc>
                        <a:tabLst/>
                      </a:pPr>
                      <a:r>
                        <a:rPr sz="1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Q%为下一交易日该交易</a:t>
                      </a: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标的价格的涨跌幅限额绝对值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r" rtl="0" eaLnBrk="0">
                        <a:lnSpc>
                          <a:spcPct val="96000"/>
                        </a:lnSpc>
                        <a:spcBef>
                          <a:spcPts val="922"/>
                        </a:spcBef>
                        <a:tabLst/>
                      </a:pPr>
                      <a:r>
                        <a:rPr sz="11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   预缴保函可交易电量额度=预缴保函额度</a:t>
                      </a:r>
                      <a:r>
                        <a:rPr sz="1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×H%/[交易标的综合价格×（1+Q%）]，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9884" algn="l" rtl="0" eaLnBrk="0">
                        <a:lnSpc>
                          <a:spcPts val="2025"/>
                        </a:lnSpc>
                        <a:tabLst/>
                      </a:pPr>
                      <a:r>
                        <a:rPr sz="1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H%为调整系数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60" name="path 2660"/>
          <p:cNvSpPr/>
          <p:nvPr/>
        </p:nvSpPr>
        <p:spPr>
          <a:xfrm>
            <a:off x="5711189" y="2605277"/>
            <a:ext cx="4840223" cy="2593848"/>
          </a:xfrm>
          <a:custGeom>
            <a:avLst/>
            <a:gdLst/>
            <a:ahLst/>
            <a:cxnLst/>
            <a:rect l="0" t="0" r="0" b="0"/>
            <a:pathLst>
              <a:path w="7622" h="4084">
                <a:moveTo>
                  <a:pt x="8" y="8"/>
                </a:moveTo>
                <a:lnTo>
                  <a:pt x="7613" y="8"/>
                </a:lnTo>
                <a:lnTo>
                  <a:pt x="7613" y="4076"/>
                </a:lnTo>
                <a:lnTo>
                  <a:pt x="8" y="4076"/>
                </a:lnTo>
                <a:lnTo>
                  <a:pt x="8" y="8"/>
                </a:lnTo>
                <a:close/>
              </a:path>
            </a:pathLst>
          </a:custGeom>
          <a:noFill/>
          <a:ln w="10668" cap="flat">
            <a:solidFill>
              <a:srgbClr val="094161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62" name="path 2662"/>
          <p:cNvSpPr/>
          <p:nvPr/>
        </p:nvSpPr>
        <p:spPr>
          <a:xfrm>
            <a:off x="7190232" y="5013959"/>
            <a:ext cx="1882140" cy="329184"/>
          </a:xfrm>
          <a:custGeom>
            <a:avLst/>
            <a:gdLst/>
            <a:ahLst/>
            <a:cxnLst/>
            <a:rect l="0" t="0" r="0" b="0"/>
            <a:pathLst>
              <a:path w="2964" h="518">
                <a:moveTo>
                  <a:pt x="0" y="86"/>
                </a:moveTo>
                <a:moveTo>
                  <a:pt x="0" y="86"/>
                </a:moveTo>
                <a:cubicBezTo>
                  <a:pt x="0" y="38"/>
                  <a:pt x="38" y="0"/>
                  <a:pt x="86" y="0"/>
                </a:cubicBezTo>
                <a:lnTo>
                  <a:pt x="2877" y="0"/>
                </a:lnTo>
                <a:cubicBezTo>
                  <a:pt x="2925" y="0"/>
                  <a:pt x="2964" y="38"/>
                  <a:pt x="2964" y="86"/>
                </a:cubicBezTo>
                <a:lnTo>
                  <a:pt x="2964" y="432"/>
                </a:lnTo>
                <a:cubicBezTo>
                  <a:pt x="2964" y="477"/>
                  <a:pt x="2925" y="518"/>
                  <a:pt x="2877" y="518"/>
                </a:cubicBezTo>
                <a:lnTo>
                  <a:pt x="86" y="518"/>
                </a:lnTo>
                <a:cubicBezTo>
                  <a:pt x="38" y="518"/>
                  <a:pt x="0" y="477"/>
                  <a:pt x="0" y="432"/>
                </a:cubicBezTo>
                <a:lnTo>
                  <a:pt x="0" y="86"/>
                </a:lnTo>
                <a:close/>
              </a:path>
            </a:pathLst>
          </a:cu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64" name="textbox 2664"/>
          <p:cNvSpPr/>
          <p:nvPr/>
        </p:nvSpPr>
        <p:spPr>
          <a:xfrm>
            <a:off x="5796794" y="2720880"/>
            <a:ext cx="4604384" cy="2575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   T日结算风险=历史欠费+未到期账单费用+已清算交易费用+未清算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253365" algn="l" rtl="0" eaLnBrk="0">
              <a:lnSpc>
                <a:spcPts val="1972"/>
              </a:lnSpc>
              <a:tabLst/>
            </a:pP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交易费用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2000"/>
              </a:lnSpc>
              <a:spcBef>
                <a:spcPts val="281"/>
              </a:spcBef>
              <a:tabLst/>
            </a:pP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   历史欠费：市场主体超过付款期限，截至T日尚未支付的款项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   未到期账单费用：在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支付期限内的尚未支付的款项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2000"/>
              </a:lnSpc>
              <a:spcBef>
                <a:spcPts val="92"/>
              </a:spcBef>
              <a:tabLst/>
            </a:pP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   已清算交易费用：在市场主体完成交易后，</a:t>
            </a:r>
            <a:r>
              <a:rPr sz="1100" b="1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已发生清算但未结算费用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   未清算交易费用：在市场主体完成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交易后，单交易中心尚未完成清算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258445" algn="l" rtl="0" eaLnBrk="0">
              <a:lnSpc>
                <a:spcPct val="87000"/>
              </a:lnSpc>
              <a:spcBef>
                <a:spcPts val="737"/>
              </a:spcBef>
              <a:tabLst/>
            </a:pP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的款项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842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   T日未清算交易费用=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市场主体上一年度最大用电月日平均用电量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270509" algn="l" rtl="0" eaLnBrk="0">
              <a:lnSpc>
                <a:spcPct val="80000"/>
              </a:lnSpc>
              <a:spcBef>
                <a:spcPts val="932"/>
              </a:spcBef>
              <a:tabLst/>
            </a:pP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×5×P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未清算度电费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802129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结算履约风险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666" name="table 2666"/>
          <p:cNvGraphicFramePr>
            <a:graphicFrameLocks noGrp="1"/>
          </p:cNvGraphicFramePr>
          <p:nvPr/>
        </p:nvGraphicFramePr>
        <p:xfrm>
          <a:off x="195071" y="5673851"/>
          <a:ext cx="10359390" cy="998219"/>
        </p:xfrm>
        <a:graphic>
          <a:graphicData uri="http://schemas.openxmlformats.org/drawingml/2006/table">
            <a:tbl>
              <a:tblPr>
                <a:solidFill>
                  <a:srgbClr val="E7ECF0"/>
                </a:solidFill>
              </a:tblPr>
              <a:tblGrid>
                <a:gridCol w="10359390"/>
              </a:tblGrid>
              <a:tr h="2362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36490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警示措施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0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68625" algn="l" rtl="0" eaLnBrk="0">
                        <a:lnSpc>
                          <a:spcPct val="8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市场主体所持有中长期合约中，有未来60天进入交割日的，</a:t>
                      </a:r>
                      <a:r>
                        <a:rPr sz="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对市场主体进行提示。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0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51429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市场主体的交易保函</a:t>
                      </a:r>
                      <a:r>
                        <a:rPr sz="9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额度不足时，暂停其在中长期市场的交易资格，并对其常用合约进行强制处理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72894" algn="l" rtl="0" eaLnBrk="0">
                        <a:lnSpc>
                          <a:spcPct val="8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市场主体的结算保函额度不足时，</a:t>
                      </a:r>
                      <a:r>
                        <a:rPr sz="9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暂停其所持有的交割月的年、月、周等中长期合约、现货市场成交结果以及相关零售合约的结算资格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0"/>
                    </a:solidFill>
                  </a:tcPr>
                </a:tc>
              </a:tr>
            </a:tbl>
          </a:graphicData>
        </a:graphic>
      </p:graphicFrame>
      <p:sp>
        <p:nvSpPr>
          <p:cNvPr id="2668" name="textbox 2668"/>
          <p:cNvSpPr/>
          <p:nvPr/>
        </p:nvSpPr>
        <p:spPr>
          <a:xfrm>
            <a:off x="6280564" y="1751404"/>
            <a:ext cx="4424679" cy="714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6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14979" algn="l" rtl="0" eaLnBrk="0">
              <a:lnSpc>
                <a:spcPct val="88000"/>
              </a:lnSpc>
              <a:tabLst/>
            </a:pPr>
            <a:r>
              <a:rPr sz="24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结算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结算信用占有度=结算履约风险/结算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信用额度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70" name="picture 26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160699" y="1807464"/>
            <a:ext cx="530352" cy="170688"/>
          </a:xfrm>
          <a:prstGeom prst="rect">
            <a:avLst/>
          </a:prstGeom>
        </p:spPr>
      </p:pic>
      <p:sp>
        <p:nvSpPr>
          <p:cNvPr id="2672" name="textbox 2672"/>
          <p:cNvSpPr/>
          <p:nvPr/>
        </p:nvSpPr>
        <p:spPr>
          <a:xfrm>
            <a:off x="-12700" y="1752029"/>
            <a:ext cx="4403725" cy="709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6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44194" algn="l" rtl="0" eaLnBrk="0">
              <a:lnSpc>
                <a:spcPct val="87000"/>
              </a:lnSpc>
              <a:tabLst>
                <a:tab pos="817880" algn="l"/>
              </a:tabLst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交易信用占有度=交易履约风险/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交易信用额度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74" name="picture 26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834896"/>
            <a:ext cx="531876" cy="169163"/>
          </a:xfrm>
          <a:prstGeom prst="rect">
            <a:avLst/>
          </a:prstGeom>
        </p:spPr>
      </p:pic>
      <p:sp>
        <p:nvSpPr>
          <p:cNvPr id="2676" name="textbox 2676"/>
          <p:cNvSpPr/>
          <p:nvPr/>
        </p:nvSpPr>
        <p:spPr>
          <a:xfrm>
            <a:off x="523049" y="1113451"/>
            <a:ext cx="242379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售电公司履约保函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78" name="textbox 2678"/>
          <p:cNvSpPr/>
          <p:nvPr/>
        </p:nvSpPr>
        <p:spPr>
          <a:xfrm>
            <a:off x="1915667" y="5030723"/>
            <a:ext cx="1880870" cy="328295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10844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交易履约风险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80" name="picture 26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584197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roup 290"/>
          <p:cNvGrpSpPr/>
          <p:nvPr/>
        </p:nvGrpSpPr>
        <p:grpSpPr>
          <a:xfrm rot="21600000">
            <a:off x="3785615" y="2100071"/>
            <a:ext cx="2955035" cy="2953512"/>
            <a:chOff x="0" y="0"/>
            <a:chExt cx="2955035" cy="2953512"/>
          </a:xfrm>
        </p:grpSpPr>
        <p:sp>
          <p:nvSpPr>
            <p:cNvPr id="2682" name="path 2682"/>
            <p:cNvSpPr/>
            <p:nvPr/>
          </p:nvSpPr>
          <p:spPr>
            <a:xfrm>
              <a:off x="18288" y="25908"/>
              <a:ext cx="1335023" cy="1569720"/>
            </a:xfrm>
            <a:custGeom>
              <a:avLst/>
              <a:gdLst/>
              <a:ahLst/>
              <a:cxnLst/>
              <a:rect l="0" t="0" r="0" b="0"/>
              <a:pathLst>
                <a:path w="2102" h="2472">
                  <a:moveTo>
                    <a:pt x="1235" y="0"/>
                  </a:moveTo>
                  <a:cubicBezTo>
                    <a:pt x="1574" y="0"/>
                    <a:pt x="1879" y="134"/>
                    <a:pt x="2102" y="355"/>
                  </a:cubicBezTo>
                  <a:cubicBezTo>
                    <a:pt x="1874" y="578"/>
                    <a:pt x="1732" y="890"/>
                    <a:pt x="1732" y="1235"/>
                  </a:cubicBezTo>
                  <a:cubicBezTo>
                    <a:pt x="1732" y="1581"/>
                    <a:pt x="1874" y="1893"/>
                    <a:pt x="2102" y="2116"/>
                  </a:cubicBezTo>
                  <a:cubicBezTo>
                    <a:pt x="1879" y="2337"/>
                    <a:pt x="1574" y="2472"/>
                    <a:pt x="1235" y="2472"/>
                  </a:cubicBezTo>
                  <a:cubicBezTo>
                    <a:pt x="554" y="2472"/>
                    <a:pt x="0" y="1920"/>
                    <a:pt x="0" y="1235"/>
                  </a:cubicBezTo>
                  <a:cubicBezTo>
                    <a:pt x="0" y="554"/>
                    <a:pt x="554" y="0"/>
                    <a:pt x="1235" y="0"/>
                  </a:cubicBezTo>
                </a:path>
              </a:pathLst>
            </a:custGeom>
            <a:solidFill>
              <a:srgbClr val="09416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84" name="path 2684"/>
            <p:cNvSpPr/>
            <p:nvPr/>
          </p:nvSpPr>
          <p:spPr>
            <a:xfrm>
              <a:off x="1383791" y="0"/>
              <a:ext cx="1571243" cy="1371600"/>
            </a:xfrm>
            <a:custGeom>
              <a:avLst/>
              <a:gdLst/>
              <a:ahLst/>
              <a:cxnLst/>
              <a:rect l="0" t="0" r="0" b="0"/>
              <a:pathLst>
                <a:path w="2474" h="2160">
                  <a:moveTo>
                    <a:pt x="1235" y="0"/>
                  </a:moveTo>
                  <a:cubicBezTo>
                    <a:pt x="1920" y="0"/>
                    <a:pt x="2474" y="554"/>
                    <a:pt x="2474" y="1235"/>
                  </a:cubicBezTo>
                  <a:cubicBezTo>
                    <a:pt x="2474" y="1576"/>
                    <a:pt x="2337" y="1884"/>
                    <a:pt x="2114" y="2109"/>
                  </a:cubicBezTo>
                  <a:cubicBezTo>
                    <a:pt x="1898" y="1912"/>
                    <a:pt x="1612" y="1795"/>
                    <a:pt x="1298" y="1795"/>
                  </a:cubicBezTo>
                  <a:cubicBezTo>
                    <a:pt x="955" y="1795"/>
                    <a:pt x="645" y="1934"/>
                    <a:pt x="422" y="2160"/>
                  </a:cubicBezTo>
                  <a:cubicBezTo>
                    <a:pt x="163" y="1936"/>
                    <a:pt x="0" y="1605"/>
                    <a:pt x="0" y="1235"/>
                  </a:cubicBezTo>
                  <a:cubicBezTo>
                    <a:pt x="0" y="554"/>
                    <a:pt x="554" y="0"/>
                    <a:pt x="1235" y="0"/>
                  </a:cubicBezTo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86" name="path 2686"/>
            <p:cNvSpPr/>
            <p:nvPr/>
          </p:nvSpPr>
          <p:spPr>
            <a:xfrm>
              <a:off x="1612391" y="1359408"/>
              <a:ext cx="1336547" cy="1571244"/>
            </a:xfrm>
            <a:custGeom>
              <a:avLst/>
              <a:gdLst/>
              <a:ahLst/>
              <a:cxnLst/>
              <a:rect l="0" t="0" r="0" b="0"/>
              <a:pathLst>
                <a:path w="2104" h="2474">
                  <a:moveTo>
                    <a:pt x="866" y="0"/>
                  </a:moveTo>
                  <a:cubicBezTo>
                    <a:pt x="1550" y="0"/>
                    <a:pt x="2104" y="554"/>
                    <a:pt x="2104" y="1238"/>
                  </a:cubicBezTo>
                  <a:cubicBezTo>
                    <a:pt x="2104" y="1922"/>
                    <a:pt x="1550" y="2474"/>
                    <a:pt x="866" y="2474"/>
                  </a:cubicBezTo>
                  <a:cubicBezTo>
                    <a:pt x="527" y="2474"/>
                    <a:pt x="223" y="2340"/>
                    <a:pt x="0" y="2119"/>
                  </a:cubicBezTo>
                  <a:cubicBezTo>
                    <a:pt x="230" y="1896"/>
                    <a:pt x="372" y="1583"/>
                    <a:pt x="372" y="1238"/>
                  </a:cubicBezTo>
                  <a:cubicBezTo>
                    <a:pt x="372" y="892"/>
                    <a:pt x="230" y="578"/>
                    <a:pt x="0" y="355"/>
                  </a:cubicBezTo>
                  <a:cubicBezTo>
                    <a:pt x="223" y="134"/>
                    <a:pt x="527" y="0"/>
                    <a:pt x="866" y="0"/>
                  </a:cubicBezTo>
                </a:path>
              </a:pathLst>
            </a:custGeom>
            <a:solidFill>
              <a:srgbClr val="09416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88" name="path 2688"/>
            <p:cNvSpPr/>
            <p:nvPr/>
          </p:nvSpPr>
          <p:spPr>
            <a:xfrm>
              <a:off x="0" y="1616964"/>
              <a:ext cx="1571244" cy="1336548"/>
            </a:xfrm>
            <a:custGeom>
              <a:avLst/>
              <a:gdLst/>
              <a:ahLst/>
              <a:cxnLst/>
              <a:rect l="0" t="0" r="0" b="0"/>
              <a:pathLst>
                <a:path w="2474" h="2104">
                  <a:moveTo>
                    <a:pt x="355" y="0"/>
                  </a:moveTo>
                  <a:cubicBezTo>
                    <a:pt x="578" y="230"/>
                    <a:pt x="892" y="372"/>
                    <a:pt x="1236" y="372"/>
                  </a:cubicBezTo>
                  <a:cubicBezTo>
                    <a:pt x="1581" y="372"/>
                    <a:pt x="1893" y="230"/>
                    <a:pt x="2119" y="0"/>
                  </a:cubicBezTo>
                  <a:cubicBezTo>
                    <a:pt x="2337" y="223"/>
                    <a:pt x="2474" y="527"/>
                    <a:pt x="2474" y="866"/>
                  </a:cubicBezTo>
                  <a:cubicBezTo>
                    <a:pt x="2474" y="1550"/>
                    <a:pt x="1920" y="2104"/>
                    <a:pt x="1236" y="2104"/>
                  </a:cubicBezTo>
                  <a:cubicBezTo>
                    <a:pt x="554" y="2104"/>
                    <a:pt x="0" y="1550"/>
                    <a:pt x="0" y="866"/>
                  </a:cubicBezTo>
                  <a:cubicBezTo>
                    <a:pt x="0" y="527"/>
                    <a:pt x="136" y="223"/>
                    <a:pt x="355" y="0"/>
                  </a:cubicBezTo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690" name="textbox 2690"/>
          <p:cNvSpPr/>
          <p:nvPr/>
        </p:nvSpPr>
        <p:spPr>
          <a:xfrm>
            <a:off x="1234841" y="5552087"/>
            <a:ext cx="8329294" cy="758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对于市场化机组而言，年度计划电量、中长期交易电量的合同均为金融意义的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差价合约，仅用于结算不要求物理执行；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855"/>
              </a:spcBef>
              <a:tabLst/>
            </a:pP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2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日前现货市场中标电量（出力曲线）也仅具有金融结算意义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12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 实时现货市场出清电量（出力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曲线）作为物理执行依据。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92" name="textbox 2692"/>
          <p:cNvSpPr/>
          <p:nvPr/>
        </p:nvSpPr>
        <p:spPr>
          <a:xfrm>
            <a:off x="7290937" y="2078475"/>
            <a:ext cx="2637789" cy="1381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500" b="1" kern="0" spc="8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跨省区中长期优先发</a:t>
            </a:r>
            <a:r>
              <a:rPr sz="1500" b="1" kern="0" spc="7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电合同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66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区域调度制定省间联络线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58445" indent="-245745" algn="l" rtl="0" eaLnBrk="0">
              <a:lnSpc>
                <a:spcPct val="125000"/>
              </a:lnSpc>
              <a:spcBef>
                <a:spcPts val="6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按联络线计划调度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，偏差在现货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市场结算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94" name="textbox 2694"/>
          <p:cNvSpPr/>
          <p:nvPr/>
        </p:nvSpPr>
        <p:spPr>
          <a:xfrm>
            <a:off x="605114" y="2186921"/>
            <a:ext cx="2754629" cy="1214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0" algn="l" rtl="0" eaLnBrk="0">
              <a:lnSpc>
                <a:spcPct val="87000"/>
              </a:lnSpc>
              <a:tabLst/>
            </a:pPr>
            <a:r>
              <a:rPr sz="1500" b="1" kern="0" spc="7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计划电量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7175" indent="-244475" algn="l" rtl="0" eaLnBrk="0">
              <a:lnSpc>
                <a:spcPct val="125000"/>
              </a:lnSpc>
              <a:spcBef>
                <a:spcPts val="372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计划电量转变为政府授权合约，不强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制要求物理执行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按照“以用定发”原则确定合约电量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96" name="textbox 2696"/>
          <p:cNvSpPr/>
          <p:nvPr/>
        </p:nvSpPr>
        <p:spPr>
          <a:xfrm>
            <a:off x="621888" y="3729940"/>
            <a:ext cx="2443479" cy="1188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6225" algn="l" rtl="0" eaLnBrk="0">
              <a:lnSpc>
                <a:spcPct val="88000"/>
              </a:lnSpc>
              <a:tabLst/>
            </a:pPr>
            <a:r>
              <a:rPr sz="1500" b="1" kern="0" spc="3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71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全电量竞争报价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66700" indent="-254634" algn="l" rtl="0" eaLnBrk="0">
              <a:lnSpc>
                <a:spcPct val="125000"/>
              </a:lnSpc>
              <a:spcBef>
                <a:spcPts val="7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日前中标曲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线与中长期合同分解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曲线之间的偏差按日前价格结算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98" name="textbox 2698"/>
          <p:cNvSpPr/>
          <p:nvPr/>
        </p:nvSpPr>
        <p:spPr>
          <a:xfrm>
            <a:off x="7327513" y="3771097"/>
            <a:ext cx="2443479" cy="1139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2879" algn="l" rtl="0" eaLnBrk="0">
              <a:lnSpc>
                <a:spcPct val="88000"/>
              </a:lnSpc>
              <a:tabLst/>
            </a:pPr>
            <a:r>
              <a:rPr sz="1500" b="1" kern="0" spc="7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5000"/>
              </a:lnSpc>
              <a:spcBef>
                <a:spcPts val="1378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实时偏差平衡、阻塞管理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62890" indent="-250190" algn="l" rtl="0" eaLnBrk="0">
              <a:lnSpc>
                <a:spcPct val="125000"/>
              </a:lnSpc>
              <a:spcBef>
                <a:spcPts val="3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日前中标曲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线与实际发用电曲线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的偏差按实时市场价格结算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00" name="textbox 2700"/>
          <p:cNvSpPr/>
          <p:nvPr/>
        </p:nvSpPr>
        <p:spPr>
          <a:xfrm>
            <a:off x="537460" y="1112886"/>
            <a:ext cx="3910329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中长期市场与现货市场的衔接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02" name="rect 2702"/>
          <p:cNvSpPr/>
          <p:nvPr/>
        </p:nvSpPr>
        <p:spPr>
          <a:xfrm>
            <a:off x="4326635" y="4117847"/>
            <a:ext cx="438911" cy="621792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04" name="rect 2704"/>
          <p:cNvSpPr/>
          <p:nvPr/>
        </p:nvSpPr>
        <p:spPr>
          <a:xfrm>
            <a:off x="5800344" y="4117847"/>
            <a:ext cx="438911" cy="621792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06" name="rect 2706"/>
          <p:cNvSpPr/>
          <p:nvPr/>
        </p:nvSpPr>
        <p:spPr>
          <a:xfrm>
            <a:off x="5728716" y="2569464"/>
            <a:ext cx="437387" cy="620267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08" name="textbox 2708"/>
          <p:cNvSpPr/>
          <p:nvPr/>
        </p:nvSpPr>
        <p:spPr>
          <a:xfrm>
            <a:off x="4313935" y="4102146"/>
            <a:ext cx="381000" cy="612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621"/>
              </a:lnSpc>
              <a:tabLst>
                <a:tab pos="127635" algn="l"/>
              </a:tabLst>
            </a:pPr>
            <a:r>
              <a:rPr sz="3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300" b="1" kern="0" spc="-1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3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10" name="textbox 2710"/>
          <p:cNvSpPr/>
          <p:nvPr/>
        </p:nvSpPr>
        <p:spPr>
          <a:xfrm>
            <a:off x="5874039" y="4102146"/>
            <a:ext cx="292734" cy="612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621"/>
              </a:lnSpc>
              <a:tabLst/>
            </a:pPr>
            <a:r>
              <a:rPr sz="35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12" name="textbox 2712"/>
          <p:cNvSpPr/>
          <p:nvPr/>
        </p:nvSpPr>
        <p:spPr>
          <a:xfrm>
            <a:off x="5818355" y="2553745"/>
            <a:ext cx="276859" cy="612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621"/>
              </a:lnSpc>
              <a:tabLst/>
            </a:pPr>
            <a:r>
              <a:rPr sz="3500" b="1" kern="0" spc="-2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14" name="textbox 2714"/>
          <p:cNvSpPr/>
          <p:nvPr/>
        </p:nvSpPr>
        <p:spPr>
          <a:xfrm>
            <a:off x="4359459" y="2553745"/>
            <a:ext cx="259079" cy="612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621"/>
              </a:lnSpc>
              <a:tabLst/>
            </a:pPr>
            <a:r>
              <a:rPr sz="3200" b="1" kern="0" spc="-1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16" name="path 2716"/>
          <p:cNvSpPr/>
          <p:nvPr/>
        </p:nvSpPr>
        <p:spPr>
          <a:xfrm>
            <a:off x="355091" y="6570726"/>
            <a:ext cx="9966959" cy="10667"/>
          </a:xfrm>
          <a:custGeom>
            <a:avLst/>
            <a:gdLst/>
            <a:ahLst/>
            <a:cxnLst/>
            <a:rect l="0" t="0" r="0" b="0"/>
            <a:pathLst>
              <a:path w="15695" h="16">
                <a:moveTo>
                  <a:pt x="0" y="8"/>
                </a:moveTo>
                <a:lnTo>
                  <a:pt x="2553" y="8"/>
                </a:lnTo>
                <a:lnTo>
                  <a:pt x="2553" y="8"/>
                </a:lnTo>
                <a:lnTo>
                  <a:pt x="0" y="8"/>
                </a:lnTo>
                <a:moveTo>
                  <a:pt x="13689" y="8"/>
                </a:moveTo>
                <a:lnTo>
                  <a:pt x="15695" y="8"/>
                </a:lnTo>
                <a:moveTo>
                  <a:pt x="15695" y="8"/>
                </a:moveTo>
                <a:lnTo>
                  <a:pt x="13689" y="8"/>
                </a:lnTo>
              </a:path>
            </a:pathLst>
          </a:custGeom>
          <a:noFill/>
          <a:ln w="10668" cap="flat">
            <a:solidFill>
              <a:srgbClr val="41719C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718" name="picture 27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2720" name="path 2720"/>
          <p:cNvSpPr/>
          <p:nvPr/>
        </p:nvSpPr>
        <p:spPr>
          <a:xfrm>
            <a:off x="7022592" y="3544061"/>
            <a:ext cx="3300983" cy="7619"/>
          </a:xfrm>
          <a:custGeom>
            <a:avLst/>
            <a:gdLst/>
            <a:ahLst/>
            <a:cxnLst/>
            <a:rect l="0" t="0" r="0" b="0"/>
            <a:pathLst>
              <a:path w="5198" h="11">
                <a:moveTo>
                  <a:pt x="0" y="5"/>
                </a:moveTo>
                <a:lnTo>
                  <a:pt x="5198" y="5"/>
                </a:lnTo>
              </a:path>
            </a:pathLst>
          </a:custGeom>
          <a:noFill/>
          <a:ln w="7620" cap="flat">
            <a:solidFill>
              <a:srgbClr val="7F7F7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22" name="path 2722"/>
          <p:cNvSpPr/>
          <p:nvPr/>
        </p:nvSpPr>
        <p:spPr>
          <a:xfrm>
            <a:off x="330708" y="3544061"/>
            <a:ext cx="3209544" cy="7619"/>
          </a:xfrm>
          <a:custGeom>
            <a:avLst/>
            <a:gdLst/>
            <a:ahLst/>
            <a:cxnLst/>
            <a:rect l="0" t="0" r="0" b="0"/>
            <a:pathLst>
              <a:path w="5054" h="11">
                <a:moveTo>
                  <a:pt x="5054" y="5"/>
                </a:moveTo>
                <a:lnTo>
                  <a:pt x="0" y="5"/>
                </a:lnTo>
              </a:path>
            </a:pathLst>
          </a:custGeom>
          <a:noFill/>
          <a:ln w="7620" cap="flat">
            <a:solidFill>
              <a:srgbClr val="7F7F7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24" name="path 2724"/>
          <p:cNvSpPr/>
          <p:nvPr/>
        </p:nvSpPr>
        <p:spPr>
          <a:xfrm>
            <a:off x="3627882" y="2054352"/>
            <a:ext cx="7620" cy="3073908"/>
          </a:xfrm>
          <a:custGeom>
            <a:avLst/>
            <a:gdLst/>
            <a:ahLst/>
            <a:cxnLst/>
            <a:rect l="0" t="0" r="0" b="0"/>
            <a:pathLst>
              <a:path w="12" h="4840">
                <a:moveTo>
                  <a:pt x="5" y="0"/>
                </a:moveTo>
                <a:lnTo>
                  <a:pt x="5" y="2135"/>
                </a:lnTo>
                <a:moveTo>
                  <a:pt x="5" y="2635"/>
                </a:moveTo>
                <a:lnTo>
                  <a:pt x="5" y="4840"/>
                </a:lnTo>
              </a:path>
            </a:pathLst>
          </a:custGeom>
          <a:noFill/>
          <a:ln w="7620" cap="flat">
            <a:solidFill>
              <a:srgbClr val="7F7F7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26" name="path 2726"/>
          <p:cNvSpPr/>
          <p:nvPr/>
        </p:nvSpPr>
        <p:spPr>
          <a:xfrm>
            <a:off x="10316716" y="5513832"/>
            <a:ext cx="10669" cy="1062228"/>
          </a:xfrm>
          <a:custGeom>
            <a:avLst/>
            <a:gdLst/>
            <a:ahLst/>
            <a:cxnLst/>
            <a:rect l="0" t="0" r="0" b="0"/>
            <a:pathLst>
              <a:path w="16" h="1672">
                <a:moveTo>
                  <a:pt x="8" y="1672"/>
                </a:moveTo>
                <a:lnTo>
                  <a:pt x="8" y="0"/>
                </a:lnTo>
                <a:lnTo>
                  <a:pt x="8" y="0"/>
                </a:lnTo>
                <a:lnTo>
                  <a:pt x="8" y="1672"/>
                </a:lnTo>
              </a:path>
            </a:pathLst>
          </a:custGeom>
          <a:noFill/>
          <a:ln w="10668" cap="flat">
            <a:solidFill>
              <a:srgbClr val="41719C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28" name="path 2728"/>
          <p:cNvSpPr/>
          <p:nvPr/>
        </p:nvSpPr>
        <p:spPr>
          <a:xfrm>
            <a:off x="349757" y="5513832"/>
            <a:ext cx="10668" cy="1062228"/>
          </a:xfrm>
          <a:custGeom>
            <a:avLst/>
            <a:gdLst/>
            <a:ahLst/>
            <a:cxnLst/>
            <a:rect l="0" t="0" r="0" b="0"/>
            <a:pathLst>
              <a:path w="16" h="1672">
                <a:moveTo>
                  <a:pt x="8" y="0"/>
                </a:moveTo>
                <a:lnTo>
                  <a:pt x="8" y="1672"/>
                </a:lnTo>
                <a:moveTo>
                  <a:pt x="8" y="1672"/>
                </a:moveTo>
                <a:lnTo>
                  <a:pt x="8" y="0"/>
                </a:lnTo>
              </a:path>
            </a:pathLst>
          </a:custGeom>
          <a:noFill/>
          <a:ln w="10668" cap="flat">
            <a:solidFill>
              <a:srgbClr val="41719C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30" name="path 2730"/>
          <p:cNvSpPr/>
          <p:nvPr/>
        </p:nvSpPr>
        <p:spPr>
          <a:xfrm>
            <a:off x="6974585" y="3681983"/>
            <a:ext cx="7620" cy="1402080"/>
          </a:xfrm>
          <a:custGeom>
            <a:avLst/>
            <a:gdLst/>
            <a:ahLst/>
            <a:cxnLst/>
            <a:rect l="0" t="0" r="0" b="0"/>
            <a:pathLst>
              <a:path w="12" h="2208">
                <a:moveTo>
                  <a:pt x="6" y="0"/>
                </a:moveTo>
                <a:lnTo>
                  <a:pt x="6" y="2208"/>
                </a:lnTo>
              </a:path>
            </a:pathLst>
          </a:custGeom>
          <a:noFill/>
          <a:ln w="7620" cap="flat">
            <a:solidFill>
              <a:srgbClr val="7F7F7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32" name="path 2732"/>
          <p:cNvSpPr/>
          <p:nvPr/>
        </p:nvSpPr>
        <p:spPr>
          <a:xfrm>
            <a:off x="6974585" y="2008632"/>
            <a:ext cx="7620" cy="1402079"/>
          </a:xfrm>
          <a:custGeom>
            <a:avLst/>
            <a:gdLst/>
            <a:ahLst/>
            <a:cxnLst/>
            <a:rect l="0" t="0" r="0" b="0"/>
            <a:pathLst>
              <a:path w="12" h="2207">
                <a:moveTo>
                  <a:pt x="6" y="0"/>
                </a:moveTo>
                <a:lnTo>
                  <a:pt x="6" y="2207"/>
                </a:lnTo>
              </a:path>
            </a:pathLst>
          </a:custGeom>
          <a:noFill/>
          <a:ln w="7620" cap="flat">
            <a:solidFill>
              <a:srgbClr val="7F7F7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4" name="table 2734"/>
          <p:cNvGraphicFramePr>
            <a:graphicFrameLocks noGrp="1"/>
          </p:cNvGraphicFramePr>
          <p:nvPr/>
        </p:nvGraphicFramePr>
        <p:xfrm>
          <a:off x="238506" y="5659373"/>
          <a:ext cx="10228579" cy="708660"/>
        </p:xfrm>
        <a:graphic>
          <a:graphicData uri="http://schemas.openxmlformats.org/drawingml/2006/table">
            <a:tbl>
              <a:tblPr/>
              <a:tblGrid>
                <a:gridCol w="10228579"/>
              </a:tblGrid>
              <a:tr h="7086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845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——发电侧每小时的节点电价等于该时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段内每15分钟节点电价的算术平均值——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736" name="picture 27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71871" y="3376993"/>
            <a:ext cx="5003292" cy="64198"/>
          </a:xfrm>
          <a:prstGeom prst="rect">
            <a:avLst/>
          </a:prstGeom>
        </p:spPr>
      </p:pic>
      <p:graphicFrame>
        <p:nvGraphicFramePr>
          <p:cNvPr id="2738" name="table 2738"/>
          <p:cNvGraphicFramePr>
            <a:graphicFrameLocks noGrp="1"/>
          </p:cNvGraphicFramePr>
          <p:nvPr/>
        </p:nvGraphicFramePr>
        <p:xfrm>
          <a:off x="607313" y="2900933"/>
          <a:ext cx="4580254" cy="561975"/>
        </p:xfrm>
        <a:graphic>
          <a:graphicData uri="http://schemas.openxmlformats.org/drawingml/2006/table">
            <a:tbl>
              <a:tblPr>
                <a:solidFill>
                  <a:srgbClr val="004178"/>
                </a:solidFill>
              </a:tblPr>
              <a:tblGrid>
                <a:gridCol w="4580254"/>
              </a:tblGrid>
              <a:tr h="552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R</a:t>
                      </a:r>
                      <a:r>
                        <a:rPr sz="900" b="1" kern="0" spc="-1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日前偏差</a:t>
                      </a:r>
                      <a:r>
                        <a:rPr sz="5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=</a:t>
                      </a:r>
                      <a:r>
                        <a:rPr sz="20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</a:t>
                      </a:r>
                      <a:r>
                        <a:rPr sz="17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[(</a:t>
                      </a:r>
                      <a:r>
                        <a:rPr sz="17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Q</a:t>
                      </a:r>
                      <a:r>
                        <a:rPr sz="900" b="1" kern="0" spc="-1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</a:t>
                      </a:r>
                      <a:r>
                        <a:rPr sz="900" b="1" kern="0" spc="-1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,</a:t>
                      </a:r>
                      <a:r>
                        <a:rPr sz="900" b="1" kern="0" spc="-1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t</a:t>
                      </a:r>
                      <a:r>
                        <a:rPr sz="5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  </a:t>
                      </a:r>
                      <a:r>
                        <a:rPr sz="17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-</a:t>
                      </a:r>
                      <a:r>
                        <a:rPr sz="17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 </a:t>
                      </a:r>
                      <a:r>
                        <a:rPr sz="17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Q</a:t>
                      </a:r>
                      <a:r>
                        <a:rPr sz="900" b="1" kern="0" spc="-1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基数</a:t>
                      </a:r>
                      <a:r>
                        <a:rPr sz="900" b="1" kern="0" spc="-1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,</a:t>
                      </a:r>
                      <a:r>
                        <a:rPr sz="900" b="1" kern="0" spc="-2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t</a:t>
                      </a:r>
                      <a:r>
                        <a:rPr sz="5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  </a:t>
                      </a:r>
                      <a:r>
                        <a:rPr sz="17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-</a:t>
                      </a:r>
                      <a:r>
                        <a:rPr sz="1700" b="1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 </a:t>
                      </a:r>
                      <a:r>
                        <a:rPr sz="17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Q</a:t>
                      </a:r>
                      <a:r>
                        <a:rPr sz="900" b="1" kern="0" spc="-2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中长期</a:t>
                      </a:r>
                      <a:r>
                        <a:rPr sz="900" b="1" kern="0" spc="-2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,</a:t>
                      </a:r>
                      <a:r>
                        <a:rPr sz="900" b="1" kern="0" spc="-2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t</a:t>
                      </a:r>
                      <a:r>
                        <a:rPr sz="5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 </a:t>
                      </a:r>
                      <a:r>
                        <a:rPr sz="17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)</a:t>
                      </a:r>
                      <a:r>
                        <a:rPr sz="15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×</a:t>
                      </a:r>
                      <a:r>
                        <a:rPr sz="1500" kern="0" spc="-5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7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P</a:t>
                      </a:r>
                      <a:r>
                        <a:rPr sz="900" b="1" kern="0" spc="-2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</a:t>
                      </a:r>
                      <a:r>
                        <a:rPr sz="900" b="1" kern="0" spc="-2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,</a:t>
                      </a:r>
                      <a:r>
                        <a:rPr sz="900" b="1" kern="0" spc="-20" baseline="-1736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t</a:t>
                      </a:r>
                      <a:r>
                        <a:rPr sz="5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  </a:t>
                      </a:r>
                      <a:r>
                        <a:rPr sz="17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]</a:t>
                      </a:r>
                      <a:endParaRPr sz="1700" dirty="0">
                        <a:latin typeface="Constantia"/>
                        <a:ea typeface="Constantia"/>
                        <a:cs typeface="Constant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78"/>
                    </a:solidFill>
                  </a:tcPr>
                </a:tc>
              </a:tr>
            </a:tbl>
          </a:graphicData>
        </a:graphic>
      </p:graphicFrame>
      <p:pic>
        <p:nvPicPr>
          <p:cNvPr id="2740" name="picture 27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69095" y="4526280"/>
            <a:ext cx="1299971" cy="54864"/>
          </a:xfrm>
          <a:prstGeom prst="rect">
            <a:avLst/>
          </a:prstGeom>
        </p:spPr>
      </p:pic>
      <p:pic>
        <p:nvPicPr>
          <p:cNvPr id="2742" name="picture 27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11889" y="4526279"/>
            <a:ext cx="3523678" cy="16954"/>
          </a:xfrm>
          <a:prstGeom prst="rect">
            <a:avLst/>
          </a:prstGeom>
        </p:spPr>
      </p:pic>
      <p:sp>
        <p:nvSpPr>
          <p:cNvPr id="2744" name="textbox 2744"/>
          <p:cNvSpPr/>
          <p:nvPr/>
        </p:nvSpPr>
        <p:spPr>
          <a:xfrm>
            <a:off x="5059171" y="4525943"/>
            <a:ext cx="502920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3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93039" algn="l" rtl="0" eaLnBrk="0">
              <a:lnSpc>
                <a:spcPct val="96000"/>
              </a:lnSpc>
              <a:tabLst>
                <a:tab pos="205104" algn="l"/>
              </a:tabLst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机组中长期净合约以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其日前节点电价和</a:t>
            </a:r>
            <a:r>
              <a:rPr sz="1500" b="1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前市场统一   </a:t>
            </a:r>
            <a:r>
              <a:rPr sz="15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u="sng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结算点电价的差值作</a:t>
            </a:r>
            <a:r>
              <a:rPr sz="1500" b="1" u="sng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结算，</a:t>
            </a:r>
            <a:r>
              <a:rPr sz="1500" b="1" u="sng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u="sng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形成中长期合约阻塞电费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746" name="picture 27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869496" y="4852225"/>
            <a:ext cx="202882" cy="140398"/>
          </a:xfrm>
          <a:prstGeom prst="rect">
            <a:avLst/>
          </a:prstGeom>
        </p:spPr>
      </p:pic>
      <p:pic>
        <p:nvPicPr>
          <p:cNvPr id="2748" name="picture 27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044960" y="4613147"/>
            <a:ext cx="15430" cy="215074"/>
          </a:xfrm>
          <a:prstGeom prst="rect">
            <a:avLst/>
          </a:prstGeom>
        </p:spPr>
      </p:pic>
      <p:graphicFrame>
        <p:nvGraphicFramePr>
          <p:cNvPr id="2750" name="table 2750"/>
          <p:cNvGraphicFramePr>
            <a:graphicFrameLocks noGrp="1"/>
          </p:cNvGraphicFramePr>
          <p:nvPr/>
        </p:nvGraphicFramePr>
        <p:xfrm>
          <a:off x="614933" y="4496561"/>
          <a:ext cx="4572634" cy="561975"/>
        </p:xfrm>
        <a:graphic>
          <a:graphicData uri="http://schemas.openxmlformats.org/drawingml/2006/table">
            <a:tbl>
              <a:tblPr>
                <a:solidFill>
                  <a:srgbClr val="004178"/>
                </a:solidFill>
              </a:tblPr>
              <a:tblGrid>
                <a:gridCol w="4572634"/>
              </a:tblGrid>
              <a:tr h="552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0730" algn="l" rtl="0" eaLnBrk="0">
                        <a:lnSpc>
                          <a:spcPts val="257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6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R</a:t>
                      </a:r>
                      <a:r>
                        <a:rPr sz="1100" b="1" kern="0" spc="-100" baseline="12834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中长期阻塞</a:t>
                      </a:r>
                      <a:r>
                        <a:rPr sz="16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=</a:t>
                      </a:r>
                      <a:r>
                        <a:rPr sz="19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Σ[</a:t>
                      </a:r>
                      <a:r>
                        <a:rPr sz="16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Q</a:t>
                      </a:r>
                      <a:r>
                        <a:rPr sz="1100" b="1" kern="0" spc="-10" baseline="12834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中长期</a:t>
                      </a:r>
                      <a:r>
                        <a:rPr sz="800" b="1" kern="0" spc="-10" baseline="17647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,t</a:t>
                      </a:r>
                      <a:r>
                        <a:rPr sz="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</a:t>
                      </a:r>
                      <a:r>
                        <a:rPr sz="20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×</a:t>
                      </a:r>
                      <a:r>
                        <a:rPr sz="2000" kern="0" spc="-3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9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sz="16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P</a:t>
                      </a:r>
                      <a:r>
                        <a:rPr sz="1100" b="1" kern="0" spc="-20" baseline="12834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</a:t>
                      </a:r>
                      <a:r>
                        <a:rPr sz="800" b="1" kern="0" spc="-20" baseline="17647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sz="900" b="1" kern="0" spc="-20" baseline="15686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t</a:t>
                      </a:r>
                      <a:r>
                        <a:rPr sz="16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-</a:t>
                      </a:r>
                      <a:r>
                        <a:rPr sz="1600" b="1" kern="0" spc="1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  </a:t>
                      </a:r>
                      <a:r>
                        <a:rPr sz="16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P</a:t>
                      </a:r>
                      <a:r>
                        <a:rPr sz="1100" b="1" kern="0" spc="-20" baseline="12834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日前统一</a:t>
                      </a:r>
                      <a:r>
                        <a:rPr sz="800" b="1" kern="0" spc="-20" baseline="17647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,t</a:t>
                      </a:r>
                      <a:r>
                        <a:rPr sz="19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)]</a:t>
                      </a:r>
                      <a:endParaRPr sz="1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78"/>
                    </a:solidFill>
                  </a:tcPr>
                </a:tc>
              </a:tr>
            </a:tbl>
          </a:graphicData>
        </a:graphic>
      </p:graphicFrame>
      <p:sp>
        <p:nvSpPr>
          <p:cNvPr id="2752" name="textbox 2752"/>
          <p:cNvSpPr/>
          <p:nvPr/>
        </p:nvSpPr>
        <p:spPr>
          <a:xfrm>
            <a:off x="612647" y="3776471"/>
            <a:ext cx="4575809" cy="551815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772159" algn="l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1700" b="1" kern="0" spc="20" dirty="0">
                <a:solidFill>
                  <a:srgbClr val="FFFFFF">
                    <a:alpha val="100000"/>
                  </a:srgbClr>
                </a:solidFill>
                <a:latin typeface="Palatino Linotype"/>
                <a:ea typeface="Palatino Linotype"/>
                <a:cs typeface="Palatino Linotype"/>
              </a:rPr>
              <a:t>R</a:t>
            </a:r>
            <a:r>
              <a:rPr sz="900" b="1" kern="0" spc="20" baseline="-17362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实时偏差</a:t>
            </a:r>
            <a:r>
              <a:rPr sz="500" b="1" kern="0" spc="1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=Σ</a:t>
            </a:r>
            <a:r>
              <a:rPr sz="2000" b="1" kern="0" spc="20" dirty="0">
                <a:solidFill>
                  <a:srgbClr val="FFFFFF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[(</a:t>
            </a:r>
            <a:r>
              <a:rPr sz="1700" b="1" kern="0" spc="20" dirty="0">
                <a:solidFill>
                  <a:srgbClr val="FFFFFF">
                    <a:alpha val="100000"/>
                  </a:srgbClr>
                </a:solidFill>
                <a:latin typeface="Palatino Linotype"/>
                <a:ea typeface="Palatino Linotype"/>
                <a:cs typeface="Palatino Linotype"/>
              </a:rPr>
              <a:t>Q</a:t>
            </a:r>
            <a:r>
              <a:rPr sz="900" b="1" kern="0" spc="20" baseline="-17362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上网</a:t>
            </a:r>
            <a:r>
              <a:rPr sz="900" b="1" kern="0" spc="20" baseline="-17362" dirty="0">
                <a:solidFill>
                  <a:srgbClr val="FFFFFF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,</a:t>
            </a:r>
            <a:r>
              <a:rPr sz="900" b="1" kern="0" spc="20" baseline="-17362" dirty="0">
                <a:solidFill>
                  <a:srgbClr val="FFFFFF">
                    <a:alpha val="100000"/>
                  </a:srgbClr>
                </a:solidFill>
                <a:latin typeface="Palatino Linotype"/>
                <a:ea typeface="Palatino Linotype"/>
                <a:cs typeface="Palatino Linotype"/>
              </a:rPr>
              <a:t>t</a:t>
            </a:r>
            <a:r>
              <a:rPr sz="500" b="1" kern="0" spc="20" dirty="0">
                <a:solidFill>
                  <a:srgbClr val="FFFFFF">
                    <a:alpha val="100000"/>
                  </a:srgbClr>
                </a:solidFill>
                <a:latin typeface="Palatino Linotype"/>
                <a:ea typeface="Palatino Linotype"/>
                <a:cs typeface="Palatino Linotype"/>
              </a:rPr>
              <a:t>  </a:t>
            </a:r>
            <a:r>
              <a:rPr sz="2000" b="1" kern="0" spc="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700" b="1" kern="0" spc="10" dirty="0">
                <a:solidFill>
                  <a:srgbClr val="FFFFFF">
                    <a:alpha val="100000"/>
                  </a:srgbClr>
                </a:solidFill>
                <a:latin typeface="Palatino Linotype"/>
                <a:ea typeface="Palatino Linotype"/>
                <a:cs typeface="Palatino Linotype"/>
              </a:rPr>
              <a:t>Q</a:t>
            </a:r>
            <a:r>
              <a:rPr sz="900" b="1" kern="0" spc="10" baseline="-17362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</a:t>
            </a:r>
            <a:r>
              <a:rPr sz="900" b="1" kern="0" spc="10" baseline="-17362" dirty="0">
                <a:solidFill>
                  <a:srgbClr val="FFFFFF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,</a:t>
            </a:r>
            <a:r>
              <a:rPr sz="900" b="1" kern="0" spc="10" baseline="-17362" dirty="0">
                <a:solidFill>
                  <a:srgbClr val="FFFFFF">
                    <a:alpha val="100000"/>
                  </a:srgbClr>
                </a:solidFill>
                <a:latin typeface="Palatino Linotype"/>
                <a:ea typeface="Palatino Linotype"/>
                <a:cs typeface="Palatino Linotype"/>
              </a:rPr>
              <a:t>t</a:t>
            </a:r>
            <a:r>
              <a:rPr sz="500" b="1" kern="0" spc="80" dirty="0">
                <a:solidFill>
                  <a:srgbClr val="FFFFFF">
                    <a:alpha val="100000"/>
                  </a:srgbClr>
                </a:solidFill>
                <a:latin typeface="Palatino Linotype"/>
                <a:ea typeface="Palatino Linotype"/>
                <a:cs typeface="Palatino Linotype"/>
              </a:rPr>
              <a:t> </a:t>
            </a:r>
            <a:r>
              <a:rPr sz="2000" b="1" kern="0" spc="10" dirty="0">
                <a:solidFill>
                  <a:srgbClr val="FFFFFF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)</a:t>
            </a:r>
            <a:r>
              <a:rPr sz="2000" b="1" kern="0" spc="330" dirty="0">
                <a:solidFill>
                  <a:srgbClr val="FFFFFF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×</a:t>
            </a:r>
            <a:r>
              <a:rPr sz="1500" kern="0" spc="-28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b="1" kern="0" spc="10" dirty="0">
                <a:solidFill>
                  <a:srgbClr val="FFFFFF">
                    <a:alpha val="100000"/>
                  </a:srgbClr>
                </a:solidFill>
                <a:latin typeface="Palatino Linotype"/>
                <a:ea typeface="Palatino Linotype"/>
                <a:cs typeface="Palatino Linotype"/>
              </a:rPr>
              <a:t>P</a:t>
            </a:r>
            <a:r>
              <a:rPr sz="900" b="1" kern="0" spc="10" baseline="-17362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</a:t>
            </a:r>
            <a:r>
              <a:rPr sz="900" b="1" kern="0" spc="10" baseline="-17362" dirty="0">
                <a:solidFill>
                  <a:srgbClr val="FFFFFF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,</a:t>
            </a:r>
            <a:r>
              <a:rPr sz="900" b="1" kern="0" spc="10" baseline="-17362" dirty="0">
                <a:solidFill>
                  <a:srgbClr val="FFFFFF">
                    <a:alpha val="100000"/>
                  </a:srgbClr>
                </a:solidFill>
                <a:latin typeface="Palatino Linotype"/>
                <a:ea typeface="Palatino Linotype"/>
                <a:cs typeface="Palatino Linotype"/>
              </a:rPr>
              <a:t>t</a:t>
            </a:r>
            <a:r>
              <a:rPr sz="500" b="1" kern="0" spc="10" dirty="0">
                <a:solidFill>
                  <a:srgbClr val="FFFFFF">
                    <a:alpha val="100000"/>
                  </a:srgbClr>
                </a:solidFill>
                <a:latin typeface="Palatino Linotype"/>
                <a:ea typeface="Palatino Linotype"/>
                <a:cs typeface="Palatino Linotype"/>
              </a:rPr>
              <a:t>  </a:t>
            </a:r>
            <a:r>
              <a:rPr sz="2000" b="1" kern="0" spc="10" dirty="0">
                <a:solidFill>
                  <a:srgbClr val="FFFFFF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]</a:t>
            </a:r>
            <a:endParaRPr sz="2000" dirty="0">
              <a:latin typeface="Constantia"/>
              <a:ea typeface="Constantia"/>
              <a:cs typeface="Constantia"/>
            </a:endParaRPr>
          </a:p>
        </p:txBody>
      </p:sp>
      <p:sp>
        <p:nvSpPr>
          <p:cNvPr id="2754" name="textbox 2754"/>
          <p:cNvSpPr/>
          <p:nvPr/>
        </p:nvSpPr>
        <p:spPr>
          <a:xfrm>
            <a:off x="943355" y="2005584"/>
            <a:ext cx="8819515" cy="24257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5527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收入</a:t>
            </a:r>
            <a:r>
              <a:rPr sz="9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0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R基数</a:t>
            </a:r>
            <a:r>
              <a:rPr sz="10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+R中长期</a:t>
            </a:r>
            <a:r>
              <a:rPr sz="10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0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R日前偏差+R中长期阻塞</a:t>
            </a:r>
            <a:r>
              <a:rPr sz="10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0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R实时偏差</a:t>
            </a:r>
            <a:r>
              <a:rPr sz="10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0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R基数交易</a:t>
            </a:r>
            <a:r>
              <a:rPr sz="10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0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R中长期交易</a:t>
            </a:r>
            <a:r>
              <a:rPr sz="10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0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 补偿+</a:t>
            </a:r>
            <a:r>
              <a:rPr sz="10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R考核</a:t>
            </a:r>
            <a:r>
              <a:rPr sz="10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0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R分摊  +R返还</a:t>
            </a: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+R容量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56" name="textbox 2756"/>
          <p:cNvSpPr/>
          <p:nvPr/>
        </p:nvSpPr>
        <p:spPr>
          <a:xfrm>
            <a:off x="5315772" y="3891788"/>
            <a:ext cx="4772659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实际上网电量与日前中标电量的偏差用实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时价格结算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758" name="picture 27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057397" y="3904488"/>
            <a:ext cx="15430" cy="294322"/>
          </a:xfrm>
          <a:prstGeom prst="rect">
            <a:avLst/>
          </a:prstGeom>
        </p:spPr>
      </p:pic>
      <p:sp>
        <p:nvSpPr>
          <p:cNvPr id="2760" name="textbox 2760"/>
          <p:cNvSpPr/>
          <p:nvPr/>
        </p:nvSpPr>
        <p:spPr>
          <a:xfrm>
            <a:off x="2037087" y="5347410"/>
            <a:ext cx="6710680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8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——市场化机组以机组所在物理节点的节点电价作为现货市场结算价格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62" name="textbox 2762"/>
          <p:cNvSpPr/>
          <p:nvPr/>
        </p:nvSpPr>
        <p:spPr>
          <a:xfrm>
            <a:off x="5400125" y="3082301"/>
            <a:ext cx="4237354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合约电量与日前中标电量的偏差用日前价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格结算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64" name="textbox 2764"/>
          <p:cNvSpPr/>
          <p:nvPr/>
        </p:nvSpPr>
        <p:spPr>
          <a:xfrm>
            <a:off x="523049" y="1112586"/>
            <a:ext cx="2724150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发电侧批发市场结算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66" name="path 2766"/>
          <p:cNvSpPr/>
          <p:nvPr/>
        </p:nvSpPr>
        <p:spPr>
          <a:xfrm>
            <a:off x="9758933" y="2154173"/>
            <a:ext cx="708660" cy="708659"/>
          </a:xfrm>
          <a:custGeom>
            <a:avLst/>
            <a:gdLst/>
            <a:ahLst/>
            <a:cxnLst/>
            <a:rect l="0" t="0" r="0" b="0"/>
            <a:pathLst>
              <a:path w="1116" h="1115">
                <a:moveTo>
                  <a:pt x="6" y="5"/>
                </a:moveTo>
                <a:cubicBezTo>
                  <a:pt x="615" y="5"/>
                  <a:pt x="1110" y="500"/>
                  <a:pt x="1110" y="1110"/>
                </a:cubicBezTo>
              </a:path>
            </a:pathLst>
          </a:custGeom>
          <a:noFill/>
          <a:ln w="7620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68" name="path 2768"/>
          <p:cNvSpPr/>
          <p:nvPr/>
        </p:nvSpPr>
        <p:spPr>
          <a:xfrm>
            <a:off x="238506" y="2154173"/>
            <a:ext cx="708659" cy="708659"/>
          </a:xfrm>
          <a:custGeom>
            <a:avLst/>
            <a:gdLst/>
            <a:ahLst/>
            <a:cxnLst/>
            <a:rect l="0" t="0" r="0" b="0"/>
            <a:pathLst>
              <a:path w="1115" h="1115">
                <a:moveTo>
                  <a:pt x="5" y="1110"/>
                </a:moveTo>
                <a:cubicBezTo>
                  <a:pt x="5" y="500"/>
                  <a:pt x="500" y="5"/>
                  <a:pt x="1109" y="5"/>
                </a:cubicBezTo>
              </a:path>
            </a:pathLst>
          </a:custGeom>
          <a:noFill/>
          <a:ln w="7620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770" name="picture 27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071871" y="4221289"/>
            <a:ext cx="5003292" cy="64198"/>
          </a:xfrm>
          <a:prstGeom prst="rect">
            <a:avLst/>
          </a:prstGeom>
        </p:spPr>
      </p:pic>
      <p:pic>
        <p:nvPicPr>
          <p:cNvPr id="2772" name="picture 277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211889" y="2974847"/>
            <a:ext cx="4857177" cy="54864"/>
          </a:xfrm>
          <a:prstGeom prst="rect">
            <a:avLst/>
          </a:prstGeom>
        </p:spPr>
      </p:pic>
      <p:pic>
        <p:nvPicPr>
          <p:cNvPr id="2774" name="picture 277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211889" y="3819143"/>
            <a:ext cx="4857177" cy="54864"/>
          </a:xfrm>
          <a:prstGeom prst="rect">
            <a:avLst/>
          </a:prstGeom>
        </p:spPr>
      </p:pic>
      <p:sp>
        <p:nvSpPr>
          <p:cNvPr id="2776" name="path 2776"/>
          <p:cNvSpPr/>
          <p:nvPr/>
        </p:nvSpPr>
        <p:spPr>
          <a:xfrm>
            <a:off x="960120" y="2442971"/>
            <a:ext cx="8772143" cy="6096"/>
          </a:xfrm>
          <a:custGeom>
            <a:avLst/>
            <a:gdLst/>
            <a:ahLst/>
            <a:cxnLst/>
            <a:rect l="0" t="0" r="0" b="0"/>
            <a:pathLst>
              <a:path w="13814" h="9">
                <a:moveTo>
                  <a:pt x="0" y="4"/>
                </a:moveTo>
                <a:lnTo>
                  <a:pt x="13814" y="4"/>
                </a:lnTo>
              </a:path>
            </a:pathLst>
          </a:custGeom>
          <a:noFill/>
          <a:ln w="6096" cap="flat">
            <a:solidFill>
              <a:srgbClr val="004178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778" name="picture 277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2780" name="path 2780"/>
          <p:cNvSpPr/>
          <p:nvPr/>
        </p:nvSpPr>
        <p:spPr>
          <a:xfrm>
            <a:off x="10459973" y="2859023"/>
            <a:ext cx="7620" cy="2804159"/>
          </a:xfrm>
          <a:custGeom>
            <a:avLst/>
            <a:gdLst/>
            <a:ahLst/>
            <a:cxnLst/>
            <a:rect l="0" t="0" r="0" b="0"/>
            <a:pathLst>
              <a:path w="12" h="4415">
                <a:moveTo>
                  <a:pt x="5" y="0"/>
                </a:moveTo>
                <a:lnTo>
                  <a:pt x="5" y="4415"/>
                </a:lnTo>
              </a:path>
            </a:pathLst>
          </a:custGeom>
          <a:noFill/>
          <a:ln w="7620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82" name="path 2782"/>
          <p:cNvSpPr/>
          <p:nvPr/>
        </p:nvSpPr>
        <p:spPr>
          <a:xfrm>
            <a:off x="238506" y="2859023"/>
            <a:ext cx="7619" cy="2804159"/>
          </a:xfrm>
          <a:custGeom>
            <a:avLst/>
            <a:gdLst/>
            <a:ahLst/>
            <a:cxnLst/>
            <a:rect l="0" t="0" r="0" b="0"/>
            <a:pathLst>
              <a:path w="11" h="4415">
                <a:moveTo>
                  <a:pt x="5" y="4415"/>
                </a:moveTo>
                <a:lnTo>
                  <a:pt x="5" y="0"/>
                </a:lnTo>
              </a:path>
            </a:pathLst>
          </a:custGeom>
          <a:noFill/>
          <a:ln w="7620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784" name="picture 278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059733" y="3060191"/>
            <a:ext cx="15430" cy="29432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textbox 2786"/>
          <p:cNvSpPr/>
          <p:nvPr/>
        </p:nvSpPr>
        <p:spPr>
          <a:xfrm>
            <a:off x="283463" y="5012435"/>
            <a:ext cx="10186669" cy="1411605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5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0829" algn="l" rtl="0" eaLnBrk="0">
              <a:lnSpc>
                <a:spcPct val="9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售电公司、批发用户以全市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场发电节点的加权平均综合电价作为现货市场结算价格；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90829" algn="l" rtl="0" eaLnBrk="0">
              <a:lnSpc>
                <a:spcPct val="98000"/>
              </a:lnSpc>
              <a:spcBef>
                <a:spcPts val="1068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500" b="1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日前市场按照发电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侧日前现货市场出清曲线与中长期合约偏差电量加权平均；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90829" algn="l" rtl="0" eaLnBrk="0">
              <a:lnSpc>
                <a:spcPct val="9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 实时市场按照发电侧实时市场与日前市场出清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偏差电量进行加权平均；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88" name="textbox 2788"/>
          <p:cNvSpPr/>
          <p:nvPr/>
        </p:nvSpPr>
        <p:spPr>
          <a:xfrm>
            <a:off x="333756" y="2037588"/>
            <a:ext cx="9959340" cy="920750"/>
          </a:xfrm>
          <a:prstGeom prst="rect">
            <a:avLst/>
          </a:prstGeom>
          <a:solidFill>
            <a:srgbClr val="00417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79194" algn="l" rtl="0" eaLnBrk="0">
              <a:lnSpc>
                <a:spcPct val="80000"/>
              </a:lnSpc>
              <a:spcBef>
                <a:spcPts val="1"/>
              </a:spcBef>
              <a:tabLst/>
            </a:pP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支出</a:t>
            </a:r>
            <a:r>
              <a:rPr sz="1400" b="1" kern="0" spc="3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 C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省外  </a:t>
            </a: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+C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</a:t>
            </a:r>
            <a:r>
              <a:rPr sz="1400" b="1" kern="0" spc="3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C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日前偏差</a:t>
            </a:r>
            <a:r>
              <a:rPr sz="1400" b="1" kern="0" spc="2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C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实时偏差  </a:t>
            </a: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C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中长期交易</a:t>
            </a:r>
            <a:r>
              <a:rPr sz="1400" b="1" kern="0" spc="2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</a:t>
            </a:r>
            <a:r>
              <a:rPr sz="1700" b="1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400" b="1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分摊</a:t>
            </a:r>
            <a:r>
              <a:rPr sz="1400" b="1" kern="0" spc="2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+C</a:t>
            </a:r>
            <a:r>
              <a:rPr sz="1400" b="1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返还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700" b="1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+C</a:t>
            </a:r>
            <a:r>
              <a:rPr sz="1400" b="1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容量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92" name="group 292"/>
          <p:cNvGrpSpPr/>
          <p:nvPr/>
        </p:nvGrpSpPr>
        <p:grpSpPr>
          <a:xfrm rot="21600000">
            <a:off x="333756" y="3041903"/>
            <a:ext cx="527304" cy="515111"/>
            <a:chOff x="0" y="0"/>
            <a:chExt cx="527304" cy="515111"/>
          </a:xfrm>
        </p:grpSpPr>
        <p:sp>
          <p:nvSpPr>
            <p:cNvPr id="2790" name="path 2790"/>
            <p:cNvSpPr/>
            <p:nvPr/>
          </p:nvSpPr>
          <p:spPr>
            <a:xfrm>
              <a:off x="0" y="0"/>
              <a:ext cx="527304" cy="515111"/>
            </a:xfrm>
            <a:custGeom>
              <a:avLst/>
              <a:gdLst/>
              <a:ahLst/>
              <a:cxnLst/>
              <a:rect l="0" t="0" r="0" b="0"/>
              <a:pathLst>
                <a:path w="830" h="811">
                  <a:moveTo>
                    <a:pt x="0" y="405"/>
                  </a:moveTo>
                  <a:cubicBezTo>
                    <a:pt x="0" y="182"/>
                    <a:pt x="187" y="0"/>
                    <a:pt x="415" y="0"/>
                  </a:cubicBezTo>
                  <a:cubicBezTo>
                    <a:pt x="645" y="0"/>
                    <a:pt x="830" y="182"/>
                    <a:pt x="830" y="405"/>
                  </a:cubicBezTo>
                  <a:cubicBezTo>
                    <a:pt x="830" y="631"/>
                    <a:pt x="645" y="811"/>
                    <a:pt x="415" y="811"/>
                  </a:cubicBezTo>
                  <a:cubicBezTo>
                    <a:pt x="187" y="811"/>
                    <a:pt x="0" y="631"/>
                    <a:pt x="0" y="405"/>
                  </a:cubicBezTo>
                </a:path>
                <a:path w="830" h="811">
                  <a:moveTo>
                    <a:pt x="81" y="405"/>
                  </a:moveTo>
                  <a:cubicBezTo>
                    <a:pt x="81" y="225"/>
                    <a:pt x="230" y="79"/>
                    <a:pt x="415" y="79"/>
                  </a:cubicBezTo>
                  <a:cubicBezTo>
                    <a:pt x="600" y="79"/>
                    <a:pt x="751" y="225"/>
                    <a:pt x="751" y="405"/>
                  </a:cubicBezTo>
                  <a:cubicBezTo>
                    <a:pt x="751" y="587"/>
                    <a:pt x="600" y="732"/>
                    <a:pt x="415" y="732"/>
                  </a:cubicBezTo>
                  <a:cubicBezTo>
                    <a:pt x="230" y="732"/>
                    <a:pt x="81" y="587"/>
                    <a:pt x="81" y="405"/>
                  </a:cubicBezTo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92" name="path 2792"/>
            <p:cNvSpPr/>
            <p:nvPr/>
          </p:nvSpPr>
          <p:spPr>
            <a:xfrm>
              <a:off x="35052" y="33527"/>
              <a:ext cx="458723" cy="448056"/>
            </a:xfrm>
            <a:custGeom>
              <a:avLst/>
              <a:gdLst/>
              <a:ahLst/>
              <a:cxnLst/>
              <a:rect l="0" t="0" r="0" b="0"/>
              <a:pathLst>
                <a:path w="722" h="705">
                  <a:moveTo>
                    <a:pt x="26" y="352"/>
                  </a:moveTo>
                  <a:cubicBezTo>
                    <a:pt x="26" y="172"/>
                    <a:pt x="175" y="26"/>
                    <a:pt x="360" y="26"/>
                  </a:cubicBezTo>
                  <a:cubicBezTo>
                    <a:pt x="544" y="26"/>
                    <a:pt x="695" y="172"/>
                    <a:pt x="695" y="352"/>
                  </a:cubicBezTo>
                  <a:cubicBezTo>
                    <a:pt x="695" y="535"/>
                    <a:pt x="544" y="679"/>
                    <a:pt x="360" y="679"/>
                  </a:cubicBezTo>
                  <a:cubicBezTo>
                    <a:pt x="175" y="679"/>
                    <a:pt x="26" y="535"/>
                    <a:pt x="26" y="352"/>
                  </a:cubicBezTo>
                </a:path>
              </a:pathLst>
            </a:custGeom>
            <a:noFill/>
            <a:ln w="33527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94" name="path 2794"/>
            <p:cNvSpPr/>
            <p:nvPr/>
          </p:nvSpPr>
          <p:spPr>
            <a:xfrm>
              <a:off x="97535" y="105155"/>
              <a:ext cx="295655" cy="234696"/>
            </a:xfrm>
            <a:custGeom>
              <a:avLst/>
              <a:gdLst/>
              <a:ahLst/>
              <a:cxnLst/>
              <a:rect l="0" t="0" r="0" b="0"/>
              <a:pathLst>
                <a:path w="465" h="369">
                  <a:moveTo>
                    <a:pt x="372" y="9"/>
                  </a:moveTo>
                  <a:lnTo>
                    <a:pt x="372" y="9"/>
                  </a:lnTo>
                  <a:lnTo>
                    <a:pt x="369" y="7"/>
                  </a:lnTo>
                  <a:lnTo>
                    <a:pt x="369" y="4"/>
                  </a:lnTo>
                  <a:lnTo>
                    <a:pt x="367" y="4"/>
                  </a:lnTo>
                  <a:lnTo>
                    <a:pt x="364" y="2"/>
                  </a:lnTo>
                  <a:lnTo>
                    <a:pt x="362" y="2"/>
                  </a:lnTo>
                  <a:lnTo>
                    <a:pt x="360" y="0"/>
                  </a:lnTo>
                  <a:lnTo>
                    <a:pt x="357" y="0"/>
                  </a:lnTo>
                  <a:lnTo>
                    <a:pt x="355" y="2"/>
                  </a:lnTo>
                  <a:lnTo>
                    <a:pt x="93" y="91"/>
                  </a:lnTo>
                  <a:lnTo>
                    <a:pt x="170" y="91"/>
                  </a:lnTo>
                  <a:lnTo>
                    <a:pt x="316" y="40"/>
                  </a:lnTo>
                  <a:lnTo>
                    <a:pt x="316" y="40"/>
                  </a:lnTo>
                  <a:lnTo>
                    <a:pt x="321" y="48"/>
                  </a:lnTo>
                  <a:lnTo>
                    <a:pt x="324" y="52"/>
                  </a:lnTo>
                  <a:lnTo>
                    <a:pt x="331" y="57"/>
                  </a:lnTo>
                  <a:lnTo>
                    <a:pt x="336" y="60"/>
                  </a:lnTo>
                  <a:lnTo>
                    <a:pt x="343" y="64"/>
                  </a:lnTo>
                  <a:lnTo>
                    <a:pt x="350" y="67"/>
                  </a:lnTo>
                  <a:lnTo>
                    <a:pt x="357" y="67"/>
                  </a:lnTo>
                  <a:lnTo>
                    <a:pt x="364" y="67"/>
                  </a:lnTo>
                  <a:lnTo>
                    <a:pt x="372" y="91"/>
                  </a:lnTo>
                  <a:lnTo>
                    <a:pt x="396" y="91"/>
                  </a:lnTo>
                  <a:lnTo>
                    <a:pt x="372" y="9"/>
                  </a:lnTo>
                  <a:close/>
                  <a:moveTo>
                    <a:pt x="0" y="139"/>
                  </a:moveTo>
                  <a:lnTo>
                    <a:pt x="60" y="324"/>
                  </a:lnTo>
                  <a:lnTo>
                    <a:pt x="60" y="244"/>
                  </a:lnTo>
                  <a:lnTo>
                    <a:pt x="38" y="180"/>
                  </a:lnTo>
                  <a:lnTo>
                    <a:pt x="38" y="180"/>
                  </a:lnTo>
                  <a:lnTo>
                    <a:pt x="45" y="175"/>
                  </a:lnTo>
                  <a:lnTo>
                    <a:pt x="50" y="168"/>
                  </a:lnTo>
                  <a:lnTo>
                    <a:pt x="55" y="160"/>
                  </a:lnTo>
                  <a:lnTo>
                    <a:pt x="60" y="153"/>
                  </a:lnTo>
                  <a:lnTo>
                    <a:pt x="60" y="122"/>
                  </a:lnTo>
                  <a:lnTo>
                    <a:pt x="60" y="122"/>
                  </a:lnTo>
                  <a:lnTo>
                    <a:pt x="60" y="115"/>
                  </a:lnTo>
                  <a:lnTo>
                    <a:pt x="62" y="110"/>
                  </a:lnTo>
                  <a:lnTo>
                    <a:pt x="64" y="105"/>
                  </a:lnTo>
                  <a:lnTo>
                    <a:pt x="67" y="100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7" y="122"/>
                  </a:lnTo>
                  <a:lnTo>
                    <a:pt x="4" y="122"/>
                  </a:lnTo>
                  <a:lnTo>
                    <a:pt x="2" y="124"/>
                  </a:lnTo>
                  <a:lnTo>
                    <a:pt x="2" y="127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0" y="136"/>
                  </a:lnTo>
                  <a:lnTo>
                    <a:pt x="0" y="139"/>
                  </a:lnTo>
                  <a:lnTo>
                    <a:pt x="0" y="139"/>
                  </a:lnTo>
                  <a:close/>
                </a:path>
                <a:path w="465" h="369">
                  <a:moveTo>
                    <a:pt x="388" y="213"/>
                  </a:moveTo>
                  <a:lnTo>
                    <a:pt x="388" y="213"/>
                  </a:lnTo>
                  <a:lnTo>
                    <a:pt x="383" y="213"/>
                  </a:lnTo>
                  <a:lnTo>
                    <a:pt x="379" y="216"/>
                  </a:lnTo>
                  <a:lnTo>
                    <a:pt x="376" y="218"/>
                  </a:lnTo>
                  <a:lnTo>
                    <a:pt x="371" y="220"/>
                  </a:lnTo>
                  <a:lnTo>
                    <a:pt x="369" y="225"/>
                  </a:lnTo>
                  <a:lnTo>
                    <a:pt x="367" y="228"/>
                  </a:lnTo>
                  <a:lnTo>
                    <a:pt x="367" y="232"/>
                  </a:lnTo>
                  <a:lnTo>
                    <a:pt x="367" y="237"/>
                  </a:lnTo>
                  <a:lnTo>
                    <a:pt x="367" y="237"/>
                  </a:lnTo>
                  <a:lnTo>
                    <a:pt x="367" y="242"/>
                  </a:lnTo>
                  <a:lnTo>
                    <a:pt x="367" y="247"/>
                  </a:lnTo>
                  <a:lnTo>
                    <a:pt x="369" y="252"/>
                  </a:lnTo>
                  <a:lnTo>
                    <a:pt x="371" y="254"/>
                  </a:lnTo>
                  <a:lnTo>
                    <a:pt x="376" y="256"/>
                  </a:lnTo>
                  <a:lnTo>
                    <a:pt x="379" y="259"/>
                  </a:lnTo>
                  <a:lnTo>
                    <a:pt x="383" y="261"/>
                  </a:lnTo>
                  <a:lnTo>
                    <a:pt x="388" y="261"/>
                  </a:lnTo>
                  <a:lnTo>
                    <a:pt x="388" y="261"/>
                  </a:lnTo>
                  <a:lnTo>
                    <a:pt x="393" y="261"/>
                  </a:lnTo>
                  <a:lnTo>
                    <a:pt x="398" y="259"/>
                  </a:lnTo>
                  <a:lnTo>
                    <a:pt x="400" y="256"/>
                  </a:lnTo>
                  <a:lnTo>
                    <a:pt x="403" y="254"/>
                  </a:lnTo>
                  <a:lnTo>
                    <a:pt x="407" y="252"/>
                  </a:lnTo>
                  <a:lnTo>
                    <a:pt x="407" y="247"/>
                  </a:lnTo>
                  <a:lnTo>
                    <a:pt x="410" y="242"/>
                  </a:lnTo>
                  <a:lnTo>
                    <a:pt x="410" y="237"/>
                  </a:lnTo>
                  <a:lnTo>
                    <a:pt x="410" y="237"/>
                  </a:lnTo>
                  <a:lnTo>
                    <a:pt x="410" y="232"/>
                  </a:lnTo>
                  <a:lnTo>
                    <a:pt x="407" y="228"/>
                  </a:lnTo>
                  <a:lnTo>
                    <a:pt x="407" y="225"/>
                  </a:lnTo>
                  <a:lnTo>
                    <a:pt x="403" y="220"/>
                  </a:lnTo>
                  <a:lnTo>
                    <a:pt x="400" y="218"/>
                  </a:lnTo>
                  <a:lnTo>
                    <a:pt x="398" y="216"/>
                  </a:lnTo>
                  <a:lnTo>
                    <a:pt x="393" y="213"/>
                  </a:lnTo>
                  <a:lnTo>
                    <a:pt x="388" y="213"/>
                  </a:lnTo>
                  <a:lnTo>
                    <a:pt x="388" y="213"/>
                  </a:lnTo>
                  <a:close/>
                  <a:moveTo>
                    <a:pt x="148" y="213"/>
                  </a:moveTo>
                  <a:lnTo>
                    <a:pt x="148" y="213"/>
                  </a:lnTo>
                  <a:lnTo>
                    <a:pt x="146" y="213"/>
                  </a:lnTo>
                  <a:lnTo>
                    <a:pt x="141" y="216"/>
                  </a:lnTo>
                  <a:lnTo>
                    <a:pt x="136" y="218"/>
                  </a:lnTo>
                  <a:lnTo>
                    <a:pt x="134" y="220"/>
                  </a:lnTo>
                  <a:lnTo>
                    <a:pt x="131" y="225"/>
                  </a:lnTo>
                  <a:lnTo>
                    <a:pt x="129" y="228"/>
                  </a:lnTo>
                  <a:lnTo>
                    <a:pt x="129" y="232"/>
                  </a:lnTo>
                  <a:lnTo>
                    <a:pt x="127" y="237"/>
                  </a:lnTo>
                  <a:lnTo>
                    <a:pt x="127" y="237"/>
                  </a:lnTo>
                  <a:lnTo>
                    <a:pt x="129" y="242"/>
                  </a:lnTo>
                  <a:lnTo>
                    <a:pt x="129" y="247"/>
                  </a:lnTo>
                  <a:lnTo>
                    <a:pt x="131" y="252"/>
                  </a:lnTo>
                  <a:lnTo>
                    <a:pt x="134" y="254"/>
                  </a:lnTo>
                  <a:lnTo>
                    <a:pt x="136" y="256"/>
                  </a:lnTo>
                  <a:lnTo>
                    <a:pt x="141" y="259"/>
                  </a:lnTo>
                  <a:lnTo>
                    <a:pt x="146" y="261"/>
                  </a:lnTo>
                  <a:lnTo>
                    <a:pt x="148" y="261"/>
                  </a:lnTo>
                  <a:lnTo>
                    <a:pt x="148" y="261"/>
                  </a:lnTo>
                  <a:lnTo>
                    <a:pt x="153" y="261"/>
                  </a:lnTo>
                  <a:lnTo>
                    <a:pt x="158" y="259"/>
                  </a:lnTo>
                  <a:lnTo>
                    <a:pt x="163" y="256"/>
                  </a:lnTo>
                  <a:lnTo>
                    <a:pt x="165" y="254"/>
                  </a:lnTo>
                  <a:lnTo>
                    <a:pt x="167" y="252"/>
                  </a:lnTo>
                  <a:lnTo>
                    <a:pt x="170" y="247"/>
                  </a:lnTo>
                  <a:lnTo>
                    <a:pt x="172" y="242"/>
                  </a:lnTo>
                  <a:lnTo>
                    <a:pt x="172" y="237"/>
                  </a:lnTo>
                  <a:lnTo>
                    <a:pt x="172" y="237"/>
                  </a:lnTo>
                  <a:lnTo>
                    <a:pt x="172" y="232"/>
                  </a:lnTo>
                  <a:lnTo>
                    <a:pt x="170" y="228"/>
                  </a:lnTo>
                  <a:lnTo>
                    <a:pt x="167" y="225"/>
                  </a:lnTo>
                  <a:lnTo>
                    <a:pt x="165" y="220"/>
                  </a:lnTo>
                  <a:lnTo>
                    <a:pt x="163" y="218"/>
                  </a:lnTo>
                  <a:lnTo>
                    <a:pt x="158" y="216"/>
                  </a:lnTo>
                  <a:lnTo>
                    <a:pt x="153" y="213"/>
                  </a:lnTo>
                  <a:lnTo>
                    <a:pt x="148" y="213"/>
                  </a:lnTo>
                  <a:lnTo>
                    <a:pt x="148" y="213"/>
                  </a:lnTo>
                  <a:close/>
                  <a:moveTo>
                    <a:pt x="268" y="151"/>
                  </a:moveTo>
                  <a:lnTo>
                    <a:pt x="268" y="151"/>
                  </a:lnTo>
                  <a:lnTo>
                    <a:pt x="261" y="151"/>
                  </a:lnTo>
                  <a:lnTo>
                    <a:pt x="254" y="153"/>
                  </a:lnTo>
                  <a:lnTo>
                    <a:pt x="247" y="156"/>
                  </a:lnTo>
                  <a:lnTo>
                    <a:pt x="240" y="158"/>
                  </a:lnTo>
                  <a:lnTo>
                    <a:pt x="235" y="160"/>
                  </a:lnTo>
                  <a:lnTo>
                    <a:pt x="227" y="165"/>
                  </a:lnTo>
                  <a:lnTo>
                    <a:pt x="223" y="170"/>
                  </a:lnTo>
                  <a:lnTo>
                    <a:pt x="218" y="177"/>
                  </a:lnTo>
                  <a:lnTo>
                    <a:pt x="213" y="182"/>
                  </a:lnTo>
                  <a:lnTo>
                    <a:pt x="208" y="189"/>
                  </a:lnTo>
                  <a:lnTo>
                    <a:pt x="203" y="196"/>
                  </a:lnTo>
                  <a:lnTo>
                    <a:pt x="201" y="204"/>
                  </a:lnTo>
                  <a:lnTo>
                    <a:pt x="199" y="211"/>
                  </a:lnTo>
                  <a:lnTo>
                    <a:pt x="196" y="220"/>
                  </a:lnTo>
                  <a:lnTo>
                    <a:pt x="196" y="228"/>
                  </a:lnTo>
                  <a:lnTo>
                    <a:pt x="196" y="237"/>
                  </a:lnTo>
                  <a:lnTo>
                    <a:pt x="196" y="237"/>
                  </a:lnTo>
                  <a:lnTo>
                    <a:pt x="196" y="247"/>
                  </a:lnTo>
                  <a:lnTo>
                    <a:pt x="196" y="254"/>
                  </a:lnTo>
                  <a:lnTo>
                    <a:pt x="199" y="264"/>
                  </a:lnTo>
                  <a:lnTo>
                    <a:pt x="201" y="271"/>
                  </a:lnTo>
                  <a:lnTo>
                    <a:pt x="203" y="278"/>
                  </a:lnTo>
                  <a:lnTo>
                    <a:pt x="208" y="285"/>
                  </a:lnTo>
                  <a:lnTo>
                    <a:pt x="213" y="292"/>
                  </a:lnTo>
                  <a:lnTo>
                    <a:pt x="218" y="297"/>
                  </a:lnTo>
                  <a:lnTo>
                    <a:pt x="223" y="304"/>
                  </a:lnTo>
                  <a:lnTo>
                    <a:pt x="227" y="309"/>
                  </a:lnTo>
                  <a:lnTo>
                    <a:pt x="235" y="314"/>
                  </a:lnTo>
                  <a:lnTo>
                    <a:pt x="240" y="316"/>
                  </a:lnTo>
                  <a:lnTo>
                    <a:pt x="247" y="319"/>
                  </a:lnTo>
                  <a:lnTo>
                    <a:pt x="254" y="321"/>
                  </a:lnTo>
                  <a:lnTo>
                    <a:pt x="261" y="324"/>
                  </a:lnTo>
                  <a:lnTo>
                    <a:pt x="268" y="324"/>
                  </a:lnTo>
                  <a:lnTo>
                    <a:pt x="268" y="324"/>
                  </a:lnTo>
                  <a:lnTo>
                    <a:pt x="275" y="324"/>
                  </a:lnTo>
                  <a:lnTo>
                    <a:pt x="285" y="321"/>
                  </a:lnTo>
                  <a:lnTo>
                    <a:pt x="290" y="319"/>
                  </a:lnTo>
                  <a:lnTo>
                    <a:pt x="297" y="316"/>
                  </a:lnTo>
                  <a:lnTo>
                    <a:pt x="304" y="314"/>
                  </a:lnTo>
                  <a:lnTo>
                    <a:pt x="309" y="309"/>
                  </a:lnTo>
                  <a:lnTo>
                    <a:pt x="316" y="304"/>
                  </a:lnTo>
                  <a:lnTo>
                    <a:pt x="321" y="297"/>
                  </a:lnTo>
                  <a:lnTo>
                    <a:pt x="326" y="292"/>
                  </a:lnTo>
                  <a:lnTo>
                    <a:pt x="331" y="285"/>
                  </a:lnTo>
                  <a:lnTo>
                    <a:pt x="333" y="278"/>
                  </a:lnTo>
                  <a:lnTo>
                    <a:pt x="335" y="271"/>
                  </a:lnTo>
                  <a:lnTo>
                    <a:pt x="338" y="264"/>
                  </a:lnTo>
                  <a:lnTo>
                    <a:pt x="340" y="254"/>
                  </a:lnTo>
                  <a:lnTo>
                    <a:pt x="343" y="247"/>
                  </a:lnTo>
                  <a:lnTo>
                    <a:pt x="343" y="237"/>
                  </a:lnTo>
                  <a:lnTo>
                    <a:pt x="343" y="237"/>
                  </a:lnTo>
                  <a:lnTo>
                    <a:pt x="343" y="228"/>
                  </a:lnTo>
                  <a:lnTo>
                    <a:pt x="340" y="220"/>
                  </a:lnTo>
                  <a:lnTo>
                    <a:pt x="338" y="211"/>
                  </a:lnTo>
                  <a:lnTo>
                    <a:pt x="335" y="204"/>
                  </a:lnTo>
                  <a:lnTo>
                    <a:pt x="333" y="196"/>
                  </a:lnTo>
                  <a:lnTo>
                    <a:pt x="331" y="189"/>
                  </a:lnTo>
                  <a:lnTo>
                    <a:pt x="326" y="182"/>
                  </a:lnTo>
                  <a:lnTo>
                    <a:pt x="321" y="177"/>
                  </a:lnTo>
                  <a:lnTo>
                    <a:pt x="316" y="170"/>
                  </a:lnTo>
                  <a:lnTo>
                    <a:pt x="309" y="165"/>
                  </a:lnTo>
                  <a:lnTo>
                    <a:pt x="304" y="160"/>
                  </a:lnTo>
                  <a:lnTo>
                    <a:pt x="297" y="158"/>
                  </a:lnTo>
                  <a:lnTo>
                    <a:pt x="290" y="156"/>
                  </a:lnTo>
                  <a:lnTo>
                    <a:pt x="285" y="153"/>
                  </a:lnTo>
                  <a:lnTo>
                    <a:pt x="275" y="151"/>
                  </a:lnTo>
                  <a:lnTo>
                    <a:pt x="268" y="151"/>
                  </a:lnTo>
                  <a:lnTo>
                    <a:pt x="268" y="151"/>
                  </a:lnTo>
                  <a:close/>
                  <a:moveTo>
                    <a:pt x="275" y="276"/>
                  </a:moveTo>
                  <a:lnTo>
                    <a:pt x="275" y="290"/>
                  </a:lnTo>
                  <a:lnTo>
                    <a:pt x="261" y="290"/>
                  </a:lnTo>
                  <a:lnTo>
                    <a:pt x="261" y="278"/>
                  </a:lnTo>
                  <a:lnTo>
                    <a:pt x="261" y="278"/>
                  </a:lnTo>
                  <a:lnTo>
                    <a:pt x="254" y="278"/>
                  </a:lnTo>
                  <a:lnTo>
                    <a:pt x="247" y="276"/>
                  </a:lnTo>
                  <a:lnTo>
                    <a:pt x="242" y="273"/>
                  </a:lnTo>
                  <a:lnTo>
                    <a:pt x="237" y="273"/>
                  </a:lnTo>
                  <a:lnTo>
                    <a:pt x="240" y="254"/>
                  </a:lnTo>
                  <a:lnTo>
                    <a:pt x="240" y="254"/>
                  </a:lnTo>
                  <a:lnTo>
                    <a:pt x="247" y="256"/>
                  </a:lnTo>
                  <a:lnTo>
                    <a:pt x="251" y="259"/>
                  </a:lnTo>
                  <a:lnTo>
                    <a:pt x="259" y="259"/>
                  </a:lnTo>
                  <a:lnTo>
                    <a:pt x="266" y="261"/>
                  </a:lnTo>
                  <a:lnTo>
                    <a:pt x="266" y="261"/>
                  </a:lnTo>
                  <a:lnTo>
                    <a:pt x="271" y="259"/>
                  </a:lnTo>
                  <a:lnTo>
                    <a:pt x="273" y="259"/>
                  </a:lnTo>
                  <a:lnTo>
                    <a:pt x="275" y="256"/>
                  </a:lnTo>
                  <a:lnTo>
                    <a:pt x="275" y="256"/>
                  </a:lnTo>
                  <a:lnTo>
                    <a:pt x="275" y="254"/>
                  </a:lnTo>
                  <a:lnTo>
                    <a:pt x="275" y="254"/>
                  </a:lnTo>
                  <a:lnTo>
                    <a:pt x="275" y="252"/>
                  </a:lnTo>
                  <a:lnTo>
                    <a:pt x="273" y="249"/>
                  </a:lnTo>
                  <a:lnTo>
                    <a:pt x="268" y="247"/>
                  </a:lnTo>
                  <a:lnTo>
                    <a:pt x="263" y="244"/>
                  </a:lnTo>
                  <a:lnTo>
                    <a:pt x="263" y="244"/>
                  </a:lnTo>
                  <a:lnTo>
                    <a:pt x="251" y="242"/>
                  </a:lnTo>
                  <a:lnTo>
                    <a:pt x="247" y="240"/>
                  </a:lnTo>
                  <a:lnTo>
                    <a:pt x="244" y="237"/>
                  </a:lnTo>
                  <a:lnTo>
                    <a:pt x="242" y="232"/>
                  </a:lnTo>
                  <a:lnTo>
                    <a:pt x="240" y="230"/>
                  </a:lnTo>
                  <a:lnTo>
                    <a:pt x="237" y="225"/>
                  </a:lnTo>
                  <a:lnTo>
                    <a:pt x="237" y="220"/>
                  </a:lnTo>
                  <a:lnTo>
                    <a:pt x="237" y="220"/>
                  </a:lnTo>
                  <a:lnTo>
                    <a:pt x="237" y="218"/>
                  </a:lnTo>
                  <a:lnTo>
                    <a:pt x="240" y="213"/>
                  </a:lnTo>
                  <a:lnTo>
                    <a:pt x="240" y="208"/>
                  </a:lnTo>
                  <a:lnTo>
                    <a:pt x="244" y="206"/>
                  </a:lnTo>
                  <a:lnTo>
                    <a:pt x="247" y="204"/>
                  </a:lnTo>
                  <a:lnTo>
                    <a:pt x="251" y="201"/>
                  </a:lnTo>
                  <a:lnTo>
                    <a:pt x="256" y="199"/>
                  </a:lnTo>
                  <a:lnTo>
                    <a:pt x="261" y="199"/>
                  </a:lnTo>
                  <a:lnTo>
                    <a:pt x="261" y="184"/>
                  </a:lnTo>
                  <a:lnTo>
                    <a:pt x="275" y="184"/>
                  </a:lnTo>
                  <a:lnTo>
                    <a:pt x="275" y="196"/>
                  </a:lnTo>
                  <a:lnTo>
                    <a:pt x="275" y="196"/>
                  </a:lnTo>
                  <a:lnTo>
                    <a:pt x="283" y="196"/>
                  </a:lnTo>
                  <a:lnTo>
                    <a:pt x="287" y="199"/>
                  </a:lnTo>
                  <a:lnTo>
                    <a:pt x="297" y="201"/>
                  </a:lnTo>
                  <a:lnTo>
                    <a:pt x="292" y="218"/>
                  </a:lnTo>
                  <a:lnTo>
                    <a:pt x="292" y="218"/>
                  </a:lnTo>
                  <a:lnTo>
                    <a:pt x="285" y="216"/>
                  </a:lnTo>
                  <a:lnTo>
                    <a:pt x="278" y="213"/>
                  </a:lnTo>
                  <a:lnTo>
                    <a:pt x="273" y="213"/>
                  </a:lnTo>
                  <a:lnTo>
                    <a:pt x="273" y="213"/>
                  </a:lnTo>
                  <a:lnTo>
                    <a:pt x="268" y="213"/>
                  </a:lnTo>
                  <a:lnTo>
                    <a:pt x="263" y="216"/>
                  </a:lnTo>
                  <a:lnTo>
                    <a:pt x="263" y="218"/>
                  </a:lnTo>
                  <a:lnTo>
                    <a:pt x="261" y="218"/>
                  </a:lnTo>
                  <a:lnTo>
                    <a:pt x="261" y="218"/>
                  </a:lnTo>
                  <a:lnTo>
                    <a:pt x="263" y="220"/>
                  </a:lnTo>
                  <a:lnTo>
                    <a:pt x="266" y="223"/>
                  </a:lnTo>
                  <a:lnTo>
                    <a:pt x="271" y="225"/>
                  </a:lnTo>
                  <a:lnTo>
                    <a:pt x="278" y="228"/>
                  </a:lnTo>
                  <a:lnTo>
                    <a:pt x="278" y="228"/>
                  </a:lnTo>
                  <a:lnTo>
                    <a:pt x="285" y="230"/>
                  </a:lnTo>
                  <a:lnTo>
                    <a:pt x="287" y="232"/>
                  </a:lnTo>
                  <a:lnTo>
                    <a:pt x="292" y="235"/>
                  </a:lnTo>
                  <a:lnTo>
                    <a:pt x="295" y="237"/>
                  </a:lnTo>
                  <a:lnTo>
                    <a:pt x="297" y="240"/>
                  </a:lnTo>
                  <a:lnTo>
                    <a:pt x="300" y="244"/>
                  </a:lnTo>
                  <a:lnTo>
                    <a:pt x="302" y="247"/>
                  </a:lnTo>
                  <a:lnTo>
                    <a:pt x="302" y="252"/>
                  </a:lnTo>
                  <a:lnTo>
                    <a:pt x="302" y="252"/>
                  </a:lnTo>
                  <a:lnTo>
                    <a:pt x="300" y="256"/>
                  </a:lnTo>
                  <a:lnTo>
                    <a:pt x="300" y="261"/>
                  </a:lnTo>
                  <a:lnTo>
                    <a:pt x="297" y="264"/>
                  </a:lnTo>
                  <a:lnTo>
                    <a:pt x="295" y="268"/>
                  </a:lnTo>
                  <a:lnTo>
                    <a:pt x="290" y="271"/>
                  </a:lnTo>
                  <a:lnTo>
                    <a:pt x="287" y="273"/>
                  </a:lnTo>
                  <a:lnTo>
                    <a:pt x="280" y="276"/>
                  </a:lnTo>
                  <a:lnTo>
                    <a:pt x="275" y="276"/>
                  </a:lnTo>
                  <a:lnTo>
                    <a:pt x="275" y="276"/>
                  </a:lnTo>
                  <a:close/>
                </a:path>
                <a:path w="465" h="369">
                  <a:moveTo>
                    <a:pt x="357" y="360"/>
                  </a:moveTo>
                  <a:lnTo>
                    <a:pt x="357" y="360"/>
                  </a:lnTo>
                  <a:lnTo>
                    <a:pt x="357" y="357"/>
                  </a:lnTo>
                  <a:lnTo>
                    <a:pt x="357" y="352"/>
                  </a:lnTo>
                  <a:lnTo>
                    <a:pt x="359" y="350"/>
                  </a:lnTo>
                  <a:lnTo>
                    <a:pt x="359" y="345"/>
                  </a:lnTo>
                  <a:lnTo>
                    <a:pt x="136" y="345"/>
                  </a:lnTo>
                  <a:lnTo>
                    <a:pt x="136" y="345"/>
                  </a:lnTo>
                  <a:lnTo>
                    <a:pt x="134" y="338"/>
                  </a:lnTo>
                  <a:lnTo>
                    <a:pt x="131" y="331"/>
                  </a:lnTo>
                  <a:lnTo>
                    <a:pt x="127" y="326"/>
                  </a:lnTo>
                  <a:lnTo>
                    <a:pt x="122" y="319"/>
                  </a:lnTo>
                  <a:lnTo>
                    <a:pt x="117" y="314"/>
                  </a:lnTo>
                  <a:lnTo>
                    <a:pt x="112" y="312"/>
                  </a:lnTo>
                  <a:lnTo>
                    <a:pt x="105" y="309"/>
                  </a:lnTo>
                  <a:lnTo>
                    <a:pt x="98" y="307"/>
                  </a:lnTo>
                  <a:lnTo>
                    <a:pt x="98" y="172"/>
                  </a:lnTo>
                  <a:lnTo>
                    <a:pt x="98" y="172"/>
                  </a:lnTo>
                  <a:lnTo>
                    <a:pt x="105" y="170"/>
                  </a:lnTo>
                  <a:lnTo>
                    <a:pt x="112" y="167"/>
                  </a:lnTo>
                  <a:lnTo>
                    <a:pt x="117" y="163"/>
                  </a:lnTo>
                  <a:lnTo>
                    <a:pt x="122" y="158"/>
                  </a:lnTo>
                  <a:lnTo>
                    <a:pt x="127" y="153"/>
                  </a:lnTo>
                  <a:lnTo>
                    <a:pt x="131" y="146"/>
                  </a:lnTo>
                  <a:lnTo>
                    <a:pt x="134" y="139"/>
                  </a:lnTo>
                  <a:lnTo>
                    <a:pt x="136" y="132"/>
                  </a:lnTo>
                  <a:lnTo>
                    <a:pt x="403" y="132"/>
                  </a:lnTo>
                  <a:lnTo>
                    <a:pt x="403" y="132"/>
                  </a:lnTo>
                  <a:lnTo>
                    <a:pt x="405" y="139"/>
                  </a:lnTo>
                  <a:lnTo>
                    <a:pt x="407" y="146"/>
                  </a:lnTo>
                  <a:lnTo>
                    <a:pt x="410" y="153"/>
                  </a:lnTo>
                  <a:lnTo>
                    <a:pt x="415" y="158"/>
                  </a:lnTo>
                  <a:lnTo>
                    <a:pt x="419" y="163"/>
                  </a:lnTo>
                  <a:lnTo>
                    <a:pt x="427" y="167"/>
                  </a:lnTo>
                  <a:lnTo>
                    <a:pt x="434" y="170"/>
                  </a:lnTo>
                  <a:lnTo>
                    <a:pt x="439" y="172"/>
                  </a:lnTo>
                  <a:lnTo>
                    <a:pt x="439" y="261"/>
                  </a:lnTo>
                  <a:lnTo>
                    <a:pt x="465" y="261"/>
                  </a:lnTo>
                  <a:lnTo>
                    <a:pt x="465" y="122"/>
                  </a:lnTo>
                  <a:lnTo>
                    <a:pt x="465" y="122"/>
                  </a:lnTo>
                  <a:lnTo>
                    <a:pt x="463" y="120"/>
                  </a:lnTo>
                  <a:lnTo>
                    <a:pt x="463" y="115"/>
                  </a:lnTo>
                  <a:lnTo>
                    <a:pt x="463" y="112"/>
                  </a:lnTo>
                  <a:lnTo>
                    <a:pt x="460" y="110"/>
                  </a:lnTo>
                  <a:lnTo>
                    <a:pt x="458" y="110"/>
                  </a:lnTo>
                  <a:lnTo>
                    <a:pt x="455" y="107"/>
                  </a:lnTo>
                  <a:lnTo>
                    <a:pt x="453" y="107"/>
                  </a:lnTo>
                  <a:lnTo>
                    <a:pt x="451" y="107"/>
                  </a:lnTo>
                  <a:lnTo>
                    <a:pt x="88" y="107"/>
                  </a:lnTo>
                  <a:lnTo>
                    <a:pt x="88" y="107"/>
                  </a:lnTo>
                  <a:lnTo>
                    <a:pt x="86" y="107"/>
                  </a:lnTo>
                  <a:lnTo>
                    <a:pt x="81" y="107"/>
                  </a:lnTo>
                  <a:lnTo>
                    <a:pt x="79" y="110"/>
                  </a:lnTo>
                  <a:lnTo>
                    <a:pt x="79" y="110"/>
                  </a:lnTo>
                  <a:lnTo>
                    <a:pt x="76" y="112"/>
                  </a:lnTo>
                  <a:lnTo>
                    <a:pt x="74" y="115"/>
                  </a:lnTo>
                  <a:lnTo>
                    <a:pt x="74" y="120"/>
                  </a:lnTo>
                  <a:lnTo>
                    <a:pt x="74" y="122"/>
                  </a:lnTo>
                  <a:lnTo>
                    <a:pt x="74" y="357"/>
                  </a:lnTo>
                  <a:lnTo>
                    <a:pt x="74" y="357"/>
                  </a:lnTo>
                  <a:lnTo>
                    <a:pt x="74" y="360"/>
                  </a:lnTo>
                  <a:lnTo>
                    <a:pt x="74" y="362"/>
                  </a:lnTo>
                  <a:lnTo>
                    <a:pt x="76" y="364"/>
                  </a:lnTo>
                  <a:lnTo>
                    <a:pt x="79" y="367"/>
                  </a:lnTo>
                  <a:lnTo>
                    <a:pt x="79" y="367"/>
                  </a:lnTo>
                  <a:lnTo>
                    <a:pt x="81" y="369"/>
                  </a:lnTo>
                  <a:lnTo>
                    <a:pt x="86" y="369"/>
                  </a:lnTo>
                  <a:lnTo>
                    <a:pt x="88" y="369"/>
                  </a:lnTo>
                  <a:lnTo>
                    <a:pt x="357" y="369"/>
                  </a:lnTo>
                  <a:lnTo>
                    <a:pt x="357" y="369"/>
                  </a:lnTo>
                  <a:lnTo>
                    <a:pt x="357" y="364"/>
                  </a:lnTo>
                  <a:lnTo>
                    <a:pt x="357" y="360"/>
                  </a:lnTo>
                  <a:lnTo>
                    <a:pt x="357" y="3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2796" name="table 2796"/>
          <p:cNvGraphicFramePr>
            <a:graphicFrameLocks noGrp="1"/>
          </p:cNvGraphicFramePr>
          <p:nvPr/>
        </p:nvGraphicFramePr>
        <p:xfrm>
          <a:off x="281940" y="3337559"/>
          <a:ext cx="4574539" cy="1552575"/>
        </p:xfrm>
        <a:graphic>
          <a:graphicData uri="http://schemas.openxmlformats.org/drawingml/2006/table">
            <a:tbl>
              <a:tblPr/>
              <a:tblGrid>
                <a:gridCol w="4574539"/>
              </a:tblGrid>
              <a:tr h="1543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6275" algn="l" rtl="0" eaLnBrk="0">
                        <a:lnSpc>
                          <a:spcPct val="8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C</a:t>
                      </a:r>
                      <a:r>
                        <a:rPr sz="900" b="1" kern="0" spc="10" baseline="-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日前偏差</a:t>
                      </a:r>
                      <a:r>
                        <a:rPr sz="5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=</a:t>
                      </a:r>
                      <a:r>
                        <a:rPr sz="2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</a:t>
                      </a: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[(</a:t>
                      </a: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C</a:t>
                      </a:r>
                      <a:r>
                        <a:rPr sz="900" b="1" kern="0" spc="10" baseline="-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</a:t>
                      </a:r>
                      <a:r>
                        <a:rPr sz="900" b="1" kern="0" spc="10" baseline="-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,</a:t>
                      </a:r>
                      <a:r>
                        <a:rPr sz="900" b="1" kern="0" spc="10" baseline="-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t</a:t>
                      </a:r>
                      <a:r>
                        <a:rPr sz="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  </a:t>
                      </a: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-</a:t>
                      </a:r>
                      <a:r>
                        <a:rPr sz="2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  </a:t>
                      </a: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C</a:t>
                      </a:r>
                      <a:r>
                        <a:rPr sz="900" b="1" kern="0" spc="10" baseline="-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净合约</a:t>
                      </a:r>
                      <a:r>
                        <a:rPr sz="900" b="1" kern="0" spc="10" baseline="-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,</a:t>
                      </a:r>
                      <a:r>
                        <a:rPr sz="900" b="1" kern="0" spc="10" baseline="-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t</a:t>
                      </a:r>
                      <a:r>
                        <a:rPr sz="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 </a:t>
                      </a: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)</a:t>
                      </a:r>
                      <a:r>
                        <a:rPr sz="1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×</a:t>
                      </a:r>
                      <a:r>
                        <a:rPr sz="1700" kern="0" spc="-5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P</a:t>
                      </a:r>
                      <a:r>
                        <a:rPr sz="900" b="1" kern="0" spc="0" baseline="-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</a:t>
                      </a:r>
                      <a:r>
                        <a:rPr sz="900" b="1" kern="0" spc="0" baseline="-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,</a:t>
                      </a:r>
                      <a:r>
                        <a:rPr sz="900" b="1" kern="0" spc="0" baseline="-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t</a:t>
                      </a:r>
                      <a:r>
                        <a:rPr sz="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  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]</a:t>
                      </a:r>
                      <a:endParaRPr sz="2000" dirty="0">
                        <a:latin typeface="Constantia"/>
                        <a:ea typeface="Constantia"/>
                        <a:cs typeface="Constantia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94" name="group 294"/>
          <p:cNvGrpSpPr/>
          <p:nvPr/>
        </p:nvGrpSpPr>
        <p:grpSpPr>
          <a:xfrm rot="21600000">
            <a:off x="5747003" y="3076955"/>
            <a:ext cx="480060" cy="458723"/>
            <a:chOff x="0" y="0"/>
            <a:chExt cx="480060" cy="458723"/>
          </a:xfrm>
        </p:grpSpPr>
        <p:sp>
          <p:nvSpPr>
            <p:cNvPr id="2798" name="path 2798"/>
            <p:cNvSpPr/>
            <p:nvPr/>
          </p:nvSpPr>
          <p:spPr>
            <a:xfrm>
              <a:off x="0" y="0"/>
              <a:ext cx="480060" cy="458723"/>
            </a:xfrm>
            <a:custGeom>
              <a:avLst/>
              <a:gdLst/>
              <a:ahLst/>
              <a:cxnLst/>
              <a:rect l="0" t="0" r="0" b="0"/>
              <a:pathLst>
                <a:path w="756" h="722">
                  <a:moveTo>
                    <a:pt x="0" y="360"/>
                  </a:moveTo>
                  <a:cubicBezTo>
                    <a:pt x="0" y="160"/>
                    <a:pt x="167" y="0"/>
                    <a:pt x="376" y="0"/>
                  </a:cubicBezTo>
                  <a:cubicBezTo>
                    <a:pt x="585" y="0"/>
                    <a:pt x="756" y="160"/>
                    <a:pt x="756" y="360"/>
                  </a:cubicBezTo>
                  <a:cubicBezTo>
                    <a:pt x="756" y="561"/>
                    <a:pt x="585" y="722"/>
                    <a:pt x="376" y="722"/>
                  </a:cubicBezTo>
                  <a:cubicBezTo>
                    <a:pt x="167" y="722"/>
                    <a:pt x="0" y="561"/>
                    <a:pt x="0" y="360"/>
                  </a:cubicBezTo>
                </a:path>
                <a:path w="756" h="722">
                  <a:moveTo>
                    <a:pt x="64" y="360"/>
                  </a:moveTo>
                  <a:cubicBezTo>
                    <a:pt x="64" y="201"/>
                    <a:pt x="201" y="69"/>
                    <a:pt x="369" y="69"/>
                  </a:cubicBezTo>
                  <a:cubicBezTo>
                    <a:pt x="537" y="69"/>
                    <a:pt x="674" y="201"/>
                    <a:pt x="674" y="360"/>
                  </a:cubicBezTo>
                  <a:cubicBezTo>
                    <a:pt x="674" y="520"/>
                    <a:pt x="537" y="652"/>
                    <a:pt x="369" y="652"/>
                  </a:cubicBezTo>
                  <a:cubicBezTo>
                    <a:pt x="201" y="652"/>
                    <a:pt x="64" y="520"/>
                    <a:pt x="64" y="360"/>
                  </a:cubicBezTo>
                </a:path>
              </a:pathLst>
            </a:custGeom>
            <a:solidFill>
              <a:srgbClr val="00417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00" name="path 2800"/>
            <p:cNvSpPr/>
            <p:nvPr/>
          </p:nvSpPr>
          <p:spPr>
            <a:xfrm>
              <a:off x="24383" y="27432"/>
              <a:ext cx="420623" cy="403859"/>
            </a:xfrm>
            <a:custGeom>
              <a:avLst/>
              <a:gdLst/>
              <a:ahLst/>
              <a:cxnLst/>
              <a:rect l="0" t="0" r="0" b="0"/>
              <a:pathLst>
                <a:path w="662" h="635">
                  <a:moveTo>
                    <a:pt x="26" y="316"/>
                  </a:moveTo>
                  <a:cubicBezTo>
                    <a:pt x="26" y="158"/>
                    <a:pt x="163" y="26"/>
                    <a:pt x="331" y="26"/>
                  </a:cubicBezTo>
                  <a:cubicBezTo>
                    <a:pt x="499" y="26"/>
                    <a:pt x="636" y="158"/>
                    <a:pt x="636" y="316"/>
                  </a:cubicBezTo>
                  <a:cubicBezTo>
                    <a:pt x="636" y="477"/>
                    <a:pt x="499" y="609"/>
                    <a:pt x="331" y="609"/>
                  </a:cubicBezTo>
                  <a:cubicBezTo>
                    <a:pt x="163" y="609"/>
                    <a:pt x="26" y="477"/>
                    <a:pt x="26" y="316"/>
                  </a:cubicBezTo>
                </a:path>
              </a:pathLst>
            </a:custGeom>
            <a:noFill/>
            <a:ln w="33527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02" name="path 2802"/>
            <p:cNvSpPr/>
            <p:nvPr/>
          </p:nvSpPr>
          <p:spPr>
            <a:xfrm>
              <a:off x="123444" y="121919"/>
              <a:ext cx="245364" cy="199644"/>
            </a:xfrm>
            <a:custGeom>
              <a:avLst/>
              <a:gdLst/>
              <a:ahLst/>
              <a:cxnLst/>
              <a:rect l="0" t="0" r="0" b="0"/>
              <a:pathLst>
                <a:path w="386" h="314">
                  <a:moveTo>
                    <a:pt x="230" y="261"/>
                  </a:moveTo>
                  <a:lnTo>
                    <a:pt x="26" y="261"/>
                  </a:lnTo>
                  <a:lnTo>
                    <a:pt x="26" y="261"/>
                  </a:lnTo>
                  <a:lnTo>
                    <a:pt x="23" y="261"/>
                  </a:lnTo>
                  <a:lnTo>
                    <a:pt x="21" y="261"/>
                  </a:lnTo>
                  <a:lnTo>
                    <a:pt x="21" y="259"/>
                  </a:lnTo>
                  <a:lnTo>
                    <a:pt x="19" y="259"/>
                  </a:lnTo>
                  <a:lnTo>
                    <a:pt x="16" y="256"/>
                  </a:lnTo>
                  <a:lnTo>
                    <a:pt x="16" y="254"/>
                  </a:lnTo>
                  <a:lnTo>
                    <a:pt x="14" y="252"/>
                  </a:lnTo>
                  <a:lnTo>
                    <a:pt x="14" y="249"/>
                  </a:lnTo>
                  <a:lnTo>
                    <a:pt x="14" y="148"/>
                  </a:lnTo>
                  <a:lnTo>
                    <a:pt x="230" y="148"/>
                  </a:lnTo>
                  <a:lnTo>
                    <a:pt x="230" y="148"/>
                  </a:lnTo>
                  <a:lnTo>
                    <a:pt x="223" y="139"/>
                  </a:lnTo>
                  <a:lnTo>
                    <a:pt x="220" y="132"/>
                  </a:lnTo>
                  <a:lnTo>
                    <a:pt x="220" y="127"/>
                  </a:lnTo>
                  <a:lnTo>
                    <a:pt x="218" y="120"/>
                  </a:lnTo>
                  <a:lnTo>
                    <a:pt x="215" y="112"/>
                  </a:lnTo>
                  <a:lnTo>
                    <a:pt x="215" y="105"/>
                  </a:lnTo>
                  <a:lnTo>
                    <a:pt x="215" y="98"/>
                  </a:lnTo>
                  <a:lnTo>
                    <a:pt x="215" y="98"/>
                  </a:lnTo>
                  <a:lnTo>
                    <a:pt x="215" y="88"/>
                  </a:lnTo>
                  <a:lnTo>
                    <a:pt x="14" y="88"/>
                  </a:lnTo>
                  <a:lnTo>
                    <a:pt x="14" y="72"/>
                  </a:lnTo>
                  <a:lnTo>
                    <a:pt x="14" y="72"/>
                  </a:lnTo>
                  <a:lnTo>
                    <a:pt x="14" y="69"/>
                  </a:lnTo>
                  <a:lnTo>
                    <a:pt x="16" y="67"/>
                  </a:lnTo>
                  <a:lnTo>
                    <a:pt x="16" y="64"/>
                  </a:lnTo>
                  <a:lnTo>
                    <a:pt x="19" y="62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23" y="60"/>
                  </a:lnTo>
                  <a:lnTo>
                    <a:pt x="26" y="60"/>
                  </a:lnTo>
                  <a:lnTo>
                    <a:pt x="223" y="60"/>
                  </a:lnTo>
                  <a:lnTo>
                    <a:pt x="223" y="60"/>
                  </a:lnTo>
                  <a:lnTo>
                    <a:pt x="225" y="50"/>
                  </a:lnTo>
                  <a:lnTo>
                    <a:pt x="230" y="43"/>
                  </a:lnTo>
                  <a:lnTo>
                    <a:pt x="26" y="43"/>
                  </a:lnTo>
                  <a:lnTo>
                    <a:pt x="26" y="43"/>
                  </a:lnTo>
                  <a:lnTo>
                    <a:pt x="21" y="43"/>
                  </a:lnTo>
                  <a:lnTo>
                    <a:pt x="16" y="45"/>
                  </a:lnTo>
                  <a:lnTo>
                    <a:pt x="11" y="48"/>
                  </a:lnTo>
                  <a:lnTo>
                    <a:pt x="7" y="50"/>
                  </a:lnTo>
                  <a:lnTo>
                    <a:pt x="4" y="55"/>
                  </a:lnTo>
                  <a:lnTo>
                    <a:pt x="2" y="60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0" y="249"/>
                  </a:lnTo>
                  <a:lnTo>
                    <a:pt x="0" y="249"/>
                  </a:lnTo>
                  <a:lnTo>
                    <a:pt x="0" y="254"/>
                  </a:lnTo>
                  <a:lnTo>
                    <a:pt x="2" y="261"/>
                  </a:lnTo>
                  <a:lnTo>
                    <a:pt x="4" y="266"/>
                  </a:lnTo>
                  <a:lnTo>
                    <a:pt x="7" y="268"/>
                  </a:lnTo>
                  <a:lnTo>
                    <a:pt x="11" y="273"/>
                  </a:lnTo>
                  <a:lnTo>
                    <a:pt x="16" y="276"/>
                  </a:lnTo>
                  <a:lnTo>
                    <a:pt x="21" y="278"/>
                  </a:lnTo>
                  <a:lnTo>
                    <a:pt x="26" y="278"/>
                  </a:lnTo>
                  <a:lnTo>
                    <a:pt x="244" y="278"/>
                  </a:lnTo>
                  <a:lnTo>
                    <a:pt x="244" y="278"/>
                  </a:lnTo>
                  <a:lnTo>
                    <a:pt x="235" y="271"/>
                  </a:lnTo>
                  <a:lnTo>
                    <a:pt x="230" y="261"/>
                  </a:lnTo>
                  <a:lnTo>
                    <a:pt x="230" y="261"/>
                  </a:lnTo>
                  <a:close/>
                  <a:moveTo>
                    <a:pt x="47" y="235"/>
                  </a:moveTo>
                  <a:lnTo>
                    <a:pt x="182" y="235"/>
                  </a:lnTo>
                  <a:lnTo>
                    <a:pt x="182" y="235"/>
                  </a:lnTo>
                  <a:lnTo>
                    <a:pt x="187" y="235"/>
                  </a:lnTo>
                  <a:lnTo>
                    <a:pt x="189" y="232"/>
                  </a:lnTo>
                  <a:lnTo>
                    <a:pt x="189" y="230"/>
                  </a:lnTo>
                  <a:lnTo>
                    <a:pt x="191" y="228"/>
                  </a:lnTo>
                  <a:lnTo>
                    <a:pt x="191" y="228"/>
                  </a:lnTo>
                  <a:lnTo>
                    <a:pt x="189" y="225"/>
                  </a:lnTo>
                  <a:lnTo>
                    <a:pt x="189" y="223"/>
                  </a:lnTo>
                  <a:lnTo>
                    <a:pt x="187" y="220"/>
                  </a:lnTo>
                  <a:lnTo>
                    <a:pt x="182" y="220"/>
                  </a:lnTo>
                  <a:lnTo>
                    <a:pt x="47" y="220"/>
                  </a:lnTo>
                  <a:lnTo>
                    <a:pt x="47" y="220"/>
                  </a:lnTo>
                  <a:lnTo>
                    <a:pt x="45" y="220"/>
                  </a:lnTo>
                  <a:lnTo>
                    <a:pt x="43" y="223"/>
                  </a:lnTo>
                  <a:lnTo>
                    <a:pt x="43" y="225"/>
                  </a:lnTo>
                  <a:lnTo>
                    <a:pt x="43" y="228"/>
                  </a:lnTo>
                  <a:lnTo>
                    <a:pt x="43" y="228"/>
                  </a:lnTo>
                  <a:lnTo>
                    <a:pt x="43" y="230"/>
                  </a:lnTo>
                  <a:lnTo>
                    <a:pt x="43" y="232"/>
                  </a:lnTo>
                  <a:lnTo>
                    <a:pt x="45" y="235"/>
                  </a:lnTo>
                  <a:lnTo>
                    <a:pt x="47" y="235"/>
                  </a:lnTo>
                  <a:lnTo>
                    <a:pt x="47" y="235"/>
                  </a:lnTo>
                  <a:close/>
                  <a:moveTo>
                    <a:pt x="120" y="192"/>
                  </a:moveTo>
                  <a:lnTo>
                    <a:pt x="120" y="192"/>
                  </a:lnTo>
                  <a:lnTo>
                    <a:pt x="122" y="189"/>
                  </a:lnTo>
                  <a:lnTo>
                    <a:pt x="124" y="189"/>
                  </a:lnTo>
                  <a:lnTo>
                    <a:pt x="124" y="187"/>
                  </a:lnTo>
                  <a:lnTo>
                    <a:pt x="127" y="182"/>
                  </a:lnTo>
                  <a:lnTo>
                    <a:pt x="127" y="182"/>
                  </a:lnTo>
                  <a:lnTo>
                    <a:pt x="124" y="180"/>
                  </a:lnTo>
                  <a:lnTo>
                    <a:pt x="124" y="177"/>
                  </a:lnTo>
                  <a:lnTo>
                    <a:pt x="122" y="175"/>
                  </a:lnTo>
                  <a:lnTo>
                    <a:pt x="120" y="175"/>
                  </a:lnTo>
                  <a:lnTo>
                    <a:pt x="47" y="175"/>
                  </a:lnTo>
                  <a:lnTo>
                    <a:pt x="47" y="175"/>
                  </a:lnTo>
                  <a:lnTo>
                    <a:pt x="45" y="175"/>
                  </a:lnTo>
                  <a:lnTo>
                    <a:pt x="43" y="177"/>
                  </a:lnTo>
                  <a:lnTo>
                    <a:pt x="43" y="180"/>
                  </a:lnTo>
                  <a:lnTo>
                    <a:pt x="40" y="182"/>
                  </a:lnTo>
                  <a:lnTo>
                    <a:pt x="40" y="182"/>
                  </a:lnTo>
                  <a:lnTo>
                    <a:pt x="43" y="187"/>
                  </a:lnTo>
                  <a:lnTo>
                    <a:pt x="43" y="189"/>
                  </a:lnTo>
                  <a:lnTo>
                    <a:pt x="45" y="189"/>
                  </a:lnTo>
                  <a:lnTo>
                    <a:pt x="47" y="192"/>
                  </a:lnTo>
                  <a:lnTo>
                    <a:pt x="120" y="192"/>
                  </a:lnTo>
                  <a:close/>
                </a:path>
                <a:path w="386" h="314">
                  <a:moveTo>
                    <a:pt x="300" y="175"/>
                  </a:moveTo>
                  <a:lnTo>
                    <a:pt x="300" y="175"/>
                  </a:lnTo>
                  <a:lnTo>
                    <a:pt x="285" y="170"/>
                  </a:lnTo>
                  <a:lnTo>
                    <a:pt x="271" y="163"/>
                  </a:lnTo>
                  <a:lnTo>
                    <a:pt x="259" y="156"/>
                  </a:lnTo>
                  <a:lnTo>
                    <a:pt x="254" y="151"/>
                  </a:lnTo>
                  <a:lnTo>
                    <a:pt x="252" y="146"/>
                  </a:lnTo>
                  <a:lnTo>
                    <a:pt x="247" y="141"/>
                  </a:lnTo>
                  <a:lnTo>
                    <a:pt x="242" y="139"/>
                  </a:lnTo>
                  <a:lnTo>
                    <a:pt x="240" y="132"/>
                  </a:lnTo>
                  <a:lnTo>
                    <a:pt x="237" y="127"/>
                  </a:lnTo>
                  <a:lnTo>
                    <a:pt x="235" y="120"/>
                  </a:lnTo>
                  <a:lnTo>
                    <a:pt x="235" y="115"/>
                  </a:lnTo>
                  <a:lnTo>
                    <a:pt x="235" y="105"/>
                  </a:lnTo>
                  <a:lnTo>
                    <a:pt x="232" y="98"/>
                  </a:lnTo>
                  <a:lnTo>
                    <a:pt x="232" y="98"/>
                  </a:lnTo>
                  <a:lnTo>
                    <a:pt x="235" y="88"/>
                  </a:lnTo>
                  <a:lnTo>
                    <a:pt x="235" y="79"/>
                  </a:lnTo>
                  <a:lnTo>
                    <a:pt x="237" y="72"/>
                  </a:lnTo>
                  <a:lnTo>
                    <a:pt x="240" y="64"/>
                  </a:lnTo>
                  <a:lnTo>
                    <a:pt x="242" y="57"/>
                  </a:lnTo>
                  <a:lnTo>
                    <a:pt x="247" y="50"/>
                  </a:lnTo>
                  <a:lnTo>
                    <a:pt x="252" y="45"/>
                  </a:lnTo>
                  <a:lnTo>
                    <a:pt x="254" y="38"/>
                  </a:lnTo>
                  <a:lnTo>
                    <a:pt x="259" y="33"/>
                  </a:lnTo>
                  <a:lnTo>
                    <a:pt x="264" y="31"/>
                  </a:lnTo>
                  <a:lnTo>
                    <a:pt x="271" y="28"/>
                  </a:lnTo>
                  <a:lnTo>
                    <a:pt x="276" y="24"/>
                  </a:lnTo>
                  <a:lnTo>
                    <a:pt x="283" y="24"/>
                  </a:lnTo>
                  <a:lnTo>
                    <a:pt x="288" y="21"/>
                  </a:lnTo>
                  <a:lnTo>
                    <a:pt x="295" y="21"/>
                  </a:lnTo>
                  <a:lnTo>
                    <a:pt x="300" y="19"/>
                  </a:lnTo>
                  <a:lnTo>
                    <a:pt x="300" y="14"/>
                  </a:lnTo>
                  <a:lnTo>
                    <a:pt x="300" y="14"/>
                  </a:lnTo>
                  <a:lnTo>
                    <a:pt x="300" y="7"/>
                  </a:lnTo>
                  <a:lnTo>
                    <a:pt x="302" y="7"/>
                  </a:lnTo>
                  <a:lnTo>
                    <a:pt x="302" y="4"/>
                  </a:lnTo>
                  <a:lnTo>
                    <a:pt x="304" y="2"/>
                  </a:lnTo>
                  <a:lnTo>
                    <a:pt x="307" y="2"/>
                  </a:lnTo>
                  <a:lnTo>
                    <a:pt x="309" y="0"/>
                  </a:lnTo>
                  <a:lnTo>
                    <a:pt x="309" y="0"/>
                  </a:lnTo>
                  <a:lnTo>
                    <a:pt x="314" y="2"/>
                  </a:lnTo>
                  <a:lnTo>
                    <a:pt x="314" y="2"/>
                  </a:lnTo>
                  <a:lnTo>
                    <a:pt x="316" y="4"/>
                  </a:lnTo>
                  <a:lnTo>
                    <a:pt x="316" y="7"/>
                  </a:lnTo>
                  <a:lnTo>
                    <a:pt x="319" y="7"/>
                  </a:lnTo>
                  <a:lnTo>
                    <a:pt x="319" y="14"/>
                  </a:lnTo>
                  <a:lnTo>
                    <a:pt x="319" y="19"/>
                  </a:lnTo>
                  <a:lnTo>
                    <a:pt x="319" y="19"/>
                  </a:lnTo>
                  <a:lnTo>
                    <a:pt x="328" y="21"/>
                  </a:lnTo>
                  <a:lnTo>
                    <a:pt x="336" y="24"/>
                  </a:lnTo>
                  <a:lnTo>
                    <a:pt x="348" y="28"/>
                  </a:lnTo>
                  <a:lnTo>
                    <a:pt x="357" y="33"/>
                  </a:lnTo>
                  <a:lnTo>
                    <a:pt x="362" y="36"/>
                  </a:lnTo>
                  <a:lnTo>
                    <a:pt x="367" y="40"/>
                  </a:lnTo>
                  <a:lnTo>
                    <a:pt x="372" y="45"/>
                  </a:lnTo>
                  <a:lnTo>
                    <a:pt x="374" y="50"/>
                  </a:lnTo>
                  <a:lnTo>
                    <a:pt x="379" y="55"/>
                  </a:lnTo>
                  <a:lnTo>
                    <a:pt x="381" y="62"/>
                  </a:lnTo>
                  <a:lnTo>
                    <a:pt x="384" y="67"/>
                  </a:lnTo>
                  <a:lnTo>
                    <a:pt x="384" y="74"/>
                  </a:lnTo>
                  <a:lnTo>
                    <a:pt x="384" y="74"/>
                  </a:lnTo>
                  <a:lnTo>
                    <a:pt x="384" y="79"/>
                  </a:lnTo>
                  <a:lnTo>
                    <a:pt x="381" y="86"/>
                  </a:lnTo>
                  <a:lnTo>
                    <a:pt x="379" y="88"/>
                  </a:lnTo>
                  <a:lnTo>
                    <a:pt x="376" y="93"/>
                  </a:lnTo>
                  <a:lnTo>
                    <a:pt x="374" y="96"/>
                  </a:lnTo>
                  <a:lnTo>
                    <a:pt x="369" y="98"/>
                  </a:lnTo>
                  <a:lnTo>
                    <a:pt x="364" y="100"/>
                  </a:lnTo>
                  <a:lnTo>
                    <a:pt x="362" y="100"/>
                  </a:lnTo>
                  <a:lnTo>
                    <a:pt x="362" y="100"/>
                  </a:lnTo>
                  <a:lnTo>
                    <a:pt x="357" y="100"/>
                  </a:lnTo>
                  <a:lnTo>
                    <a:pt x="357" y="100"/>
                  </a:lnTo>
                  <a:lnTo>
                    <a:pt x="352" y="98"/>
                  </a:lnTo>
                  <a:lnTo>
                    <a:pt x="348" y="93"/>
                  </a:lnTo>
                  <a:lnTo>
                    <a:pt x="343" y="88"/>
                  </a:lnTo>
                  <a:lnTo>
                    <a:pt x="338" y="81"/>
                  </a:lnTo>
                  <a:lnTo>
                    <a:pt x="333" y="76"/>
                  </a:lnTo>
                  <a:lnTo>
                    <a:pt x="326" y="72"/>
                  </a:lnTo>
                  <a:lnTo>
                    <a:pt x="324" y="69"/>
                  </a:lnTo>
                  <a:lnTo>
                    <a:pt x="319" y="69"/>
                  </a:lnTo>
                  <a:lnTo>
                    <a:pt x="319" y="117"/>
                  </a:lnTo>
                  <a:lnTo>
                    <a:pt x="319" y="117"/>
                  </a:lnTo>
                  <a:lnTo>
                    <a:pt x="336" y="124"/>
                  </a:lnTo>
                  <a:lnTo>
                    <a:pt x="343" y="127"/>
                  </a:lnTo>
                  <a:lnTo>
                    <a:pt x="348" y="132"/>
                  </a:lnTo>
                  <a:lnTo>
                    <a:pt x="355" y="136"/>
                  </a:lnTo>
                  <a:lnTo>
                    <a:pt x="360" y="141"/>
                  </a:lnTo>
                  <a:lnTo>
                    <a:pt x="364" y="144"/>
                  </a:lnTo>
                  <a:lnTo>
                    <a:pt x="369" y="148"/>
                  </a:lnTo>
                  <a:lnTo>
                    <a:pt x="374" y="153"/>
                  </a:lnTo>
                  <a:lnTo>
                    <a:pt x="376" y="160"/>
                  </a:lnTo>
                  <a:lnTo>
                    <a:pt x="381" y="165"/>
                  </a:lnTo>
                  <a:lnTo>
                    <a:pt x="384" y="172"/>
                  </a:lnTo>
                  <a:lnTo>
                    <a:pt x="384" y="180"/>
                  </a:lnTo>
                  <a:lnTo>
                    <a:pt x="386" y="187"/>
                  </a:lnTo>
                  <a:lnTo>
                    <a:pt x="386" y="194"/>
                  </a:lnTo>
                  <a:lnTo>
                    <a:pt x="386" y="201"/>
                  </a:lnTo>
                  <a:lnTo>
                    <a:pt x="386" y="201"/>
                  </a:lnTo>
                  <a:lnTo>
                    <a:pt x="386" y="211"/>
                  </a:lnTo>
                  <a:lnTo>
                    <a:pt x="386" y="220"/>
                  </a:lnTo>
                  <a:lnTo>
                    <a:pt x="384" y="228"/>
                  </a:lnTo>
                  <a:lnTo>
                    <a:pt x="381" y="235"/>
                  </a:lnTo>
                  <a:lnTo>
                    <a:pt x="379" y="242"/>
                  </a:lnTo>
                  <a:lnTo>
                    <a:pt x="374" y="249"/>
                  </a:lnTo>
                  <a:lnTo>
                    <a:pt x="369" y="254"/>
                  </a:lnTo>
                  <a:lnTo>
                    <a:pt x="367" y="259"/>
                  </a:lnTo>
                  <a:lnTo>
                    <a:pt x="362" y="264"/>
                  </a:lnTo>
                  <a:lnTo>
                    <a:pt x="355" y="268"/>
                  </a:lnTo>
                  <a:lnTo>
                    <a:pt x="350" y="271"/>
                  </a:lnTo>
                  <a:lnTo>
                    <a:pt x="343" y="276"/>
                  </a:lnTo>
                  <a:lnTo>
                    <a:pt x="338" y="276"/>
                  </a:lnTo>
                  <a:lnTo>
                    <a:pt x="331" y="278"/>
                  </a:lnTo>
                  <a:lnTo>
                    <a:pt x="326" y="278"/>
                  </a:lnTo>
                  <a:lnTo>
                    <a:pt x="319" y="280"/>
                  </a:lnTo>
                  <a:lnTo>
                    <a:pt x="319" y="297"/>
                  </a:lnTo>
                  <a:lnTo>
                    <a:pt x="319" y="297"/>
                  </a:lnTo>
                  <a:lnTo>
                    <a:pt x="319" y="304"/>
                  </a:lnTo>
                  <a:lnTo>
                    <a:pt x="316" y="307"/>
                  </a:lnTo>
                  <a:lnTo>
                    <a:pt x="316" y="309"/>
                  </a:lnTo>
                  <a:lnTo>
                    <a:pt x="314" y="312"/>
                  </a:lnTo>
                  <a:lnTo>
                    <a:pt x="314" y="312"/>
                  </a:lnTo>
                  <a:lnTo>
                    <a:pt x="309" y="314"/>
                  </a:lnTo>
                  <a:lnTo>
                    <a:pt x="309" y="314"/>
                  </a:lnTo>
                  <a:lnTo>
                    <a:pt x="307" y="312"/>
                  </a:lnTo>
                  <a:lnTo>
                    <a:pt x="304" y="312"/>
                  </a:lnTo>
                  <a:lnTo>
                    <a:pt x="302" y="309"/>
                  </a:lnTo>
                  <a:lnTo>
                    <a:pt x="302" y="307"/>
                  </a:lnTo>
                  <a:lnTo>
                    <a:pt x="300" y="304"/>
                  </a:lnTo>
                  <a:lnTo>
                    <a:pt x="300" y="297"/>
                  </a:lnTo>
                  <a:lnTo>
                    <a:pt x="300" y="280"/>
                  </a:lnTo>
                  <a:lnTo>
                    <a:pt x="300" y="280"/>
                  </a:lnTo>
                  <a:lnTo>
                    <a:pt x="292" y="278"/>
                  </a:lnTo>
                  <a:lnTo>
                    <a:pt x="285" y="278"/>
                  </a:lnTo>
                  <a:lnTo>
                    <a:pt x="278" y="276"/>
                  </a:lnTo>
                  <a:lnTo>
                    <a:pt x="271" y="273"/>
                  </a:lnTo>
                  <a:lnTo>
                    <a:pt x="264" y="271"/>
                  </a:lnTo>
                  <a:lnTo>
                    <a:pt x="259" y="266"/>
                  </a:lnTo>
                  <a:lnTo>
                    <a:pt x="254" y="264"/>
                  </a:lnTo>
                  <a:lnTo>
                    <a:pt x="249" y="259"/>
                  </a:lnTo>
                  <a:lnTo>
                    <a:pt x="244" y="254"/>
                  </a:lnTo>
                  <a:lnTo>
                    <a:pt x="242" y="249"/>
                  </a:lnTo>
                  <a:lnTo>
                    <a:pt x="237" y="242"/>
                  </a:lnTo>
                  <a:lnTo>
                    <a:pt x="235" y="237"/>
                  </a:lnTo>
                  <a:lnTo>
                    <a:pt x="235" y="232"/>
                  </a:lnTo>
                  <a:lnTo>
                    <a:pt x="232" y="228"/>
                  </a:lnTo>
                  <a:lnTo>
                    <a:pt x="232" y="223"/>
                  </a:lnTo>
                  <a:lnTo>
                    <a:pt x="230" y="218"/>
                  </a:lnTo>
                  <a:lnTo>
                    <a:pt x="230" y="218"/>
                  </a:lnTo>
                  <a:lnTo>
                    <a:pt x="232" y="211"/>
                  </a:lnTo>
                  <a:lnTo>
                    <a:pt x="232" y="206"/>
                  </a:lnTo>
                  <a:lnTo>
                    <a:pt x="235" y="201"/>
                  </a:lnTo>
                  <a:lnTo>
                    <a:pt x="237" y="196"/>
                  </a:lnTo>
                  <a:lnTo>
                    <a:pt x="240" y="194"/>
                  </a:lnTo>
                  <a:lnTo>
                    <a:pt x="244" y="189"/>
                  </a:lnTo>
                  <a:lnTo>
                    <a:pt x="249" y="189"/>
                  </a:lnTo>
                  <a:lnTo>
                    <a:pt x="252" y="187"/>
                  </a:lnTo>
                  <a:lnTo>
                    <a:pt x="252" y="187"/>
                  </a:lnTo>
                  <a:lnTo>
                    <a:pt x="256" y="189"/>
                  </a:lnTo>
                  <a:lnTo>
                    <a:pt x="259" y="189"/>
                  </a:lnTo>
                  <a:lnTo>
                    <a:pt x="261" y="192"/>
                  </a:lnTo>
                  <a:lnTo>
                    <a:pt x="264" y="194"/>
                  </a:lnTo>
                  <a:lnTo>
                    <a:pt x="268" y="199"/>
                  </a:lnTo>
                  <a:lnTo>
                    <a:pt x="273" y="206"/>
                  </a:lnTo>
                  <a:lnTo>
                    <a:pt x="278" y="213"/>
                  </a:lnTo>
                  <a:lnTo>
                    <a:pt x="285" y="223"/>
                  </a:lnTo>
                  <a:lnTo>
                    <a:pt x="288" y="225"/>
                  </a:lnTo>
                  <a:lnTo>
                    <a:pt x="292" y="228"/>
                  </a:lnTo>
                  <a:lnTo>
                    <a:pt x="295" y="230"/>
                  </a:lnTo>
                  <a:lnTo>
                    <a:pt x="300" y="232"/>
                  </a:lnTo>
                  <a:lnTo>
                    <a:pt x="300" y="175"/>
                  </a:lnTo>
                  <a:close/>
                  <a:moveTo>
                    <a:pt x="300" y="67"/>
                  </a:moveTo>
                  <a:lnTo>
                    <a:pt x="300" y="67"/>
                  </a:lnTo>
                  <a:lnTo>
                    <a:pt x="295" y="67"/>
                  </a:lnTo>
                  <a:lnTo>
                    <a:pt x="292" y="69"/>
                  </a:lnTo>
                  <a:lnTo>
                    <a:pt x="288" y="72"/>
                  </a:lnTo>
                  <a:lnTo>
                    <a:pt x="285" y="72"/>
                  </a:lnTo>
                  <a:lnTo>
                    <a:pt x="283" y="76"/>
                  </a:lnTo>
                  <a:lnTo>
                    <a:pt x="280" y="79"/>
                  </a:lnTo>
                  <a:lnTo>
                    <a:pt x="278" y="84"/>
                  </a:lnTo>
                  <a:lnTo>
                    <a:pt x="278" y="88"/>
                  </a:lnTo>
                  <a:lnTo>
                    <a:pt x="278" y="88"/>
                  </a:lnTo>
                  <a:lnTo>
                    <a:pt x="278" y="93"/>
                  </a:lnTo>
                  <a:lnTo>
                    <a:pt x="280" y="98"/>
                  </a:lnTo>
                  <a:lnTo>
                    <a:pt x="283" y="100"/>
                  </a:lnTo>
                  <a:lnTo>
                    <a:pt x="285" y="105"/>
                  </a:lnTo>
                  <a:lnTo>
                    <a:pt x="288" y="108"/>
                  </a:lnTo>
                  <a:lnTo>
                    <a:pt x="292" y="110"/>
                  </a:lnTo>
                  <a:lnTo>
                    <a:pt x="295" y="112"/>
                  </a:lnTo>
                  <a:lnTo>
                    <a:pt x="300" y="112"/>
                  </a:lnTo>
                  <a:lnTo>
                    <a:pt x="300" y="67"/>
                  </a:lnTo>
                  <a:close/>
                  <a:moveTo>
                    <a:pt x="319" y="232"/>
                  </a:moveTo>
                  <a:lnTo>
                    <a:pt x="319" y="232"/>
                  </a:lnTo>
                  <a:lnTo>
                    <a:pt x="324" y="232"/>
                  </a:lnTo>
                  <a:lnTo>
                    <a:pt x="328" y="230"/>
                  </a:lnTo>
                  <a:lnTo>
                    <a:pt x="331" y="228"/>
                  </a:lnTo>
                  <a:lnTo>
                    <a:pt x="336" y="225"/>
                  </a:lnTo>
                  <a:lnTo>
                    <a:pt x="338" y="223"/>
                  </a:lnTo>
                  <a:lnTo>
                    <a:pt x="340" y="220"/>
                  </a:lnTo>
                  <a:lnTo>
                    <a:pt x="340" y="213"/>
                  </a:lnTo>
                  <a:lnTo>
                    <a:pt x="340" y="208"/>
                  </a:lnTo>
                  <a:lnTo>
                    <a:pt x="340" y="208"/>
                  </a:lnTo>
                  <a:lnTo>
                    <a:pt x="340" y="204"/>
                  </a:lnTo>
                  <a:lnTo>
                    <a:pt x="338" y="199"/>
                  </a:lnTo>
                  <a:lnTo>
                    <a:pt x="336" y="194"/>
                  </a:lnTo>
                  <a:lnTo>
                    <a:pt x="336" y="192"/>
                  </a:lnTo>
                  <a:lnTo>
                    <a:pt x="331" y="189"/>
                  </a:lnTo>
                  <a:lnTo>
                    <a:pt x="328" y="187"/>
                  </a:lnTo>
                  <a:lnTo>
                    <a:pt x="324" y="184"/>
                  </a:lnTo>
                  <a:lnTo>
                    <a:pt x="319" y="182"/>
                  </a:lnTo>
                  <a:lnTo>
                    <a:pt x="319" y="2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2804" name="table 2804"/>
          <p:cNvGraphicFramePr>
            <a:graphicFrameLocks noGrp="1"/>
          </p:cNvGraphicFramePr>
          <p:nvPr/>
        </p:nvGraphicFramePr>
        <p:xfrm>
          <a:off x="5821679" y="3351276"/>
          <a:ext cx="4649469" cy="1505585"/>
        </p:xfrm>
        <a:graphic>
          <a:graphicData uri="http://schemas.openxmlformats.org/drawingml/2006/table">
            <a:tbl>
              <a:tblPr/>
              <a:tblGrid>
                <a:gridCol w="4649469"/>
              </a:tblGrid>
              <a:tr h="15024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C</a:t>
                      </a:r>
                      <a:r>
                        <a:rPr sz="1000" b="1" kern="0" spc="1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实时偏差</a:t>
                      </a:r>
                      <a:r>
                        <a:rPr sz="6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=Σ</a:t>
                      </a:r>
                      <a:r>
                        <a:rPr sz="2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[(</a:t>
                      </a: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Q</a:t>
                      </a:r>
                      <a:r>
                        <a:rPr sz="1000" b="1" kern="0" spc="1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</a:t>
                      </a:r>
                      <a:r>
                        <a:rPr sz="1000" b="1" kern="0" spc="1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,</a:t>
                      </a:r>
                      <a:r>
                        <a:rPr sz="1000" b="1" kern="0" spc="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tt</a:t>
                      </a:r>
                      <a:r>
                        <a:rPr sz="6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 </a:t>
                      </a:r>
                      <a:r>
                        <a:rPr sz="2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400" b="1" kern="0" spc="3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Q</a:t>
                      </a:r>
                      <a:r>
                        <a:rPr sz="1000" b="1" kern="0" spc="1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省外</a:t>
                      </a:r>
                      <a:r>
                        <a:rPr sz="1000" b="1" kern="0" spc="1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,</a:t>
                      </a:r>
                      <a:r>
                        <a:rPr sz="1000" b="1" kern="0" spc="1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t</a:t>
                      </a:r>
                      <a:r>
                        <a:rPr sz="6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Q</a:t>
                      </a:r>
                      <a:r>
                        <a:rPr sz="1000" b="1" kern="0" spc="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</a:t>
                      </a:r>
                      <a:r>
                        <a:rPr sz="1000" b="1" kern="0" spc="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,</a:t>
                      </a:r>
                      <a:r>
                        <a:rPr sz="1000" b="1" kern="0" spc="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t</a:t>
                      </a:r>
                      <a:r>
                        <a:rPr sz="6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)  </a:t>
                      </a:r>
                      <a:r>
                        <a:rPr sz="1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×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P</a:t>
                      </a:r>
                      <a:r>
                        <a:rPr sz="1000" b="1" kern="0" spc="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</a:t>
                      </a:r>
                      <a:r>
                        <a:rPr sz="1000" b="1" kern="0" spc="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,</a:t>
                      </a:r>
                      <a:r>
                        <a:rPr sz="1000" b="1" kern="0" spc="0" baseline="-2083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t</a:t>
                      </a:r>
                      <a:r>
                        <a:rPr sz="6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/>
                          <a:ea typeface="Palatino Linotype"/>
                          <a:cs typeface="Palatino Linotype"/>
                        </a:rPr>
                        <a:t>  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nstantia"/>
                          <a:ea typeface="Constantia"/>
                          <a:cs typeface="Constantia"/>
                        </a:rPr>
                        <a:t>]</a:t>
                      </a:r>
                      <a:endParaRPr sz="2400" dirty="0">
                        <a:latin typeface="Constantia"/>
                        <a:ea typeface="Constantia"/>
                        <a:cs typeface="Constantia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06" name="textbox 2806"/>
          <p:cNvSpPr/>
          <p:nvPr/>
        </p:nvSpPr>
        <p:spPr>
          <a:xfrm>
            <a:off x="669036" y="3142488"/>
            <a:ext cx="4151629" cy="297179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400" b="1" kern="0" spc="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合约电量与日前中标电量的偏差用日前价格结算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08" name="textbox 2808"/>
          <p:cNvSpPr/>
          <p:nvPr/>
        </p:nvSpPr>
        <p:spPr>
          <a:xfrm>
            <a:off x="527553" y="1112586"/>
            <a:ext cx="2719070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用电侧批发市场结算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10" name="textbox 2810"/>
          <p:cNvSpPr/>
          <p:nvPr/>
        </p:nvSpPr>
        <p:spPr>
          <a:xfrm>
            <a:off x="6298296" y="3220369"/>
            <a:ext cx="412242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333F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实际上网电量与日前中标电量的偏差用实时价格结算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12" name="picture 28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07058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textbox 2814"/>
          <p:cNvSpPr/>
          <p:nvPr/>
        </p:nvSpPr>
        <p:spPr>
          <a:xfrm>
            <a:off x="500635" y="3853568"/>
            <a:ext cx="9464040" cy="1271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4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用户侧容量补偿费用=容量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补偿电价×全网所有市场化用户月度用电量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4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机组月度可用容量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= </a:t>
            </a:r>
            <a:r>
              <a:rPr sz="1400" b="1" strike="sngStrike" kern="0" spc="-1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                                                                                                                       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（若为负数或 0</a:t>
            </a:r>
            <a:r>
              <a:rPr sz="1400" b="1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，均按 0处理）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16" name="textbox 2816"/>
          <p:cNvSpPr/>
          <p:nvPr/>
        </p:nvSpPr>
        <p:spPr>
          <a:xfrm>
            <a:off x="500635" y="5561254"/>
            <a:ext cx="8956040" cy="635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6000"/>
              </a:lnSpc>
              <a:spcBef>
                <a:spcPts val="6"/>
              </a:spcBef>
              <a:tabLst/>
            </a:pPr>
            <a:r>
              <a:rPr sz="2100" b="1" kern="0" spc="50" baseline="1984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300" b="1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50" baseline="1984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执行政府定价部分容量</a:t>
            </a:r>
            <a:r>
              <a:rPr sz="1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50" baseline="19843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=</a:t>
            </a:r>
            <a:r>
              <a:rPr sz="1300" b="1" kern="0" spc="-7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1300" b="1" strike="sngStrike" kern="0" spc="-2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                                                                                                                   </a:t>
            </a:r>
            <a:r>
              <a:rPr sz="2100" b="1" u="sng" kern="0" spc="50" baseline="-2232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</a:t>
            </a:r>
            <a:r>
              <a:rPr sz="2100" b="1" u="sng" kern="0" spc="40" baseline="-2232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市场化用户省内结算电量</a:t>
            </a:r>
            <a:endParaRPr sz="2100" baseline="-22323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773804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800" b="1" kern="0" spc="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Σ</a:t>
            </a:r>
            <a:r>
              <a:rPr sz="800" b="1" kern="0" spc="17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当月具有容量补偿资格的所有机组可调用容量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18" name="textbox 2818"/>
          <p:cNvSpPr/>
          <p:nvPr/>
        </p:nvSpPr>
        <p:spPr>
          <a:xfrm>
            <a:off x="6943150" y="5785979"/>
            <a:ext cx="37592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u="sng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月全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20" name="textbox 2820"/>
          <p:cNvSpPr/>
          <p:nvPr/>
        </p:nvSpPr>
        <p:spPr>
          <a:xfrm>
            <a:off x="6898955" y="5563215"/>
            <a:ext cx="370840" cy="205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400" b="1" u="sng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电量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22" name="textbox 2822"/>
          <p:cNvSpPr/>
          <p:nvPr/>
        </p:nvSpPr>
        <p:spPr>
          <a:xfrm>
            <a:off x="6768052" y="5784196"/>
            <a:ext cx="194310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u="sng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24" name="textbox 2824"/>
          <p:cNvSpPr/>
          <p:nvPr/>
        </p:nvSpPr>
        <p:spPr>
          <a:xfrm>
            <a:off x="6723856" y="5562324"/>
            <a:ext cx="19431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u="sng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26" name="picture 28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88715" y="5574489"/>
            <a:ext cx="175811" cy="395890"/>
          </a:xfrm>
          <a:prstGeom prst="rect">
            <a:avLst/>
          </a:prstGeom>
        </p:spPr>
      </p:pic>
      <p:sp>
        <p:nvSpPr>
          <p:cNvPr id="2828" name="textbox 2828"/>
          <p:cNvSpPr/>
          <p:nvPr/>
        </p:nvSpPr>
        <p:spPr>
          <a:xfrm>
            <a:off x="6503554" y="5790615"/>
            <a:ext cx="200660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400" b="1" u="sng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30" name="textbox 2830"/>
          <p:cNvSpPr/>
          <p:nvPr/>
        </p:nvSpPr>
        <p:spPr>
          <a:xfrm>
            <a:off x="6410051" y="5561254"/>
            <a:ext cx="201929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u="sng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32" name="textbox 2832"/>
          <p:cNvSpPr/>
          <p:nvPr/>
        </p:nvSpPr>
        <p:spPr>
          <a:xfrm>
            <a:off x="6333270" y="5784196"/>
            <a:ext cx="193039" cy="220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1400" b="1" u="sng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34" name="textbox 2834"/>
          <p:cNvSpPr/>
          <p:nvPr/>
        </p:nvSpPr>
        <p:spPr>
          <a:xfrm>
            <a:off x="6231564" y="5563928"/>
            <a:ext cx="201929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u="sng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36" name="textbox 2836"/>
          <p:cNvSpPr/>
          <p:nvPr/>
        </p:nvSpPr>
        <p:spPr>
          <a:xfrm>
            <a:off x="2769065" y="5782234"/>
            <a:ext cx="3580765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7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4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当月有容量补偿的所有机组按政府定价结</a:t>
            </a:r>
            <a:r>
              <a:rPr sz="1400" b="1" u="sng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算的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38" name="textbox 2838"/>
          <p:cNvSpPr/>
          <p:nvPr/>
        </p:nvSpPr>
        <p:spPr>
          <a:xfrm>
            <a:off x="2724869" y="5561254"/>
            <a:ext cx="1449705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7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4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机组当月按政府定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40" name="rect 2840"/>
          <p:cNvSpPr/>
          <p:nvPr/>
        </p:nvSpPr>
        <p:spPr>
          <a:xfrm>
            <a:off x="2721864" y="1935479"/>
            <a:ext cx="4811268" cy="352044"/>
          </a:xfrm>
          <a:prstGeom prst="rect">
            <a:avLst/>
          </a:pr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42" name="textbox 2842"/>
          <p:cNvSpPr/>
          <p:nvPr/>
        </p:nvSpPr>
        <p:spPr>
          <a:xfrm>
            <a:off x="767588" y="1941837"/>
            <a:ext cx="9224644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2700" kern="0" spc="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700" kern="0" spc="-54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--</a:t>
            </a:r>
            <a:r>
              <a:rPr sz="2700" kern="0" spc="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2600" b="1" kern="0" spc="0" baseline="-120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容量电费按</a:t>
            </a:r>
            <a:r>
              <a:rPr sz="2600" b="1" strike="sngStrike" kern="0" spc="0" baseline="-120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照每</a:t>
            </a:r>
            <a:r>
              <a:rPr sz="2600" b="1" kern="0" spc="0" baseline="-120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千</a:t>
            </a:r>
            <a:r>
              <a:rPr sz="2600" b="1" strike="sngStrike" kern="0" spc="0" baseline="-120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瓦</a:t>
            </a:r>
            <a:r>
              <a:rPr sz="2600" b="1" strike="sngStrike" kern="0" spc="0" baseline="-120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时0</a:t>
            </a:r>
            <a:r>
              <a:rPr sz="2600" b="1" kern="0" spc="0" baseline="-120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sz="2600" b="1" strike="sngStrike" kern="0" spc="0" baseline="-120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0991元</a:t>
            </a:r>
            <a:r>
              <a:rPr sz="1600" b="1" strike="sngStrike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00" b="1" kern="0" spc="-2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b="1" strike="sngStrike" kern="0" spc="0" baseline="-120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（含税）</a:t>
            </a:r>
            <a:r>
              <a:rPr sz="2600" b="1" kern="0" spc="0" baseline="-120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计算</a:t>
            </a:r>
            <a:r>
              <a:rPr sz="16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6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16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2700" kern="0" spc="-1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--</a:t>
            </a:r>
            <a:r>
              <a:rPr sz="2700" kern="0" spc="-53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endParaRPr sz="2700" dirty="0">
              <a:latin typeface="Arial"/>
              <a:ea typeface="Arial"/>
              <a:cs typeface="Arial"/>
            </a:endParaRPr>
          </a:p>
        </p:txBody>
      </p:sp>
      <p:pic>
        <p:nvPicPr>
          <p:cNvPr id="2844" name="picture 28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76104" y="2045208"/>
            <a:ext cx="2127504" cy="10667"/>
          </a:xfrm>
          <a:prstGeom prst="rect">
            <a:avLst/>
          </a:prstGeom>
        </p:spPr>
      </p:pic>
      <p:pic>
        <p:nvPicPr>
          <p:cNvPr id="2846" name="picture 28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86405" y="2045208"/>
            <a:ext cx="379476" cy="10667"/>
          </a:xfrm>
          <a:prstGeom prst="rect">
            <a:avLst/>
          </a:prstGeom>
        </p:spPr>
      </p:pic>
      <p:pic>
        <p:nvPicPr>
          <p:cNvPr id="2848" name="picture 28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83385" y="2045208"/>
            <a:ext cx="1269491" cy="10667"/>
          </a:xfrm>
          <a:prstGeom prst="rect">
            <a:avLst/>
          </a:prstGeom>
        </p:spPr>
      </p:pic>
      <p:sp>
        <p:nvSpPr>
          <p:cNvPr id="2850" name="textbox 2850"/>
          <p:cNvSpPr/>
          <p:nvPr/>
        </p:nvSpPr>
        <p:spPr>
          <a:xfrm>
            <a:off x="500635" y="2796000"/>
            <a:ext cx="4867275" cy="513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50770" indent="-2338070" algn="l" rtl="0" eaLnBrk="0">
              <a:lnSpc>
                <a:spcPct val="117000"/>
              </a:lnSpc>
              <a:tabLst/>
            </a:pPr>
            <a:r>
              <a:rPr sz="2100" b="1" kern="0" spc="70" baseline="-2728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300" b="1" kern="0" spc="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baseline="-2728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电容量补偿费用</a:t>
            </a:r>
            <a:r>
              <a:rPr sz="1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baseline="-27284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=</a:t>
            </a:r>
            <a:r>
              <a:rPr sz="1300" b="1" kern="0" spc="7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2100" b="1" kern="0" spc="70" baseline="1240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</a:t>
            </a:r>
            <a:r>
              <a:rPr sz="2100" b="1" kern="0" spc="60" baseline="1240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月度</a:t>
            </a:r>
            <a:r>
              <a:rPr sz="1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2100" b="1" kern="0" spc="60" baseline="1240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用容量</a:t>
            </a:r>
            <a:r>
              <a:rPr sz="1500" b="1" kern="0" spc="60" baseline="17362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×</a:t>
            </a:r>
            <a:r>
              <a:rPr sz="2100" b="1" kern="0" spc="60" baseline="1240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用户侧容量补偿费用</a:t>
            </a:r>
            <a:r>
              <a:rPr sz="1500" b="1" kern="0" spc="100" baseline="3472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Σ</a:t>
            </a:r>
            <a:r>
              <a:rPr sz="900" b="1" kern="0" spc="-13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1200" b="1" kern="0" spc="100" baseline="-6511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i=1</a:t>
            </a:r>
            <a:r>
              <a:rPr sz="700" b="1" kern="0" spc="-7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1500" b="1" kern="0" spc="100" baseline="3472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(</a:t>
            </a:r>
            <a:r>
              <a:rPr sz="2100" b="1" kern="0" spc="100" baseline="24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机组月度可用容量</a:t>
            </a:r>
            <a:r>
              <a:rPr sz="1500" b="1" kern="0" spc="100" baseline="3472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)</a:t>
            </a:r>
            <a:endParaRPr sz="1500" baseline="3472" dirty="0">
              <a:latin typeface="Constantia"/>
              <a:ea typeface="Constantia"/>
              <a:cs typeface="Constantia"/>
            </a:endParaRPr>
          </a:p>
        </p:txBody>
      </p:sp>
      <p:sp>
        <p:nvSpPr>
          <p:cNvPr id="2852" name="textbox 2852"/>
          <p:cNvSpPr/>
          <p:nvPr/>
        </p:nvSpPr>
        <p:spPr>
          <a:xfrm>
            <a:off x="3012411" y="2993573"/>
            <a:ext cx="97789" cy="132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800" b="1" strike="sngStrike" kern="0" spc="4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n</a:t>
            </a:r>
            <a:endParaRPr sz="800" dirty="0">
              <a:latin typeface="Constantia"/>
              <a:ea typeface="Constantia"/>
              <a:cs typeface="Constantia"/>
            </a:endParaRPr>
          </a:p>
        </p:txBody>
      </p:sp>
      <p:sp>
        <p:nvSpPr>
          <p:cNvPr id="2854" name="textbox 2854"/>
          <p:cNvSpPr/>
          <p:nvPr/>
        </p:nvSpPr>
        <p:spPr>
          <a:xfrm>
            <a:off x="2937660" y="2812582"/>
            <a:ext cx="20066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56" name="picture 28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002012" y="2072640"/>
            <a:ext cx="562354" cy="4447032"/>
          </a:xfrm>
          <a:prstGeom prst="rect">
            <a:avLst/>
          </a:prstGeom>
        </p:spPr>
      </p:pic>
      <p:pic>
        <p:nvPicPr>
          <p:cNvPr id="2858" name="picture 28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93191" y="6292595"/>
            <a:ext cx="9579864" cy="252984"/>
          </a:xfrm>
          <a:prstGeom prst="rect">
            <a:avLst/>
          </a:prstGeom>
        </p:spPr>
      </p:pic>
      <p:sp>
        <p:nvSpPr>
          <p:cNvPr id="2860" name="textbox 2860"/>
          <p:cNvSpPr/>
          <p:nvPr/>
        </p:nvSpPr>
        <p:spPr>
          <a:xfrm>
            <a:off x="2421035" y="4759242"/>
            <a:ext cx="5027295" cy="471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（机组额定容量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-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执行政府定价部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分容量）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×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机组月度可用小时数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972945" algn="l" rtl="0" eaLnBrk="0">
              <a:lnSpc>
                <a:spcPct val="87000"/>
              </a:lnSpc>
              <a:spcBef>
                <a:spcPts val="321"/>
              </a:spcBef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当月总小时数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62" name="textbox 2862"/>
          <p:cNvSpPr/>
          <p:nvPr/>
        </p:nvSpPr>
        <p:spPr>
          <a:xfrm>
            <a:off x="523049" y="1050438"/>
            <a:ext cx="3583304" cy="422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发电容量补偿费用（山东）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64" name="picture 28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05549" y="2072640"/>
            <a:ext cx="545782" cy="583882"/>
          </a:xfrm>
          <a:prstGeom prst="rect">
            <a:avLst/>
          </a:prstGeom>
        </p:spPr>
      </p:pic>
      <p:pic>
        <p:nvPicPr>
          <p:cNvPr id="2866" name="picture 28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96595" y="5850445"/>
            <a:ext cx="182880" cy="423862"/>
          </a:xfrm>
          <a:prstGeom prst="rect">
            <a:avLst/>
          </a:prstGeom>
        </p:spPr>
      </p:pic>
      <p:pic>
        <p:nvPicPr>
          <p:cNvPr id="2868" name="picture 286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2870" name="picture 287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95071" y="3663696"/>
            <a:ext cx="12192" cy="1269491"/>
          </a:xfrm>
          <a:prstGeom prst="rect">
            <a:avLst/>
          </a:prstGeom>
        </p:spPr>
      </p:pic>
      <p:pic>
        <p:nvPicPr>
          <p:cNvPr id="2872" name="picture 28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907791" y="2045208"/>
            <a:ext cx="946404" cy="10667"/>
          </a:xfrm>
          <a:prstGeom prst="rect">
            <a:avLst/>
          </a:prstGeom>
        </p:spPr>
      </p:pic>
      <p:pic>
        <p:nvPicPr>
          <p:cNvPr id="2874" name="picture 287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95071" y="5379720"/>
            <a:ext cx="16954" cy="446722"/>
          </a:xfrm>
          <a:prstGeom prst="rect">
            <a:avLst/>
          </a:prstGeom>
        </p:spPr>
      </p:pic>
      <p:pic>
        <p:nvPicPr>
          <p:cNvPr id="2876" name="picture 287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905244" y="2045208"/>
            <a:ext cx="501395" cy="10667"/>
          </a:xfrm>
          <a:prstGeom prst="rect">
            <a:avLst/>
          </a:prstGeom>
        </p:spPr>
      </p:pic>
      <p:pic>
        <p:nvPicPr>
          <p:cNvPr id="2878" name="picture 287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95071" y="2807208"/>
            <a:ext cx="12192" cy="411479"/>
          </a:xfrm>
          <a:prstGeom prst="rect">
            <a:avLst/>
          </a:prstGeom>
        </p:spPr>
      </p:pic>
      <p:pic>
        <p:nvPicPr>
          <p:cNvPr id="2880" name="picture 288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95071" y="4966716"/>
            <a:ext cx="12192" cy="379476"/>
          </a:xfrm>
          <a:prstGeom prst="rect">
            <a:avLst/>
          </a:prstGeom>
        </p:spPr>
      </p:pic>
      <p:pic>
        <p:nvPicPr>
          <p:cNvPr id="2882" name="picture 288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95071" y="3252215"/>
            <a:ext cx="12192" cy="377952"/>
          </a:xfrm>
          <a:prstGeom prst="rect">
            <a:avLst/>
          </a:prstGeom>
        </p:spPr>
      </p:pic>
      <p:pic>
        <p:nvPicPr>
          <p:cNvPr id="2884" name="picture 288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04025" y="5926645"/>
            <a:ext cx="43052" cy="97916"/>
          </a:xfrm>
          <a:prstGeom prst="rect">
            <a:avLst/>
          </a:prstGeom>
        </p:spPr>
      </p:pic>
      <p:pic>
        <p:nvPicPr>
          <p:cNvPr id="2886" name="picture 288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332731" y="2045208"/>
            <a:ext cx="379476" cy="10667"/>
          </a:xfrm>
          <a:prstGeom prst="rect">
            <a:avLst/>
          </a:prstGeom>
        </p:spPr>
      </p:pic>
      <p:pic>
        <p:nvPicPr>
          <p:cNvPr id="2888" name="picture 288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196596" y="2679001"/>
            <a:ext cx="23050" cy="9467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0" name="table 2890"/>
          <p:cNvGraphicFramePr>
            <a:graphicFrameLocks noGrp="1"/>
          </p:cNvGraphicFramePr>
          <p:nvPr/>
        </p:nvGraphicFramePr>
        <p:xfrm>
          <a:off x="165354" y="1858518"/>
          <a:ext cx="10318750" cy="1601470"/>
        </p:xfrm>
        <a:graphic>
          <a:graphicData uri="http://schemas.openxmlformats.org/drawingml/2006/table">
            <a:tbl>
              <a:tblPr/>
              <a:tblGrid>
                <a:gridCol w="520065"/>
                <a:gridCol w="7216140"/>
                <a:gridCol w="2582545"/>
              </a:tblGrid>
              <a:tr h="2901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2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2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2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02806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2825" indent="-186689" algn="l" rtl="0" eaLnBrk="0">
                        <a:lnSpc>
                          <a:spcPct val="12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•</a:t>
                      </a:r>
                      <a:r>
                        <a:rPr sz="1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根据与电网签订的可靠性协议，</a:t>
                      </a:r>
                      <a:r>
                        <a:rPr sz="1900" b="1" kern="0" spc="-4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维持可用发电容量，</a:t>
                      </a:r>
                      <a:r>
                        <a:rPr sz="1900" b="1" kern="0" spc="-4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不足或有余时可去容量市</a:t>
                      </a:r>
                      <a:r>
                        <a:rPr sz="1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</a:t>
                      </a: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场进行交易，</a:t>
                      </a:r>
                      <a:r>
                        <a:rPr sz="1900" b="1" kern="0" spc="-3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补偿固定成本</a:t>
                      </a:r>
                      <a:endParaRPr sz="1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892" name="table 2892"/>
          <p:cNvGraphicFramePr>
            <a:graphicFrameLocks noGrp="1"/>
          </p:cNvGraphicFramePr>
          <p:nvPr/>
        </p:nvGraphicFramePr>
        <p:xfrm>
          <a:off x="165354" y="3838194"/>
          <a:ext cx="10318750" cy="1316354"/>
        </p:xfrm>
        <a:graphic>
          <a:graphicData uri="http://schemas.openxmlformats.org/drawingml/2006/table">
            <a:tbl>
              <a:tblPr/>
              <a:tblGrid>
                <a:gridCol w="10318750"/>
              </a:tblGrid>
              <a:tr h="13068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1555" indent="-185420" algn="l" rtl="0" eaLnBrk="0">
                        <a:lnSpc>
                          <a:spcPct val="126000"/>
                        </a:lnSpc>
                        <a:tabLst/>
                      </a:pPr>
                      <a:r>
                        <a:rPr sz="1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•</a:t>
                      </a:r>
                      <a:r>
                        <a:rPr sz="1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通过基数电量合约和强制用电侧交易的市场化电量合约，</a:t>
                      </a:r>
                      <a:r>
                        <a:rPr sz="1900" b="1" kern="0" spc="-4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使机</a:t>
                      </a: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组获得明显高于</a:t>
                      </a:r>
                      <a:r>
                        <a:rPr sz="1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</a:t>
                      </a:r>
                      <a:r>
                        <a:rPr sz="1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现货市场价格的电费，</a:t>
                      </a:r>
                      <a:r>
                        <a:rPr sz="1900" b="1" kern="0" spc="-4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补偿固定</a:t>
                      </a: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  <a:endParaRPr sz="1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894" name="table 2894"/>
          <p:cNvGraphicFramePr>
            <a:graphicFrameLocks noGrp="1"/>
          </p:cNvGraphicFramePr>
          <p:nvPr/>
        </p:nvGraphicFramePr>
        <p:xfrm>
          <a:off x="165354" y="5249417"/>
          <a:ext cx="10318750" cy="1221740"/>
        </p:xfrm>
        <a:graphic>
          <a:graphicData uri="http://schemas.openxmlformats.org/drawingml/2006/table">
            <a:tbl>
              <a:tblPr/>
              <a:tblGrid>
                <a:gridCol w="520065"/>
                <a:gridCol w="7216140"/>
                <a:gridCol w="2582545"/>
              </a:tblGrid>
              <a:tr h="2901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2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2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64706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6135" algn="l" rtl="0" eaLnBrk="0">
                        <a:lnSpc>
                          <a:spcPts val="2465"/>
                        </a:lnSpc>
                        <a:tabLst/>
                      </a:pP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•</a:t>
                      </a:r>
                      <a:r>
                        <a:rPr sz="1900" b="1" kern="0" spc="4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由政府价格部门制定对市场化机组的容量补贴，</a:t>
                      </a:r>
                      <a:r>
                        <a:rPr sz="1900" b="1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</a:t>
                      </a:r>
                      <a:r>
                        <a:rPr sz="1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市场化用户随电费缴纳</a:t>
                      </a:r>
                      <a:endParaRPr sz="1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96" name="group 296"/>
          <p:cNvGrpSpPr/>
          <p:nvPr/>
        </p:nvGrpSpPr>
        <p:grpSpPr>
          <a:xfrm rot="21600000">
            <a:off x="680466" y="3558540"/>
            <a:ext cx="7226807" cy="575309"/>
            <a:chOff x="0" y="0"/>
            <a:chExt cx="7226807" cy="575309"/>
          </a:xfrm>
        </p:grpSpPr>
        <p:sp>
          <p:nvSpPr>
            <p:cNvPr id="2896" name="path 2896"/>
            <p:cNvSpPr/>
            <p:nvPr/>
          </p:nvSpPr>
          <p:spPr>
            <a:xfrm>
              <a:off x="5333" y="0"/>
              <a:ext cx="7216139" cy="569976"/>
            </a:xfrm>
            <a:custGeom>
              <a:avLst/>
              <a:gdLst/>
              <a:ahLst/>
              <a:cxnLst/>
              <a:rect l="0" t="0" r="0" b="0"/>
              <a:pathLst>
                <a:path w="11363" h="897">
                  <a:moveTo>
                    <a:pt x="0" y="151"/>
                  </a:moveTo>
                  <a:moveTo>
                    <a:pt x="0" y="151"/>
                  </a:moveTo>
                  <a:cubicBezTo>
                    <a:pt x="0" y="67"/>
                    <a:pt x="67" y="0"/>
                    <a:pt x="151" y="0"/>
                  </a:cubicBezTo>
                  <a:lnTo>
                    <a:pt x="11215" y="0"/>
                  </a:lnTo>
                  <a:cubicBezTo>
                    <a:pt x="11296" y="0"/>
                    <a:pt x="11363" y="67"/>
                    <a:pt x="11363" y="151"/>
                  </a:cubicBezTo>
                  <a:lnTo>
                    <a:pt x="11363" y="748"/>
                  </a:lnTo>
                  <a:cubicBezTo>
                    <a:pt x="11363" y="830"/>
                    <a:pt x="11296" y="897"/>
                    <a:pt x="11215" y="897"/>
                  </a:cubicBezTo>
                  <a:lnTo>
                    <a:pt x="151" y="897"/>
                  </a:lnTo>
                  <a:cubicBezTo>
                    <a:pt x="67" y="897"/>
                    <a:pt x="0" y="830"/>
                    <a:pt x="0" y="748"/>
                  </a:cubicBezTo>
                  <a:lnTo>
                    <a:pt x="0" y="151"/>
                  </a:lnTo>
                  <a:close/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98" name="path 2898"/>
            <p:cNvSpPr/>
            <p:nvPr/>
          </p:nvSpPr>
          <p:spPr>
            <a:xfrm>
              <a:off x="0" y="96011"/>
              <a:ext cx="7226807" cy="479297"/>
            </a:xfrm>
            <a:custGeom>
              <a:avLst/>
              <a:gdLst/>
              <a:ahLst/>
              <a:cxnLst/>
              <a:rect l="0" t="0" r="0" b="0"/>
              <a:pathLst>
                <a:path w="11380" h="754">
                  <a:moveTo>
                    <a:pt x="11372" y="0"/>
                  </a:moveTo>
                  <a:lnTo>
                    <a:pt x="11372" y="597"/>
                  </a:lnTo>
                  <a:cubicBezTo>
                    <a:pt x="11372" y="679"/>
                    <a:pt x="11305" y="746"/>
                    <a:pt x="11223" y="746"/>
                  </a:cubicBezTo>
                  <a:lnTo>
                    <a:pt x="159" y="746"/>
                  </a:lnTo>
                  <a:cubicBezTo>
                    <a:pt x="75" y="746"/>
                    <a:pt x="8" y="679"/>
                    <a:pt x="8" y="597"/>
                  </a:cubicBezTo>
                  <a:lnTo>
                    <a:pt x="8" y="0"/>
                  </a:ln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900" name="path 2900"/>
          <p:cNvSpPr/>
          <p:nvPr/>
        </p:nvSpPr>
        <p:spPr>
          <a:xfrm>
            <a:off x="680466" y="3553205"/>
            <a:ext cx="7226807" cy="106680"/>
          </a:xfrm>
          <a:custGeom>
            <a:avLst/>
            <a:gdLst/>
            <a:ahLst/>
            <a:cxnLst/>
            <a:rect l="0" t="0" r="0" b="0"/>
            <a:pathLst>
              <a:path w="11380" h="168">
                <a:moveTo>
                  <a:pt x="8" y="159"/>
                </a:moveTo>
                <a:cubicBezTo>
                  <a:pt x="8" y="75"/>
                  <a:pt x="75" y="8"/>
                  <a:pt x="159" y="8"/>
                </a:cubicBezTo>
                <a:lnTo>
                  <a:pt x="11223" y="8"/>
                </a:lnTo>
                <a:cubicBezTo>
                  <a:pt x="11305" y="8"/>
                  <a:pt x="11372" y="75"/>
                  <a:pt x="11372" y="159"/>
                </a:cubicBezTo>
              </a:path>
            </a:pathLst>
          </a:custGeom>
          <a:noFill/>
          <a:ln w="10668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02" name="textbox 2902"/>
          <p:cNvSpPr/>
          <p:nvPr/>
        </p:nvSpPr>
        <p:spPr>
          <a:xfrm>
            <a:off x="523950" y="1112551"/>
            <a:ext cx="1822450" cy="334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容量补偿机制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04" name="textbox 2904"/>
          <p:cNvSpPr/>
          <p:nvPr/>
        </p:nvSpPr>
        <p:spPr>
          <a:xfrm>
            <a:off x="980260" y="3702942"/>
            <a:ext cx="1492250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9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政府授权合约</a:t>
            </a:r>
            <a:endParaRPr sz="1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06" name="textbox 2906"/>
          <p:cNvSpPr/>
          <p:nvPr/>
        </p:nvSpPr>
        <p:spPr>
          <a:xfrm>
            <a:off x="980751" y="2007217"/>
            <a:ext cx="1001394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9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容量市场</a:t>
            </a:r>
            <a:endParaRPr sz="1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08" name="textbox 2908"/>
          <p:cNvSpPr/>
          <p:nvPr/>
        </p:nvSpPr>
        <p:spPr>
          <a:xfrm>
            <a:off x="980751" y="5399650"/>
            <a:ext cx="1001394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9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容量补贴</a:t>
            </a:r>
            <a:endParaRPr sz="1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910" name="picture 29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2" name="textbox 2912"/>
          <p:cNvSpPr/>
          <p:nvPr/>
        </p:nvSpPr>
        <p:spPr>
          <a:xfrm>
            <a:off x="880300" y="3175277"/>
            <a:ext cx="3000375" cy="1357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18210" algn="l" rtl="0" eaLnBrk="0">
              <a:lnSpc>
                <a:spcPct val="83000"/>
              </a:lnSpc>
              <a:tabLst/>
            </a:pP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</a:t>
            </a:r>
            <a:r>
              <a:rPr sz="4200" b="1" kern="0" spc="8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 sz="4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1"/>
              </a:spcBef>
              <a:tabLst/>
            </a:pPr>
            <a:r>
              <a:rPr sz="4200" b="1" kern="0" spc="-2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 sz="4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98" name="group 298"/>
          <p:cNvGrpSpPr/>
          <p:nvPr/>
        </p:nvGrpSpPr>
        <p:grpSpPr>
          <a:xfrm rot="21600000">
            <a:off x="4762500" y="900683"/>
            <a:ext cx="4724400" cy="559308"/>
            <a:chOff x="0" y="0"/>
            <a:chExt cx="4724400" cy="559308"/>
          </a:xfrm>
        </p:grpSpPr>
        <p:pic>
          <p:nvPicPr>
            <p:cNvPr id="2914" name="picture 29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2916" name="textbox 2916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9254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307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集中式现货市场的典型设计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918" name="path 2918"/>
            <p:cNvSpPr/>
            <p:nvPr/>
          </p:nvSpPr>
          <p:spPr>
            <a:xfrm>
              <a:off x="897775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9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00" name="group 300"/>
          <p:cNvGrpSpPr/>
          <p:nvPr/>
        </p:nvGrpSpPr>
        <p:grpSpPr>
          <a:xfrm rot="21600000">
            <a:off x="4762500" y="3128771"/>
            <a:ext cx="4724400" cy="559308"/>
            <a:chOff x="0" y="0"/>
            <a:chExt cx="4724400" cy="559308"/>
          </a:xfrm>
        </p:grpSpPr>
        <p:pic>
          <p:nvPicPr>
            <p:cNvPr id="2920" name="picture 29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2922" name="textbox 2922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68934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40" baseline="3586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发电企业现货市场交易策略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924" name="path 2924"/>
            <p:cNvSpPr/>
            <p:nvPr/>
          </p:nvSpPr>
          <p:spPr>
            <a:xfrm>
              <a:off x="878776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6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02" name="group 302"/>
          <p:cNvGrpSpPr/>
          <p:nvPr/>
        </p:nvGrpSpPr>
        <p:grpSpPr>
          <a:xfrm rot="21600000">
            <a:off x="4762500" y="1642871"/>
            <a:ext cx="4724400" cy="559308"/>
            <a:chOff x="0" y="0"/>
            <a:chExt cx="4724400" cy="559308"/>
          </a:xfrm>
        </p:grpSpPr>
        <p:pic>
          <p:nvPicPr>
            <p:cNvPr id="2926" name="picture 29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2928" name="textbox 2928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8459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典型省份电力现货市场设计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930" name="path 2930"/>
            <p:cNvSpPr/>
            <p:nvPr/>
          </p:nvSpPr>
          <p:spPr>
            <a:xfrm>
              <a:off x="887107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04" name="group 304"/>
          <p:cNvGrpSpPr/>
          <p:nvPr/>
        </p:nvGrpSpPr>
        <p:grpSpPr>
          <a:xfrm rot="21600000">
            <a:off x="4762500" y="3870959"/>
            <a:ext cx="4724400" cy="559308"/>
            <a:chOff x="0" y="0"/>
            <a:chExt cx="4724400" cy="559308"/>
          </a:xfrm>
        </p:grpSpPr>
        <p:pic>
          <p:nvPicPr>
            <p:cNvPr id="2932" name="picture 293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2934" name="textbox 2934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671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4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售电公司现货市场交易策略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936" name="path 2936"/>
            <p:cNvSpPr/>
            <p:nvPr/>
          </p:nvSpPr>
          <p:spPr>
            <a:xfrm>
              <a:off x="895641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06" name="group 306"/>
          <p:cNvGrpSpPr/>
          <p:nvPr/>
        </p:nvGrpSpPr>
        <p:grpSpPr>
          <a:xfrm rot="21600000">
            <a:off x="4762500" y="6099047"/>
            <a:ext cx="4724400" cy="559307"/>
            <a:chOff x="0" y="0"/>
            <a:chExt cx="4724400" cy="559307"/>
          </a:xfrm>
        </p:grpSpPr>
        <p:pic>
          <p:nvPicPr>
            <p:cNvPr id="2938" name="picture 293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2940" name="textbox 2940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592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40" baseline="3345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量化交易在电力现货的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实践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942" name="path 2942"/>
            <p:cNvSpPr/>
            <p:nvPr/>
          </p:nvSpPr>
          <p:spPr>
            <a:xfrm>
              <a:off x="885710" y="192023"/>
              <a:ext cx="185928" cy="175260"/>
            </a:xfrm>
            <a:custGeom>
              <a:avLst/>
              <a:gdLst/>
              <a:ahLst/>
              <a:cxnLst/>
              <a:rect l="0" t="0" r="0" b="0"/>
              <a:pathLst>
                <a:path w="292" h="276">
                  <a:moveTo>
                    <a:pt x="0" y="0"/>
                  </a:moveTo>
                  <a:lnTo>
                    <a:pt x="292" y="139"/>
                  </a:lnTo>
                  <a:lnTo>
                    <a:pt x="0" y="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08" name="group 308"/>
          <p:cNvGrpSpPr/>
          <p:nvPr/>
        </p:nvGrpSpPr>
        <p:grpSpPr>
          <a:xfrm rot="21600000">
            <a:off x="4762500" y="5356860"/>
            <a:ext cx="4724400" cy="559307"/>
            <a:chOff x="0" y="0"/>
            <a:chExt cx="4724400" cy="559307"/>
          </a:xfrm>
        </p:grpSpPr>
        <p:pic>
          <p:nvPicPr>
            <p:cNvPr id="2944" name="picture 294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2946" name="textbox 2946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719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20" baseline="450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试结算案例分析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948" name="path 2948"/>
            <p:cNvSpPr/>
            <p:nvPr/>
          </p:nvSpPr>
          <p:spPr>
            <a:xfrm>
              <a:off x="884504" y="192023"/>
              <a:ext cx="185928" cy="173736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10" name="group 310"/>
          <p:cNvGrpSpPr/>
          <p:nvPr/>
        </p:nvGrpSpPr>
        <p:grpSpPr>
          <a:xfrm rot="21600000">
            <a:off x="4762500" y="4614671"/>
            <a:ext cx="4724400" cy="557783"/>
            <a:chOff x="0" y="0"/>
            <a:chExt cx="4724400" cy="557783"/>
          </a:xfrm>
        </p:grpSpPr>
        <p:pic>
          <p:nvPicPr>
            <p:cNvPr id="2950" name="picture 295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2952" name="textbox 2952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7909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20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中长期合约交易策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954" name="path 2954"/>
            <p:cNvSpPr/>
            <p:nvPr/>
          </p:nvSpPr>
          <p:spPr>
            <a:xfrm>
              <a:off x="881290" y="192024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12" name="group 312"/>
          <p:cNvGrpSpPr/>
          <p:nvPr/>
        </p:nvGrpSpPr>
        <p:grpSpPr>
          <a:xfrm rot="21600000">
            <a:off x="4762500" y="2386584"/>
            <a:ext cx="4724400" cy="557783"/>
            <a:chOff x="0" y="0"/>
            <a:chExt cx="4724400" cy="557783"/>
          </a:xfrm>
        </p:grpSpPr>
        <p:pic>
          <p:nvPicPr>
            <p:cNvPr id="2956" name="picture 295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2958" name="textbox 2958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84809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2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  <a:r>
                <a:rPr sz="20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电力市场的经济学原理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960" name="path 2960"/>
            <p:cNvSpPr/>
            <p:nvPr/>
          </p:nvSpPr>
          <p:spPr>
            <a:xfrm>
              <a:off x="892505" y="192023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962" name="path 2962"/>
          <p:cNvSpPr/>
          <p:nvPr/>
        </p:nvSpPr>
        <p:spPr>
          <a:xfrm>
            <a:off x="4271771" y="835152"/>
            <a:ext cx="6096" cy="5890259"/>
          </a:xfrm>
          <a:custGeom>
            <a:avLst/>
            <a:gdLst/>
            <a:ahLst/>
            <a:cxnLst/>
            <a:rect l="0" t="0" r="0" b="0"/>
            <a:pathLst>
              <a:path w="9" h="9275">
                <a:moveTo>
                  <a:pt x="4" y="0"/>
                </a:moveTo>
                <a:lnTo>
                  <a:pt x="4" y="9275"/>
                </a:ln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path 2964"/>
          <p:cNvSpPr/>
          <p:nvPr/>
        </p:nvSpPr>
        <p:spPr>
          <a:xfrm>
            <a:off x="4405121" y="2449067"/>
            <a:ext cx="16764" cy="3118103"/>
          </a:xfrm>
          <a:custGeom>
            <a:avLst/>
            <a:gdLst/>
            <a:ahLst/>
            <a:cxnLst/>
            <a:rect l="0" t="0" r="0" b="0"/>
            <a:pathLst>
              <a:path w="26" h="4910">
                <a:moveTo>
                  <a:pt x="13" y="0"/>
                </a:moveTo>
                <a:lnTo>
                  <a:pt x="13" y="4910"/>
                </a:lnTo>
              </a:path>
            </a:pathLst>
          </a:custGeom>
          <a:noFill/>
          <a:ln w="16763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66" name="picture 29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13503" y="2802635"/>
            <a:ext cx="5919216" cy="2680715"/>
          </a:xfrm>
          <a:prstGeom prst="rect">
            <a:avLst/>
          </a:prstGeom>
        </p:spPr>
      </p:pic>
      <p:graphicFrame>
        <p:nvGraphicFramePr>
          <p:cNvPr id="2968" name="table 2968"/>
          <p:cNvGraphicFramePr>
            <a:graphicFrameLocks noGrp="1"/>
          </p:cNvGraphicFramePr>
          <p:nvPr/>
        </p:nvGraphicFramePr>
        <p:xfrm>
          <a:off x="312420" y="2398776"/>
          <a:ext cx="3160395" cy="3785234"/>
        </p:xfrm>
        <a:graphic>
          <a:graphicData uri="http://schemas.openxmlformats.org/drawingml/2006/table">
            <a:tbl>
              <a:tblPr/>
              <a:tblGrid>
                <a:gridCol w="3160395"/>
              </a:tblGrid>
              <a:tr h="37534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750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市场均衡就是供需双方在不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53695" indent="13970" algn="l" rtl="0" eaLnBrk="0">
                        <a:lnSpc>
                          <a:spcPct val="161000"/>
                        </a:lnSpc>
                        <a:spcBef>
                          <a:spcPts val="56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同价格信号下，不断调整</a:t>
                      </a: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</a:t>
                      </a: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</a:t>
                      </a:r>
                      <a:r>
                        <a:rPr sz="15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己的生产或消费行为，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</a:t>
                      </a:r>
                      <a:r>
                        <a:rPr sz="15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的生产量与消费量大致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相等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的均衡状态，</a:t>
                      </a:r>
                      <a:r>
                        <a:rPr sz="1500" b="1" kern="0" spc="-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这一状态下</a:t>
                      </a: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价格被称为“</a:t>
                      </a:r>
                      <a:r>
                        <a:rPr sz="1500" b="1" u="sng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uFill>
                            <a:solidFill>
                              <a:srgbClr val="FDA103"/>
                            </a:solidFill>
                          </a:uFill>
                          <a:latin typeface="Microsoft YaHei"/>
                          <a:ea typeface="Microsoft YaHei"/>
                          <a:cs typeface="Microsoft YaHei"/>
                        </a:rPr>
                        <a:t>均衡价格</a:t>
                      </a: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”。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70" name="textbox 2970"/>
          <p:cNvSpPr/>
          <p:nvPr/>
        </p:nvSpPr>
        <p:spPr>
          <a:xfrm>
            <a:off x="6350498" y="2868752"/>
            <a:ext cx="3702684" cy="2556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消费者剩余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304"/>
              </a:spcBef>
              <a:tabLst/>
            </a:pPr>
            <a:r>
              <a:rPr sz="1000" b="1" kern="0" spc="4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供给曲线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312"/>
              </a:spcBef>
              <a:tabLst/>
            </a:pPr>
            <a:r>
              <a:rPr sz="1000" b="1" kern="0" spc="4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需求曲线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生产者剩余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72" name="textbox 2972"/>
          <p:cNvSpPr/>
          <p:nvPr/>
        </p:nvSpPr>
        <p:spPr>
          <a:xfrm>
            <a:off x="4400803" y="5525517"/>
            <a:ext cx="6040754" cy="523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5637529" algn="l"/>
              </a:tabLst>
            </a:pPr>
            <a:r>
              <a:rPr sz="1000" b="1" strike="sngStrike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数量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7865" algn="l" rtl="0" eaLnBrk="0">
              <a:lnSpc>
                <a:spcPct val="93000"/>
              </a:lnSpc>
              <a:spcBef>
                <a:spcPts val="3"/>
              </a:spcBef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4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生产者的生产成本在均衡价格之下的部分称为“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生产者剩余”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74" name="textbox 2974"/>
          <p:cNvSpPr/>
          <p:nvPr/>
        </p:nvSpPr>
        <p:spPr>
          <a:xfrm>
            <a:off x="523350" y="1088104"/>
            <a:ext cx="4224654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社会福利最大化与市场均衡价格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76" name="textbox 2976"/>
          <p:cNvSpPr/>
          <p:nvPr/>
        </p:nvSpPr>
        <p:spPr>
          <a:xfrm>
            <a:off x="5171738" y="2375298"/>
            <a:ext cx="5163820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4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消费者的支付意愿在均衡价格之上的部分称为“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消费者剩余”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78" name="textbox 2978"/>
          <p:cNvSpPr/>
          <p:nvPr/>
        </p:nvSpPr>
        <p:spPr>
          <a:xfrm>
            <a:off x="3881525" y="2409266"/>
            <a:ext cx="293370" cy="1932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8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价格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311"/>
              </a:spcBef>
              <a:tabLst/>
            </a:pPr>
            <a:r>
              <a:rPr sz="1000" b="1" kern="0" spc="40" dirty="0">
                <a:solidFill>
                  <a:srgbClr val="F29E6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均衡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218"/>
              </a:spcBef>
              <a:tabLst/>
            </a:pPr>
            <a:r>
              <a:rPr sz="1000" b="1" kern="0" spc="40" dirty="0">
                <a:solidFill>
                  <a:srgbClr val="F29E6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价格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980" name="picture 29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78608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2" name="picture 29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3400" y="2028444"/>
            <a:ext cx="4858511" cy="4305299"/>
          </a:xfrm>
          <a:prstGeom prst="rect">
            <a:avLst/>
          </a:prstGeom>
        </p:spPr>
      </p:pic>
      <p:sp>
        <p:nvSpPr>
          <p:cNvPr id="2984" name="textbox 2984"/>
          <p:cNvSpPr/>
          <p:nvPr/>
        </p:nvSpPr>
        <p:spPr>
          <a:xfrm>
            <a:off x="6728000" y="5187007"/>
            <a:ext cx="2870835" cy="781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当边际收益高于边际成本时</a:t>
            </a:r>
            <a:r>
              <a:rPr sz="17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4207"/>
              </a:lnSpc>
              <a:tabLst/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扩大产量可以提升利润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86" name="textbox 2986"/>
          <p:cNvSpPr/>
          <p:nvPr/>
        </p:nvSpPr>
        <p:spPr>
          <a:xfrm>
            <a:off x="6729557" y="2654775"/>
            <a:ext cx="2869564" cy="779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5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当边际收益低于边际成本时</a:t>
            </a:r>
            <a:r>
              <a:rPr sz="17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4207"/>
              </a:lnSpc>
              <a:tabLst/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减少产量可以提升利润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988" name="picture 29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829109" y="1878329"/>
            <a:ext cx="4337493" cy="464058"/>
          </a:xfrm>
          <a:prstGeom prst="rect">
            <a:avLst/>
          </a:prstGeom>
        </p:spPr>
      </p:pic>
      <p:sp>
        <p:nvSpPr>
          <p:cNvPr id="2990" name="textbox 2990"/>
          <p:cNvSpPr/>
          <p:nvPr/>
        </p:nvSpPr>
        <p:spPr>
          <a:xfrm>
            <a:off x="523350" y="956147"/>
            <a:ext cx="4224654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6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企业利润最大化对应的最佳产量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992" name="picture 29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824728" y="3466909"/>
            <a:ext cx="4369307" cy="231838"/>
          </a:xfrm>
          <a:prstGeom prst="rect">
            <a:avLst/>
          </a:prstGeom>
        </p:spPr>
      </p:pic>
      <p:pic>
        <p:nvPicPr>
          <p:cNvPr id="2994" name="picture 29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36564" y="4433316"/>
            <a:ext cx="3901440" cy="27431"/>
          </a:xfrm>
          <a:prstGeom prst="rect">
            <a:avLst/>
          </a:prstGeom>
        </p:spPr>
      </p:pic>
      <p:sp>
        <p:nvSpPr>
          <p:cNvPr id="2996" name="rect 2996"/>
          <p:cNvSpPr/>
          <p:nvPr/>
        </p:nvSpPr>
        <p:spPr>
          <a:xfrm>
            <a:off x="7054595" y="4215383"/>
            <a:ext cx="2116835" cy="458723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98" name="picture 29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945123" y="6228588"/>
            <a:ext cx="4203192" cy="161544"/>
          </a:xfrm>
          <a:prstGeom prst="rect">
            <a:avLst/>
          </a:prstGeom>
        </p:spPr>
      </p:pic>
      <p:sp>
        <p:nvSpPr>
          <p:cNvPr id="3000" name="textbox 3000"/>
          <p:cNvSpPr/>
          <p:nvPr/>
        </p:nvSpPr>
        <p:spPr>
          <a:xfrm>
            <a:off x="3930783" y="3421738"/>
            <a:ext cx="1071880" cy="592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5482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边际成本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7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000" b="1" kern="0" spc="40" dirty="0">
                <a:solidFill>
                  <a:srgbClr val="4472C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边际收益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02" name="path 3002"/>
          <p:cNvSpPr/>
          <p:nvPr/>
        </p:nvSpPr>
        <p:spPr>
          <a:xfrm>
            <a:off x="6855714" y="2260854"/>
            <a:ext cx="2127503" cy="86867"/>
          </a:xfrm>
          <a:custGeom>
            <a:avLst/>
            <a:gdLst/>
            <a:ahLst/>
            <a:cxnLst/>
            <a:rect l="0" t="0" r="0" b="0"/>
            <a:pathLst>
              <a:path w="3350" h="136">
                <a:moveTo>
                  <a:pt x="3341" y="8"/>
                </a:moveTo>
                <a:cubicBezTo>
                  <a:pt x="3341" y="73"/>
                  <a:pt x="3286" y="128"/>
                  <a:pt x="3221" y="128"/>
                </a:cubicBezTo>
                <a:lnTo>
                  <a:pt x="128" y="128"/>
                </a:lnTo>
                <a:cubicBezTo>
                  <a:pt x="61" y="128"/>
                  <a:pt x="8" y="73"/>
                  <a:pt x="8" y="8"/>
                </a:cubicBezTo>
              </a:path>
            </a:pathLst>
          </a:custGeom>
          <a:noFill/>
          <a:ln w="10668" cap="flat">
            <a:solidFill>
              <a:srgbClr val="41719C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4" name="textbox 3004"/>
          <p:cNvSpPr/>
          <p:nvPr/>
        </p:nvSpPr>
        <p:spPr>
          <a:xfrm>
            <a:off x="3389345" y="5725337"/>
            <a:ext cx="1111885" cy="16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000" b="1" kern="0" spc="30" dirty="0">
                <a:solidFill>
                  <a:srgbClr val="ED7D3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最佳产量       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数量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06" name="path 3006"/>
          <p:cNvSpPr/>
          <p:nvPr/>
        </p:nvSpPr>
        <p:spPr>
          <a:xfrm>
            <a:off x="7857742" y="4270247"/>
            <a:ext cx="626364" cy="175260"/>
          </a:xfrm>
          <a:custGeom>
            <a:avLst/>
            <a:gdLst/>
            <a:ahLst/>
            <a:cxnLst/>
            <a:rect l="0" t="0" r="0" b="0"/>
            <a:pathLst>
              <a:path w="986" h="276">
                <a:moveTo>
                  <a:pt x="888" y="105"/>
                </a:moveTo>
                <a:lnTo>
                  <a:pt x="986" y="14"/>
                </a:lnTo>
                <a:lnTo>
                  <a:pt x="806" y="0"/>
                </a:lnTo>
                <a:lnTo>
                  <a:pt x="828" y="28"/>
                </a:lnTo>
                <a:lnTo>
                  <a:pt x="0" y="218"/>
                </a:lnTo>
                <a:lnTo>
                  <a:pt x="0" y="276"/>
                </a:lnTo>
                <a:lnTo>
                  <a:pt x="888" y="72"/>
                </a:lnTo>
                <a:lnTo>
                  <a:pt x="888" y="1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8" name="path 3008"/>
          <p:cNvSpPr/>
          <p:nvPr/>
        </p:nvSpPr>
        <p:spPr>
          <a:xfrm>
            <a:off x="7880603" y="4364735"/>
            <a:ext cx="574547" cy="256032"/>
          </a:xfrm>
          <a:custGeom>
            <a:avLst/>
            <a:gdLst/>
            <a:ahLst/>
            <a:cxnLst/>
            <a:rect l="0" t="0" r="0" b="0"/>
            <a:pathLst>
              <a:path w="904" h="403">
                <a:moveTo>
                  <a:pt x="717" y="0"/>
                </a:moveTo>
                <a:lnTo>
                  <a:pt x="904" y="0"/>
                </a:lnTo>
                <a:lnTo>
                  <a:pt x="904" y="400"/>
                </a:lnTo>
                <a:lnTo>
                  <a:pt x="717" y="400"/>
                </a:lnTo>
                <a:lnTo>
                  <a:pt x="717" y="0"/>
                </a:lnTo>
                <a:close/>
                <a:moveTo>
                  <a:pt x="345" y="83"/>
                </a:moveTo>
                <a:lnTo>
                  <a:pt x="532" y="83"/>
                </a:lnTo>
                <a:lnTo>
                  <a:pt x="532" y="400"/>
                </a:lnTo>
                <a:lnTo>
                  <a:pt x="345" y="400"/>
                </a:lnTo>
                <a:lnTo>
                  <a:pt x="345" y="83"/>
                </a:lnTo>
                <a:close/>
                <a:moveTo>
                  <a:pt x="0" y="146"/>
                </a:moveTo>
                <a:lnTo>
                  <a:pt x="184" y="146"/>
                </a:lnTo>
                <a:lnTo>
                  <a:pt x="184" y="403"/>
                </a:lnTo>
                <a:lnTo>
                  <a:pt x="0" y="403"/>
                </a:lnTo>
                <a:lnTo>
                  <a:pt x="0" y="14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10" name="textbox 3010"/>
          <p:cNvSpPr/>
          <p:nvPr/>
        </p:nvSpPr>
        <p:spPr>
          <a:xfrm>
            <a:off x="2662801" y="3587337"/>
            <a:ext cx="776605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边际效益为0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12" name="picture 30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3014" name="textbox 3014"/>
          <p:cNvSpPr/>
          <p:nvPr/>
        </p:nvSpPr>
        <p:spPr>
          <a:xfrm>
            <a:off x="730979" y="2540673"/>
            <a:ext cx="158114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226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格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16" name="picture 30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168128" y="2252471"/>
            <a:ext cx="25907" cy="1211770"/>
          </a:xfrm>
          <a:prstGeom prst="rect">
            <a:avLst/>
          </a:prstGeom>
        </p:spPr>
      </p:pic>
      <p:pic>
        <p:nvPicPr>
          <p:cNvPr id="3018" name="picture 30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824728" y="2298001"/>
            <a:ext cx="15430" cy="1163192"/>
          </a:xfrm>
          <a:prstGeom prst="rect">
            <a:avLst/>
          </a:prstGeom>
        </p:spPr>
      </p:pic>
      <p:pic>
        <p:nvPicPr>
          <p:cNvPr id="3020" name="picture 30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890260" y="4460747"/>
            <a:ext cx="132588" cy="10820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roup 314"/>
          <p:cNvGrpSpPr/>
          <p:nvPr/>
        </p:nvGrpSpPr>
        <p:grpSpPr>
          <a:xfrm rot="21600000">
            <a:off x="289559" y="2129027"/>
            <a:ext cx="10122407" cy="4270247"/>
            <a:chOff x="0" y="0"/>
            <a:chExt cx="10122407" cy="4270247"/>
          </a:xfrm>
        </p:grpSpPr>
        <p:sp>
          <p:nvSpPr>
            <p:cNvPr id="3022" name="path 3022"/>
            <p:cNvSpPr/>
            <p:nvPr/>
          </p:nvSpPr>
          <p:spPr>
            <a:xfrm>
              <a:off x="4975859" y="347472"/>
              <a:ext cx="5146547" cy="3738372"/>
            </a:xfrm>
            <a:custGeom>
              <a:avLst/>
              <a:gdLst/>
              <a:ahLst/>
              <a:cxnLst/>
              <a:rect l="0" t="0" r="0" b="0"/>
              <a:pathLst>
                <a:path w="8104" h="5887">
                  <a:moveTo>
                    <a:pt x="0" y="981"/>
                  </a:moveTo>
                  <a:moveTo>
                    <a:pt x="0" y="981"/>
                  </a:moveTo>
                  <a:cubicBezTo>
                    <a:pt x="0" y="439"/>
                    <a:pt x="439" y="0"/>
                    <a:pt x="981" y="0"/>
                  </a:cubicBezTo>
                  <a:lnTo>
                    <a:pt x="7123" y="0"/>
                  </a:lnTo>
                  <a:cubicBezTo>
                    <a:pt x="7665" y="0"/>
                    <a:pt x="8104" y="439"/>
                    <a:pt x="8104" y="981"/>
                  </a:cubicBezTo>
                  <a:lnTo>
                    <a:pt x="8104" y="4905"/>
                  </a:lnTo>
                  <a:cubicBezTo>
                    <a:pt x="8104" y="5448"/>
                    <a:pt x="7665" y="5887"/>
                    <a:pt x="7123" y="5887"/>
                  </a:cubicBezTo>
                  <a:lnTo>
                    <a:pt x="981" y="5887"/>
                  </a:lnTo>
                  <a:cubicBezTo>
                    <a:pt x="439" y="5887"/>
                    <a:pt x="0" y="5448"/>
                    <a:pt x="0" y="4905"/>
                  </a:cubicBezTo>
                  <a:lnTo>
                    <a:pt x="0" y="981"/>
                  </a:lnTo>
                  <a:close/>
                </a:path>
              </a:pathLst>
            </a:custGeom>
            <a:solidFill>
              <a:srgbClr val="0D426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24" name="path 3024"/>
            <p:cNvSpPr/>
            <p:nvPr/>
          </p:nvSpPr>
          <p:spPr>
            <a:xfrm>
              <a:off x="0" y="0"/>
              <a:ext cx="5484875" cy="4270247"/>
            </a:xfrm>
            <a:custGeom>
              <a:avLst/>
              <a:gdLst/>
              <a:ahLst/>
              <a:cxnLst/>
              <a:rect l="0" t="0" r="0" b="0"/>
              <a:pathLst>
                <a:path w="8637" h="6724">
                  <a:moveTo>
                    <a:pt x="0" y="189"/>
                  </a:moveTo>
                  <a:moveTo>
                    <a:pt x="0" y="189"/>
                  </a:moveTo>
                  <a:cubicBezTo>
                    <a:pt x="0" y="86"/>
                    <a:pt x="84" y="0"/>
                    <a:pt x="189" y="0"/>
                  </a:cubicBezTo>
                  <a:lnTo>
                    <a:pt x="8448" y="0"/>
                  </a:lnTo>
                  <a:cubicBezTo>
                    <a:pt x="8553" y="0"/>
                    <a:pt x="8637" y="86"/>
                    <a:pt x="8637" y="189"/>
                  </a:cubicBezTo>
                  <a:lnTo>
                    <a:pt x="8637" y="6535"/>
                  </a:lnTo>
                  <a:cubicBezTo>
                    <a:pt x="8637" y="6640"/>
                    <a:pt x="8553" y="6724"/>
                    <a:pt x="8448" y="6724"/>
                  </a:cubicBezTo>
                  <a:lnTo>
                    <a:pt x="189" y="6724"/>
                  </a:lnTo>
                  <a:cubicBezTo>
                    <a:pt x="84" y="6724"/>
                    <a:pt x="0" y="6640"/>
                    <a:pt x="0" y="6535"/>
                  </a:cubicBezTo>
                  <a:lnTo>
                    <a:pt x="0" y="189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3026" name="picture 3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10411" y="2709671"/>
            <a:ext cx="3637788" cy="3117342"/>
          </a:xfrm>
          <a:prstGeom prst="rect">
            <a:avLst/>
          </a:prstGeom>
        </p:spPr>
      </p:pic>
      <p:sp>
        <p:nvSpPr>
          <p:cNvPr id="3028" name="textbox 3028"/>
          <p:cNvSpPr/>
          <p:nvPr/>
        </p:nvSpPr>
        <p:spPr>
          <a:xfrm>
            <a:off x="6055393" y="3632200"/>
            <a:ext cx="4046220" cy="1325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发电企业在电价＞平均变动成本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时应开机；</a:t>
            </a:r>
            <a:r>
              <a:rPr sz="1500" b="1" kern="0" spc="-3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所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60000"/>
              </a:lnSpc>
              <a:spcBef>
                <a:spcPts val="34"/>
              </a:spcBef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有开机机组只要节点电价在其边际成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本之上，</a:t>
            </a: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就有动机提升出力水平以增加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利润，</a:t>
            </a:r>
            <a:r>
              <a:rPr sz="1500" b="1" kern="0" spc="-3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直至边际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成本等于节点电价或达到最大发电能力。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30" name="textbox 3030"/>
          <p:cNvSpPr/>
          <p:nvPr/>
        </p:nvSpPr>
        <p:spPr>
          <a:xfrm>
            <a:off x="404500" y="2671402"/>
            <a:ext cx="593725" cy="2705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9075" algn="l" rtl="0" eaLnBrk="0">
              <a:lnSpc>
                <a:spcPct val="88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价格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05"/>
              </a:spcBef>
              <a:tabLst/>
            </a:pPr>
            <a:r>
              <a:rPr sz="1000" b="1" kern="0" spc="4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节点电价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9000"/>
              </a:lnSpc>
              <a:spcBef>
                <a:spcPts val="1"/>
              </a:spcBef>
              <a:tabLst/>
            </a:pPr>
            <a:r>
              <a:rPr sz="1000" b="1" kern="0" spc="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P=AVC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32" name="textbox 3032"/>
          <p:cNvSpPr/>
          <p:nvPr/>
        </p:nvSpPr>
        <p:spPr>
          <a:xfrm>
            <a:off x="523049" y="1112886"/>
            <a:ext cx="4525009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发电企业现货市场交易的基本原则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34" name="textbox 3034"/>
          <p:cNvSpPr/>
          <p:nvPr/>
        </p:nvSpPr>
        <p:spPr>
          <a:xfrm>
            <a:off x="4096918" y="3581783"/>
            <a:ext cx="1139189" cy="1176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70AD4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边际成本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000" b="1" kern="0" spc="4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平均变动成本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36" name="textbox 3036"/>
          <p:cNvSpPr/>
          <p:nvPr/>
        </p:nvSpPr>
        <p:spPr>
          <a:xfrm>
            <a:off x="3379486" y="5896450"/>
            <a:ext cx="1429385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900" b="1" kern="0" spc="3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电力负荷需求</a:t>
            </a:r>
            <a:r>
              <a:rPr sz="900" b="1" kern="0" spc="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</a:t>
            </a:r>
            <a:r>
              <a:rPr sz="1600" b="1" kern="0" spc="30" baseline="651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数量</a:t>
            </a:r>
            <a:endParaRPr sz="1600" baseline="6511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38" name="picture 30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0" name="picture 30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07464" y="2218944"/>
            <a:ext cx="7324343" cy="3928872"/>
          </a:xfrm>
          <a:prstGeom prst="rect">
            <a:avLst/>
          </a:prstGeom>
        </p:spPr>
      </p:pic>
      <p:sp>
        <p:nvSpPr>
          <p:cNvPr id="3042" name="textbox 3042"/>
          <p:cNvSpPr/>
          <p:nvPr/>
        </p:nvSpPr>
        <p:spPr>
          <a:xfrm>
            <a:off x="837416" y="2305710"/>
            <a:ext cx="8174990" cy="399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元/兆瓦时</a:t>
            </a: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</a:t>
            </a:r>
            <a:r>
              <a:rPr sz="12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火电边际成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7541894" algn="l" rtl="0" eaLnBrk="0">
              <a:lnSpc>
                <a:spcPct val="87000"/>
              </a:lnSpc>
              <a:spcBef>
                <a:spcPts val="133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本曲线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44" name="textbox 3044"/>
          <p:cNvSpPr/>
          <p:nvPr/>
        </p:nvSpPr>
        <p:spPr>
          <a:xfrm>
            <a:off x="2505271" y="3182414"/>
            <a:ext cx="1419860" cy="1588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5482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市场节点电价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市场利润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46" name="textbox 3046"/>
          <p:cNvSpPr/>
          <p:nvPr/>
        </p:nvSpPr>
        <p:spPr>
          <a:xfrm>
            <a:off x="523049" y="1112586"/>
            <a:ext cx="3624579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发电机组现货市场报价原则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48" name="textbox 3048"/>
          <p:cNvSpPr/>
          <p:nvPr/>
        </p:nvSpPr>
        <p:spPr>
          <a:xfrm>
            <a:off x="8343907" y="5437738"/>
            <a:ext cx="1032510" cy="758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新能源边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9684" algn="l" rtl="0" eaLnBrk="0">
              <a:lnSpc>
                <a:spcPct val="87000"/>
              </a:lnSpc>
              <a:spcBef>
                <a:spcPts val="225"/>
              </a:spcBef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际成本曲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46379" algn="l" rtl="0" eaLnBrk="0">
              <a:lnSpc>
                <a:spcPct val="86000"/>
              </a:lnSpc>
              <a:spcBef>
                <a:spcPts val="233"/>
              </a:spcBef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86000"/>
              </a:lnSpc>
              <a:spcBef>
                <a:spcPts val="17"/>
              </a:spcBef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50" name="textbox 3050"/>
          <p:cNvSpPr/>
          <p:nvPr/>
        </p:nvSpPr>
        <p:spPr>
          <a:xfrm>
            <a:off x="4628735" y="6225119"/>
            <a:ext cx="3335020" cy="216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最小出力                       </a:t>
            </a:r>
            <a:r>
              <a:rPr sz="1800" b="1" kern="0" spc="20" baseline="9881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最佳出力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1800" b="1" kern="0" spc="20" baseline="-4587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最大出力</a:t>
            </a:r>
            <a:endParaRPr sz="1800" baseline="-4587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52" name="textbox 3052"/>
          <p:cNvSpPr/>
          <p:nvPr/>
        </p:nvSpPr>
        <p:spPr>
          <a:xfrm>
            <a:off x="4304135" y="3185997"/>
            <a:ext cx="1109980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失去的利润空间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54" name="textbox 3054"/>
          <p:cNvSpPr/>
          <p:nvPr/>
        </p:nvSpPr>
        <p:spPr>
          <a:xfrm>
            <a:off x="5882911" y="3166410"/>
            <a:ext cx="736600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发电亏损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56" name="picture 30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3058" name="textbox 3058"/>
          <p:cNvSpPr/>
          <p:nvPr/>
        </p:nvSpPr>
        <p:spPr>
          <a:xfrm>
            <a:off x="1678333" y="5908513"/>
            <a:ext cx="120650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32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0" name="picture 30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32204" y="3425952"/>
            <a:ext cx="2465831" cy="1773935"/>
          </a:xfrm>
          <a:prstGeom prst="rect">
            <a:avLst/>
          </a:prstGeom>
        </p:spPr>
      </p:pic>
      <p:graphicFrame>
        <p:nvGraphicFramePr>
          <p:cNvPr id="3062" name="table 3062"/>
          <p:cNvGraphicFramePr>
            <a:graphicFrameLocks noGrp="1"/>
          </p:cNvGraphicFramePr>
          <p:nvPr/>
        </p:nvGraphicFramePr>
        <p:xfrm>
          <a:off x="320802" y="2565654"/>
          <a:ext cx="4876165" cy="3079750"/>
        </p:xfrm>
        <a:graphic>
          <a:graphicData uri="http://schemas.openxmlformats.org/drawingml/2006/table">
            <a:tbl>
              <a:tblPr/>
              <a:tblGrid>
                <a:gridCol w="1278889"/>
                <a:gridCol w="3597275"/>
              </a:tblGrid>
              <a:tr h="77279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5905" indent="-62103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平均变动成本是机组在短期内平均每生产一单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   </a:t>
                      </a: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位的电量所消耗的变动成本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564005" algn="l" rtl="0" eaLnBrk="0">
                        <a:lnSpc>
                          <a:spcPct val="81000"/>
                        </a:lnSpc>
                        <a:spcBef>
                          <a:spcPts val="329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AVC（Q）</a:t>
                      </a:r>
                      <a:r>
                        <a:rPr sz="12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=TV</a:t>
                      </a: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C（Q）/Q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306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8080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  <a:endParaRPr sz="15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2214" algn="l" rtl="0" eaLnBrk="0">
                        <a:lnSpc>
                          <a:spcPct val="6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AVC</a:t>
                      </a:r>
                      <a:endParaRPr sz="15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019" algn="l" rtl="0" eaLnBrk="0">
                        <a:lnSpc>
                          <a:spcPts val="1932"/>
                        </a:lnSpc>
                        <a:tabLst/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                                                     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Q（电量）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64" name="picture 30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12307" y="2564891"/>
            <a:ext cx="4892040" cy="2959608"/>
          </a:xfrm>
          <a:prstGeom prst="rect">
            <a:avLst/>
          </a:prstGeom>
        </p:spPr>
      </p:pic>
      <p:sp>
        <p:nvSpPr>
          <p:cNvPr id="3066" name="textbox 3066"/>
          <p:cNvSpPr/>
          <p:nvPr/>
        </p:nvSpPr>
        <p:spPr>
          <a:xfrm>
            <a:off x="5586937" y="5776079"/>
            <a:ext cx="4789804" cy="726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8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3000"/>
              </a:lnSpc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如果机组的额定容量正好对应着锅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炉效率曲线的顶点，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那么平均变动成本曲线从机组的最低技术出力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到额定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容量是一路下降的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68" name="textbox 3068"/>
          <p:cNvSpPr/>
          <p:nvPr/>
        </p:nvSpPr>
        <p:spPr>
          <a:xfrm>
            <a:off x="483699" y="5768417"/>
            <a:ext cx="4638040" cy="726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46" rIns="0" bIns="0"/>
          <a:lstStyle/>
          <a:p>
            <a:pPr marL="12700" algn="l" rtl="0" eaLnBrk="0">
              <a:lnSpc>
                <a:spcPct val="104000"/>
              </a:lnSpc>
              <a:spcBef>
                <a:spcPts val="4"/>
              </a:spcBef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机组不同负荷率对应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着不同的变动成本，</a:t>
            </a:r>
            <a:r>
              <a:rPr sz="15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越接近经济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运行出力区间，</a:t>
            </a:r>
            <a:r>
              <a:rPr sz="15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平均变动成本越低，所以平均变动成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本是一条下降的曲线。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70" name="textbox 3070"/>
          <p:cNvSpPr/>
          <p:nvPr/>
        </p:nvSpPr>
        <p:spPr>
          <a:xfrm>
            <a:off x="2382646" y="1930210"/>
            <a:ext cx="5857240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发电（火电机组）变动成本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=燃料成本+运维成本+环保成本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72" name="textbox 3072"/>
          <p:cNvSpPr/>
          <p:nvPr/>
        </p:nvSpPr>
        <p:spPr>
          <a:xfrm>
            <a:off x="523049" y="1114652"/>
            <a:ext cx="2123439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6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发电的变动成本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74" name="path 3074"/>
          <p:cNvSpPr/>
          <p:nvPr/>
        </p:nvSpPr>
        <p:spPr>
          <a:xfrm>
            <a:off x="2221992" y="2302764"/>
            <a:ext cx="6515100" cy="24383"/>
          </a:xfrm>
          <a:custGeom>
            <a:avLst/>
            <a:gdLst/>
            <a:ahLst/>
            <a:cxnLst/>
            <a:rect l="0" t="0" r="0" b="0"/>
            <a:pathLst>
              <a:path w="10260" h="38">
                <a:moveTo>
                  <a:pt x="0" y="19"/>
                </a:moveTo>
                <a:lnTo>
                  <a:pt x="10260" y="19"/>
                </a:lnTo>
              </a:path>
            </a:pathLst>
          </a:custGeom>
          <a:noFill/>
          <a:ln w="24383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076" name="picture 30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30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2315" y="3378707"/>
            <a:ext cx="5253228" cy="3136392"/>
          </a:xfrm>
          <a:prstGeom prst="rect">
            <a:avLst/>
          </a:prstGeom>
        </p:spPr>
      </p:pic>
      <p:sp>
        <p:nvSpPr>
          <p:cNvPr id="3080" name="textbox 3080"/>
          <p:cNvSpPr/>
          <p:nvPr/>
        </p:nvSpPr>
        <p:spPr>
          <a:xfrm>
            <a:off x="264668" y="2940811"/>
            <a:ext cx="5155565" cy="3343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4804" algn="l" rtl="0" eaLnBrk="0">
              <a:lnSpc>
                <a:spcPct val="80000"/>
              </a:lnSpc>
              <a:tabLst/>
            </a:pPr>
            <a:r>
              <a:rPr sz="400" kern="0" spc="4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400" kern="0" spc="9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" kern="0" spc="4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400" kern="0" spc="9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" kern="0" spc="40" dirty="0">
                <a:solidFill>
                  <a:srgbClr val="41719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400" kern="0" spc="110" dirty="0">
                <a:solidFill>
                  <a:srgbClr val="41719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400" kern="0" spc="4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400" kern="0" spc="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sz="400" dirty="0">
              <a:latin typeface="Arial"/>
              <a:ea typeface="Arial"/>
              <a:cs typeface="Arial"/>
            </a:endParaRPr>
          </a:p>
          <a:p>
            <a:pPr marL="141604" algn="l" rtl="0" eaLnBrk="0">
              <a:lnSpc>
                <a:spcPct val="77000"/>
              </a:lnSpc>
              <a:spcBef>
                <a:spcPts val="161"/>
              </a:spcBef>
              <a:tabLst/>
            </a:pPr>
            <a:r>
              <a:rPr sz="1000" kern="0" spc="18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,"'</a:t>
            </a:r>
            <a:r>
              <a:rPr sz="1000" kern="0" spc="0" dirty="0">
                <a:solidFill>
                  <a:srgbClr val="41719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62560" algn="l" rtl="0" eaLnBrk="0">
              <a:lnSpc>
                <a:spcPct val="86000"/>
              </a:lnSpc>
              <a:spcBef>
                <a:spcPts val="1064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边际成本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06045" algn="l" rtl="0" eaLnBrk="0">
              <a:lnSpc>
                <a:spcPct val="89000"/>
              </a:lnSpc>
              <a:spcBef>
                <a:spcPts val="190"/>
              </a:spcBef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(元/兆瓦时)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84555" algn="l" rtl="0" eaLnBrk="0">
              <a:lnSpc>
                <a:spcPct val="88000"/>
              </a:lnSpc>
              <a:spcBef>
                <a:spcPts val="366"/>
              </a:spcBef>
              <a:tabLst/>
            </a:pPr>
            <a:r>
              <a:rPr sz="12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在20万出力下，</a:t>
            </a:r>
            <a:r>
              <a:rPr sz="1200" b="1" kern="0" spc="-1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因为增加1</a:t>
            </a:r>
            <a:r>
              <a:rPr sz="12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885825" algn="l" rtl="0" eaLnBrk="0">
              <a:lnSpc>
                <a:spcPct val="88000"/>
              </a:lnSpc>
              <a:spcBef>
                <a:spcPts val="944"/>
              </a:spcBef>
              <a:tabLst/>
            </a:pP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力，每小时所额外产生的发电成本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6845" algn="l" rtl="0" eaLnBrk="0">
              <a:lnSpc>
                <a:spcPts val="2089"/>
              </a:lnSpc>
              <a:spcBef>
                <a:spcPts val="455"/>
              </a:spcBef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190                   </a:t>
            </a: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IC(P)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83379" algn="l" rtl="0" eaLnBrk="0">
              <a:lnSpc>
                <a:spcPct val="90000"/>
              </a:lnSpc>
              <a:spcBef>
                <a:spcPts val="309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发电出力(兆瓦)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5780" algn="l" rtl="0" eaLnBrk="0">
              <a:lnSpc>
                <a:spcPts val="2137"/>
              </a:lnSpc>
              <a:tabLst/>
            </a:pP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</a:t>
            </a: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150      200</a:t>
            </a: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300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82" name="picture 30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77368" y="3176016"/>
            <a:ext cx="115824" cy="177763"/>
          </a:xfrm>
          <a:prstGeom prst="rect">
            <a:avLst/>
          </a:prstGeom>
        </p:spPr>
      </p:pic>
      <p:pic>
        <p:nvPicPr>
          <p:cNvPr id="3084" name="picture 30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39130" y="3047470"/>
            <a:ext cx="164592" cy="128546"/>
          </a:xfrm>
          <a:prstGeom prst="rect">
            <a:avLst/>
          </a:prstGeom>
        </p:spPr>
      </p:pic>
      <p:pic>
        <p:nvPicPr>
          <p:cNvPr id="3086" name="picture 30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12689" y="2958802"/>
            <a:ext cx="202691" cy="64813"/>
          </a:xfrm>
          <a:prstGeom prst="rect">
            <a:avLst/>
          </a:prstGeom>
        </p:spPr>
      </p:pic>
      <p:pic>
        <p:nvPicPr>
          <p:cNvPr id="3088" name="picture 3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007607" y="3165347"/>
            <a:ext cx="4186428" cy="1309116"/>
          </a:xfrm>
          <a:prstGeom prst="rect">
            <a:avLst/>
          </a:prstGeom>
        </p:spPr>
      </p:pic>
      <p:grpSp>
        <p:nvGrpSpPr>
          <p:cNvPr id="316" name="group 316"/>
          <p:cNvGrpSpPr/>
          <p:nvPr/>
        </p:nvGrpSpPr>
        <p:grpSpPr>
          <a:xfrm rot="21600000">
            <a:off x="5693664" y="2963989"/>
            <a:ext cx="4504943" cy="1516570"/>
            <a:chOff x="0" y="0"/>
            <a:chExt cx="4504943" cy="1516570"/>
          </a:xfrm>
        </p:grpSpPr>
        <p:pic>
          <p:nvPicPr>
            <p:cNvPr id="3090" name="picture 309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307847" y="0"/>
              <a:ext cx="4197095" cy="1516570"/>
            </a:xfrm>
            <a:prstGeom prst="rect">
              <a:avLst/>
            </a:prstGeom>
          </p:spPr>
        </p:pic>
        <p:sp>
          <p:nvSpPr>
            <p:cNvPr id="3092" name="textbox 3092"/>
            <p:cNvSpPr/>
            <p:nvPr/>
          </p:nvSpPr>
          <p:spPr>
            <a:xfrm>
              <a:off x="-12700" y="214396"/>
              <a:ext cx="1358264" cy="1270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3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13384" indent="-401320" algn="l" rtl="0" eaLnBrk="0">
                <a:lnSpc>
                  <a:spcPct val="305000"/>
                </a:lnSpc>
                <a:tabLst/>
              </a:pP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	</a:t>
              </a: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</a:t>
              </a:r>
              <a:r>
                <a:rPr sz="10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21</a:t>
              </a:r>
              <a:endParaRPr sz="1200" dirty="0">
                <a:latin typeface="Calibri"/>
                <a:ea typeface="Calibri"/>
                <a:cs typeface="Calibri"/>
              </a:endParaRPr>
            </a:p>
            <a:p>
              <a:pPr marL="414019" algn="l" rtl="0" eaLnBrk="0">
                <a:lnSpc>
                  <a:spcPts val="1493"/>
                </a:lnSpc>
                <a:spcBef>
                  <a:spcPts val="331"/>
                </a:spcBef>
                <a:tabLst/>
              </a:pPr>
              <a:r>
                <a:rPr sz="1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20</a:t>
              </a:r>
              <a:endParaRPr sz="12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94" name="textbox 3094"/>
            <p:cNvSpPr/>
            <p:nvPr/>
          </p:nvSpPr>
          <p:spPr>
            <a:xfrm>
              <a:off x="515442" y="243364"/>
              <a:ext cx="744219" cy="1612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1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9000"/>
                </a:lnSpc>
                <a:tabLst/>
              </a:pPr>
              <a:r>
                <a:rPr sz="1000" b="1" kern="0" spc="-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力（万千瓦）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096" name="textbox 3096"/>
            <p:cNvSpPr/>
            <p:nvPr/>
          </p:nvSpPr>
          <p:spPr>
            <a:xfrm>
              <a:off x="389225" y="734146"/>
              <a:ext cx="175260" cy="2152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86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4000"/>
                </a:lnSpc>
                <a:tabLst/>
              </a:pPr>
              <a:r>
                <a:rPr sz="1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25</a:t>
              </a:r>
              <a:endParaRPr sz="12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98" name="textbox 3098"/>
            <p:cNvSpPr/>
            <p:nvPr/>
          </p:nvSpPr>
          <p:spPr>
            <a:xfrm>
              <a:off x="389225" y="467423"/>
              <a:ext cx="175260" cy="2152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86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4000"/>
                </a:lnSpc>
                <a:tabLst/>
              </a:pPr>
              <a:r>
                <a:rPr sz="1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26</a:t>
              </a:r>
              <a:endParaRPr sz="12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00" name="textbox 3100"/>
            <p:cNvSpPr/>
            <p:nvPr/>
          </p:nvSpPr>
          <p:spPr>
            <a:xfrm>
              <a:off x="389377" y="243633"/>
              <a:ext cx="151129" cy="1581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2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7000"/>
                </a:lnSpc>
                <a:tabLst/>
              </a:pPr>
              <a:r>
                <a:rPr sz="1000" b="1" kern="0" spc="-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102" name="textbox 3102"/>
          <p:cNvSpPr/>
          <p:nvPr/>
        </p:nvSpPr>
        <p:spPr>
          <a:xfrm>
            <a:off x="5884316" y="4664028"/>
            <a:ext cx="4208779" cy="1657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边际煤耗随着机组的出力增加而增加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57175" indent="-244475" algn="l" rtl="0" eaLnBrk="0">
              <a:lnSpc>
                <a:spcPct val="129000"/>
              </a:lnSpc>
              <a:spcBef>
                <a:spcPts val="846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从20万到21万所增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加的标煤耗量（x2-x1</a:t>
            </a:r>
            <a:r>
              <a:rPr sz="1200" b="1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）＜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从25万到26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万所增加的标煤耗量（x4-x3）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57175" indent="-244475" algn="l" rtl="0" eaLnBrk="0">
              <a:lnSpc>
                <a:spcPct val="125000"/>
              </a:lnSpc>
              <a:spcBef>
                <a:spcPts val="701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由于启动成本和空载成本已单独核算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，现货报价中仅考虑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单调递增的微增成本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2895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边际成本曲线是“递增出力成本”申报的依据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04" name="textbox 3104"/>
          <p:cNvSpPr/>
          <p:nvPr/>
        </p:nvSpPr>
        <p:spPr>
          <a:xfrm>
            <a:off x="433206" y="1920219"/>
            <a:ext cx="8377555" cy="335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5000"/>
              </a:lnSpc>
              <a:tabLst/>
            </a:pPr>
            <a:r>
              <a:rPr sz="2400" b="1" u="sng" kern="0" spc="0" baseline="-2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发电成本</a:t>
            </a:r>
            <a:r>
              <a:rPr sz="1500" b="1" u="sng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u="sng" kern="0" spc="0" baseline="-2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5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u="sng" kern="0" spc="0" baseline="-2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边际标煤耗</a:t>
            </a:r>
            <a:r>
              <a:rPr sz="1500" b="1" u="sng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u="sng" kern="0" spc="0" baseline="-2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</a:t>
            </a:r>
            <a:r>
              <a:rPr sz="15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u="sng" kern="0" spc="0" baseline="-2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标煤单价</a:t>
            </a:r>
            <a:r>
              <a:rPr sz="1500" b="1" u="sng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u="sng" kern="0" spc="0" baseline="-2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÷</a:t>
            </a:r>
            <a:r>
              <a:rPr sz="15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u="sng" kern="0" spc="0" baseline="-2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锅炉效率</a:t>
            </a:r>
            <a:r>
              <a:rPr sz="1500" b="1" u="sng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u="sng" kern="0" spc="0" baseline="-2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5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u="sng" kern="0" spc="0" baseline="-2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运维成本</a:t>
            </a:r>
            <a:r>
              <a:rPr sz="1500" b="1" u="sng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u="sng" kern="0" spc="0" baseline="-2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500" b="1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u="sng" kern="0" spc="0" baseline="-2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排放成本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0" baseline="10851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【</a:t>
            </a:r>
            <a:r>
              <a:rPr sz="1800" b="1" kern="0" spc="0" baseline="14468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按发生方式（正平</a:t>
            </a:r>
            <a:r>
              <a:rPr sz="1800" b="1" kern="0" spc="-10" baseline="14468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衡）</a:t>
            </a:r>
            <a:r>
              <a:rPr sz="2400" b="1" kern="0" spc="-10" baseline="10851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】</a:t>
            </a:r>
            <a:endParaRPr sz="2400" baseline="10851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06" name="textbox 3106"/>
          <p:cNvSpPr/>
          <p:nvPr/>
        </p:nvSpPr>
        <p:spPr>
          <a:xfrm>
            <a:off x="8086953" y="3178386"/>
            <a:ext cx="1211580" cy="1247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spcBef>
                <a:spcPts val="1"/>
              </a:spcBef>
              <a:tabLst/>
            </a:pPr>
            <a:r>
              <a:rPr sz="10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每小时标煤耗（吨）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ts val="941"/>
              </a:lnSpc>
              <a:spcBef>
                <a:spcPts val="1074"/>
              </a:spcBef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X4</a:t>
            </a:r>
            <a:endParaRPr sz="1200" dirty="0">
              <a:latin typeface="Calibri"/>
              <a:ea typeface="Calibri"/>
              <a:cs typeface="Calibri"/>
            </a:endParaRPr>
          </a:p>
          <a:p>
            <a:pPr marL="13334" algn="l" rtl="0" eaLnBrk="0">
              <a:lnSpc>
                <a:spcPct val="66000"/>
              </a:lnSpc>
              <a:spcBef>
                <a:spcPts val="1155"/>
              </a:spcBef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X3</a:t>
            </a:r>
            <a:endParaRPr sz="1200" dirty="0">
              <a:latin typeface="Calibri"/>
              <a:ea typeface="Calibri"/>
              <a:cs typeface="Calibri"/>
            </a:endParaRPr>
          </a:p>
          <a:p>
            <a:pPr marL="13334" algn="l" rtl="0" eaLnBrk="0">
              <a:lnSpc>
                <a:spcPct val="66000"/>
              </a:lnSpc>
              <a:spcBef>
                <a:spcPts val="1142"/>
              </a:spcBef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X2</a:t>
            </a:r>
            <a:endParaRPr sz="12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4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66000"/>
              </a:lnSpc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X1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pic>
        <p:nvPicPr>
          <p:cNvPr id="3108" name="picture 310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085640" y="3002089"/>
            <a:ext cx="359854" cy="3464432"/>
          </a:xfrm>
          <a:prstGeom prst="rect">
            <a:avLst/>
          </a:prstGeom>
        </p:spPr>
      </p:pic>
      <p:sp>
        <p:nvSpPr>
          <p:cNvPr id="3110" name="textbox 3110"/>
          <p:cNvSpPr/>
          <p:nvPr/>
        </p:nvSpPr>
        <p:spPr>
          <a:xfrm>
            <a:off x="433206" y="2483817"/>
            <a:ext cx="5205095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500" b="1" u="sng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发电成本</a:t>
            </a:r>
            <a:r>
              <a:rPr sz="1500" b="1" u="sng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u="sng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 启动成本+空载成本</a:t>
            </a:r>
            <a:r>
              <a:rPr sz="1500" b="1" u="sng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（零负荷成本）</a:t>
            </a:r>
            <a:r>
              <a:rPr sz="1500" b="1" u="sng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u="sng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+微增成本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12" name="textbox 3112"/>
          <p:cNvSpPr/>
          <p:nvPr/>
        </p:nvSpPr>
        <p:spPr>
          <a:xfrm>
            <a:off x="522449" y="1117165"/>
            <a:ext cx="3324859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从边际标煤耗到边际成本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14" name="textbox 3114"/>
          <p:cNvSpPr/>
          <p:nvPr/>
        </p:nvSpPr>
        <p:spPr>
          <a:xfrm>
            <a:off x="5650789" y="2426183"/>
            <a:ext cx="1948179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89"/>
              </a:lnSpc>
              <a:tabLst/>
            </a:pPr>
            <a:r>
              <a:rPr sz="1500" b="1" kern="0" spc="-5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【</a:t>
            </a:r>
            <a:r>
              <a:rPr sz="1200" b="1" kern="0" spc="-5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按运行方式（反平衡</a:t>
            </a:r>
            <a:r>
              <a:rPr sz="1200" b="1" kern="0" spc="-6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500" b="1" kern="0" spc="-6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】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116" name="picture 31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425183" y="6458521"/>
            <a:ext cx="3644074" cy="56578"/>
          </a:xfrm>
          <a:prstGeom prst="rect">
            <a:avLst/>
          </a:prstGeom>
        </p:spPr>
      </p:pic>
      <p:pic>
        <p:nvPicPr>
          <p:cNvPr id="3118" name="picture 31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792467" y="2953511"/>
            <a:ext cx="3157918" cy="24574"/>
          </a:xfrm>
          <a:prstGeom prst="rect">
            <a:avLst/>
          </a:prstGeom>
        </p:spPr>
      </p:pic>
      <p:pic>
        <p:nvPicPr>
          <p:cNvPr id="3120" name="picture 31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50391" y="2953511"/>
            <a:ext cx="4133087" cy="13715"/>
          </a:xfrm>
          <a:prstGeom prst="rect">
            <a:avLst/>
          </a:prstGeom>
        </p:spPr>
      </p:pic>
      <p:pic>
        <p:nvPicPr>
          <p:cNvPr id="3122" name="picture 31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952744" y="6400800"/>
            <a:ext cx="438911" cy="114299"/>
          </a:xfrm>
          <a:prstGeom prst="rect">
            <a:avLst/>
          </a:prstGeom>
        </p:spPr>
      </p:pic>
      <p:pic>
        <p:nvPicPr>
          <p:cNvPr id="3124" name="picture 31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3126" name="picture 31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693664" y="4035552"/>
            <a:ext cx="18478" cy="1937194"/>
          </a:xfrm>
          <a:prstGeom prst="rect">
            <a:avLst/>
          </a:prstGeom>
        </p:spPr>
      </p:pic>
      <p:sp>
        <p:nvSpPr>
          <p:cNvPr id="3128" name="path 3128"/>
          <p:cNvSpPr/>
          <p:nvPr/>
        </p:nvSpPr>
        <p:spPr>
          <a:xfrm>
            <a:off x="10188701" y="3159252"/>
            <a:ext cx="10669" cy="1321307"/>
          </a:xfrm>
          <a:custGeom>
            <a:avLst/>
            <a:gdLst/>
            <a:ahLst/>
            <a:cxnLst/>
            <a:rect l="0" t="0" r="0" b="0"/>
            <a:pathLst>
              <a:path w="16" h="2080">
                <a:moveTo>
                  <a:pt x="8" y="0"/>
                </a:moveTo>
                <a:lnTo>
                  <a:pt x="8" y="2080"/>
                </a:lnTo>
              </a:path>
            </a:pathLst>
          </a:custGeom>
          <a:noFill/>
          <a:ln w="10668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130" name="picture 31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855017" y="6318313"/>
            <a:ext cx="49148" cy="47625"/>
          </a:xfrm>
          <a:prstGeom prst="rect">
            <a:avLst/>
          </a:prstGeom>
        </p:spPr>
      </p:pic>
      <p:pic>
        <p:nvPicPr>
          <p:cNvPr id="3132" name="picture 313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778817" y="6222301"/>
            <a:ext cx="44577" cy="52197"/>
          </a:xfrm>
          <a:prstGeom prst="rect">
            <a:avLst/>
          </a:prstGeom>
        </p:spPr>
      </p:pic>
      <p:pic>
        <p:nvPicPr>
          <p:cNvPr id="3134" name="picture 31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725477" y="6114097"/>
            <a:ext cx="36957" cy="53721"/>
          </a:xfrm>
          <a:prstGeom prst="rect">
            <a:avLst/>
          </a:prstGeom>
        </p:spPr>
      </p:pic>
      <p:pic>
        <p:nvPicPr>
          <p:cNvPr id="3136" name="picture 31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5694997" y="5995225"/>
            <a:ext cx="29336" cy="55244"/>
          </a:xfrm>
          <a:prstGeom prst="rect">
            <a:avLst/>
          </a:prstGeom>
        </p:spPr>
      </p:pic>
      <p:pic>
        <p:nvPicPr>
          <p:cNvPr id="3138" name="picture 31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5824537" y="6284785"/>
            <a:ext cx="26289" cy="24764"/>
          </a:xfrm>
          <a:prstGeom prst="rect">
            <a:avLst/>
          </a:prstGeom>
        </p:spPr>
      </p:pic>
      <p:pic>
        <p:nvPicPr>
          <p:cNvPr id="3140" name="picture 314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5757481" y="6184201"/>
            <a:ext cx="23240" cy="24765"/>
          </a:xfrm>
          <a:prstGeom prst="rect">
            <a:avLst/>
          </a:prstGeom>
        </p:spPr>
      </p:pic>
      <p:pic>
        <p:nvPicPr>
          <p:cNvPr id="3142" name="picture 314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5711761" y="6071425"/>
            <a:ext cx="23240" cy="23241"/>
          </a:xfrm>
          <a:prstGeom prst="rect">
            <a:avLst/>
          </a:prstGeom>
        </p:spPr>
      </p:pic>
      <p:pic>
        <p:nvPicPr>
          <p:cNvPr id="3144" name="picture 314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5912929" y="6370129"/>
            <a:ext cx="20002" cy="2000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6" name="picture 3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85182" y="2937509"/>
            <a:ext cx="5317235" cy="2481072"/>
          </a:xfrm>
          <a:prstGeom prst="rect">
            <a:avLst/>
          </a:prstGeom>
        </p:spPr>
      </p:pic>
      <p:graphicFrame>
        <p:nvGraphicFramePr>
          <p:cNvPr id="3148" name="table 3148"/>
          <p:cNvGraphicFramePr>
            <a:graphicFrameLocks noGrp="1"/>
          </p:cNvGraphicFramePr>
          <p:nvPr/>
        </p:nvGraphicFramePr>
        <p:xfrm>
          <a:off x="531876" y="2763773"/>
          <a:ext cx="3582669" cy="2596514"/>
        </p:xfrm>
        <a:graphic>
          <a:graphicData uri="http://schemas.openxmlformats.org/drawingml/2006/table">
            <a:tbl>
              <a:tblPr/>
              <a:tblGrid>
                <a:gridCol w="1370965"/>
                <a:gridCol w="2211704"/>
              </a:tblGrid>
              <a:tr h="374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1459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净输出MW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861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热量输入MMBtu/Hr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6894" algn="l" rtl="0" eaLnBrk="0">
                        <a:lnSpc>
                          <a:spcPts val="1554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7880" algn="l" rtl="0" eaLnBrk="0">
                        <a:lnSpc>
                          <a:spcPts val="1554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795.12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9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0" algn="l" rtl="0" eaLnBrk="0">
                        <a:lnSpc>
                          <a:spcPts val="155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0415" algn="l" rtl="0" eaLnBrk="0">
                        <a:lnSpc>
                          <a:spcPts val="155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1897.08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634" algn="l" rtl="0" eaLnBrk="0">
                        <a:lnSpc>
                          <a:spcPts val="1567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700" algn="l" rtl="0" eaLnBrk="0">
                        <a:lnSpc>
                          <a:spcPts val="1567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3460.75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9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9109" algn="l" rtl="0" eaLnBrk="0">
                        <a:lnSpc>
                          <a:spcPts val="155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5175" algn="l" rtl="0" eaLnBrk="0">
                        <a:lnSpc>
                          <a:spcPts val="155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4542.29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1175" algn="l" rtl="0" eaLnBrk="0">
                        <a:lnSpc>
                          <a:spcPts val="156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525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7240" algn="l" rtl="0" eaLnBrk="0">
                        <a:lnSpc>
                          <a:spcPts val="156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5824.73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1175" algn="l" rtl="0" eaLnBrk="0">
                        <a:lnSpc>
                          <a:spcPts val="1595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2794" algn="l" rtl="0" eaLnBrk="0">
                        <a:lnSpc>
                          <a:spcPts val="1595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6109.00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50" name="textbox 3150"/>
          <p:cNvSpPr/>
          <p:nvPr/>
        </p:nvSpPr>
        <p:spPr>
          <a:xfrm>
            <a:off x="1864893" y="1999949"/>
            <a:ext cx="6774180" cy="749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——空载成本：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指发电机维持同步转速下保持零输出功率的成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本——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1943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200" b="1" kern="0" spc="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总燃料曲线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52" name="textbox 3152"/>
          <p:cNvSpPr/>
          <p:nvPr/>
        </p:nvSpPr>
        <p:spPr>
          <a:xfrm>
            <a:off x="944879" y="6016752"/>
            <a:ext cx="9222105" cy="497205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545589" algn="l" rtl="0" eaLnBrk="0">
              <a:lnSpc>
                <a:spcPts val="1932"/>
              </a:lnSpc>
              <a:spcBef>
                <a:spcPts val="7"/>
              </a:spcBef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在上面的函数关系中，我们令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（输出功率）</a:t>
            </a:r>
            <a:r>
              <a:rPr sz="1500" b="1" kern="0" spc="-3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=0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b="1" kern="0" spc="-3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就可以得到空载燃料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54" name="textbox 3154"/>
          <p:cNvSpPr/>
          <p:nvPr/>
        </p:nvSpPr>
        <p:spPr>
          <a:xfrm>
            <a:off x="524250" y="1115664"/>
            <a:ext cx="2722879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4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火电机组的空载成本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56" name="textbox 3156"/>
          <p:cNvSpPr/>
          <p:nvPr/>
        </p:nvSpPr>
        <p:spPr>
          <a:xfrm>
            <a:off x="4852456" y="5464901"/>
            <a:ext cx="5436234" cy="148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6"/>
              </a:lnSpc>
              <a:tabLst/>
            </a:pP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r>
              <a:rPr sz="700" b="1" kern="0" spc="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                    </a:t>
            </a: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100</a:t>
            </a:r>
            <a:r>
              <a:rPr sz="700" b="1" kern="0" spc="1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   </a:t>
            </a:r>
            <a:r>
              <a:rPr sz="700" b="1" kern="0" spc="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</a:t>
            </a: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200</a:t>
            </a:r>
            <a:r>
              <a:rPr sz="700" b="1" kern="0" spc="1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sz="700" b="1" kern="0" spc="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     </a:t>
            </a: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300</a:t>
            </a:r>
            <a:r>
              <a:rPr sz="700" b="1" kern="0" spc="1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</a:t>
            </a:r>
            <a:r>
              <a:rPr sz="700" b="1" kern="0" spc="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        </a:t>
            </a: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400</a:t>
            </a:r>
            <a:r>
              <a:rPr sz="700" b="1" kern="0" spc="1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sz="700" b="1" kern="0" spc="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     </a:t>
            </a: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500</a:t>
            </a:r>
            <a:r>
              <a:rPr sz="700" b="1" kern="0" spc="1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sz="700" b="1" kern="0" spc="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     </a:t>
            </a: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600</a:t>
            </a:r>
            <a:endParaRPr sz="700" dirty="0">
              <a:latin typeface="Calibri"/>
              <a:ea typeface="Calibri"/>
              <a:cs typeface="Calibri"/>
            </a:endParaRPr>
          </a:p>
        </p:txBody>
      </p:sp>
      <p:sp>
        <p:nvSpPr>
          <p:cNvPr id="3158" name="textbox 3158"/>
          <p:cNvSpPr/>
          <p:nvPr/>
        </p:nvSpPr>
        <p:spPr>
          <a:xfrm>
            <a:off x="4581460" y="2861855"/>
            <a:ext cx="227329" cy="2621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966"/>
              </a:lnSpc>
              <a:tabLst/>
            </a:pP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7000</a:t>
            </a:r>
            <a:endParaRPr sz="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966"/>
              </a:lnSpc>
              <a:spcBef>
                <a:spcPts val="222"/>
              </a:spcBef>
              <a:tabLst/>
            </a:pP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6000</a:t>
            </a:r>
            <a:endParaRPr sz="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966"/>
              </a:lnSpc>
              <a:spcBef>
                <a:spcPts val="210"/>
              </a:spcBef>
              <a:tabLst/>
            </a:pP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5000</a:t>
            </a:r>
            <a:endParaRPr sz="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6"/>
              </a:lnSpc>
              <a:spcBef>
                <a:spcPts val="222"/>
              </a:spcBef>
              <a:tabLst/>
            </a:pP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4000</a:t>
            </a:r>
            <a:endParaRPr sz="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966"/>
              </a:lnSpc>
              <a:spcBef>
                <a:spcPts val="210"/>
              </a:spcBef>
              <a:tabLst/>
            </a:pP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3000</a:t>
            </a:r>
            <a:endParaRPr sz="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966"/>
              </a:lnSpc>
              <a:spcBef>
                <a:spcPts val="222"/>
              </a:spcBef>
              <a:tabLst/>
            </a:pPr>
            <a:r>
              <a:rPr sz="700" b="1" kern="0" spc="3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2000</a:t>
            </a:r>
            <a:endParaRPr sz="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966"/>
              </a:lnSpc>
              <a:spcBef>
                <a:spcPts val="210"/>
              </a:spcBef>
              <a:tabLst/>
            </a:pPr>
            <a:r>
              <a:rPr sz="700" b="1" kern="0" spc="2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1000</a:t>
            </a:r>
            <a:endParaRPr sz="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735" algn="l" rtl="0" eaLnBrk="0">
              <a:lnSpc>
                <a:spcPts val="966"/>
              </a:lnSpc>
              <a:spcBef>
                <a:spcPts val="1"/>
              </a:spcBef>
              <a:tabLst/>
            </a:pPr>
            <a:r>
              <a:rPr sz="700" b="1" kern="0" spc="0" dirty="0">
                <a:solidFill>
                  <a:srgbClr val="59595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700" dirty="0">
              <a:latin typeface="Calibri"/>
              <a:ea typeface="Calibri"/>
              <a:cs typeface="Calibri"/>
            </a:endParaRPr>
          </a:p>
        </p:txBody>
      </p:sp>
      <p:sp>
        <p:nvSpPr>
          <p:cNvPr id="3160" name="textbox 3160"/>
          <p:cNvSpPr/>
          <p:nvPr/>
        </p:nvSpPr>
        <p:spPr>
          <a:xfrm>
            <a:off x="5879914" y="2973378"/>
            <a:ext cx="3206750" cy="186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6"/>
              </a:lnSpc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y</a:t>
            </a:r>
            <a:r>
              <a:rPr sz="9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9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5E-12 x</a:t>
            </a:r>
            <a:r>
              <a:rPr sz="900" b="1" kern="0" spc="0" baseline="45602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9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5E-09 x</a:t>
            </a:r>
            <a:r>
              <a:rPr sz="900" b="1" kern="0" spc="-10" baseline="45602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sz="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9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0.0016  x</a:t>
            </a:r>
            <a:r>
              <a:rPr sz="900" b="1" kern="0" spc="-10" baseline="45602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+ 9.6891x+306.75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162" name="picture 31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roup 318"/>
          <p:cNvGrpSpPr/>
          <p:nvPr/>
        </p:nvGrpSpPr>
        <p:grpSpPr>
          <a:xfrm rot="21600000">
            <a:off x="1459992" y="2252471"/>
            <a:ext cx="7373111" cy="3525011"/>
            <a:chOff x="0" y="0"/>
            <a:chExt cx="7373111" cy="3525011"/>
          </a:xfrm>
        </p:grpSpPr>
        <p:pic>
          <p:nvPicPr>
            <p:cNvPr id="3164" name="picture 31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7373111" cy="3525011"/>
            </a:xfrm>
            <a:prstGeom prst="rect">
              <a:avLst/>
            </a:prstGeom>
          </p:spPr>
        </p:pic>
        <p:sp>
          <p:nvSpPr>
            <p:cNvPr id="3166" name="textbox 3166"/>
            <p:cNvSpPr/>
            <p:nvPr/>
          </p:nvSpPr>
          <p:spPr>
            <a:xfrm>
              <a:off x="-12700" y="-12700"/>
              <a:ext cx="7399019" cy="35509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532379" algn="l" rtl="0" eaLnBrk="0">
                <a:lnSpc>
                  <a:spcPts val="1614"/>
                </a:lnSpc>
                <a:spcBef>
                  <a:spcPts val="5"/>
                </a:spcBef>
                <a:tabLst/>
              </a:pPr>
              <a:r>
                <a:rPr sz="12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y'(x)</a:t>
              </a:r>
              <a:r>
                <a:rPr sz="1200" b="1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=</a:t>
              </a:r>
              <a:r>
                <a:rPr sz="12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2E-11</a:t>
              </a:r>
              <a:r>
                <a:rPr sz="1200" b="1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x</a:t>
              </a:r>
              <a:r>
                <a:rPr sz="1200" b="1" kern="0" spc="0" baseline="44401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  <a:r>
                <a:rPr sz="700" b="1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b="1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-</a:t>
              </a:r>
              <a:r>
                <a:rPr sz="1200" b="1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b="1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1.5E-8</a:t>
              </a:r>
              <a:r>
                <a:rPr sz="1200" b="1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b="1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x</a:t>
              </a:r>
              <a:r>
                <a:rPr sz="1200" b="1" kern="0" spc="40" baseline="44401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r>
                <a:rPr sz="700" b="1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b="1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+ 0.0032</a:t>
              </a:r>
              <a:r>
                <a:rPr sz="12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b="1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x</a:t>
              </a:r>
              <a:r>
                <a:rPr sz="1200" b="1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b="1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+</a:t>
              </a:r>
              <a:r>
                <a:rPr sz="12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b="1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9.6</a:t>
              </a:r>
              <a:r>
                <a:rPr sz="12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8919.6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168" name="textbox 3168"/>
          <p:cNvSpPr/>
          <p:nvPr/>
        </p:nvSpPr>
        <p:spPr>
          <a:xfrm>
            <a:off x="736091" y="6015228"/>
            <a:ext cx="9222105" cy="497205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185544" algn="l" rtl="0" eaLnBrk="0">
              <a:lnSpc>
                <a:spcPct val="90000"/>
              </a:lnSpc>
              <a:spcBef>
                <a:spcPts val="4"/>
              </a:spcBef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边际成本曲线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边际燃料曲线 × （燃料成本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变运行与维护成本）</a:t>
            </a:r>
            <a:r>
              <a:rPr sz="1500" b="1" kern="0" spc="-1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</a:t>
            </a:r>
            <a:r>
              <a:rPr sz="1500" b="1" kern="0" spc="-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性能系数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70" name="textbox 3170"/>
          <p:cNvSpPr/>
          <p:nvPr/>
        </p:nvSpPr>
        <p:spPr>
          <a:xfrm>
            <a:off x="3211641" y="1933385"/>
            <a:ext cx="4237354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对总燃料曲线进行一阶求导得到了边际燃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料曲线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72" name="textbox 3172"/>
          <p:cNvSpPr/>
          <p:nvPr/>
        </p:nvSpPr>
        <p:spPr>
          <a:xfrm>
            <a:off x="524250" y="1117130"/>
            <a:ext cx="2722879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4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火电机组的边际成本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174" name="picture 31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textbox 3176"/>
          <p:cNvSpPr/>
          <p:nvPr/>
        </p:nvSpPr>
        <p:spPr>
          <a:xfrm>
            <a:off x="880300" y="3175277"/>
            <a:ext cx="3000375" cy="1357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18210" algn="l" rtl="0" eaLnBrk="0">
              <a:lnSpc>
                <a:spcPct val="83000"/>
              </a:lnSpc>
              <a:tabLst/>
            </a:pP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</a:t>
            </a:r>
            <a:r>
              <a:rPr sz="4200" b="1" kern="0" spc="8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 sz="4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1"/>
              </a:spcBef>
              <a:tabLst/>
            </a:pPr>
            <a:r>
              <a:rPr sz="4200" b="1" kern="0" spc="-2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 sz="4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20" name="group 320"/>
          <p:cNvGrpSpPr/>
          <p:nvPr/>
        </p:nvGrpSpPr>
        <p:grpSpPr>
          <a:xfrm rot="21600000">
            <a:off x="4762500" y="900683"/>
            <a:ext cx="4724400" cy="559308"/>
            <a:chOff x="0" y="0"/>
            <a:chExt cx="4724400" cy="559308"/>
          </a:xfrm>
        </p:grpSpPr>
        <p:pic>
          <p:nvPicPr>
            <p:cNvPr id="3178" name="picture 317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180" name="textbox 3180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9254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307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集中式现货市场的典型设计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182" name="path 3182"/>
            <p:cNvSpPr/>
            <p:nvPr/>
          </p:nvSpPr>
          <p:spPr>
            <a:xfrm>
              <a:off x="897775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9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22" name="group 322"/>
          <p:cNvGrpSpPr/>
          <p:nvPr/>
        </p:nvGrpSpPr>
        <p:grpSpPr>
          <a:xfrm rot="21600000">
            <a:off x="4762500" y="3128771"/>
            <a:ext cx="4724400" cy="559308"/>
            <a:chOff x="0" y="0"/>
            <a:chExt cx="4724400" cy="559308"/>
          </a:xfrm>
        </p:grpSpPr>
        <p:pic>
          <p:nvPicPr>
            <p:cNvPr id="3184" name="picture 318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186" name="textbox 3186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68934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40" baseline="3586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发电企业现货市场交易策略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188" name="path 3188"/>
            <p:cNvSpPr/>
            <p:nvPr/>
          </p:nvSpPr>
          <p:spPr>
            <a:xfrm>
              <a:off x="878776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6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24" name="group 324"/>
          <p:cNvGrpSpPr/>
          <p:nvPr/>
        </p:nvGrpSpPr>
        <p:grpSpPr>
          <a:xfrm rot="21600000">
            <a:off x="4762500" y="1642871"/>
            <a:ext cx="4724400" cy="559308"/>
            <a:chOff x="0" y="0"/>
            <a:chExt cx="4724400" cy="559308"/>
          </a:xfrm>
        </p:grpSpPr>
        <p:pic>
          <p:nvPicPr>
            <p:cNvPr id="3190" name="picture 31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192" name="textbox 3192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8459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典型省份电力现货市场设计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194" name="path 3194"/>
            <p:cNvSpPr/>
            <p:nvPr/>
          </p:nvSpPr>
          <p:spPr>
            <a:xfrm>
              <a:off x="887107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26" name="group 326"/>
          <p:cNvGrpSpPr/>
          <p:nvPr/>
        </p:nvGrpSpPr>
        <p:grpSpPr>
          <a:xfrm rot="21600000">
            <a:off x="4762500" y="3870959"/>
            <a:ext cx="4724400" cy="559308"/>
            <a:chOff x="0" y="0"/>
            <a:chExt cx="4724400" cy="559308"/>
          </a:xfrm>
        </p:grpSpPr>
        <p:pic>
          <p:nvPicPr>
            <p:cNvPr id="3196" name="picture 319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198" name="textbox 3198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671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4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售电公司现货市场交易策略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200" name="path 3200"/>
            <p:cNvSpPr/>
            <p:nvPr/>
          </p:nvSpPr>
          <p:spPr>
            <a:xfrm>
              <a:off x="895641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28" name="group 328"/>
          <p:cNvGrpSpPr/>
          <p:nvPr/>
        </p:nvGrpSpPr>
        <p:grpSpPr>
          <a:xfrm rot="21600000">
            <a:off x="4762500" y="6099047"/>
            <a:ext cx="4724400" cy="559307"/>
            <a:chOff x="0" y="0"/>
            <a:chExt cx="4724400" cy="559307"/>
          </a:xfrm>
        </p:grpSpPr>
        <p:pic>
          <p:nvPicPr>
            <p:cNvPr id="3202" name="picture 320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3204" name="textbox 3204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592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40" baseline="3345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量化交易在电力现货的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实践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206" name="path 3206"/>
            <p:cNvSpPr/>
            <p:nvPr/>
          </p:nvSpPr>
          <p:spPr>
            <a:xfrm>
              <a:off x="885710" y="192023"/>
              <a:ext cx="185928" cy="175260"/>
            </a:xfrm>
            <a:custGeom>
              <a:avLst/>
              <a:gdLst/>
              <a:ahLst/>
              <a:cxnLst/>
              <a:rect l="0" t="0" r="0" b="0"/>
              <a:pathLst>
                <a:path w="292" h="276">
                  <a:moveTo>
                    <a:pt x="0" y="0"/>
                  </a:moveTo>
                  <a:lnTo>
                    <a:pt x="292" y="139"/>
                  </a:lnTo>
                  <a:lnTo>
                    <a:pt x="0" y="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30" name="group 330"/>
          <p:cNvGrpSpPr/>
          <p:nvPr/>
        </p:nvGrpSpPr>
        <p:grpSpPr>
          <a:xfrm rot="21600000">
            <a:off x="4762500" y="5356860"/>
            <a:ext cx="4724400" cy="559307"/>
            <a:chOff x="0" y="0"/>
            <a:chExt cx="4724400" cy="559307"/>
          </a:xfrm>
        </p:grpSpPr>
        <p:pic>
          <p:nvPicPr>
            <p:cNvPr id="3208" name="picture 320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3210" name="textbox 3210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719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20" baseline="450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试结算案例分析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212" name="path 3212"/>
            <p:cNvSpPr/>
            <p:nvPr/>
          </p:nvSpPr>
          <p:spPr>
            <a:xfrm>
              <a:off x="884504" y="192023"/>
              <a:ext cx="185928" cy="173736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32" name="group 332"/>
          <p:cNvGrpSpPr/>
          <p:nvPr/>
        </p:nvGrpSpPr>
        <p:grpSpPr>
          <a:xfrm rot="21600000">
            <a:off x="4762500" y="4614671"/>
            <a:ext cx="4724400" cy="557783"/>
            <a:chOff x="0" y="0"/>
            <a:chExt cx="4724400" cy="557783"/>
          </a:xfrm>
        </p:grpSpPr>
        <p:pic>
          <p:nvPicPr>
            <p:cNvPr id="3214" name="picture 32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3216" name="textbox 3216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7909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20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中长期合约交易策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218" name="path 3218"/>
            <p:cNvSpPr/>
            <p:nvPr/>
          </p:nvSpPr>
          <p:spPr>
            <a:xfrm>
              <a:off x="881290" y="192024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34" name="group 334"/>
          <p:cNvGrpSpPr/>
          <p:nvPr/>
        </p:nvGrpSpPr>
        <p:grpSpPr>
          <a:xfrm rot="21600000">
            <a:off x="4762500" y="2386584"/>
            <a:ext cx="4724400" cy="557783"/>
            <a:chOff x="0" y="0"/>
            <a:chExt cx="4724400" cy="557783"/>
          </a:xfrm>
        </p:grpSpPr>
        <p:pic>
          <p:nvPicPr>
            <p:cNvPr id="3220" name="picture 32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3222" name="textbox 3222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84809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2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  <a:r>
                <a:rPr sz="20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电力市场的经济学原理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224" name="path 3224"/>
            <p:cNvSpPr/>
            <p:nvPr/>
          </p:nvSpPr>
          <p:spPr>
            <a:xfrm>
              <a:off x="892505" y="192023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226" name="path 3226"/>
          <p:cNvSpPr/>
          <p:nvPr/>
        </p:nvSpPr>
        <p:spPr>
          <a:xfrm>
            <a:off x="4271771" y="835152"/>
            <a:ext cx="6096" cy="5890259"/>
          </a:xfrm>
          <a:custGeom>
            <a:avLst/>
            <a:gdLst/>
            <a:ahLst/>
            <a:cxnLst/>
            <a:rect l="0" t="0" r="0" b="0"/>
            <a:pathLst>
              <a:path w="9" h="9275">
                <a:moveTo>
                  <a:pt x="4" y="0"/>
                </a:moveTo>
                <a:lnTo>
                  <a:pt x="4" y="9275"/>
                </a:ln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8" name="picture 32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213860" y="2535935"/>
            <a:ext cx="6085331" cy="2939795"/>
          </a:xfrm>
          <a:prstGeom prst="rect">
            <a:avLst/>
          </a:prstGeom>
        </p:spPr>
      </p:pic>
      <p:sp>
        <p:nvSpPr>
          <p:cNvPr id="3230" name="textbox 3230"/>
          <p:cNvSpPr/>
          <p:nvPr/>
        </p:nvSpPr>
        <p:spPr>
          <a:xfrm>
            <a:off x="406908" y="2420111"/>
            <a:ext cx="3270884" cy="3018154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1280" algn="l" rtl="0" eaLnBrk="0">
              <a:lnSpc>
                <a:spcPct val="169000"/>
              </a:lnSpc>
              <a:tabLst/>
            </a:pPr>
            <a:r>
              <a:rPr sz="14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现货市场中，一旦有其他机组的报价低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于自己中长期合约电量的发电成本，</a:t>
            </a:r>
            <a:r>
              <a:rPr sz="1400" b="1" kern="0" spc="-2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</a:t>
            </a:r>
            <a:r>
              <a:rPr sz="14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厂就愿意减少自己的中长期发电，</a:t>
            </a:r>
            <a:r>
              <a:rPr sz="1400" b="1" kern="0" spc="1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sz="1400" b="1" kern="0" spc="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差价合约的结算机制，</a:t>
            </a:r>
            <a:r>
              <a:rPr sz="1400" b="1" kern="0" spc="-23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由更低价的现货</a:t>
            </a:r>
            <a:r>
              <a:rPr sz="1400" b="1" kern="0" spc="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电来代替自己发电，</a:t>
            </a:r>
            <a:r>
              <a:rPr sz="1400" b="1" kern="0" spc="-24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以履行自己的中长</a:t>
            </a:r>
            <a:r>
              <a:rPr sz="14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期合约。虽然电厂在现货市场中减少了</a:t>
            </a:r>
            <a:r>
              <a:rPr sz="14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发电，但通过差价合约的结算，</a:t>
            </a:r>
            <a:r>
              <a:rPr sz="1400" b="1" kern="0" spc="1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反而增</a:t>
            </a:r>
            <a:r>
              <a:rPr sz="1400" b="1" kern="0" spc="-6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加了自身的利润</a:t>
            </a:r>
            <a:r>
              <a:rPr sz="1400" b="1" kern="0" spc="-13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，实现了资源优化配置。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32" name="textbox 3232"/>
          <p:cNvSpPr/>
          <p:nvPr/>
        </p:nvSpPr>
        <p:spPr>
          <a:xfrm>
            <a:off x="5680275" y="3419830"/>
            <a:ext cx="4606290" cy="2106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88414" algn="l" rtl="0" eaLnBrk="0">
              <a:lnSpc>
                <a:spcPct val="87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分段线性曲线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309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阶梯曲线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spcBef>
                <a:spcPts val="3"/>
              </a:spcBef>
              <a:tabLst/>
            </a:pPr>
            <a:r>
              <a:rPr sz="1200" b="1" kern="0" spc="1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34" name="textbox 3234"/>
          <p:cNvSpPr/>
          <p:nvPr/>
        </p:nvSpPr>
        <p:spPr>
          <a:xfrm>
            <a:off x="5448918" y="2348729"/>
            <a:ext cx="4753609" cy="552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5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根据边际成本曲线构建报价曲</a:t>
            </a:r>
            <a:r>
              <a:rPr sz="1700" b="1" kern="0" spc="4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边际成本曲线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36" name="textbox 3236"/>
          <p:cNvSpPr/>
          <p:nvPr/>
        </p:nvSpPr>
        <p:spPr>
          <a:xfrm>
            <a:off x="523049" y="1112586"/>
            <a:ext cx="3023870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4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机组日前市场报价策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38" name="picture 32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1249" y="6527292"/>
            <a:ext cx="10581134" cy="19811"/>
          </a:xfrm>
          <a:prstGeom prst="rect">
            <a:avLst/>
          </a:prstGeom>
        </p:spPr>
      </p:pic>
      <p:sp>
        <p:nvSpPr>
          <p:cNvPr id="3240" name="path 3240"/>
          <p:cNvSpPr/>
          <p:nvPr/>
        </p:nvSpPr>
        <p:spPr>
          <a:xfrm>
            <a:off x="867155" y="6376416"/>
            <a:ext cx="8645652" cy="3047"/>
          </a:xfrm>
          <a:custGeom>
            <a:avLst/>
            <a:gdLst/>
            <a:ahLst/>
            <a:cxnLst/>
            <a:rect l="0" t="0" r="0" b="0"/>
            <a:pathLst>
              <a:path w="13615" h="4">
                <a:moveTo>
                  <a:pt x="0" y="2"/>
                </a:moveTo>
                <a:lnTo>
                  <a:pt x="13615" y="2"/>
                </a:lnTo>
              </a:path>
            </a:pathLst>
          </a:custGeom>
          <a:noFill/>
          <a:ln w="3048" cap="flat">
            <a:solidFill>
              <a:srgbClr val="BFBFB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42" name="picture 32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663939" y="6070092"/>
            <a:ext cx="559308" cy="461771"/>
          </a:xfrm>
          <a:prstGeom prst="rect">
            <a:avLst/>
          </a:prstGeom>
        </p:spPr>
      </p:pic>
      <p:pic>
        <p:nvPicPr>
          <p:cNvPr id="3244" name="picture 32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92579" y="6128003"/>
            <a:ext cx="559308" cy="458724"/>
          </a:xfrm>
          <a:prstGeom prst="rect">
            <a:avLst/>
          </a:prstGeom>
        </p:spPr>
      </p:pic>
      <p:sp>
        <p:nvSpPr>
          <p:cNvPr id="3246" name="path 3246"/>
          <p:cNvSpPr/>
          <p:nvPr/>
        </p:nvSpPr>
        <p:spPr>
          <a:xfrm>
            <a:off x="2994469" y="6289547"/>
            <a:ext cx="195452" cy="151066"/>
          </a:xfrm>
          <a:custGeom>
            <a:avLst/>
            <a:gdLst/>
            <a:ahLst/>
            <a:cxnLst/>
            <a:rect l="0" t="0" r="0" b="0"/>
            <a:pathLst>
              <a:path w="307" h="237">
                <a:moveTo>
                  <a:pt x="189" y="40"/>
                </a:moveTo>
                <a:moveTo>
                  <a:pt x="189" y="40"/>
                </a:moveTo>
                <a:lnTo>
                  <a:pt x="221" y="55"/>
                </a:lnTo>
                <a:lnTo>
                  <a:pt x="230" y="9"/>
                </a:lnTo>
                <a:lnTo>
                  <a:pt x="189" y="40"/>
                </a:lnTo>
                <a:lnTo>
                  <a:pt x="189" y="40"/>
                </a:lnTo>
                <a:close/>
                <a:moveTo>
                  <a:pt x="230" y="60"/>
                </a:moveTo>
                <a:moveTo>
                  <a:pt x="230" y="60"/>
                </a:moveTo>
                <a:lnTo>
                  <a:pt x="254" y="88"/>
                </a:lnTo>
                <a:lnTo>
                  <a:pt x="281" y="60"/>
                </a:lnTo>
                <a:lnTo>
                  <a:pt x="230" y="60"/>
                </a:lnTo>
                <a:lnTo>
                  <a:pt x="230" y="60"/>
                </a:lnTo>
                <a:close/>
                <a:moveTo>
                  <a:pt x="254" y="100"/>
                </a:moveTo>
                <a:moveTo>
                  <a:pt x="254" y="100"/>
                </a:moveTo>
                <a:lnTo>
                  <a:pt x="254" y="129"/>
                </a:lnTo>
                <a:lnTo>
                  <a:pt x="300" y="115"/>
                </a:lnTo>
                <a:lnTo>
                  <a:pt x="254" y="100"/>
                </a:lnTo>
                <a:lnTo>
                  <a:pt x="254" y="100"/>
                </a:lnTo>
                <a:close/>
                <a:moveTo>
                  <a:pt x="254" y="141"/>
                </a:moveTo>
                <a:moveTo>
                  <a:pt x="254" y="141"/>
                </a:moveTo>
                <a:lnTo>
                  <a:pt x="240" y="170"/>
                </a:lnTo>
                <a:lnTo>
                  <a:pt x="281" y="170"/>
                </a:lnTo>
                <a:lnTo>
                  <a:pt x="254" y="141"/>
                </a:lnTo>
                <a:lnTo>
                  <a:pt x="254" y="141"/>
                </a:lnTo>
                <a:close/>
                <a:moveTo>
                  <a:pt x="221" y="177"/>
                </a:moveTo>
                <a:moveTo>
                  <a:pt x="221" y="177"/>
                </a:moveTo>
                <a:lnTo>
                  <a:pt x="189" y="196"/>
                </a:lnTo>
                <a:lnTo>
                  <a:pt x="230" y="218"/>
                </a:lnTo>
                <a:lnTo>
                  <a:pt x="221" y="177"/>
                </a:lnTo>
                <a:lnTo>
                  <a:pt x="221" y="177"/>
                </a:lnTo>
                <a:close/>
                <a:moveTo>
                  <a:pt x="180" y="196"/>
                </a:moveTo>
                <a:moveTo>
                  <a:pt x="180" y="196"/>
                </a:moveTo>
                <a:lnTo>
                  <a:pt x="137" y="196"/>
                </a:lnTo>
                <a:lnTo>
                  <a:pt x="151" y="230"/>
                </a:lnTo>
                <a:lnTo>
                  <a:pt x="180" y="196"/>
                </a:lnTo>
                <a:lnTo>
                  <a:pt x="180" y="196"/>
                </a:lnTo>
                <a:close/>
                <a:moveTo>
                  <a:pt x="120" y="196"/>
                </a:moveTo>
                <a:moveTo>
                  <a:pt x="120" y="196"/>
                </a:moveTo>
                <a:lnTo>
                  <a:pt x="86" y="177"/>
                </a:lnTo>
                <a:lnTo>
                  <a:pt x="86" y="218"/>
                </a:lnTo>
                <a:lnTo>
                  <a:pt x="120" y="196"/>
                </a:lnTo>
                <a:lnTo>
                  <a:pt x="120" y="196"/>
                </a:lnTo>
                <a:close/>
                <a:moveTo>
                  <a:pt x="77" y="170"/>
                </a:moveTo>
                <a:moveTo>
                  <a:pt x="77" y="170"/>
                </a:moveTo>
                <a:lnTo>
                  <a:pt x="60" y="141"/>
                </a:lnTo>
                <a:lnTo>
                  <a:pt x="36" y="177"/>
                </a:lnTo>
                <a:lnTo>
                  <a:pt x="77" y="170"/>
                </a:lnTo>
                <a:lnTo>
                  <a:pt x="77" y="170"/>
                </a:lnTo>
                <a:close/>
                <a:moveTo>
                  <a:pt x="50" y="129"/>
                </a:moveTo>
                <a:moveTo>
                  <a:pt x="50" y="129"/>
                </a:moveTo>
                <a:lnTo>
                  <a:pt x="50" y="100"/>
                </a:lnTo>
                <a:lnTo>
                  <a:pt x="7" y="115"/>
                </a:lnTo>
                <a:lnTo>
                  <a:pt x="50" y="129"/>
                </a:lnTo>
                <a:lnTo>
                  <a:pt x="50" y="129"/>
                </a:lnTo>
                <a:close/>
                <a:moveTo>
                  <a:pt x="60" y="88"/>
                </a:moveTo>
                <a:moveTo>
                  <a:pt x="60" y="88"/>
                </a:moveTo>
                <a:lnTo>
                  <a:pt x="77" y="60"/>
                </a:lnTo>
                <a:lnTo>
                  <a:pt x="26" y="60"/>
                </a:lnTo>
                <a:lnTo>
                  <a:pt x="60" y="88"/>
                </a:lnTo>
                <a:lnTo>
                  <a:pt x="60" y="88"/>
                </a:lnTo>
                <a:close/>
                <a:moveTo>
                  <a:pt x="86" y="55"/>
                </a:moveTo>
                <a:moveTo>
                  <a:pt x="86" y="55"/>
                </a:moveTo>
                <a:lnTo>
                  <a:pt x="120" y="40"/>
                </a:lnTo>
                <a:lnTo>
                  <a:pt x="86" y="16"/>
                </a:lnTo>
                <a:lnTo>
                  <a:pt x="86" y="55"/>
                </a:lnTo>
                <a:lnTo>
                  <a:pt x="86" y="55"/>
                </a:lnTo>
                <a:close/>
                <a:moveTo>
                  <a:pt x="137" y="33"/>
                </a:moveTo>
                <a:moveTo>
                  <a:pt x="137" y="33"/>
                </a:moveTo>
                <a:lnTo>
                  <a:pt x="170" y="33"/>
                </a:lnTo>
                <a:lnTo>
                  <a:pt x="151" y="0"/>
                </a:lnTo>
                <a:lnTo>
                  <a:pt x="137" y="33"/>
                </a:lnTo>
                <a:lnTo>
                  <a:pt x="137" y="33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48" name="picture 32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729483" y="6242303"/>
            <a:ext cx="560832" cy="376428"/>
          </a:xfrm>
          <a:prstGeom prst="rect">
            <a:avLst/>
          </a:prstGeom>
        </p:spPr>
      </p:pic>
      <p:sp>
        <p:nvSpPr>
          <p:cNvPr id="3250" name="path 3250"/>
          <p:cNvSpPr/>
          <p:nvPr/>
        </p:nvSpPr>
        <p:spPr>
          <a:xfrm>
            <a:off x="583691" y="6155435"/>
            <a:ext cx="519684" cy="373380"/>
          </a:xfrm>
          <a:custGeom>
            <a:avLst/>
            <a:gdLst/>
            <a:ahLst/>
            <a:cxnLst/>
            <a:rect l="0" t="0" r="0" b="0"/>
            <a:pathLst>
              <a:path w="818" h="588">
                <a:moveTo>
                  <a:pt x="0" y="588"/>
                </a:moveTo>
                <a:lnTo>
                  <a:pt x="88" y="588"/>
                </a:lnTo>
                <a:lnTo>
                  <a:pt x="388" y="588"/>
                </a:lnTo>
                <a:lnTo>
                  <a:pt x="424" y="588"/>
                </a:lnTo>
                <a:lnTo>
                  <a:pt x="748" y="588"/>
                </a:lnTo>
                <a:lnTo>
                  <a:pt x="818" y="588"/>
                </a:lnTo>
                <a:lnTo>
                  <a:pt x="818" y="542"/>
                </a:lnTo>
                <a:lnTo>
                  <a:pt x="748" y="542"/>
                </a:lnTo>
                <a:lnTo>
                  <a:pt x="748" y="194"/>
                </a:lnTo>
                <a:lnTo>
                  <a:pt x="424" y="194"/>
                </a:lnTo>
                <a:lnTo>
                  <a:pt x="424" y="0"/>
                </a:lnTo>
                <a:lnTo>
                  <a:pt x="88" y="0"/>
                </a:lnTo>
                <a:lnTo>
                  <a:pt x="88" y="542"/>
                </a:lnTo>
                <a:lnTo>
                  <a:pt x="0" y="542"/>
                </a:lnTo>
                <a:lnTo>
                  <a:pt x="0" y="588"/>
                </a:lnTo>
                <a:lnTo>
                  <a:pt x="0" y="588"/>
                </a:lnTo>
                <a:close/>
                <a:moveTo>
                  <a:pt x="453" y="290"/>
                </a:moveTo>
                <a:lnTo>
                  <a:pt x="453" y="290"/>
                </a:lnTo>
                <a:lnTo>
                  <a:pt x="688" y="290"/>
                </a:lnTo>
                <a:lnTo>
                  <a:pt x="688" y="290"/>
                </a:lnTo>
                <a:lnTo>
                  <a:pt x="688" y="321"/>
                </a:lnTo>
                <a:lnTo>
                  <a:pt x="688" y="321"/>
                </a:lnTo>
                <a:lnTo>
                  <a:pt x="453" y="321"/>
                </a:lnTo>
                <a:lnTo>
                  <a:pt x="453" y="321"/>
                </a:lnTo>
                <a:lnTo>
                  <a:pt x="453" y="290"/>
                </a:lnTo>
                <a:lnTo>
                  <a:pt x="453" y="290"/>
                </a:lnTo>
                <a:close/>
                <a:moveTo>
                  <a:pt x="194" y="460"/>
                </a:moveTo>
                <a:lnTo>
                  <a:pt x="194" y="460"/>
                </a:lnTo>
                <a:lnTo>
                  <a:pt x="218" y="460"/>
                </a:lnTo>
                <a:lnTo>
                  <a:pt x="218" y="460"/>
                </a:lnTo>
                <a:lnTo>
                  <a:pt x="218" y="489"/>
                </a:lnTo>
                <a:lnTo>
                  <a:pt x="218" y="489"/>
                </a:lnTo>
                <a:lnTo>
                  <a:pt x="194" y="489"/>
                </a:lnTo>
                <a:lnTo>
                  <a:pt x="194" y="489"/>
                </a:lnTo>
                <a:lnTo>
                  <a:pt x="194" y="460"/>
                </a:lnTo>
                <a:lnTo>
                  <a:pt x="194" y="460"/>
                </a:lnTo>
                <a:close/>
                <a:moveTo>
                  <a:pt x="141" y="460"/>
                </a:moveTo>
                <a:lnTo>
                  <a:pt x="170" y="460"/>
                </a:lnTo>
                <a:lnTo>
                  <a:pt x="170" y="489"/>
                </a:lnTo>
                <a:lnTo>
                  <a:pt x="141" y="489"/>
                </a:lnTo>
                <a:lnTo>
                  <a:pt x="141" y="460"/>
                </a:lnTo>
                <a:lnTo>
                  <a:pt x="141" y="460"/>
                </a:lnTo>
                <a:close/>
                <a:moveTo>
                  <a:pt x="235" y="460"/>
                </a:moveTo>
                <a:lnTo>
                  <a:pt x="235" y="460"/>
                </a:lnTo>
                <a:lnTo>
                  <a:pt x="271" y="460"/>
                </a:lnTo>
                <a:lnTo>
                  <a:pt x="271" y="460"/>
                </a:lnTo>
                <a:lnTo>
                  <a:pt x="271" y="489"/>
                </a:lnTo>
                <a:lnTo>
                  <a:pt x="271" y="489"/>
                </a:lnTo>
                <a:lnTo>
                  <a:pt x="235" y="489"/>
                </a:lnTo>
                <a:lnTo>
                  <a:pt x="235" y="489"/>
                </a:lnTo>
                <a:lnTo>
                  <a:pt x="235" y="460"/>
                </a:lnTo>
                <a:lnTo>
                  <a:pt x="235" y="460"/>
                </a:lnTo>
                <a:close/>
                <a:moveTo>
                  <a:pt x="295" y="460"/>
                </a:moveTo>
                <a:lnTo>
                  <a:pt x="295" y="460"/>
                </a:lnTo>
                <a:lnTo>
                  <a:pt x="312" y="460"/>
                </a:lnTo>
                <a:lnTo>
                  <a:pt x="312" y="460"/>
                </a:lnTo>
                <a:lnTo>
                  <a:pt x="312" y="489"/>
                </a:lnTo>
                <a:lnTo>
                  <a:pt x="312" y="489"/>
                </a:lnTo>
                <a:lnTo>
                  <a:pt x="295" y="489"/>
                </a:lnTo>
                <a:lnTo>
                  <a:pt x="295" y="489"/>
                </a:lnTo>
                <a:lnTo>
                  <a:pt x="295" y="460"/>
                </a:lnTo>
                <a:lnTo>
                  <a:pt x="295" y="460"/>
                </a:lnTo>
                <a:close/>
                <a:moveTo>
                  <a:pt x="336" y="460"/>
                </a:moveTo>
                <a:lnTo>
                  <a:pt x="360" y="460"/>
                </a:lnTo>
                <a:lnTo>
                  <a:pt x="360" y="489"/>
                </a:lnTo>
                <a:lnTo>
                  <a:pt x="336" y="489"/>
                </a:lnTo>
                <a:lnTo>
                  <a:pt x="336" y="460"/>
                </a:lnTo>
                <a:lnTo>
                  <a:pt x="336" y="460"/>
                </a:lnTo>
                <a:close/>
                <a:moveTo>
                  <a:pt x="194" y="117"/>
                </a:moveTo>
                <a:lnTo>
                  <a:pt x="194" y="117"/>
                </a:lnTo>
                <a:lnTo>
                  <a:pt x="218" y="117"/>
                </a:lnTo>
                <a:lnTo>
                  <a:pt x="218" y="117"/>
                </a:lnTo>
                <a:lnTo>
                  <a:pt x="218" y="141"/>
                </a:lnTo>
                <a:lnTo>
                  <a:pt x="218" y="141"/>
                </a:lnTo>
                <a:lnTo>
                  <a:pt x="194" y="141"/>
                </a:lnTo>
                <a:lnTo>
                  <a:pt x="194" y="141"/>
                </a:lnTo>
                <a:lnTo>
                  <a:pt x="194" y="117"/>
                </a:lnTo>
                <a:lnTo>
                  <a:pt x="194" y="117"/>
                </a:lnTo>
                <a:close/>
                <a:moveTo>
                  <a:pt x="141" y="117"/>
                </a:moveTo>
                <a:lnTo>
                  <a:pt x="141" y="117"/>
                </a:lnTo>
                <a:lnTo>
                  <a:pt x="170" y="117"/>
                </a:lnTo>
                <a:lnTo>
                  <a:pt x="170" y="117"/>
                </a:lnTo>
                <a:lnTo>
                  <a:pt x="170" y="141"/>
                </a:lnTo>
                <a:lnTo>
                  <a:pt x="170" y="141"/>
                </a:lnTo>
                <a:lnTo>
                  <a:pt x="141" y="141"/>
                </a:lnTo>
                <a:lnTo>
                  <a:pt x="141" y="141"/>
                </a:lnTo>
                <a:lnTo>
                  <a:pt x="141" y="117"/>
                </a:lnTo>
                <a:lnTo>
                  <a:pt x="141" y="117"/>
                </a:lnTo>
                <a:close/>
                <a:moveTo>
                  <a:pt x="235" y="117"/>
                </a:moveTo>
                <a:lnTo>
                  <a:pt x="235" y="117"/>
                </a:lnTo>
                <a:lnTo>
                  <a:pt x="271" y="117"/>
                </a:lnTo>
                <a:lnTo>
                  <a:pt x="271" y="117"/>
                </a:lnTo>
                <a:lnTo>
                  <a:pt x="271" y="141"/>
                </a:lnTo>
                <a:lnTo>
                  <a:pt x="271" y="141"/>
                </a:lnTo>
                <a:lnTo>
                  <a:pt x="235" y="141"/>
                </a:lnTo>
                <a:lnTo>
                  <a:pt x="235" y="141"/>
                </a:lnTo>
                <a:lnTo>
                  <a:pt x="235" y="117"/>
                </a:lnTo>
                <a:lnTo>
                  <a:pt x="235" y="117"/>
                </a:lnTo>
                <a:close/>
                <a:moveTo>
                  <a:pt x="295" y="117"/>
                </a:moveTo>
                <a:lnTo>
                  <a:pt x="295" y="117"/>
                </a:lnTo>
                <a:lnTo>
                  <a:pt x="312" y="117"/>
                </a:lnTo>
                <a:lnTo>
                  <a:pt x="312" y="117"/>
                </a:lnTo>
                <a:lnTo>
                  <a:pt x="312" y="141"/>
                </a:lnTo>
                <a:lnTo>
                  <a:pt x="312" y="141"/>
                </a:lnTo>
                <a:lnTo>
                  <a:pt x="295" y="141"/>
                </a:lnTo>
                <a:lnTo>
                  <a:pt x="295" y="141"/>
                </a:lnTo>
                <a:lnTo>
                  <a:pt x="295" y="117"/>
                </a:lnTo>
                <a:lnTo>
                  <a:pt x="295" y="117"/>
                </a:lnTo>
                <a:close/>
                <a:moveTo>
                  <a:pt x="336" y="117"/>
                </a:moveTo>
                <a:lnTo>
                  <a:pt x="336" y="117"/>
                </a:lnTo>
                <a:lnTo>
                  <a:pt x="360" y="117"/>
                </a:lnTo>
                <a:lnTo>
                  <a:pt x="360" y="117"/>
                </a:lnTo>
                <a:lnTo>
                  <a:pt x="360" y="141"/>
                </a:lnTo>
                <a:lnTo>
                  <a:pt x="360" y="141"/>
                </a:lnTo>
                <a:lnTo>
                  <a:pt x="336" y="141"/>
                </a:lnTo>
                <a:lnTo>
                  <a:pt x="336" y="141"/>
                </a:lnTo>
                <a:lnTo>
                  <a:pt x="336" y="117"/>
                </a:lnTo>
                <a:lnTo>
                  <a:pt x="336" y="117"/>
                </a:lnTo>
                <a:close/>
                <a:moveTo>
                  <a:pt x="194" y="184"/>
                </a:moveTo>
                <a:lnTo>
                  <a:pt x="194" y="184"/>
                </a:lnTo>
                <a:lnTo>
                  <a:pt x="218" y="184"/>
                </a:lnTo>
                <a:lnTo>
                  <a:pt x="218" y="184"/>
                </a:lnTo>
                <a:lnTo>
                  <a:pt x="218" y="213"/>
                </a:lnTo>
                <a:lnTo>
                  <a:pt x="218" y="213"/>
                </a:lnTo>
                <a:lnTo>
                  <a:pt x="194" y="213"/>
                </a:lnTo>
                <a:lnTo>
                  <a:pt x="194" y="213"/>
                </a:lnTo>
                <a:lnTo>
                  <a:pt x="194" y="184"/>
                </a:lnTo>
                <a:lnTo>
                  <a:pt x="194" y="184"/>
                </a:lnTo>
                <a:close/>
                <a:moveTo>
                  <a:pt x="141" y="184"/>
                </a:moveTo>
                <a:lnTo>
                  <a:pt x="141" y="184"/>
                </a:lnTo>
                <a:lnTo>
                  <a:pt x="170" y="184"/>
                </a:lnTo>
                <a:lnTo>
                  <a:pt x="170" y="184"/>
                </a:lnTo>
                <a:lnTo>
                  <a:pt x="170" y="213"/>
                </a:lnTo>
                <a:lnTo>
                  <a:pt x="170" y="213"/>
                </a:lnTo>
                <a:lnTo>
                  <a:pt x="141" y="213"/>
                </a:lnTo>
                <a:lnTo>
                  <a:pt x="141" y="213"/>
                </a:lnTo>
                <a:lnTo>
                  <a:pt x="141" y="184"/>
                </a:lnTo>
                <a:lnTo>
                  <a:pt x="141" y="184"/>
                </a:lnTo>
                <a:close/>
                <a:moveTo>
                  <a:pt x="235" y="184"/>
                </a:moveTo>
                <a:lnTo>
                  <a:pt x="235" y="184"/>
                </a:lnTo>
                <a:lnTo>
                  <a:pt x="271" y="184"/>
                </a:lnTo>
                <a:lnTo>
                  <a:pt x="271" y="184"/>
                </a:lnTo>
                <a:lnTo>
                  <a:pt x="271" y="213"/>
                </a:lnTo>
                <a:lnTo>
                  <a:pt x="271" y="213"/>
                </a:lnTo>
                <a:lnTo>
                  <a:pt x="235" y="213"/>
                </a:lnTo>
                <a:lnTo>
                  <a:pt x="235" y="213"/>
                </a:lnTo>
                <a:lnTo>
                  <a:pt x="235" y="184"/>
                </a:lnTo>
                <a:lnTo>
                  <a:pt x="235" y="184"/>
                </a:lnTo>
                <a:close/>
                <a:moveTo>
                  <a:pt x="295" y="184"/>
                </a:moveTo>
                <a:lnTo>
                  <a:pt x="295" y="184"/>
                </a:lnTo>
                <a:lnTo>
                  <a:pt x="312" y="184"/>
                </a:lnTo>
                <a:lnTo>
                  <a:pt x="312" y="184"/>
                </a:lnTo>
                <a:lnTo>
                  <a:pt x="312" y="213"/>
                </a:lnTo>
                <a:lnTo>
                  <a:pt x="312" y="213"/>
                </a:lnTo>
                <a:lnTo>
                  <a:pt x="295" y="213"/>
                </a:lnTo>
                <a:lnTo>
                  <a:pt x="295" y="213"/>
                </a:lnTo>
                <a:lnTo>
                  <a:pt x="295" y="184"/>
                </a:lnTo>
                <a:lnTo>
                  <a:pt x="295" y="184"/>
                </a:lnTo>
                <a:close/>
                <a:moveTo>
                  <a:pt x="336" y="184"/>
                </a:moveTo>
                <a:lnTo>
                  <a:pt x="336" y="184"/>
                </a:lnTo>
                <a:lnTo>
                  <a:pt x="360" y="184"/>
                </a:lnTo>
                <a:lnTo>
                  <a:pt x="360" y="184"/>
                </a:lnTo>
                <a:lnTo>
                  <a:pt x="360" y="213"/>
                </a:lnTo>
                <a:lnTo>
                  <a:pt x="360" y="213"/>
                </a:lnTo>
                <a:lnTo>
                  <a:pt x="336" y="213"/>
                </a:lnTo>
                <a:lnTo>
                  <a:pt x="336" y="213"/>
                </a:lnTo>
                <a:lnTo>
                  <a:pt x="336" y="184"/>
                </a:lnTo>
                <a:lnTo>
                  <a:pt x="336" y="184"/>
                </a:lnTo>
                <a:close/>
                <a:moveTo>
                  <a:pt x="194" y="247"/>
                </a:moveTo>
                <a:lnTo>
                  <a:pt x="194" y="247"/>
                </a:lnTo>
                <a:lnTo>
                  <a:pt x="218" y="247"/>
                </a:lnTo>
                <a:lnTo>
                  <a:pt x="218" y="247"/>
                </a:lnTo>
                <a:lnTo>
                  <a:pt x="218" y="280"/>
                </a:lnTo>
                <a:lnTo>
                  <a:pt x="218" y="280"/>
                </a:lnTo>
                <a:lnTo>
                  <a:pt x="194" y="280"/>
                </a:lnTo>
                <a:lnTo>
                  <a:pt x="194" y="280"/>
                </a:lnTo>
                <a:lnTo>
                  <a:pt x="194" y="247"/>
                </a:lnTo>
                <a:lnTo>
                  <a:pt x="194" y="247"/>
                </a:lnTo>
                <a:close/>
                <a:moveTo>
                  <a:pt x="141" y="247"/>
                </a:moveTo>
                <a:lnTo>
                  <a:pt x="141" y="247"/>
                </a:lnTo>
                <a:lnTo>
                  <a:pt x="170" y="247"/>
                </a:lnTo>
                <a:lnTo>
                  <a:pt x="170" y="247"/>
                </a:lnTo>
                <a:lnTo>
                  <a:pt x="170" y="280"/>
                </a:lnTo>
                <a:lnTo>
                  <a:pt x="170" y="280"/>
                </a:lnTo>
                <a:lnTo>
                  <a:pt x="141" y="280"/>
                </a:lnTo>
                <a:lnTo>
                  <a:pt x="141" y="280"/>
                </a:lnTo>
                <a:lnTo>
                  <a:pt x="141" y="247"/>
                </a:lnTo>
                <a:lnTo>
                  <a:pt x="141" y="247"/>
                </a:lnTo>
                <a:close/>
                <a:moveTo>
                  <a:pt x="235" y="247"/>
                </a:moveTo>
                <a:lnTo>
                  <a:pt x="235" y="247"/>
                </a:lnTo>
                <a:lnTo>
                  <a:pt x="271" y="247"/>
                </a:lnTo>
                <a:lnTo>
                  <a:pt x="271" y="247"/>
                </a:lnTo>
                <a:lnTo>
                  <a:pt x="271" y="280"/>
                </a:lnTo>
                <a:lnTo>
                  <a:pt x="271" y="280"/>
                </a:lnTo>
                <a:lnTo>
                  <a:pt x="235" y="280"/>
                </a:lnTo>
                <a:lnTo>
                  <a:pt x="235" y="280"/>
                </a:lnTo>
                <a:lnTo>
                  <a:pt x="235" y="247"/>
                </a:lnTo>
                <a:lnTo>
                  <a:pt x="235" y="247"/>
                </a:lnTo>
                <a:close/>
                <a:moveTo>
                  <a:pt x="295" y="247"/>
                </a:moveTo>
                <a:lnTo>
                  <a:pt x="295" y="247"/>
                </a:lnTo>
                <a:lnTo>
                  <a:pt x="312" y="247"/>
                </a:lnTo>
                <a:lnTo>
                  <a:pt x="312" y="247"/>
                </a:lnTo>
                <a:lnTo>
                  <a:pt x="312" y="280"/>
                </a:lnTo>
                <a:lnTo>
                  <a:pt x="312" y="280"/>
                </a:lnTo>
                <a:lnTo>
                  <a:pt x="295" y="280"/>
                </a:lnTo>
                <a:lnTo>
                  <a:pt x="295" y="280"/>
                </a:lnTo>
                <a:lnTo>
                  <a:pt x="295" y="247"/>
                </a:lnTo>
                <a:lnTo>
                  <a:pt x="295" y="247"/>
                </a:lnTo>
                <a:close/>
                <a:moveTo>
                  <a:pt x="336" y="247"/>
                </a:moveTo>
                <a:lnTo>
                  <a:pt x="336" y="247"/>
                </a:lnTo>
                <a:lnTo>
                  <a:pt x="360" y="247"/>
                </a:lnTo>
                <a:lnTo>
                  <a:pt x="360" y="247"/>
                </a:lnTo>
                <a:lnTo>
                  <a:pt x="360" y="280"/>
                </a:lnTo>
                <a:lnTo>
                  <a:pt x="360" y="280"/>
                </a:lnTo>
                <a:lnTo>
                  <a:pt x="336" y="280"/>
                </a:lnTo>
                <a:lnTo>
                  <a:pt x="336" y="280"/>
                </a:lnTo>
                <a:lnTo>
                  <a:pt x="336" y="247"/>
                </a:lnTo>
                <a:lnTo>
                  <a:pt x="336" y="247"/>
                </a:lnTo>
                <a:close/>
                <a:moveTo>
                  <a:pt x="194" y="321"/>
                </a:moveTo>
                <a:lnTo>
                  <a:pt x="194" y="321"/>
                </a:lnTo>
                <a:lnTo>
                  <a:pt x="218" y="321"/>
                </a:lnTo>
                <a:lnTo>
                  <a:pt x="218" y="321"/>
                </a:lnTo>
                <a:lnTo>
                  <a:pt x="218" y="345"/>
                </a:lnTo>
                <a:lnTo>
                  <a:pt x="218" y="345"/>
                </a:lnTo>
                <a:lnTo>
                  <a:pt x="194" y="345"/>
                </a:lnTo>
                <a:lnTo>
                  <a:pt x="194" y="345"/>
                </a:lnTo>
                <a:lnTo>
                  <a:pt x="194" y="321"/>
                </a:lnTo>
                <a:lnTo>
                  <a:pt x="194" y="321"/>
                </a:lnTo>
                <a:close/>
                <a:moveTo>
                  <a:pt x="141" y="321"/>
                </a:moveTo>
                <a:lnTo>
                  <a:pt x="141" y="321"/>
                </a:lnTo>
                <a:lnTo>
                  <a:pt x="170" y="321"/>
                </a:lnTo>
                <a:lnTo>
                  <a:pt x="170" y="321"/>
                </a:lnTo>
                <a:lnTo>
                  <a:pt x="170" y="345"/>
                </a:lnTo>
                <a:lnTo>
                  <a:pt x="170" y="345"/>
                </a:lnTo>
                <a:lnTo>
                  <a:pt x="141" y="345"/>
                </a:lnTo>
                <a:lnTo>
                  <a:pt x="141" y="345"/>
                </a:lnTo>
                <a:lnTo>
                  <a:pt x="141" y="321"/>
                </a:lnTo>
                <a:lnTo>
                  <a:pt x="141" y="321"/>
                </a:lnTo>
                <a:close/>
                <a:moveTo>
                  <a:pt x="235" y="321"/>
                </a:moveTo>
                <a:lnTo>
                  <a:pt x="235" y="321"/>
                </a:lnTo>
                <a:lnTo>
                  <a:pt x="271" y="321"/>
                </a:lnTo>
                <a:lnTo>
                  <a:pt x="271" y="321"/>
                </a:lnTo>
                <a:lnTo>
                  <a:pt x="271" y="345"/>
                </a:lnTo>
                <a:lnTo>
                  <a:pt x="271" y="345"/>
                </a:lnTo>
                <a:lnTo>
                  <a:pt x="235" y="345"/>
                </a:lnTo>
                <a:lnTo>
                  <a:pt x="235" y="345"/>
                </a:lnTo>
                <a:lnTo>
                  <a:pt x="235" y="321"/>
                </a:lnTo>
                <a:lnTo>
                  <a:pt x="235" y="321"/>
                </a:lnTo>
                <a:close/>
                <a:moveTo>
                  <a:pt x="295" y="321"/>
                </a:moveTo>
                <a:lnTo>
                  <a:pt x="295" y="321"/>
                </a:lnTo>
                <a:lnTo>
                  <a:pt x="312" y="321"/>
                </a:lnTo>
                <a:lnTo>
                  <a:pt x="312" y="321"/>
                </a:lnTo>
                <a:lnTo>
                  <a:pt x="312" y="345"/>
                </a:lnTo>
                <a:lnTo>
                  <a:pt x="312" y="345"/>
                </a:lnTo>
                <a:lnTo>
                  <a:pt x="295" y="345"/>
                </a:lnTo>
                <a:lnTo>
                  <a:pt x="295" y="345"/>
                </a:lnTo>
                <a:lnTo>
                  <a:pt x="295" y="321"/>
                </a:lnTo>
                <a:lnTo>
                  <a:pt x="295" y="321"/>
                </a:lnTo>
                <a:close/>
                <a:moveTo>
                  <a:pt x="336" y="321"/>
                </a:moveTo>
                <a:lnTo>
                  <a:pt x="336" y="321"/>
                </a:lnTo>
                <a:lnTo>
                  <a:pt x="360" y="321"/>
                </a:lnTo>
                <a:lnTo>
                  <a:pt x="360" y="321"/>
                </a:lnTo>
                <a:lnTo>
                  <a:pt x="360" y="345"/>
                </a:lnTo>
                <a:lnTo>
                  <a:pt x="360" y="345"/>
                </a:lnTo>
                <a:lnTo>
                  <a:pt x="336" y="345"/>
                </a:lnTo>
                <a:lnTo>
                  <a:pt x="336" y="345"/>
                </a:lnTo>
                <a:lnTo>
                  <a:pt x="336" y="321"/>
                </a:lnTo>
                <a:lnTo>
                  <a:pt x="336" y="321"/>
                </a:lnTo>
                <a:close/>
                <a:moveTo>
                  <a:pt x="194" y="388"/>
                </a:moveTo>
                <a:lnTo>
                  <a:pt x="194" y="388"/>
                </a:lnTo>
                <a:lnTo>
                  <a:pt x="218" y="388"/>
                </a:lnTo>
                <a:lnTo>
                  <a:pt x="218" y="388"/>
                </a:lnTo>
                <a:lnTo>
                  <a:pt x="218" y="417"/>
                </a:lnTo>
                <a:lnTo>
                  <a:pt x="218" y="417"/>
                </a:lnTo>
                <a:lnTo>
                  <a:pt x="194" y="417"/>
                </a:lnTo>
                <a:lnTo>
                  <a:pt x="194" y="417"/>
                </a:lnTo>
                <a:lnTo>
                  <a:pt x="194" y="388"/>
                </a:lnTo>
                <a:lnTo>
                  <a:pt x="194" y="388"/>
                </a:lnTo>
                <a:close/>
                <a:moveTo>
                  <a:pt x="141" y="388"/>
                </a:moveTo>
                <a:lnTo>
                  <a:pt x="141" y="388"/>
                </a:lnTo>
                <a:lnTo>
                  <a:pt x="170" y="388"/>
                </a:lnTo>
                <a:lnTo>
                  <a:pt x="170" y="388"/>
                </a:lnTo>
                <a:lnTo>
                  <a:pt x="170" y="417"/>
                </a:lnTo>
                <a:lnTo>
                  <a:pt x="170" y="417"/>
                </a:lnTo>
                <a:lnTo>
                  <a:pt x="141" y="417"/>
                </a:lnTo>
                <a:lnTo>
                  <a:pt x="141" y="417"/>
                </a:lnTo>
                <a:lnTo>
                  <a:pt x="141" y="388"/>
                </a:lnTo>
                <a:lnTo>
                  <a:pt x="141" y="388"/>
                </a:lnTo>
                <a:close/>
                <a:moveTo>
                  <a:pt x="235" y="388"/>
                </a:moveTo>
                <a:lnTo>
                  <a:pt x="235" y="388"/>
                </a:lnTo>
                <a:lnTo>
                  <a:pt x="271" y="388"/>
                </a:lnTo>
                <a:lnTo>
                  <a:pt x="271" y="388"/>
                </a:lnTo>
                <a:lnTo>
                  <a:pt x="271" y="417"/>
                </a:lnTo>
                <a:lnTo>
                  <a:pt x="271" y="417"/>
                </a:lnTo>
                <a:lnTo>
                  <a:pt x="235" y="417"/>
                </a:lnTo>
                <a:lnTo>
                  <a:pt x="235" y="417"/>
                </a:lnTo>
                <a:lnTo>
                  <a:pt x="235" y="388"/>
                </a:lnTo>
                <a:lnTo>
                  <a:pt x="235" y="388"/>
                </a:lnTo>
                <a:close/>
                <a:moveTo>
                  <a:pt x="295" y="388"/>
                </a:moveTo>
                <a:lnTo>
                  <a:pt x="295" y="388"/>
                </a:lnTo>
                <a:lnTo>
                  <a:pt x="312" y="388"/>
                </a:lnTo>
                <a:lnTo>
                  <a:pt x="312" y="388"/>
                </a:lnTo>
                <a:lnTo>
                  <a:pt x="312" y="417"/>
                </a:lnTo>
                <a:lnTo>
                  <a:pt x="312" y="417"/>
                </a:lnTo>
                <a:lnTo>
                  <a:pt x="295" y="417"/>
                </a:lnTo>
                <a:lnTo>
                  <a:pt x="295" y="417"/>
                </a:lnTo>
                <a:lnTo>
                  <a:pt x="295" y="388"/>
                </a:lnTo>
                <a:lnTo>
                  <a:pt x="295" y="388"/>
                </a:lnTo>
                <a:close/>
                <a:moveTo>
                  <a:pt x="336" y="388"/>
                </a:moveTo>
                <a:lnTo>
                  <a:pt x="336" y="388"/>
                </a:lnTo>
                <a:lnTo>
                  <a:pt x="360" y="388"/>
                </a:lnTo>
                <a:lnTo>
                  <a:pt x="360" y="388"/>
                </a:lnTo>
                <a:lnTo>
                  <a:pt x="360" y="417"/>
                </a:lnTo>
                <a:lnTo>
                  <a:pt x="360" y="417"/>
                </a:lnTo>
                <a:lnTo>
                  <a:pt x="336" y="417"/>
                </a:lnTo>
                <a:lnTo>
                  <a:pt x="336" y="417"/>
                </a:lnTo>
                <a:lnTo>
                  <a:pt x="336" y="388"/>
                </a:lnTo>
                <a:lnTo>
                  <a:pt x="336" y="388"/>
                </a:lnTo>
                <a:close/>
                <a:moveTo>
                  <a:pt x="194" y="45"/>
                </a:moveTo>
                <a:lnTo>
                  <a:pt x="194" y="45"/>
                </a:lnTo>
                <a:lnTo>
                  <a:pt x="218" y="45"/>
                </a:lnTo>
                <a:lnTo>
                  <a:pt x="218" y="45"/>
                </a:lnTo>
                <a:lnTo>
                  <a:pt x="218" y="69"/>
                </a:lnTo>
                <a:lnTo>
                  <a:pt x="218" y="69"/>
                </a:lnTo>
                <a:lnTo>
                  <a:pt x="194" y="69"/>
                </a:lnTo>
                <a:lnTo>
                  <a:pt x="194" y="69"/>
                </a:lnTo>
                <a:lnTo>
                  <a:pt x="194" y="45"/>
                </a:lnTo>
                <a:lnTo>
                  <a:pt x="194" y="45"/>
                </a:lnTo>
                <a:close/>
                <a:moveTo>
                  <a:pt x="141" y="45"/>
                </a:moveTo>
                <a:lnTo>
                  <a:pt x="170" y="45"/>
                </a:lnTo>
                <a:lnTo>
                  <a:pt x="170" y="69"/>
                </a:lnTo>
                <a:lnTo>
                  <a:pt x="141" y="69"/>
                </a:lnTo>
                <a:lnTo>
                  <a:pt x="141" y="45"/>
                </a:lnTo>
                <a:lnTo>
                  <a:pt x="141" y="45"/>
                </a:lnTo>
                <a:close/>
                <a:moveTo>
                  <a:pt x="235" y="45"/>
                </a:moveTo>
                <a:lnTo>
                  <a:pt x="235" y="45"/>
                </a:lnTo>
                <a:lnTo>
                  <a:pt x="271" y="45"/>
                </a:lnTo>
                <a:lnTo>
                  <a:pt x="271" y="45"/>
                </a:lnTo>
                <a:lnTo>
                  <a:pt x="271" y="69"/>
                </a:lnTo>
                <a:lnTo>
                  <a:pt x="271" y="69"/>
                </a:lnTo>
                <a:lnTo>
                  <a:pt x="235" y="69"/>
                </a:lnTo>
                <a:lnTo>
                  <a:pt x="235" y="69"/>
                </a:lnTo>
                <a:lnTo>
                  <a:pt x="235" y="45"/>
                </a:lnTo>
                <a:lnTo>
                  <a:pt x="235" y="45"/>
                </a:lnTo>
                <a:close/>
                <a:moveTo>
                  <a:pt x="295" y="45"/>
                </a:moveTo>
                <a:lnTo>
                  <a:pt x="295" y="45"/>
                </a:lnTo>
                <a:lnTo>
                  <a:pt x="312" y="45"/>
                </a:lnTo>
                <a:lnTo>
                  <a:pt x="312" y="45"/>
                </a:lnTo>
                <a:lnTo>
                  <a:pt x="312" y="69"/>
                </a:lnTo>
                <a:lnTo>
                  <a:pt x="312" y="69"/>
                </a:lnTo>
                <a:lnTo>
                  <a:pt x="295" y="69"/>
                </a:lnTo>
                <a:lnTo>
                  <a:pt x="295" y="69"/>
                </a:lnTo>
                <a:lnTo>
                  <a:pt x="295" y="45"/>
                </a:lnTo>
                <a:lnTo>
                  <a:pt x="295" y="45"/>
                </a:lnTo>
                <a:close/>
                <a:moveTo>
                  <a:pt x="336" y="45"/>
                </a:moveTo>
                <a:lnTo>
                  <a:pt x="360" y="45"/>
                </a:lnTo>
                <a:lnTo>
                  <a:pt x="360" y="69"/>
                </a:lnTo>
                <a:lnTo>
                  <a:pt x="336" y="69"/>
                </a:lnTo>
                <a:lnTo>
                  <a:pt x="336" y="45"/>
                </a:lnTo>
                <a:lnTo>
                  <a:pt x="336" y="45"/>
                </a:lnTo>
                <a:close/>
                <a:moveTo>
                  <a:pt x="453" y="237"/>
                </a:moveTo>
                <a:lnTo>
                  <a:pt x="688" y="237"/>
                </a:lnTo>
                <a:lnTo>
                  <a:pt x="688" y="266"/>
                </a:lnTo>
                <a:lnTo>
                  <a:pt x="453" y="266"/>
                </a:lnTo>
                <a:lnTo>
                  <a:pt x="453" y="237"/>
                </a:lnTo>
                <a:lnTo>
                  <a:pt x="453" y="237"/>
                </a:lnTo>
                <a:close/>
                <a:moveTo>
                  <a:pt x="453" y="345"/>
                </a:moveTo>
                <a:lnTo>
                  <a:pt x="453" y="345"/>
                </a:lnTo>
                <a:lnTo>
                  <a:pt x="688" y="345"/>
                </a:lnTo>
                <a:lnTo>
                  <a:pt x="688" y="345"/>
                </a:lnTo>
                <a:lnTo>
                  <a:pt x="688" y="374"/>
                </a:lnTo>
                <a:lnTo>
                  <a:pt x="688" y="374"/>
                </a:lnTo>
                <a:lnTo>
                  <a:pt x="453" y="374"/>
                </a:lnTo>
                <a:lnTo>
                  <a:pt x="453" y="374"/>
                </a:lnTo>
                <a:lnTo>
                  <a:pt x="453" y="345"/>
                </a:lnTo>
                <a:lnTo>
                  <a:pt x="453" y="345"/>
                </a:lnTo>
                <a:close/>
                <a:moveTo>
                  <a:pt x="453" y="408"/>
                </a:moveTo>
                <a:lnTo>
                  <a:pt x="453" y="408"/>
                </a:lnTo>
                <a:lnTo>
                  <a:pt x="688" y="408"/>
                </a:lnTo>
                <a:lnTo>
                  <a:pt x="688" y="408"/>
                </a:lnTo>
                <a:lnTo>
                  <a:pt x="688" y="436"/>
                </a:lnTo>
                <a:lnTo>
                  <a:pt x="688" y="436"/>
                </a:lnTo>
                <a:lnTo>
                  <a:pt x="453" y="436"/>
                </a:lnTo>
                <a:lnTo>
                  <a:pt x="453" y="436"/>
                </a:lnTo>
                <a:lnTo>
                  <a:pt x="453" y="408"/>
                </a:lnTo>
                <a:lnTo>
                  <a:pt x="453" y="408"/>
                </a:lnTo>
                <a:close/>
                <a:moveTo>
                  <a:pt x="453" y="460"/>
                </a:moveTo>
                <a:lnTo>
                  <a:pt x="688" y="460"/>
                </a:lnTo>
                <a:lnTo>
                  <a:pt x="688" y="489"/>
                </a:lnTo>
                <a:lnTo>
                  <a:pt x="453" y="489"/>
                </a:lnTo>
                <a:lnTo>
                  <a:pt x="453" y="460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52" name="path 3252"/>
          <p:cNvSpPr/>
          <p:nvPr/>
        </p:nvSpPr>
        <p:spPr>
          <a:xfrm>
            <a:off x="9590532" y="6155435"/>
            <a:ext cx="519683" cy="373380"/>
          </a:xfrm>
          <a:custGeom>
            <a:avLst/>
            <a:gdLst/>
            <a:ahLst/>
            <a:cxnLst/>
            <a:rect l="0" t="0" r="0" b="0"/>
            <a:pathLst>
              <a:path w="818" h="588">
                <a:moveTo>
                  <a:pt x="0" y="588"/>
                </a:moveTo>
                <a:lnTo>
                  <a:pt x="86" y="588"/>
                </a:lnTo>
                <a:lnTo>
                  <a:pt x="388" y="588"/>
                </a:lnTo>
                <a:lnTo>
                  <a:pt x="422" y="588"/>
                </a:lnTo>
                <a:lnTo>
                  <a:pt x="746" y="588"/>
                </a:lnTo>
                <a:lnTo>
                  <a:pt x="818" y="588"/>
                </a:lnTo>
                <a:lnTo>
                  <a:pt x="818" y="542"/>
                </a:lnTo>
                <a:lnTo>
                  <a:pt x="746" y="542"/>
                </a:lnTo>
                <a:lnTo>
                  <a:pt x="746" y="194"/>
                </a:lnTo>
                <a:lnTo>
                  <a:pt x="422" y="194"/>
                </a:lnTo>
                <a:lnTo>
                  <a:pt x="422" y="0"/>
                </a:lnTo>
                <a:lnTo>
                  <a:pt x="86" y="0"/>
                </a:lnTo>
                <a:lnTo>
                  <a:pt x="86" y="542"/>
                </a:lnTo>
                <a:lnTo>
                  <a:pt x="0" y="542"/>
                </a:lnTo>
                <a:lnTo>
                  <a:pt x="0" y="588"/>
                </a:lnTo>
                <a:lnTo>
                  <a:pt x="0" y="588"/>
                </a:lnTo>
                <a:close/>
                <a:moveTo>
                  <a:pt x="453" y="290"/>
                </a:moveTo>
                <a:lnTo>
                  <a:pt x="453" y="290"/>
                </a:lnTo>
                <a:lnTo>
                  <a:pt x="688" y="290"/>
                </a:lnTo>
                <a:lnTo>
                  <a:pt x="688" y="290"/>
                </a:lnTo>
                <a:lnTo>
                  <a:pt x="688" y="321"/>
                </a:lnTo>
                <a:lnTo>
                  <a:pt x="688" y="321"/>
                </a:lnTo>
                <a:lnTo>
                  <a:pt x="453" y="321"/>
                </a:lnTo>
                <a:lnTo>
                  <a:pt x="453" y="321"/>
                </a:lnTo>
                <a:lnTo>
                  <a:pt x="453" y="290"/>
                </a:lnTo>
                <a:lnTo>
                  <a:pt x="453" y="290"/>
                </a:lnTo>
                <a:close/>
                <a:moveTo>
                  <a:pt x="194" y="460"/>
                </a:moveTo>
                <a:lnTo>
                  <a:pt x="194" y="460"/>
                </a:lnTo>
                <a:lnTo>
                  <a:pt x="215" y="460"/>
                </a:lnTo>
                <a:lnTo>
                  <a:pt x="215" y="460"/>
                </a:lnTo>
                <a:lnTo>
                  <a:pt x="215" y="489"/>
                </a:lnTo>
                <a:lnTo>
                  <a:pt x="215" y="489"/>
                </a:lnTo>
                <a:lnTo>
                  <a:pt x="194" y="489"/>
                </a:lnTo>
                <a:lnTo>
                  <a:pt x="194" y="489"/>
                </a:lnTo>
                <a:lnTo>
                  <a:pt x="194" y="460"/>
                </a:lnTo>
                <a:lnTo>
                  <a:pt x="194" y="460"/>
                </a:lnTo>
                <a:close/>
                <a:moveTo>
                  <a:pt x="139" y="460"/>
                </a:moveTo>
                <a:lnTo>
                  <a:pt x="170" y="460"/>
                </a:lnTo>
                <a:lnTo>
                  <a:pt x="170" y="489"/>
                </a:lnTo>
                <a:lnTo>
                  <a:pt x="139" y="489"/>
                </a:lnTo>
                <a:lnTo>
                  <a:pt x="139" y="460"/>
                </a:lnTo>
                <a:lnTo>
                  <a:pt x="139" y="460"/>
                </a:lnTo>
                <a:close/>
                <a:moveTo>
                  <a:pt x="235" y="460"/>
                </a:moveTo>
                <a:lnTo>
                  <a:pt x="235" y="460"/>
                </a:lnTo>
                <a:lnTo>
                  <a:pt x="268" y="460"/>
                </a:lnTo>
                <a:lnTo>
                  <a:pt x="268" y="460"/>
                </a:lnTo>
                <a:lnTo>
                  <a:pt x="268" y="489"/>
                </a:lnTo>
                <a:lnTo>
                  <a:pt x="268" y="489"/>
                </a:lnTo>
                <a:lnTo>
                  <a:pt x="235" y="489"/>
                </a:lnTo>
                <a:lnTo>
                  <a:pt x="235" y="489"/>
                </a:lnTo>
                <a:lnTo>
                  <a:pt x="235" y="460"/>
                </a:lnTo>
                <a:lnTo>
                  <a:pt x="235" y="460"/>
                </a:lnTo>
                <a:close/>
                <a:moveTo>
                  <a:pt x="292" y="460"/>
                </a:moveTo>
                <a:lnTo>
                  <a:pt x="292" y="460"/>
                </a:lnTo>
                <a:lnTo>
                  <a:pt x="311" y="460"/>
                </a:lnTo>
                <a:lnTo>
                  <a:pt x="311" y="460"/>
                </a:lnTo>
                <a:lnTo>
                  <a:pt x="311" y="489"/>
                </a:lnTo>
                <a:lnTo>
                  <a:pt x="311" y="489"/>
                </a:lnTo>
                <a:lnTo>
                  <a:pt x="292" y="489"/>
                </a:lnTo>
                <a:lnTo>
                  <a:pt x="292" y="489"/>
                </a:lnTo>
                <a:lnTo>
                  <a:pt x="292" y="460"/>
                </a:lnTo>
                <a:lnTo>
                  <a:pt x="292" y="460"/>
                </a:lnTo>
                <a:close/>
                <a:moveTo>
                  <a:pt x="333" y="460"/>
                </a:moveTo>
                <a:lnTo>
                  <a:pt x="357" y="460"/>
                </a:lnTo>
                <a:lnTo>
                  <a:pt x="357" y="489"/>
                </a:lnTo>
                <a:lnTo>
                  <a:pt x="333" y="489"/>
                </a:lnTo>
                <a:lnTo>
                  <a:pt x="333" y="460"/>
                </a:lnTo>
                <a:lnTo>
                  <a:pt x="333" y="460"/>
                </a:lnTo>
                <a:close/>
                <a:moveTo>
                  <a:pt x="194" y="117"/>
                </a:moveTo>
                <a:lnTo>
                  <a:pt x="194" y="117"/>
                </a:lnTo>
                <a:lnTo>
                  <a:pt x="215" y="117"/>
                </a:lnTo>
                <a:lnTo>
                  <a:pt x="215" y="117"/>
                </a:lnTo>
                <a:lnTo>
                  <a:pt x="215" y="141"/>
                </a:lnTo>
                <a:lnTo>
                  <a:pt x="215" y="141"/>
                </a:lnTo>
                <a:lnTo>
                  <a:pt x="194" y="141"/>
                </a:lnTo>
                <a:lnTo>
                  <a:pt x="194" y="141"/>
                </a:lnTo>
                <a:lnTo>
                  <a:pt x="194" y="117"/>
                </a:lnTo>
                <a:lnTo>
                  <a:pt x="194" y="117"/>
                </a:lnTo>
                <a:close/>
                <a:moveTo>
                  <a:pt x="139" y="117"/>
                </a:moveTo>
                <a:lnTo>
                  <a:pt x="139" y="117"/>
                </a:lnTo>
                <a:lnTo>
                  <a:pt x="170" y="117"/>
                </a:lnTo>
                <a:lnTo>
                  <a:pt x="170" y="117"/>
                </a:lnTo>
                <a:lnTo>
                  <a:pt x="170" y="141"/>
                </a:lnTo>
                <a:lnTo>
                  <a:pt x="170" y="141"/>
                </a:lnTo>
                <a:lnTo>
                  <a:pt x="139" y="141"/>
                </a:lnTo>
                <a:lnTo>
                  <a:pt x="139" y="141"/>
                </a:lnTo>
                <a:lnTo>
                  <a:pt x="139" y="117"/>
                </a:lnTo>
                <a:lnTo>
                  <a:pt x="139" y="117"/>
                </a:lnTo>
                <a:close/>
                <a:moveTo>
                  <a:pt x="235" y="117"/>
                </a:moveTo>
                <a:lnTo>
                  <a:pt x="235" y="117"/>
                </a:lnTo>
                <a:lnTo>
                  <a:pt x="268" y="117"/>
                </a:lnTo>
                <a:lnTo>
                  <a:pt x="268" y="117"/>
                </a:lnTo>
                <a:lnTo>
                  <a:pt x="268" y="141"/>
                </a:lnTo>
                <a:lnTo>
                  <a:pt x="268" y="141"/>
                </a:lnTo>
                <a:lnTo>
                  <a:pt x="235" y="141"/>
                </a:lnTo>
                <a:lnTo>
                  <a:pt x="235" y="141"/>
                </a:lnTo>
                <a:lnTo>
                  <a:pt x="235" y="117"/>
                </a:lnTo>
                <a:lnTo>
                  <a:pt x="235" y="117"/>
                </a:lnTo>
                <a:close/>
                <a:moveTo>
                  <a:pt x="292" y="117"/>
                </a:moveTo>
                <a:lnTo>
                  <a:pt x="292" y="117"/>
                </a:lnTo>
                <a:lnTo>
                  <a:pt x="311" y="117"/>
                </a:lnTo>
                <a:lnTo>
                  <a:pt x="311" y="117"/>
                </a:lnTo>
                <a:lnTo>
                  <a:pt x="311" y="141"/>
                </a:lnTo>
                <a:lnTo>
                  <a:pt x="311" y="141"/>
                </a:lnTo>
                <a:lnTo>
                  <a:pt x="292" y="141"/>
                </a:lnTo>
                <a:lnTo>
                  <a:pt x="292" y="141"/>
                </a:lnTo>
                <a:lnTo>
                  <a:pt x="292" y="117"/>
                </a:lnTo>
                <a:lnTo>
                  <a:pt x="292" y="117"/>
                </a:lnTo>
                <a:close/>
                <a:moveTo>
                  <a:pt x="333" y="117"/>
                </a:moveTo>
                <a:lnTo>
                  <a:pt x="333" y="117"/>
                </a:lnTo>
                <a:lnTo>
                  <a:pt x="357" y="117"/>
                </a:lnTo>
                <a:lnTo>
                  <a:pt x="357" y="117"/>
                </a:lnTo>
                <a:lnTo>
                  <a:pt x="357" y="141"/>
                </a:lnTo>
                <a:lnTo>
                  <a:pt x="357" y="141"/>
                </a:lnTo>
                <a:lnTo>
                  <a:pt x="333" y="141"/>
                </a:lnTo>
                <a:lnTo>
                  <a:pt x="333" y="141"/>
                </a:lnTo>
                <a:lnTo>
                  <a:pt x="333" y="117"/>
                </a:lnTo>
                <a:lnTo>
                  <a:pt x="333" y="117"/>
                </a:lnTo>
                <a:close/>
                <a:moveTo>
                  <a:pt x="194" y="184"/>
                </a:moveTo>
                <a:lnTo>
                  <a:pt x="194" y="184"/>
                </a:lnTo>
                <a:lnTo>
                  <a:pt x="215" y="184"/>
                </a:lnTo>
                <a:lnTo>
                  <a:pt x="215" y="184"/>
                </a:lnTo>
                <a:lnTo>
                  <a:pt x="215" y="213"/>
                </a:lnTo>
                <a:lnTo>
                  <a:pt x="215" y="213"/>
                </a:lnTo>
                <a:lnTo>
                  <a:pt x="194" y="213"/>
                </a:lnTo>
                <a:lnTo>
                  <a:pt x="194" y="213"/>
                </a:lnTo>
                <a:lnTo>
                  <a:pt x="194" y="184"/>
                </a:lnTo>
                <a:lnTo>
                  <a:pt x="194" y="184"/>
                </a:lnTo>
                <a:close/>
                <a:moveTo>
                  <a:pt x="139" y="184"/>
                </a:moveTo>
                <a:lnTo>
                  <a:pt x="139" y="184"/>
                </a:lnTo>
                <a:lnTo>
                  <a:pt x="170" y="184"/>
                </a:lnTo>
                <a:lnTo>
                  <a:pt x="170" y="184"/>
                </a:lnTo>
                <a:lnTo>
                  <a:pt x="170" y="213"/>
                </a:lnTo>
                <a:lnTo>
                  <a:pt x="170" y="213"/>
                </a:lnTo>
                <a:lnTo>
                  <a:pt x="139" y="213"/>
                </a:lnTo>
                <a:lnTo>
                  <a:pt x="139" y="213"/>
                </a:lnTo>
                <a:lnTo>
                  <a:pt x="139" y="184"/>
                </a:lnTo>
                <a:lnTo>
                  <a:pt x="139" y="184"/>
                </a:lnTo>
                <a:close/>
                <a:moveTo>
                  <a:pt x="235" y="184"/>
                </a:moveTo>
                <a:lnTo>
                  <a:pt x="235" y="184"/>
                </a:lnTo>
                <a:lnTo>
                  <a:pt x="268" y="184"/>
                </a:lnTo>
                <a:lnTo>
                  <a:pt x="268" y="184"/>
                </a:lnTo>
                <a:lnTo>
                  <a:pt x="268" y="213"/>
                </a:lnTo>
                <a:lnTo>
                  <a:pt x="268" y="213"/>
                </a:lnTo>
                <a:lnTo>
                  <a:pt x="235" y="213"/>
                </a:lnTo>
                <a:lnTo>
                  <a:pt x="235" y="213"/>
                </a:lnTo>
                <a:lnTo>
                  <a:pt x="235" y="184"/>
                </a:lnTo>
                <a:lnTo>
                  <a:pt x="235" y="184"/>
                </a:lnTo>
                <a:close/>
                <a:moveTo>
                  <a:pt x="292" y="184"/>
                </a:moveTo>
                <a:lnTo>
                  <a:pt x="292" y="184"/>
                </a:lnTo>
                <a:lnTo>
                  <a:pt x="311" y="184"/>
                </a:lnTo>
                <a:lnTo>
                  <a:pt x="311" y="184"/>
                </a:lnTo>
                <a:lnTo>
                  <a:pt x="311" y="213"/>
                </a:lnTo>
                <a:lnTo>
                  <a:pt x="311" y="213"/>
                </a:lnTo>
                <a:lnTo>
                  <a:pt x="292" y="213"/>
                </a:lnTo>
                <a:lnTo>
                  <a:pt x="292" y="213"/>
                </a:lnTo>
                <a:lnTo>
                  <a:pt x="292" y="184"/>
                </a:lnTo>
                <a:lnTo>
                  <a:pt x="292" y="184"/>
                </a:lnTo>
                <a:close/>
                <a:moveTo>
                  <a:pt x="333" y="184"/>
                </a:moveTo>
                <a:lnTo>
                  <a:pt x="333" y="184"/>
                </a:lnTo>
                <a:lnTo>
                  <a:pt x="357" y="184"/>
                </a:lnTo>
                <a:lnTo>
                  <a:pt x="357" y="184"/>
                </a:lnTo>
                <a:lnTo>
                  <a:pt x="357" y="213"/>
                </a:lnTo>
                <a:lnTo>
                  <a:pt x="357" y="213"/>
                </a:lnTo>
                <a:lnTo>
                  <a:pt x="333" y="213"/>
                </a:lnTo>
                <a:lnTo>
                  <a:pt x="333" y="213"/>
                </a:lnTo>
                <a:lnTo>
                  <a:pt x="333" y="184"/>
                </a:lnTo>
                <a:lnTo>
                  <a:pt x="333" y="184"/>
                </a:lnTo>
                <a:close/>
                <a:moveTo>
                  <a:pt x="194" y="247"/>
                </a:moveTo>
                <a:lnTo>
                  <a:pt x="194" y="247"/>
                </a:lnTo>
                <a:lnTo>
                  <a:pt x="215" y="247"/>
                </a:lnTo>
                <a:lnTo>
                  <a:pt x="215" y="247"/>
                </a:lnTo>
                <a:lnTo>
                  <a:pt x="215" y="280"/>
                </a:lnTo>
                <a:lnTo>
                  <a:pt x="215" y="280"/>
                </a:lnTo>
                <a:lnTo>
                  <a:pt x="194" y="280"/>
                </a:lnTo>
                <a:lnTo>
                  <a:pt x="194" y="280"/>
                </a:lnTo>
                <a:lnTo>
                  <a:pt x="194" y="247"/>
                </a:lnTo>
                <a:lnTo>
                  <a:pt x="194" y="247"/>
                </a:lnTo>
                <a:close/>
                <a:moveTo>
                  <a:pt x="139" y="247"/>
                </a:moveTo>
                <a:lnTo>
                  <a:pt x="139" y="247"/>
                </a:lnTo>
                <a:lnTo>
                  <a:pt x="170" y="247"/>
                </a:lnTo>
                <a:lnTo>
                  <a:pt x="170" y="247"/>
                </a:lnTo>
                <a:lnTo>
                  <a:pt x="170" y="280"/>
                </a:lnTo>
                <a:lnTo>
                  <a:pt x="170" y="280"/>
                </a:lnTo>
                <a:lnTo>
                  <a:pt x="139" y="280"/>
                </a:lnTo>
                <a:lnTo>
                  <a:pt x="139" y="280"/>
                </a:lnTo>
                <a:lnTo>
                  <a:pt x="139" y="247"/>
                </a:lnTo>
                <a:lnTo>
                  <a:pt x="139" y="247"/>
                </a:lnTo>
                <a:close/>
                <a:moveTo>
                  <a:pt x="235" y="247"/>
                </a:moveTo>
                <a:lnTo>
                  <a:pt x="235" y="247"/>
                </a:lnTo>
                <a:lnTo>
                  <a:pt x="268" y="247"/>
                </a:lnTo>
                <a:lnTo>
                  <a:pt x="268" y="247"/>
                </a:lnTo>
                <a:lnTo>
                  <a:pt x="268" y="280"/>
                </a:lnTo>
                <a:lnTo>
                  <a:pt x="268" y="280"/>
                </a:lnTo>
                <a:lnTo>
                  <a:pt x="235" y="280"/>
                </a:lnTo>
                <a:lnTo>
                  <a:pt x="235" y="280"/>
                </a:lnTo>
                <a:lnTo>
                  <a:pt x="235" y="247"/>
                </a:lnTo>
                <a:lnTo>
                  <a:pt x="235" y="247"/>
                </a:lnTo>
                <a:close/>
                <a:moveTo>
                  <a:pt x="292" y="247"/>
                </a:moveTo>
                <a:lnTo>
                  <a:pt x="292" y="247"/>
                </a:lnTo>
                <a:lnTo>
                  <a:pt x="311" y="247"/>
                </a:lnTo>
                <a:lnTo>
                  <a:pt x="311" y="247"/>
                </a:lnTo>
                <a:lnTo>
                  <a:pt x="311" y="280"/>
                </a:lnTo>
                <a:lnTo>
                  <a:pt x="311" y="280"/>
                </a:lnTo>
                <a:lnTo>
                  <a:pt x="292" y="280"/>
                </a:lnTo>
                <a:lnTo>
                  <a:pt x="292" y="280"/>
                </a:lnTo>
                <a:lnTo>
                  <a:pt x="292" y="247"/>
                </a:lnTo>
                <a:lnTo>
                  <a:pt x="292" y="247"/>
                </a:lnTo>
                <a:close/>
                <a:moveTo>
                  <a:pt x="333" y="247"/>
                </a:moveTo>
                <a:lnTo>
                  <a:pt x="333" y="247"/>
                </a:lnTo>
                <a:lnTo>
                  <a:pt x="357" y="247"/>
                </a:lnTo>
                <a:lnTo>
                  <a:pt x="357" y="247"/>
                </a:lnTo>
                <a:lnTo>
                  <a:pt x="357" y="280"/>
                </a:lnTo>
                <a:lnTo>
                  <a:pt x="357" y="280"/>
                </a:lnTo>
                <a:lnTo>
                  <a:pt x="333" y="280"/>
                </a:lnTo>
                <a:lnTo>
                  <a:pt x="333" y="280"/>
                </a:lnTo>
                <a:lnTo>
                  <a:pt x="333" y="247"/>
                </a:lnTo>
                <a:lnTo>
                  <a:pt x="333" y="247"/>
                </a:lnTo>
                <a:close/>
                <a:moveTo>
                  <a:pt x="194" y="321"/>
                </a:moveTo>
                <a:lnTo>
                  <a:pt x="194" y="321"/>
                </a:lnTo>
                <a:lnTo>
                  <a:pt x="215" y="321"/>
                </a:lnTo>
                <a:lnTo>
                  <a:pt x="215" y="321"/>
                </a:lnTo>
                <a:lnTo>
                  <a:pt x="215" y="345"/>
                </a:lnTo>
                <a:lnTo>
                  <a:pt x="215" y="345"/>
                </a:lnTo>
                <a:lnTo>
                  <a:pt x="194" y="345"/>
                </a:lnTo>
                <a:lnTo>
                  <a:pt x="194" y="345"/>
                </a:lnTo>
                <a:lnTo>
                  <a:pt x="194" y="321"/>
                </a:lnTo>
                <a:lnTo>
                  <a:pt x="194" y="321"/>
                </a:lnTo>
                <a:close/>
                <a:moveTo>
                  <a:pt x="139" y="321"/>
                </a:moveTo>
                <a:lnTo>
                  <a:pt x="139" y="321"/>
                </a:lnTo>
                <a:lnTo>
                  <a:pt x="170" y="321"/>
                </a:lnTo>
                <a:lnTo>
                  <a:pt x="170" y="321"/>
                </a:lnTo>
                <a:lnTo>
                  <a:pt x="170" y="345"/>
                </a:lnTo>
                <a:lnTo>
                  <a:pt x="170" y="345"/>
                </a:lnTo>
                <a:lnTo>
                  <a:pt x="139" y="345"/>
                </a:lnTo>
                <a:lnTo>
                  <a:pt x="139" y="345"/>
                </a:lnTo>
                <a:lnTo>
                  <a:pt x="139" y="321"/>
                </a:lnTo>
                <a:lnTo>
                  <a:pt x="139" y="321"/>
                </a:lnTo>
                <a:close/>
                <a:moveTo>
                  <a:pt x="235" y="321"/>
                </a:moveTo>
                <a:lnTo>
                  <a:pt x="235" y="321"/>
                </a:lnTo>
                <a:lnTo>
                  <a:pt x="268" y="321"/>
                </a:lnTo>
                <a:lnTo>
                  <a:pt x="268" y="321"/>
                </a:lnTo>
                <a:lnTo>
                  <a:pt x="268" y="345"/>
                </a:lnTo>
                <a:lnTo>
                  <a:pt x="268" y="345"/>
                </a:lnTo>
                <a:lnTo>
                  <a:pt x="235" y="345"/>
                </a:lnTo>
                <a:lnTo>
                  <a:pt x="235" y="345"/>
                </a:lnTo>
                <a:lnTo>
                  <a:pt x="235" y="321"/>
                </a:lnTo>
                <a:lnTo>
                  <a:pt x="235" y="321"/>
                </a:lnTo>
                <a:close/>
                <a:moveTo>
                  <a:pt x="292" y="321"/>
                </a:moveTo>
                <a:lnTo>
                  <a:pt x="292" y="321"/>
                </a:lnTo>
                <a:lnTo>
                  <a:pt x="311" y="321"/>
                </a:lnTo>
                <a:lnTo>
                  <a:pt x="311" y="321"/>
                </a:lnTo>
                <a:lnTo>
                  <a:pt x="311" y="345"/>
                </a:lnTo>
                <a:lnTo>
                  <a:pt x="311" y="345"/>
                </a:lnTo>
                <a:lnTo>
                  <a:pt x="292" y="345"/>
                </a:lnTo>
                <a:lnTo>
                  <a:pt x="292" y="345"/>
                </a:lnTo>
                <a:lnTo>
                  <a:pt x="292" y="321"/>
                </a:lnTo>
                <a:lnTo>
                  <a:pt x="292" y="321"/>
                </a:lnTo>
                <a:close/>
                <a:moveTo>
                  <a:pt x="333" y="321"/>
                </a:moveTo>
                <a:lnTo>
                  <a:pt x="333" y="321"/>
                </a:lnTo>
                <a:lnTo>
                  <a:pt x="357" y="321"/>
                </a:lnTo>
                <a:lnTo>
                  <a:pt x="357" y="321"/>
                </a:lnTo>
                <a:lnTo>
                  <a:pt x="357" y="345"/>
                </a:lnTo>
                <a:lnTo>
                  <a:pt x="357" y="345"/>
                </a:lnTo>
                <a:lnTo>
                  <a:pt x="333" y="345"/>
                </a:lnTo>
                <a:lnTo>
                  <a:pt x="333" y="345"/>
                </a:lnTo>
                <a:lnTo>
                  <a:pt x="333" y="321"/>
                </a:lnTo>
                <a:lnTo>
                  <a:pt x="333" y="321"/>
                </a:lnTo>
                <a:close/>
                <a:moveTo>
                  <a:pt x="194" y="388"/>
                </a:moveTo>
                <a:lnTo>
                  <a:pt x="194" y="388"/>
                </a:lnTo>
                <a:lnTo>
                  <a:pt x="215" y="388"/>
                </a:lnTo>
                <a:lnTo>
                  <a:pt x="215" y="388"/>
                </a:lnTo>
                <a:lnTo>
                  <a:pt x="215" y="417"/>
                </a:lnTo>
                <a:lnTo>
                  <a:pt x="215" y="417"/>
                </a:lnTo>
                <a:lnTo>
                  <a:pt x="194" y="417"/>
                </a:lnTo>
                <a:lnTo>
                  <a:pt x="194" y="417"/>
                </a:lnTo>
                <a:lnTo>
                  <a:pt x="194" y="388"/>
                </a:lnTo>
                <a:lnTo>
                  <a:pt x="194" y="388"/>
                </a:lnTo>
                <a:close/>
                <a:moveTo>
                  <a:pt x="139" y="388"/>
                </a:moveTo>
                <a:lnTo>
                  <a:pt x="139" y="388"/>
                </a:lnTo>
                <a:lnTo>
                  <a:pt x="170" y="388"/>
                </a:lnTo>
                <a:lnTo>
                  <a:pt x="170" y="388"/>
                </a:lnTo>
                <a:lnTo>
                  <a:pt x="170" y="417"/>
                </a:lnTo>
                <a:lnTo>
                  <a:pt x="170" y="417"/>
                </a:lnTo>
                <a:lnTo>
                  <a:pt x="139" y="417"/>
                </a:lnTo>
                <a:lnTo>
                  <a:pt x="139" y="417"/>
                </a:lnTo>
                <a:lnTo>
                  <a:pt x="139" y="388"/>
                </a:lnTo>
                <a:lnTo>
                  <a:pt x="139" y="388"/>
                </a:lnTo>
                <a:close/>
                <a:moveTo>
                  <a:pt x="235" y="388"/>
                </a:moveTo>
                <a:lnTo>
                  <a:pt x="235" y="388"/>
                </a:lnTo>
                <a:lnTo>
                  <a:pt x="268" y="388"/>
                </a:lnTo>
                <a:lnTo>
                  <a:pt x="268" y="388"/>
                </a:lnTo>
                <a:lnTo>
                  <a:pt x="268" y="417"/>
                </a:lnTo>
                <a:lnTo>
                  <a:pt x="268" y="417"/>
                </a:lnTo>
                <a:lnTo>
                  <a:pt x="235" y="417"/>
                </a:lnTo>
                <a:lnTo>
                  <a:pt x="235" y="417"/>
                </a:lnTo>
                <a:lnTo>
                  <a:pt x="235" y="388"/>
                </a:lnTo>
                <a:lnTo>
                  <a:pt x="235" y="388"/>
                </a:lnTo>
                <a:close/>
                <a:moveTo>
                  <a:pt x="292" y="388"/>
                </a:moveTo>
                <a:lnTo>
                  <a:pt x="292" y="388"/>
                </a:lnTo>
                <a:lnTo>
                  <a:pt x="311" y="388"/>
                </a:lnTo>
                <a:lnTo>
                  <a:pt x="311" y="388"/>
                </a:lnTo>
                <a:lnTo>
                  <a:pt x="311" y="417"/>
                </a:lnTo>
                <a:lnTo>
                  <a:pt x="311" y="417"/>
                </a:lnTo>
                <a:lnTo>
                  <a:pt x="292" y="417"/>
                </a:lnTo>
                <a:lnTo>
                  <a:pt x="292" y="417"/>
                </a:lnTo>
                <a:lnTo>
                  <a:pt x="292" y="388"/>
                </a:lnTo>
                <a:lnTo>
                  <a:pt x="292" y="388"/>
                </a:lnTo>
                <a:close/>
                <a:moveTo>
                  <a:pt x="333" y="388"/>
                </a:moveTo>
                <a:lnTo>
                  <a:pt x="333" y="388"/>
                </a:lnTo>
                <a:lnTo>
                  <a:pt x="357" y="388"/>
                </a:lnTo>
                <a:lnTo>
                  <a:pt x="357" y="388"/>
                </a:lnTo>
                <a:lnTo>
                  <a:pt x="357" y="417"/>
                </a:lnTo>
                <a:lnTo>
                  <a:pt x="357" y="417"/>
                </a:lnTo>
                <a:lnTo>
                  <a:pt x="333" y="417"/>
                </a:lnTo>
                <a:lnTo>
                  <a:pt x="333" y="417"/>
                </a:lnTo>
                <a:lnTo>
                  <a:pt x="333" y="388"/>
                </a:lnTo>
                <a:lnTo>
                  <a:pt x="333" y="388"/>
                </a:lnTo>
                <a:close/>
                <a:moveTo>
                  <a:pt x="194" y="45"/>
                </a:moveTo>
                <a:lnTo>
                  <a:pt x="194" y="45"/>
                </a:lnTo>
                <a:lnTo>
                  <a:pt x="215" y="45"/>
                </a:lnTo>
                <a:lnTo>
                  <a:pt x="215" y="45"/>
                </a:lnTo>
                <a:lnTo>
                  <a:pt x="215" y="69"/>
                </a:lnTo>
                <a:lnTo>
                  <a:pt x="215" y="69"/>
                </a:lnTo>
                <a:lnTo>
                  <a:pt x="194" y="69"/>
                </a:lnTo>
                <a:lnTo>
                  <a:pt x="194" y="69"/>
                </a:lnTo>
                <a:lnTo>
                  <a:pt x="194" y="45"/>
                </a:lnTo>
                <a:lnTo>
                  <a:pt x="194" y="45"/>
                </a:lnTo>
                <a:close/>
                <a:moveTo>
                  <a:pt x="139" y="45"/>
                </a:moveTo>
                <a:lnTo>
                  <a:pt x="170" y="45"/>
                </a:lnTo>
                <a:lnTo>
                  <a:pt x="170" y="69"/>
                </a:lnTo>
                <a:lnTo>
                  <a:pt x="139" y="69"/>
                </a:lnTo>
                <a:lnTo>
                  <a:pt x="139" y="45"/>
                </a:lnTo>
                <a:lnTo>
                  <a:pt x="139" y="45"/>
                </a:lnTo>
                <a:close/>
                <a:moveTo>
                  <a:pt x="235" y="45"/>
                </a:moveTo>
                <a:lnTo>
                  <a:pt x="235" y="45"/>
                </a:lnTo>
                <a:lnTo>
                  <a:pt x="268" y="45"/>
                </a:lnTo>
                <a:lnTo>
                  <a:pt x="268" y="45"/>
                </a:lnTo>
                <a:lnTo>
                  <a:pt x="268" y="69"/>
                </a:lnTo>
                <a:lnTo>
                  <a:pt x="268" y="69"/>
                </a:lnTo>
                <a:lnTo>
                  <a:pt x="235" y="69"/>
                </a:lnTo>
                <a:lnTo>
                  <a:pt x="235" y="69"/>
                </a:lnTo>
                <a:lnTo>
                  <a:pt x="235" y="45"/>
                </a:lnTo>
                <a:lnTo>
                  <a:pt x="235" y="45"/>
                </a:lnTo>
                <a:close/>
                <a:moveTo>
                  <a:pt x="292" y="45"/>
                </a:moveTo>
                <a:lnTo>
                  <a:pt x="292" y="45"/>
                </a:lnTo>
                <a:lnTo>
                  <a:pt x="311" y="45"/>
                </a:lnTo>
                <a:lnTo>
                  <a:pt x="311" y="45"/>
                </a:lnTo>
                <a:lnTo>
                  <a:pt x="311" y="69"/>
                </a:lnTo>
                <a:lnTo>
                  <a:pt x="311" y="69"/>
                </a:lnTo>
                <a:lnTo>
                  <a:pt x="292" y="69"/>
                </a:lnTo>
                <a:lnTo>
                  <a:pt x="292" y="69"/>
                </a:lnTo>
                <a:lnTo>
                  <a:pt x="292" y="45"/>
                </a:lnTo>
                <a:lnTo>
                  <a:pt x="292" y="45"/>
                </a:lnTo>
                <a:close/>
                <a:moveTo>
                  <a:pt x="333" y="45"/>
                </a:moveTo>
                <a:lnTo>
                  <a:pt x="357" y="45"/>
                </a:lnTo>
                <a:lnTo>
                  <a:pt x="357" y="69"/>
                </a:lnTo>
                <a:lnTo>
                  <a:pt x="333" y="69"/>
                </a:lnTo>
                <a:lnTo>
                  <a:pt x="333" y="45"/>
                </a:lnTo>
                <a:lnTo>
                  <a:pt x="333" y="45"/>
                </a:lnTo>
                <a:close/>
                <a:moveTo>
                  <a:pt x="453" y="237"/>
                </a:moveTo>
                <a:lnTo>
                  <a:pt x="688" y="237"/>
                </a:lnTo>
                <a:lnTo>
                  <a:pt x="688" y="266"/>
                </a:lnTo>
                <a:lnTo>
                  <a:pt x="453" y="266"/>
                </a:lnTo>
                <a:lnTo>
                  <a:pt x="453" y="237"/>
                </a:lnTo>
                <a:lnTo>
                  <a:pt x="453" y="237"/>
                </a:lnTo>
                <a:close/>
                <a:moveTo>
                  <a:pt x="453" y="345"/>
                </a:moveTo>
                <a:lnTo>
                  <a:pt x="453" y="345"/>
                </a:lnTo>
                <a:lnTo>
                  <a:pt x="688" y="345"/>
                </a:lnTo>
                <a:lnTo>
                  <a:pt x="688" y="345"/>
                </a:lnTo>
                <a:lnTo>
                  <a:pt x="688" y="374"/>
                </a:lnTo>
                <a:lnTo>
                  <a:pt x="688" y="374"/>
                </a:lnTo>
                <a:lnTo>
                  <a:pt x="453" y="374"/>
                </a:lnTo>
                <a:lnTo>
                  <a:pt x="453" y="374"/>
                </a:lnTo>
                <a:lnTo>
                  <a:pt x="453" y="345"/>
                </a:lnTo>
                <a:lnTo>
                  <a:pt x="453" y="345"/>
                </a:lnTo>
                <a:close/>
                <a:moveTo>
                  <a:pt x="453" y="408"/>
                </a:moveTo>
                <a:lnTo>
                  <a:pt x="453" y="408"/>
                </a:lnTo>
                <a:lnTo>
                  <a:pt x="688" y="408"/>
                </a:lnTo>
                <a:lnTo>
                  <a:pt x="688" y="408"/>
                </a:lnTo>
                <a:lnTo>
                  <a:pt x="688" y="436"/>
                </a:lnTo>
                <a:lnTo>
                  <a:pt x="688" y="436"/>
                </a:lnTo>
                <a:lnTo>
                  <a:pt x="453" y="436"/>
                </a:lnTo>
                <a:lnTo>
                  <a:pt x="453" y="436"/>
                </a:lnTo>
                <a:lnTo>
                  <a:pt x="453" y="408"/>
                </a:lnTo>
                <a:lnTo>
                  <a:pt x="453" y="408"/>
                </a:lnTo>
                <a:close/>
                <a:moveTo>
                  <a:pt x="453" y="460"/>
                </a:moveTo>
                <a:lnTo>
                  <a:pt x="688" y="460"/>
                </a:lnTo>
                <a:lnTo>
                  <a:pt x="688" y="489"/>
                </a:lnTo>
                <a:lnTo>
                  <a:pt x="453" y="489"/>
                </a:lnTo>
                <a:lnTo>
                  <a:pt x="453" y="460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54" name="path 3254"/>
          <p:cNvSpPr/>
          <p:nvPr/>
        </p:nvSpPr>
        <p:spPr>
          <a:xfrm>
            <a:off x="3954779" y="6152388"/>
            <a:ext cx="391667" cy="397763"/>
          </a:xfrm>
          <a:custGeom>
            <a:avLst/>
            <a:gdLst/>
            <a:ahLst/>
            <a:cxnLst/>
            <a:rect l="0" t="0" r="0" b="0"/>
            <a:pathLst>
              <a:path w="616" h="626">
                <a:moveTo>
                  <a:pt x="326" y="7"/>
                </a:moveTo>
                <a:lnTo>
                  <a:pt x="391" y="184"/>
                </a:lnTo>
                <a:lnTo>
                  <a:pt x="326" y="213"/>
                </a:lnTo>
                <a:lnTo>
                  <a:pt x="326" y="230"/>
                </a:lnTo>
                <a:lnTo>
                  <a:pt x="326" y="230"/>
                </a:lnTo>
                <a:lnTo>
                  <a:pt x="345" y="242"/>
                </a:lnTo>
                <a:lnTo>
                  <a:pt x="345" y="242"/>
                </a:lnTo>
                <a:lnTo>
                  <a:pt x="350" y="266"/>
                </a:lnTo>
                <a:lnTo>
                  <a:pt x="616" y="376"/>
                </a:lnTo>
                <a:lnTo>
                  <a:pt x="571" y="422"/>
                </a:lnTo>
                <a:lnTo>
                  <a:pt x="345" y="386"/>
                </a:lnTo>
                <a:lnTo>
                  <a:pt x="345" y="331"/>
                </a:lnTo>
                <a:lnTo>
                  <a:pt x="326" y="319"/>
                </a:lnTo>
                <a:lnTo>
                  <a:pt x="326" y="319"/>
                </a:lnTo>
                <a:lnTo>
                  <a:pt x="316" y="319"/>
                </a:lnTo>
                <a:lnTo>
                  <a:pt x="372" y="626"/>
                </a:lnTo>
                <a:lnTo>
                  <a:pt x="213" y="626"/>
                </a:lnTo>
                <a:lnTo>
                  <a:pt x="280" y="324"/>
                </a:lnTo>
                <a:lnTo>
                  <a:pt x="26" y="446"/>
                </a:lnTo>
                <a:lnTo>
                  <a:pt x="0" y="386"/>
                </a:lnTo>
                <a:lnTo>
                  <a:pt x="148" y="259"/>
                </a:lnTo>
                <a:lnTo>
                  <a:pt x="213" y="278"/>
                </a:lnTo>
                <a:lnTo>
                  <a:pt x="235" y="273"/>
                </a:lnTo>
                <a:lnTo>
                  <a:pt x="235" y="273"/>
                </a:lnTo>
                <a:lnTo>
                  <a:pt x="235" y="266"/>
                </a:lnTo>
                <a:lnTo>
                  <a:pt x="235" y="266"/>
                </a:lnTo>
                <a:lnTo>
                  <a:pt x="240" y="249"/>
                </a:lnTo>
                <a:lnTo>
                  <a:pt x="259" y="232"/>
                </a:lnTo>
                <a:lnTo>
                  <a:pt x="249" y="0"/>
                </a:lnTo>
                <a:lnTo>
                  <a:pt x="326" y="7"/>
                </a:lnTo>
                <a:lnTo>
                  <a:pt x="326" y="7"/>
                </a:lnTo>
                <a:close/>
                <a:moveTo>
                  <a:pt x="45" y="288"/>
                </a:moveTo>
                <a:lnTo>
                  <a:pt x="100" y="232"/>
                </a:lnTo>
                <a:lnTo>
                  <a:pt x="100" y="232"/>
                </a:lnTo>
                <a:lnTo>
                  <a:pt x="91" y="213"/>
                </a:lnTo>
                <a:lnTo>
                  <a:pt x="91" y="196"/>
                </a:lnTo>
                <a:lnTo>
                  <a:pt x="91" y="175"/>
                </a:lnTo>
                <a:lnTo>
                  <a:pt x="100" y="151"/>
                </a:lnTo>
                <a:lnTo>
                  <a:pt x="136" y="122"/>
                </a:lnTo>
                <a:lnTo>
                  <a:pt x="194" y="91"/>
                </a:lnTo>
                <a:lnTo>
                  <a:pt x="194" y="91"/>
                </a:lnTo>
                <a:lnTo>
                  <a:pt x="194" y="86"/>
                </a:lnTo>
                <a:lnTo>
                  <a:pt x="194" y="86"/>
                </a:lnTo>
                <a:lnTo>
                  <a:pt x="136" y="98"/>
                </a:lnTo>
                <a:lnTo>
                  <a:pt x="100" y="115"/>
                </a:lnTo>
                <a:lnTo>
                  <a:pt x="72" y="144"/>
                </a:lnTo>
                <a:lnTo>
                  <a:pt x="45" y="175"/>
                </a:lnTo>
                <a:lnTo>
                  <a:pt x="26" y="204"/>
                </a:lnTo>
                <a:lnTo>
                  <a:pt x="26" y="232"/>
                </a:lnTo>
                <a:lnTo>
                  <a:pt x="26" y="266"/>
                </a:lnTo>
                <a:lnTo>
                  <a:pt x="45" y="288"/>
                </a:lnTo>
                <a:lnTo>
                  <a:pt x="45" y="288"/>
                </a:lnTo>
                <a:close/>
                <a:moveTo>
                  <a:pt x="403" y="91"/>
                </a:moveTo>
                <a:lnTo>
                  <a:pt x="439" y="160"/>
                </a:lnTo>
                <a:lnTo>
                  <a:pt x="439" y="160"/>
                </a:lnTo>
                <a:lnTo>
                  <a:pt x="463" y="168"/>
                </a:lnTo>
                <a:lnTo>
                  <a:pt x="484" y="175"/>
                </a:lnTo>
                <a:lnTo>
                  <a:pt x="504" y="184"/>
                </a:lnTo>
                <a:lnTo>
                  <a:pt x="520" y="204"/>
                </a:lnTo>
                <a:lnTo>
                  <a:pt x="540" y="242"/>
                </a:lnTo>
                <a:lnTo>
                  <a:pt x="540" y="295"/>
                </a:lnTo>
                <a:lnTo>
                  <a:pt x="540" y="295"/>
                </a:lnTo>
                <a:lnTo>
                  <a:pt x="549" y="302"/>
                </a:lnTo>
                <a:lnTo>
                  <a:pt x="549" y="302"/>
                </a:lnTo>
                <a:lnTo>
                  <a:pt x="561" y="259"/>
                </a:lnTo>
                <a:lnTo>
                  <a:pt x="561" y="220"/>
                </a:lnTo>
                <a:lnTo>
                  <a:pt x="549" y="184"/>
                </a:lnTo>
                <a:lnTo>
                  <a:pt x="530" y="151"/>
                </a:lnTo>
                <a:lnTo>
                  <a:pt x="504" y="131"/>
                </a:lnTo>
                <a:lnTo>
                  <a:pt x="472" y="105"/>
                </a:lnTo>
                <a:lnTo>
                  <a:pt x="439" y="98"/>
                </a:lnTo>
                <a:lnTo>
                  <a:pt x="403" y="91"/>
                </a:lnTo>
                <a:lnTo>
                  <a:pt x="403" y="91"/>
                </a:lnTo>
                <a:close/>
                <a:moveTo>
                  <a:pt x="295" y="249"/>
                </a:moveTo>
                <a:lnTo>
                  <a:pt x="295" y="249"/>
                </a:lnTo>
                <a:lnTo>
                  <a:pt x="280" y="259"/>
                </a:lnTo>
                <a:lnTo>
                  <a:pt x="280" y="259"/>
                </a:lnTo>
                <a:lnTo>
                  <a:pt x="259" y="273"/>
                </a:lnTo>
                <a:lnTo>
                  <a:pt x="259" y="273"/>
                </a:lnTo>
                <a:lnTo>
                  <a:pt x="271" y="288"/>
                </a:lnTo>
                <a:lnTo>
                  <a:pt x="271" y="288"/>
                </a:lnTo>
                <a:lnTo>
                  <a:pt x="290" y="302"/>
                </a:lnTo>
                <a:lnTo>
                  <a:pt x="290" y="302"/>
                </a:lnTo>
                <a:lnTo>
                  <a:pt x="316" y="295"/>
                </a:lnTo>
                <a:lnTo>
                  <a:pt x="316" y="295"/>
                </a:lnTo>
                <a:lnTo>
                  <a:pt x="326" y="278"/>
                </a:lnTo>
                <a:lnTo>
                  <a:pt x="326" y="278"/>
                </a:lnTo>
                <a:lnTo>
                  <a:pt x="316" y="259"/>
                </a:lnTo>
                <a:lnTo>
                  <a:pt x="316" y="259"/>
                </a:lnTo>
                <a:lnTo>
                  <a:pt x="295" y="249"/>
                </a:lnTo>
                <a:lnTo>
                  <a:pt x="295" y="249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56" name="picture 32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259067" y="6409943"/>
            <a:ext cx="134111" cy="185927"/>
          </a:xfrm>
          <a:prstGeom prst="rect">
            <a:avLst/>
          </a:prstGeom>
        </p:spPr>
      </p:pic>
      <p:sp>
        <p:nvSpPr>
          <p:cNvPr id="3258" name="path 3258"/>
          <p:cNvSpPr/>
          <p:nvPr/>
        </p:nvSpPr>
        <p:spPr>
          <a:xfrm>
            <a:off x="6313932" y="6248400"/>
            <a:ext cx="449579" cy="297180"/>
          </a:xfrm>
          <a:custGeom>
            <a:avLst/>
            <a:gdLst/>
            <a:ahLst/>
            <a:cxnLst/>
            <a:rect l="0" t="0" r="0" b="0"/>
            <a:pathLst>
              <a:path w="707" h="468">
                <a:moveTo>
                  <a:pt x="220" y="266"/>
                </a:moveTo>
                <a:moveTo>
                  <a:pt x="220" y="266"/>
                </a:moveTo>
                <a:lnTo>
                  <a:pt x="220" y="266"/>
                </a:lnTo>
                <a:lnTo>
                  <a:pt x="240" y="276"/>
                </a:lnTo>
                <a:lnTo>
                  <a:pt x="266" y="302"/>
                </a:lnTo>
                <a:lnTo>
                  <a:pt x="266" y="302"/>
                </a:lnTo>
                <a:lnTo>
                  <a:pt x="278" y="326"/>
                </a:lnTo>
                <a:lnTo>
                  <a:pt x="287" y="357"/>
                </a:lnTo>
                <a:lnTo>
                  <a:pt x="287" y="357"/>
                </a:lnTo>
                <a:lnTo>
                  <a:pt x="278" y="383"/>
                </a:lnTo>
                <a:lnTo>
                  <a:pt x="276" y="400"/>
                </a:lnTo>
                <a:lnTo>
                  <a:pt x="256" y="422"/>
                </a:lnTo>
                <a:lnTo>
                  <a:pt x="240" y="439"/>
                </a:lnTo>
                <a:lnTo>
                  <a:pt x="240" y="439"/>
                </a:lnTo>
                <a:lnTo>
                  <a:pt x="220" y="451"/>
                </a:lnTo>
                <a:lnTo>
                  <a:pt x="194" y="460"/>
                </a:lnTo>
                <a:lnTo>
                  <a:pt x="172" y="468"/>
                </a:lnTo>
                <a:lnTo>
                  <a:pt x="139" y="468"/>
                </a:lnTo>
                <a:lnTo>
                  <a:pt x="139" y="468"/>
                </a:lnTo>
                <a:lnTo>
                  <a:pt x="117" y="468"/>
                </a:lnTo>
                <a:lnTo>
                  <a:pt x="88" y="460"/>
                </a:lnTo>
                <a:lnTo>
                  <a:pt x="62" y="451"/>
                </a:lnTo>
                <a:lnTo>
                  <a:pt x="40" y="439"/>
                </a:lnTo>
                <a:lnTo>
                  <a:pt x="40" y="439"/>
                </a:lnTo>
                <a:lnTo>
                  <a:pt x="23" y="422"/>
                </a:lnTo>
                <a:lnTo>
                  <a:pt x="7" y="400"/>
                </a:lnTo>
                <a:lnTo>
                  <a:pt x="0" y="383"/>
                </a:lnTo>
                <a:lnTo>
                  <a:pt x="0" y="357"/>
                </a:lnTo>
                <a:lnTo>
                  <a:pt x="0" y="357"/>
                </a:lnTo>
                <a:lnTo>
                  <a:pt x="7" y="326"/>
                </a:lnTo>
                <a:lnTo>
                  <a:pt x="23" y="302"/>
                </a:lnTo>
                <a:lnTo>
                  <a:pt x="23" y="302"/>
                </a:lnTo>
                <a:lnTo>
                  <a:pt x="40" y="276"/>
                </a:lnTo>
                <a:lnTo>
                  <a:pt x="62" y="266"/>
                </a:lnTo>
                <a:lnTo>
                  <a:pt x="62" y="60"/>
                </a:lnTo>
                <a:lnTo>
                  <a:pt x="62" y="60"/>
                </a:lnTo>
                <a:lnTo>
                  <a:pt x="71" y="38"/>
                </a:lnTo>
                <a:lnTo>
                  <a:pt x="88" y="16"/>
                </a:lnTo>
                <a:lnTo>
                  <a:pt x="88" y="16"/>
                </a:lnTo>
                <a:lnTo>
                  <a:pt x="110" y="7"/>
                </a:lnTo>
                <a:lnTo>
                  <a:pt x="139" y="0"/>
                </a:lnTo>
                <a:lnTo>
                  <a:pt x="139" y="0"/>
                </a:lnTo>
                <a:lnTo>
                  <a:pt x="172" y="7"/>
                </a:lnTo>
                <a:lnTo>
                  <a:pt x="194" y="16"/>
                </a:lnTo>
                <a:lnTo>
                  <a:pt x="194" y="16"/>
                </a:lnTo>
                <a:lnTo>
                  <a:pt x="211" y="38"/>
                </a:lnTo>
                <a:lnTo>
                  <a:pt x="220" y="60"/>
                </a:lnTo>
                <a:lnTo>
                  <a:pt x="220" y="266"/>
                </a:lnTo>
                <a:lnTo>
                  <a:pt x="220" y="266"/>
                </a:lnTo>
                <a:close/>
                <a:moveTo>
                  <a:pt x="156" y="290"/>
                </a:moveTo>
                <a:moveTo>
                  <a:pt x="156" y="290"/>
                </a:moveTo>
                <a:lnTo>
                  <a:pt x="156" y="60"/>
                </a:lnTo>
                <a:lnTo>
                  <a:pt x="156" y="60"/>
                </a:lnTo>
                <a:lnTo>
                  <a:pt x="156" y="48"/>
                </a:lnTo>
                <a:lnTo>
                  <a:pt x="139" y="48"/>
                </a:lnTo>
                <a:lnTo>
                  <a:pt x="139" y="48"/>
                </a:lnTo>
                <a:lnTo>
                  <a:pt x="134" y="48"/>
                </a:lnTo>
                <a:lnTo>
                  <a:pt x="127" y="60"/>
                </a:lnTo>
                <a:lnTo>
                  <a:pt x="127" y="290"/>
                </a:lnTo>
                <a:lnTo>
                  <a:pt x="100" y="302"/>
                </a:lnTo>
                <a:lnTo>
                  <a:pt x="100" y="302"/>
                </a:lnTo>
                <a:lnTo>
                  <a:pt x="88" y="314"/>
                </a:lnTo>
                <a:lnTo>
                  <a:pt x="71" y="326"/>
                </a:lnTo>
                <a:lnTo>
                  <a:pt x="62" y="340"/>
                </a:lnTo>
                <a:lnTo>
                  <a:pt x="62" y="357"/>
                </a:lnTo>
                <a:lnTo>
                  <a:pt x="62" y="357"/>
                </a:lnTo>
                <a:lnTo>
                  <a:pt x="71" y="383"/>
                </a:lnTo>
                <a:lnTo>
                  <a:pt x="88" y="400"/>
                </a:lnTo>
                <a:lnTo>
                  <a:pt x="110" y="422"/>
                </a:lnTo>
                <a:lnTo>
                  <a:pt x="139" y="424"/>
                </a:lnTo>
                <a:lnTo>
                  <a:pt x="139" y="424"/>
                </a:lnTo>
                <a:lnTo>
                  <a:pt x="172" y="422"/>
                </a:lnTo>
                <a:lnTo>
                  <a:pt x="203" y="400"/>
                </a:lnTo>
                <a:lnTo>
                  <a:pt x="220" y="383"/>
                </a:lnTo>
                <a:lnTo>
                  <a:pt x="227" y="357"/>
                </a:lnTo>
                <a:lnTo>
                  <a:pt x="227" y="357"/>
                </a:lnTo>
                <a:lnTo>
                  <a:pt x="220" y="340"/>
                </a:lnTo>
                <a:lnTo>
                  <a:pt x="211" y="326"/>
                </a:lnTo>
                <a:lnTo>
                  <a:pt x="194" y="314"/>
                </a:lnTo>
                <a:lnTo>
                  <a:pt x="182" y="302"/>
                </a:lnTo>
                <a:lnTo>
                  <a:pt x="156" y="290"/>
                </a:lnTo>
                <a:lnTo>
                  <a:pt x="156" y="290"/>
                </a:lnTo>
                <a:close/>
                <a:moveTo>
                  <a:pt x="232" y="314"/>
                </a:moveTo>
                <a:moveTo>
                  <a:pt x="232" y="314"/>
                </a:moveTo>
                <a:lnTo>
                  <a:pt x="232" y="314"/>
                </a:lnTo>
                <a:lnTo>
                  <a:pt x="220" y="297"/>
                </a:lnTo>
                <a:lnTo>
                  <a:pt x="194" y="283"/>
                </a:lnTo>
                <a:lnTo>
                  <a:pt x="182" y="283"/>
                </a:lnTo>
                <a:lnTo>
                  <a:pt x="182" y="273"/>
                </a:lnTo>
                <a:lnTo>
                  <a:pt x="182" y="60"/>
                </a:lnTo>
                <a:lnTo>
                  <a:pt x="182" y="60"/>
                </a:lnTo>
                <a:lnTo>
                  <a:pt x="182" y="48"/>
                </a:lnTo>
                <a:lnTo>
                  <a:pt x="172" y="38"/>
                </a:lnTo>
                <a:lnTo>
                  <a:pt x="172" y="38"/>
                </a:lnTo>
                <a:lnTo>
                  <a:pt x="156" y="31"/>
                </a:lnTo>
                <a:lnTo>
                  <a:pt x="139" y="31"/>
                </a:lnTo>
                <a:lnTo>
                  <a:pt x="139" y="31"/>
                </a:lnTo>
                <a:lnTo>
                  <a:pt x="127" y="31"/>
                </a:lnTo>
                <a:lnTo>
                  <a:pt x="117" y="38"/>
                </a:lnTo>
                <a:lnTo>
                  <a:pt x="117" y="38"/>
                </a:lnTo>
                <a:lnTo>
                  <a:pt x="110" y="48"/>
                </a:lnTo>
                <a:lnTo>
                  <a:pt x="100" y="60"/>
                </a:lnTo>
                <a:lnTo>
                  <a:pt x="100" y="273"/>
                </a:lnTo>
                <a:lnTo>
                  <a:pt x="100" y="283"/>
                </a:lnTo>
                <a:lnTo>
                  <a:pt x="93" y="283"/>
                </a:lnTo>
                <a:lnTo>
                  <a:pt x="93" y="283"/>
                </a:lnTo>
                <a:lnTo>
                  <a:pt x="71" y="297"/>
                </a:lnTo>
                <a:lnTo>
                  <a:pt x="55" y="314"/>
                </a:lnTo>
                <a:lnTo>
                  <a:pt x="55" y="314"/>
                </a:lnTo>
                <a:lnTo>
                  <a:pt x="40" y="333"/>
                </a:lnTo>
                <a:lnTo>
                  <a:pt x="40" y="357"/>
                </a:lnTo>
                <a:lnTo>
                  <a:pt x="40" y="357"/>
                </a:lnTo>
                <a:lnTo>
                  <a:pt x="45" y="388"/>
                </a:lnTo>
                <a:lnTo>
                  <a:pt x="71" y="422"/>
                </a:lnTo>
                <a:lnTo>
                  <a:pt x="71" y="422"/>
                </a:lnTo>
                <a:lnTo>
                  <a:pt x="100" y="431"/>
                </a:lnTo>
                <a:lnTo>
                  <a:pt x="139" y="443"/>
                </a:lnTo>
                <a:lnTo>
                  <a:pt x="139" y="443"/>
                </a:lnTo>
                <a:lnTo>
                  <a:pt x="182" y="431"/>
                </a:lnTo>
                <a:lnTo>
                  <a:pt x="220" y="422"/>
                </a:lnTo>
                <a:lnTo>
                  <a:pt x="220" y="422"/>
                </a:lnTo>
                <a:lnTo>
                  <a:pt x="240" y="388"/>
                </a:lnTo>
                <a:lnTo>
                  <a:pt x="249" y="357"/>
                </a:lnTo>
                <a:lnTo>
                  <a:pt x="249" y="357"/>
                </a:lnTo>
                <a:lnTo>
                  <a:pt x="240" y="333"/>
                </a:lnTo>
                <a:lnTo>
                  <a:pt x="232" y="314"/>
                </a:lnTo>
                <a:lnTo>
                  <a:pt x="232" y="314"/>
                </a:lnTo>
                <a:close/>
              </a:path>
              <a:path w="707" h="468">
                <a:moveTo>
                  <a:pt x="609" y="230"/>
                </a:moveTo>
                <a:moveTo>
                  <a:pt x="609" y="230"/>
                </a:moveTo>
                <a:lnTo>
                  <a:pt x="707" y="230"/>
                </a:lnTo>
                <a:lnTo>
                  <a:pt x="707" y="240"/>
                </a:lnTo>
                <a:lnTo>
                  <a:pt x="609" y="240"/>
                </a:lnTo>
                <a:lnTo>
                  <a:pt x="609" y="230"/>
                </a:lnTo>
                <a:lnTo>
                  <a:pt x="609" y="230"/>
                </a:lnTo>
                <a:close/>
                <a:moveTo>
                  <a:pt x="609" y="127"/>
                </a:moveTo>
                <a:moveTo>
                  <a:pt x="609" y="127"/>
                </a:moveTo>
                <a:lnTo>
                  <a:pt x="707" y="127"/>
                </a:lnTo>
                <a:lnTo>
                  <a:pt x="707" y="141"/>
                </a:lnTo>
                <a:lnTo>
                  <a:pt x="609" y="141"/>
                </a:lnTo>
                <a:lnTo>
                  <a:pt x="609" y="127"/>
                </a:lnTo>
                <a:lnTo>
                  <a:pt x="609" y="127"/>
                </a:lnTo>
                <a:close/>
                <a:moveTo>
                  <a:pt x="609" y="31"/>
                </a:moveTo>
                <a:moveTo>
                  <a:pt x="609" y="31"/>
                </a:moveTo>
                <a:lnTo>
                  <a:pt x="707" y="31"/>
                </a:lnTo>
                <a:lnTo>
                  <a:pt x="707" y="48"/>
                </a:lnTo>
                <a:lnTo>
                  <a:pt x="609" y="48"/>
                </a:lnTo>
                <a:lnTo>
                  <a:pt x="609" y="31"/>
                </a:lnTo>
                <a:lnTo>
                  <a:pt x="609" y="31"/>
                </a:lnTo>
                <a:close/>
                <a:moveTo>
                  <a:pt x="508" y="290"/>
                </a:moveTo>
                <a:moveTo>
                  <a:pt x="508" y="290"/>
                </a:moveTo>
                <a:lnTo>
                  <a:pt x="508" y="208"/>
                </a:lnTo>
                <a:lnTo>
                  <a:pt x="508" y="208"/>
                </a:lnTo>
                <a:lnTo>
                  <a:pt x="508" y="201"/>
                </a:lnTo>
                <a:lnTo>
                  <a:pt x="491" y="199"/>
                </a:lnTo>
                <a:lnTo>
                  <a:pt x="491" y="199"/>
                </a:lnTo>
                <a:lnTo>
                  <a:pt x="482" y="201"/>
                </a:lnTo>
                <a:lnTo>
                  <a:pt x="475" y="208"/>
                </a:lnTo>
                <a:lnTo>
                  <a:pt x="475" y="290"/>
                </a:lnTo>
                <a:lnTo>
                  <a:pt x="453" y="302"/>
                </a:lnTo>
                <a:lnTo>
                  <a:pt x="453" y="302"/>
                </a:lnTo>
                <a:lnTo>
                  <a:pt x="436" y="314"/>
                </a:lnTo>
                <a:lnTo>
                  <a:pt x="420" y="326"/>
                </a:lnTo>
                <a:lnTo>
                  <a:pt x="415" y="340"/>
                </a:lnTo>
                <a:lnTo>
                  <a:pt x="415" y="357"/>
                </a:lnTo>
                <a:lnTo>
                  <a:pt x="415" y="357"/>
                </a:lnTo>
                <a:lnTo>
                  <a:pt x="420" y="383"/>
                </a:lnTo>
                <a:lnTo>
                  <a:pt x="436" y="400"/>
                </a:lnTo>
                <a:lnTo>
                  <a:pt x="460" y="422"/>
                </a:lnTo>
                <a:lnTo>
                  <a:pt x="491" y="424"/>
                </a:lnTo>
                <a:lnTo>
                  <a:pt x="491" y="424"/>
                </a:lnTo>
                <a:lnTo>
                  <a:pt x="520" y="422"/>
                </a:lnTo>
                <a:lnTo>
                  <a:pt x="554" y="400"/>
                </a:lnTo>
                <a:lnTo>
                  <a:pt x="566" y="383"/>
                </a:lnTo>
                <a:lnTo>
                  <a:pt x="576" y="357"/>
                </a:lnTo>
                <a:lnTo>
                  <a:pt x="576" y="357"/>
                </a:lnTo>
                <a:lnTo>
                  <a:pt x="566" y="340"/>
                </a:lnTo>
                <a:lnTo>
                  <a:pt x="563" y="326"/>
                </a:lnTo>
                <a:lnTo>
                  <a:pt x="547" y="314"/>
                </a:lnTo>
                <a:lnTo>
                  <a:pt x="530" y="302"/>
                </a:lnTo>
                <a:lnTo>
                  <a:pt x="508" y="290"/>
                </a:lnTo>
                <a:lnTo>
                  <a:pt x="508" y="290"/>
                </a:lnTo>
                <a:close/>
                <a:moveTo>
                  <a:pt x="566" y="266"/>
                </a:moveTo>
                <a:moveTo>
                  <a:pt x="566" y="266"/>
                </a:moveTo>
                <a:lnTo>
                  <a:pt x="566" y="60"/>
                </a:lnTo>
                <a:lnTo>
                  <a:pt x="566" y="60"/>
                </a:lnTo>
                <a:lnTo>
                  <a:pt x="563" y="38"/>
                </a:lnTo>
                <a:lnTo>
                  <a:pt x="547" y="16"/>
                </a:lnTo>
                <a:lnTo>
                  <a:pt x="547" y="16"/>
                </a:lnTo>
                <a:lnTo>
                  <a:pt x="520" y="7"/>
                </a:lnTo>
                <a:lnTo>
                  <a:pt x="491" y="0"/>
                </a:lnTo>
                <a:lnTo>
                  <a:pt x="491" y="0"/>
                </a:lnTo>
                <a:lnTo>
                  <a:pt x="460" y="7"/>
                </a:lnTo>
                <a:lnTo>
                  <a:pt x="436" y="16"/>
                </a:lnTo>
                <a:lnTo>
                  <a:pt x="436" y="16"/>
                </a:lnTo>
                <a:lnTo>
                  <a:pt x="420" y="38"/>
                </a:lnTo>
                <a:lnTo>
                  <a:pt x="415" y="60"/>
                </a:lnTo>
                <a:lnTo>
                  <a:pt x="415" y="266"/>
                </a:lnTo>
                <a:lnTo>
                  <a:pt x="415" y="266"/>
                </a:lnTo>
                <a:lnTo>
                  <a:pt x="388" y="276"/>
                </a:lnTo>
                <a:lnTo>
                  <a:pt x="371" y="302"/>
                </a:lnTo>
                <a:lnTo>
                  <a:pt x="371" y="302"/>
                </a:lnTo>
                <a:lnTo>
                  <a:pt x="360" y="326"/>
                </a:lnTo>
                <a:lnTo>
                  <a:pt x="350" y="357"/>
                </a:lnTo>
                <a:lnTo>
                  <a:pt x="350" y="357"/>
                </a:lnTo>
                <a:lnTo>
                  <a:pt x="350" y="383"/>
                </a:lnTo>
                <a:lnTo>
                  <a:pt x="360" y="400"/>
                </a:lnTo>
                <a:lnTo>
                  <a:pt x="371" y="422"/>
                </a:lnTo>
                <a:lnTo>
                  <a:pt x="388" y="439"/>
                </a:lnTo>
                <a:lnTo>
                  <a:pt x="388" y="439"/>
                </a:lnTo>
                <a:lnTo>
                  <a:pt x="415" y="451"/>
                </a:lnTo>
                <a:lnTo>
                  <a:pt x="436" y="460"/>
                </a:lnTo>
                <a:lnTo>
                  <a:pt x="465" y="468"/>
                </a:lnTo>
                <a:lnTo>
                  <a:pt x="491" y="468"/>
                </a:lnTo>
                <a:lnTo>
                  <a:pt x="491" y="468"/>
                </a:lnTo>
                <a:lnTo>
                  <a:pt x="520" y="468"/>
                </a:lnTo>
                <a:lnTo>
                  <a:pt x="547" y="460"/>
                </a:lnTo>
                <a:lnTo>
                  <a:pt x="566" y="451"/>
                </a:lnTo>
                <a:lnTo>
                  <a:pt x="592" y="439"/>
                </a:lnTo>
                <a:lnTo>
                  <a:pt x="592" y="439"/>
                </a:lnTo>
                <a:lnTo>
                  <a:pt x="609" y="422"/>
                </a:lnTo>
                <a:lnTo>
                  <a:pt x="621" y="400"/>
                </a:lnTo>
                <a:lnTo>
                  <a:pt x="631" y="383"/>
                </a:lnTo>
                <a:lnTo>
                  <a:pt x="638" y="357"/>
                </a:lnTo>
                <a:lnTo>
                  <a:pt x="638" y="357"/>
                </a:lnTo>
                <a:lnTo>
                  <a:pt x="631" y="326"/>
                </a:lnTo>
                <a:lnTo>
                  <a:pt x="614" y="302"/>
                </a:lnTo>
                <a:lnTo>
                  <a:pt x="614" y="302"/>
                </a:lnTo>
                <a:lnTo>
                  <a:pt x="592" y="276"/>
                </a:lnTo>
                <a:lnTo>
                  <a:pt x="566" y="266"/>
                </a:lnTo>
                <a:lnTo>
                  <a:pt x="566" y="266"/>
                </a:lnTo>
                <a:close/>
                <a:moveTo>
                  <a:pt x="585" y="314"/>
                </a:moveTo>
                <a:moveTo>
                  <a:pt x="585" y="314"/>
                </a:moveTo>
                <a:lnTo>
                  <a:pt x="585" y="314"/>
                </a:lnTo>
                <a:lnTo>
                  <a:pt x="592" y="333"/>
                </a:lnTo>
                <a:lnTo>
                  <a:pt x="602" y="357"/>
                </a:lnTo>
                <a:lnTo>
                  <a:pt x="602" y="357"/>
                </a:lnTo>
                <a:lnTo>
                  <a:pt x="592" y="388"/>
                </a:lnTo>
                <a:lnTo>
                  <a:pt x="566" y="422"/>
                </a:lnTo>
                <a:lnTo>
                  <a:pt x="566" y="422"/>
                </a:lnTo>
                <a:lnTo>
                  <a:pt x="530" y="431"/>
                </a:lnTo>
                <a:lnTo>
                  <a:pt x="491" y="443"/>
                </a:lnTo>
                <a:lnTo>
                  <a:pt x="491" y="443"/>
                </a:lnTo>
                <a:lnTo>
                  <a:pt x="453" y="431"/>
                </a:lnTo>
                <a:lnTo>
                  <a:pt x="420" y="422"/>
                </a:lnTo>
                <a:lnTo>
                  <a:pt x="420" y="422"/>
                </a:lnTo>
                <a:lnTo>
                  <a:pt x="398" y="388"/>
                </a:lnTo>
                <a:lnTo>
                  <a:pt x="388" y="357"/>
                </a:lnTo>
                <a:lnTo>
                  <a:pt x="388" y="357"/>
                </a:lnTo>
                <a:lnTo>
                  <a:pt x="388" y="333"/>
                </a:lnTo>
                <a:lnTo>
                  <a:pt x="405" y="314"/>
                </a:lnTo>
                <a:lnTo>
                  <a:pt x="405" y="314"/>
                </a:lnTo>
                <a:lnTo>
                  <a:pt x="420" y="297"/>
                </a:lnTo>
                <a:lnTo>
                  <a:pt x="443" y="283"/>
                </a:lnTo>
                <a:lnTo>
                  <a:pt x="453" y="283"/>
                </a:lnTo>
                <a:lnTo>
                  <a:pt x="453" y="273"/>
                </a:lnTo>
                <a:lnTo>
                  <a:pt x="453" y="60"/>
                </a:lnTo>
                <a:lnTo>
                  <a:pt x="453" y="60"/>
                </a:lnTo>
                <a:lnTo>
                  <a:pt x="460" y="48"/>
                </a:lnTo>
                <a:lnTo>
                  <a:pt x="465" y="38"/>
                </a:lnTo>
                <a:lnTo>
                  <a:pt x="465" y="38"/>
                </a:lnTo>
                <a:lnTo>
                  <a:pt x="475" y="31"/>
                </a:lnTo>
                <a:lnTo>
                  <a:pt x="491" y="31"/>
                </a:lnTo>
                <a:lnTo>
                  <a:pt x="491" y="31"/>
                </a:lnTo>
                <a:lnTo>
                  <a:pt x="508" y="31"/>
                </a:lnTo>
                <a:lnTo>
                  <a:pt x="520" y="38"/>
                </a:lnTo>
                <a:lnTo>
                  <a:pt x="520" y="38"/>
                </a:lnTo>
                <a:lnTo>
                  <a:pt x="530" y="48"/>
                </a:lnTo>
                <a:lnTo>
                  <a:pt x="530" y="60"/>
                </a:lnTo>
                <a:lnTo>
                  <a:pt x="530" y="273"/>
                </a:lnTo>
                <a:lnTo>
                  <a:pt x="530" y="283"/>
                </a:lnTo>
                <a:lnTo>
                  <a:pt x="547" y="283"/>
                </a:lnTo>
                <a:lnTo>
                  <a:pt x="547" y="283"/>
                </a:lnTo>
                <a:lnTo>
                  <a:pt x="566" y="297"/>
                </a:lnTo>
                <a:lnTo>
                  <a:pt x="585" y="314"/>
                </a:lnTo>
                <a:lnTo>
                  <a:pt x="585" y="314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60" name="path 3260"/>
          <p:cNvSpPr/>
          <p:nvPr/>
        </p:nvSpPr>
        <p:spPr>
          <a:xfrm>
            <a:off x="5091683" y="6336791"/>
            <a:ext cx="399288" cy="286511"/>
          </a:xfrm>
          <a:custGeom>
            <a:avLst/>
            <a:gdLst/>
            <a:ahLst/>
            <a:cxnLst/>
            <a:rect l="0" t="0" r="0" b="0"/>
            <a:pathLst>
              <a:path w="628" h="451">
                <a:moveTo>
                  <a:pt x="609" y="244"/>
                </a:moveTo>
                <a:cubicBezTo>
                  <a:pt x="501" y="143"/>
                  <a:pt x="501" y="143"/>
                  <a:pt x="501" y="143"/>
                </a:cubicBezTo>
                <a:cubicBezTo>
                  <a:pt x="393" y="40"/>
                  <a:pt x="393" y="40"/>
                  <a:pt x="393" y="40"/>
                </a:cubicBezTo>
                <a:cubicBezTo>
                  <a:pt x="280" y="143"/>
                  <a:pt x="280" y="143"/>
                  <a:pt x="280" y="143"/>
                </a:cubicBezTo>
                <a:cubicBezTo>
                  <a:pt x="172" y="244"/>
                  <a:pt x="172" y="244"/>
                  <a:pt x="172" y="244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451"/>
                  <a:pt x="26" y="451"/>
                  <a:pt x="26" y="451"/>
                </a:cubicBezTo>
                <a:cubicBezTo>
                  <a:pt x="393" y="451"/>
                  <a:pt x="393" y="451"/>
                  <a:pt x="393" y="451"/>
                </a:cubicBezTo>
                <a:cubicBezTo>
                  <a:pt x="393" y="300"/>
                  <a:pt x="393" y="300"/>
                  <a:pt x="393" y="300"/>
                </a:cubicBezTo>
                <a:cubicBezTo>
                  <a:pt x="501" y="300"/>
                  <a:pt x="501" y="300"/>
                  <a:pt x="501" y="300"/>
                </a:cubicBezTo>
                <a:cubicBezTo>
                  <a:pt x="501" y="451"/>
                  <a:pt x="501" y="451"/>
                  <a:pt x="501" y="451"/>
                </a:cubicBezTo>
                <a:cubicBezTo>
                  <a:pt x="609" y="451"/>
                  <a:pt x="609" y="451"/>
                  <a:pt x="609" y="451"/>
                </a:cubicBezTo>
                <a:cubicBezTo>
                  <a:pt x="609" y="244"/>
                  <a:pt x="609" y="244"/>
                  <a:pt x="609" y="244"/>
                </a:cubicBezTo>
                <a:moveTo>
                  <a:pt x="153" y="371"/>
                </a:moveTo>
                <a:cubicBezTo>
                  <a:pt x="72" y="371"/>
                  <a:pt x="72" y="371"/>
                  <a:pt x="72" y="371"/>
                </a:cubicBezTo>
                <a:cubicBezTo>
                  <a:pt x="72" y="292"/>
                  <a:pt x="72" y="292"/>
                  <a:pt x="72" y="292"/>
                </a:cubicBezTo>
                <a:cubicBezTo>
                  <a:pt x="153" y="292"/>
                  <a:pt x="153" y="292"/>
                  <a:pt x="153" y="292"/>
                </a:cubicBezTo>
                <a:lnTo>
                  <a:pt x="153" y="371"/>
                </a:lnTo>
                <a:close/>
                <a:moveTo>
                  <a:pt x="280" y="371"/>
                </a:moveTo>
                <a:cubicBezTo>
                  <a:pt x="196" y="371"/>
                  <a:pt x="196" y="371"/>
                  <a:pt x="196" y="371"/>
                </a:cubicBezTo>
                <a:cubicBezTo>
                  <a:pt x="196" y="292"/>
                  <a:pt x="196" y="292"/>
                  <a:pt x="196" y="292"/>
                </a:cubicBezTo>
                <a:cubicBezTo>
                  <a:pt x="280" y="292"/>
                  <a:pt x="280" y="292"/>
                  <a:pt x="280" y="292"/>
                </a:cubicBezTo>
                <a:lnTo>
                  <a:pt x="280" y="371"/>
                </a:lnTo>
                <a:close/>
                <a:moveTo>
                  <a:pt x="374" y="215"/>
                </a:moveTo>
                <a:cubicBezTo>
                  <a:pt x="357" y="215"/>
                  <a:pt x="338" y="196"/>
                  <a:pt x="338" y="172"/>
                </a:cubicBezTo>
                <a:cubicBezTo>
                  <a:pt x="338" y="155"/>
                  <a:pt x="357" y="136"/>
                  <a:pt x="374" y="136"/>
                </a:cubicBezTo>
                <a:cubicBezTo>
                  <a:pt x="400" y="136"/>
                  <a:pt x="412" y="155"/>
                  <a:pt x="412" y="172"/>
                </a:cubicBezTo>
                <a:cubicBezTo>
                  <a:pt x="412" y="196"/>
                  <a:pt x="400" y="215"/>
                  <a:pt x="374" y="215"/>
                </a:cubicBezTo>
              </a:path>
              <a:path w="628" h="451">
                <a:moveTo>
                  <a:pt x="566" y="168"/>
                </a:moveTo>
                <a:lnTo>
                  <a:pt x="566" y="52"/>
                </a:lnTo>
                <a:lnTo>
                  <a:pt x="516" y="52"/>
                </a:lnTo>
                <a:lnTo>
                  <a:pt x="516" y="120"/>
                </a:lnTo>
                <a:lnTo>
                  <a:pt x="393" y="0"/>
                </a:lnTo>
                <a:lnTo>
                  <a:pt x="280" y="108"/>
                </a:lnTo>
                <a:lnTo>
                  <a:pt x="127" y="112"/>
                </a:lnTo>
                <a:lnTo>
                  <a:pt x="0" y="235"/>
                </a:lnTo>
                <a:lnTo>
                  <a:pt x="172" y="235"/>
                </a:lnTo>
                <a:lnTo>
                  <a:pt x="172" y="235"/>
                </a:lnTo>
                <a:lnTo>
                  <a:pt x="393" y="19"/>
                </a:lnTo>
                <a:lnTo>
                  <a:pt x="616" y="235"/>
                </a:lnTo>
                <a:lnTo>
                  <a:pt x="628" y="228"/>
                </a:lnTo>
                <a:lnTo>
                  <a:pt x="566" y="168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62" name="picture 32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729484" y="6486144"/>
            <a:ext cx="496823" cy="219455"/>
          </a:xfrm>
          <a:prstGeom prst="rect">
            <a:avLst/>
          </a:prstGeom>
        </p:spPr>
      </p:pic>
      <p:pic>
        <p:nvPicPr>
          <p:cNvPr id="3264" name="picture 326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54467" y="6490715"/>
            <a:ext cx="495300" cy="219455"/>
          </a:xfrm>
          <a:prstGeom prst="rect">
            <a:avLst/>
          </a:prstGeom>
        </p:spPr>
      </p:pic>
      <p:sp>
        <p:nvSpPr>
          <p:cNvPr id="3266" name="textbox 3266"/>
          <p:cNvSpPr/>
          <p:nvPr/>
        </p:nvSpPr>
        <p:spPr>
          <a:xfrm>
            <a:off x="3942722" y="2280075"/>
            <a:ext cx="718184" cy="183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kern="0" spc="1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元/兆瓦时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68" name="path 3268"/>
          <p:cNvSpPr/>
          <p:nvPr/>
        </p:nvSpPr>
        <p:spPr>
          <a:xfrm>
            <a:off x="7677912" y="6327648"/>
            <a:ext cx="310895" cy="304800"/>
          </a:xfrm>
          <a:custGeom>
            <a:avLst/>
            <a:gdLst/>
            <a:ahLst/>
            <a:cxnLst/>
            <a:rect l="0" t="0" r="0" b="0"/>
            <a:pathLst>
              <a:path w="489" h="480">
                <a:moveTo>
                  <a:pt x="43" y="206"/>
                </a:moveTo>
                <a:lnTo>
                  <a:pt x="43" y="206"/>
                </a:lnTo>
                <a:lnTo>
                  <a:pt x="69" y="163"/>
                </a:lnTo>
                <a:lnTo>
                  <a:pt x="103" y="127"/>
                </a:lnTo>
                <a:lnTo>
                  <a:pt x="172" y="60"/>
                </a:lnTo>
                <a:lnTo>
                  <a:pt x="247" y="0"/>
                </a:lnTo>
                <a:lnTo>
                  <a:pt x="247" y="0"/>
                </a:lnTo>
                <a:lnTo>
                  <a:pt x="316" y="60"/>
                </a:lnTo>
                <a:lnTo>
                  <a:pt x="386" y="127"/>
                </a:lnTo>
                <a:lnTo>
                  <a:pt x="420" y="163"/>
                </a:lnTo>
                <a:lnTo>
                  <a:pt x="441" y="206"/>
                </a:lnTo>
                <a:lnTo>
                  <a:pt x="441" y="206"/>
                </a:lnTo>
                <a:lnTo>
                  <a:pt x="480" y="271"/>
                </a:lnTo>
                <a:lnTo>
                  <a:pt x="489" y="328"/>
                </a:lnTo>
                <a:lnTo>
                  <a:pt x="470" y="379"/>
                </a:lnTo>
                <a:lnTo>
                  <a:pt x="441" y="415"/>
                </a:lnTo>
                <a:lnTo>
                  <a:pt x="410" y="443"/>
                </a:lnTo>
                <a:lnTo>
                  <a:pt x="357" y="460"/>
                </a:lnTo>
                <a:lnTo>
                  <a:pt x="297" y="480"/>
                </a:lnTo>
                <a:lnTo>
                  <a:pt x="247" y="480"/>
                </a:lnTo>
                <a:lnTo>
                  <a:pt x="187" y="480"/>
                </a:lnTo>
                <a:lnTo>
                  <a:pt x="131" y="460"/>
                </a:lnTo>
                <a:lnTo>
                  <a:pt x="83" y="443"/>
                </a:lnTo>
                <a:lnTo>
                  <a:pt x="43" y="415"/>
                </a:lnTo>
                <a:lnTo>
                  <a:pt x="19" y="379"/>
                </a:lnTo>
                <a:lnTo>
                  <a:pt x="0" y="328"/>
                </a:lnTo>
                <a:lnTo>
                  <a:pt x="9" y="271"/>
                </a:lnTo>
                <a:lnTo>
                  <a:pt x="43" y="206"/>
                </a:lnTo>
                <a:lnTo>
                  <a:pt x="43" y="206"/>
                </a:lnTo>
                <a:close/>
                <a:moveTo>
                  <a:pt x="213" y="451"/>
                </a:moveTo>
                <a:lnTo>
                  <a:pt x="213" y="451"/>
                </a:lnTo>
                <a:lnTo>
                  <a:pt x="275" y="451"/>
                </a:lnTo>
                <a:lnTo>
                  <a:pt x="316" y="439"/>
                </a:lnTo>
                <a:lnTo>
                  <a:pt x="357" y="424"/>
                </a:lnTo>
                <a:lnTo>
                  <a:pt x="386" y="408"/>
                </a:lnTo>
                <a:lnTo>
                  <a:pt x="410" y="381"/>
                </a:lnTo>
                <a:lnTo>
                  <a:pt x="427" y="357"/>
                </a:lnTo>
                <a:lnTo>
                  <a:pt x="436" y="336"/>
                </a:lnTo>
                <a:lnTo>
                  <a:pt x="436" y="304"/>
                </a:lnTo>
                <a:lnTo>
                  <a:pt x="436" y="304"/>
                </a:lnTo>
                <a:lnTo>
                  <a:pt x="400" y="345"/>
                </a:lnTo>
                <a:lnTo>
                  <a:pt x="350" y="381"/>
                </a:lnTo>
                <a:lnTo>
                  <a:pt x="287" y="417"/>
                </a:lnTo>
                <a:lnTo>
                  <a:pt x="213" y="451"/>
                </a:lnTo>
                <a:lnTo>
                  <a:pt x="213" y="451"/>
                </a:lnTo>
                <a:close/>
                <a:moveTo>
                  <a:pt x="52" y="309"/>
                </a:moveTo>
                <a:lnTo>
                  <a:pt x="52" y="309"/>
                </a:lnTo>
                <a:lnTo>
                  <a:pt x="112" y="309"/>
                </a:lnTo>
                <a:lnTo>
                  <a:pt x="143" y="297"/>
                </a:lnTo>
                <a:lnTo>
                  <a:pt x="182" y="271"/>
                </a:lnTo>
                <a:lnTo>
                  <a:pt x="196" y="242"/>
                </a:lnTo>
                <a:lnTo>
                  <a:pt x="213" y="206"/>
                </a:lnTo>
                <a:lnTo>
                  <a:pt x="223" y="163"/>
                </a:lnTo>
                <a:lnTo>
                  <a:pt x="232" y="79"/>
                </a:lnTo>
                <a:lnTo>
                  <a:pt x="232" y="79"/>
                </a:lnTo>
                <a:lnTo>
                  <a:pt x="182" y="122"/>
                </a:lnTo>
                <a:lnTo>
                  <a:pt x="131" y="175"/>
                </a:lnTo>
                <a:lnTo>
                  <a:pt x="83" y="235"/>
                </a:lnTo>
                <a:lnTo>
                  <a:pt x="52" y="309"/>
                </a:lnTo>
                <a:lnTo>
                  <a:pt x="52" y="309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70" name="picture 32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3272" name="picture 327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399275" y="6542531"/>
            <a:ext cx="356616" cy="86867"/>
          </a:xfrm>
          <a:prstGeom prst="rect">
            <a:avLst/>
          </a:prstGeom>
        </p:spPr>
      </p:pic>
      <p:pic>
        <p:nvPicPr>
          <p:cNvPr id="3274" name="picture 327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857243" y="6370318"/>
            <a:ext cx="134111" cy="184404"/>
          </a:xfrm>
          <a:prstGeom prst="rect">
            <a:avLst/>
          </a:prstGeom>
        </p:spPr>
      </p:pic>
      <p:sp>
        <p:nvSpPr>
          <p:cNvPr id="3276" name="path 3276"/>
          <p:cNvSpPr/>
          <p:nvPr/>
        </p:nvSpPr>
        <p:spPr>
          <a:xfrm>
            <a:off x="1717357" y="6315265"/>
            <a:ext cx="55245" cy="61341"/>
          </a:xfrm>
          <a:custGeom>
            <a:avLst/>
            <a:gdLst/>
            <a:ahLst/>
            <a:cxnLst/>
            <a:rect l="0" t="0" r="0" b="0"/>
            <a:pathLst>
              <a:path w="87" h="96">
                <a:moveTo>
                  <a:pt x="21" y="19"/>
                </a:moveTo>
                <a:moveTo>
                  <a:pt x="21" y="19"/>
                </a:moveTo>
                <a:lnTo>
                  <a:pt x="38" y="14"/>
                </a:lnTo>
                <a:lnTo>
                  <a:pt x="29" y="7"/>
                </a:lnTo>
                <a:lnTo>
                  <a:pt x="29" y="7"/>
                </a:lnTo>
                <a:lnTo>
                  <a:pt x="21" y="19"/>
                </a:lnTo>
                <a:lnTo>
                  <a:pt x="21" y="19"/>
                </a:lnTo>
                <a:close/>
                <a:moveTo>
                  <a:pt x="48" y="19"/>
                </a:moveTo>
                <a:moveTo>
                  <a:pt x="48" y="19"/>
                </a:moveTo>
                <a:lnTo>
                  <a:pt x="57" y="24"/>
                </a:lnTo>
                <a:lnTo>
                  <a:pt x="7" y="55"/>
                </a:lnTo>
                <a:lnTo>
                  <a:pt x="7" y="55"/>
                </a:lnTo>
                <a:lnTo>
                  <a:pt x="14" y="45"/>
                </a:lnTo>
                <a:lnTo>
                  <a:pt x="48" y="19"/>
                </a:lnTo>
                <a:lnTo>
                  <a:pt x="48" y="19"/>
                </a:lnTo>
                <a:close/>
                <a:moveTo>
                  <a:pt x="72" y="31"/>
                </a:moveTo>
                <a:moveTo>
                  <a:pt x="72" y="31"/>
                </a:moveTo>
                <a:lnTo>
                  <a:pt x="7" y="74"/>
                </a:lnTo>
                <a:lnTo>
                  <a:pt x="7" y="74"/>
                </a:lnTo>
                <a:lnTo>
                  <a:pt x="7" y="89"/>
                </a:lnTo>
                <a:lnTo>
                  <a:pt x="79" y="38"/>
                </a:lnTo>
                <a:lnTo>
                  <a:pt x="72" y="31"/>
                </a:lnTo>
                <a:lnTo>
                  <a:pt x="72" y="31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78" name="picture 32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592579" y="6370318"/>
            <a:ext cx="134111" cy="184404"/>
          </a:xfrm>
          <a:prstGeom prst="rect">
            <a:avLst/>
          </a:prstGeom>
        </p:spPr>
      </p:pic>
      <p:pic>
        <p:nvPicPr>
          <p:cNvPr id="3280" name="picture 328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732787" y="6556247"/>
            <a:ext cx="182880" cy="33527"/>
          </a:xfrm>
          <a:prstGeom prst="rect">
            <a:avLst/>
          </a:prstGeom>
        </p:spPr>
      </p:pic>
      <p:pic>
        <p:nvPicPr>
          <p:cNvPr id="3282" name="picture 328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997451" y="6556247"/>
            <a:ext cx="182879" cy="33527"/>
          </a:xfrm>
          <a:prstGeom prst="rect">
            <a:avLst/>
          </a:prstGeom>
        </p:spPr>
      </p:pic>
      <p:sp>
        <p:nvSpPr>
          <p:cNvPr id="3284" name="path 3284"/>
          <p:cNvSpPr/>
          <p:nvPr/>
        </p:nvSpPr>
        <p:spPr>
          <a:xfrm>
            <a:off x="6696265" y="6281737"/>
            <a:ext cx="40004" cy="104012"/>
          </a:xfrm>
          <a:custGeom>
            <a:avLst/>
            <a:gdLst/>
            <a:ahLst/>
            <a:cxnLst/>
            <a:rect l="0" t="0" r="0" b="0"/>
            <a:pathLst>
              <a:path w="62" h="163">
                <a:moveTo>
                  <a:pt x="7" y="149"/>
                </a:moveTo>
                <a:moveTo>
                  <a:pt x="7" y="149"/>
                </a:moveTo>
                <a:lnTo>
                  <a:pt x="55" y="149"/>
                </a:lnTo>
                <a:lnTo>
                  <a:pt x="55" y="156"/>
                </a:lnTo>
                <a:lnTo>
                  <a:pt x="7" y="156"/>
                </a:lnTo>
                <a:lnTo>
                  <a:pt x="7" y="149"/>
                </a:lnTo>
                <a:lnTo>
                  <a:pt x="7" y="149"/>
                </a:lnTo>
                <a:close/>
                <a:moveTo>
                  <a:pt x="7" y="127"/>
                </a:moveTo>
                <a:moveTo>
                  <a:pt x="7" y="127"/>
                </a:moveTo>
                <a:lnTo>
                  <a:pt x="55" y="127"/>
                </a:lnTo>
                <a:lnTo>
                  <a:pt x="55" y="139"/>
                </a:lnTo>
                <a:lnTo>
                  <a:pt x="7" y="139"/>
                </a:lnTo>
                <a:lnTo>
                  <a:pt x="7" y="127"/>
                </a:lnTo>
                <a:lnTo>
                  <a:pt x="7" y="127"/>
                </a:lnTo>
                <a:close/>
                <a:moveTo>
                  <a:pt x="7" y="110"/>
                </a:moveTo>
                <a:moveTo>
                  <a:pt x="7" y="110"/>
                </a:moveTo>
                <a:lnTo>
                  <a:pt x="55" y="110"/>
                </a:lnTo>
                <a:lnTo>
                  <a:pt x="55" y="113"/>
                </a:lnTo>
                <a:lnTo>
                  <a:pt x="7" y="113"/>
                </a:lnTo>
                <a:lnTo>
                  <a:pt x="7" y="110"/>
                </a:lnTo>
                <a:lnTo>
                  <a:pt x="7" y="110"/>
                </a:lnTo>
                <a:close/>
                <a:moveTo>
                  <a:pt x="7" y="53"/>
                </a:moveTo>
                <a:moveTo>
                  <a:pt x="7" y="53"/>
                </a:moveTo>
                <a:lnTo>
                  <a:pt x="55" y="53"/>
                </a:lnTo>
                <a:lnTo>
                  <a:pt x="55" y="57"/>
                </a:lnTo>
                <a:lnTo>
                  <a:pt x="7" y="57"/>
                </a:lnTo>
                <a:lnTo>
                  <a:pt x="7" y="53"/>
                </a:lnTo>
                <a:lnTo>
                  <a:pt x="7" y="53"/>
                </a:lnTo>
                <a:close/>
                <a:moveTo>
                  <a:pt x="7" y="29"/>
                </a:moveTo>
                <a:moveTo>
                  <a:pt x="7" y="29"/>
                </a:moveTo>
                <a:lnTo>
                  <a:pt x="55" y="29"/>
                </a:lnTo>
                <a:lnTo>
                  <a:pt x="55" y="38"/>
                </a:lnTo>
                <a:lnTo>
                  <a:pt x="7" y="38"/>
                </a:lnTo>
                <a:lnTo>
                  <a:pt x="7" y="29"/>
                </a:lnTo>
                <a:lnTo>
                  <a:pt x="7" y="29"/>
                </a:lnTo>
                <a:close/>
                <a:moveTo>
                  <a:pt x="7" y="7"/>
                </a:moveTo>
                <a:moveTo>
                  <a:pt x="7" y="7"/>
                </a:moveTo>
                <a:lnTo>
                  <a:pt x="55" y="7"/>
                </a:lnTo>
                <a:lnTo>
                  <a:pt x="55" y="21"/>
                </a:lnTo>
                <a:lnTo>
                  <a:pt x="7" y="21"/>
                </a:lnTo>
                <a:lnTo>
                  <a:pt x="7" y="7"/>
                </a:lnTo>
                <a:lnTo>
                  <a:pt x="7" y="7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6" name="picture 32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618231"/>
            <a:ext cx="10692384" cy="3291840"/>
          </a:xfrm>
          <a:prstGeom prst="rect">
            <a:avLst/>
          </a:prstGeom>
        </p:spPr>
      </p:pic>
      <p:pic>
        <p:nvPicPr>
          <p:cNvPr id="3288" name="picture 32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61503" y="3563111"/>
            <a:ext cx="2584703" cy="1938528"/>
          </a:xfrm>
          <a:prstGeom prst="rect">
            <a:avLst/>
          </a:prstGeom>
        </p:spPr>
      </p:pic>
      <p:sp>
        <p:nvSpPr>
          <p:cNvPr id="3290" name="textbox 3290"/>
          <p:cNvSpPr/>
          <p:nvPr/>
        </p:nvSpPr>
        <p:spPr>
          <a:xfrm>
            <a:off x="7566541" y="3447037"/>
            <a:ext cx="2574925" cy="2240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元/兆瓦时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47040" algn="l" rtl="0" eaLnBrk="0">
              <a:lnSpc>
                <a:spcPct val="87000"/>
              </a:lnSpc>
              <a:spcBef>
                <a:spcPts val="305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边际波段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966595" algn="l" rtl="0" eaLnBrk="0">
              <a:lnSpc>
                <a:spcPct val="88000"/>
              </a:lnSpc>
              <a:spcBef>
                <a:spcPts val="1088"/>
              </a:spcBef>
              <a:tabLst/>
            </a:pPr>
            <a:r>
              <a:rPr sz="1000" b="1" kern="0" spc="40" dirty="0">
                <a:solidFill>
                  <a:srgbClr val="33BBA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市场价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最小出力</a:t>
            </a:r>
            <a:r>
              <a:rPr sz="9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4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边际出力  </a:t>
            </a:r>
            <a:r>
              <a:rPr sz="1400" b="1" kern="0" spc="40" baseline="37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最大出力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600" b="1" kern="0" spc="40" baseline="-9766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</a:t>
            </a:r>
            <a:endParaRPr sz="1600" baseline="-9766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92" name="picture 32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965448" y="3491483"/>
            <a:ext cx="2683763" cy="2039111"/>
          </a:xfrm>
          <a:prstGeom prst="rect">
            <a:avLst/>
          </a:prstGeom>
        </p:spPr>
      </p:pic>
      <p:pic>
        <p:nvPicPr>
          <p:cNvPr id="3294" name="picture 32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23672" y="3465575"/>
            <a:ext cx="2677667" cy="2023872"/>
          </a:xfrm>
          <a:prstGeom prst="rect">
            <a:avLst/>
          </a:prstGeom>
        </p:spPr>
      </p:pic>
      <p:sp>
        <p:nvSpPr>
          <p:cNvPr id="3296" name="textbox 3296"/>
          <p:cNvSpPr/>
          <p:nvPr/>
        </p:nvSpPr>
        <p:spPr>
          <a:xfrm>
            <a:off x="601852" y="3341869"/>
            <a:ext cx="2471420" cy="1492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元/兆瓦时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000" b="1" kern="0" spc="40" dirty="0">
                <a:solidFill>
                  <a:srgbClr val="33BBA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98" name="textbox 3298"/>
          <p:cNvSpPr/>
          <p:nvPr/>
        </p:nvSpPr>
        <p:spPr>
          <a:xfrm>
            <a:off x="1284182" y="2031592"/>
            <a:ext cx="7963534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————越接近预测节点电价的报价波段应越密集，</a:t>
            </a:r>
            <a:r>
              <a:rPr sz="15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争取以合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理价格中标更多出力———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00" name="textbox 3300"/>
          <p:cNvSpPr/>
          <p:nvPr/>
        </p:nvSpPr>
        <p:spPr>
          <a:xfrm>
            <a:off x="1806529" y="6208960"/>
            <a:ext cx="6609715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出力下限和上限不一定是最小或最大出力，可能是如爬坡率，固定出力产生的上下限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02" name="textbox 3302"/>
          <p:cNvSpPr/>
          <p:nvPr/>
        </p:nvSpPr>
        <p:spPr>
          <a:xfrm>
            <a:off x="554273" y="1112886"/>
            <a:ext cx="2992754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5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日前报价波段分布策略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04" name="textbox 3304"/>
          <p:cNvSpPr/>
          <p:nvPr/>
        </p:nvSpPr>
        <p:spPr>
          <a:xfrm>
            <a:off x="4090282" y="3357127"/>
            <a:ext cx="1145539" cy="711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元/兆瓦时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000" b="1" kern="0" spc="40" dirty="0">
                <a:solidFill>
                  <a:srgbClr val="33BBA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06" name="textbox 3306"/>
          <p:cNvSpPr/>
          <p:nvPr/>
        </p:nvSpPr>
        <p:spPr>
          <a:xfrm>
            <a:off x="7772105" y="2672341"/>
            <a:ext cx="1621155" cy="38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3384" algn="l" rtl="0" eaLnBrk="0">
              <a:lnSpc>
                <a:spcPct val="86000"/>
              </a:lnSpc>
              <a:tabLst/>
            </a:pPr>
            <a:r>
              <a:rPr sz="10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出力上下可调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10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出力对应的报价设定市场价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08" name="textbox 3308"/>
          <p:cNvSpPr/>
          <p:nvPr/>
        </p:nvSpPr>
        <p:spPr>
          <a:xfrm>
            <a:off x="4703390" y="2673846"/>
            <a:ext cx="1059814" cy="397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654" rIns="0" bIns="0"/>
          <a:lstStyle/>
          <a:p>
            <a:pPr marL="12700" indent="125729" algn="l" rtl="0" eaLnBrk="0">
              <a:lnSpc>
                <a:spcPct val="126000"/>
              </a:lnSpc>
              <a:spcBef>
                <a:spcPts val="5"/>
              </a:spcBef>
              <a:tabLst/>
            </a:pPr>
            <a:r>
              <a:rPr sz="10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出力上调受限</a:t>
            </a:r>
            <a:r>
              <a:rPr sz="10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市场价&gt;最大报价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10" name="textbox 3310"/>
          <p:cNvSpPr/>
          <p:nvPr/>
        </p:nvSpPr>
        <p:spPr>
          <a:xfrm>
            <a:off x="1140315" y="2678431"/>
            <a:ext cx="1059814" cy="397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88" rIns="0" bIns="0"/>
          <a:lstStyle/>
          <a:p>
            <a:pPr marL="12700" indent="123825" algn="l" rtl="0" eaLnBrk="0">
              <a:lnSpc>
                <a:spcPct val="126000"/>
              </a:lnSpc>
              <a:spcBef>
                <a:spcPts val="5"/>
              </a:spcBef>
              <a:tabLst/>
            </a:pPr>
            <a:r>
              <a:rPr sz="10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出力下调受限</a:t>
            </a:r>
            <a:r>
              <a:rPr sz="10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市场价&lt;最小报价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12" name="textbox 3312"/>
          <p:cNvSpPr/>
          <p:nvPr/>
        </p:nvSpPr>
        <p:spPr>
          <a:xfrm>
            <a:off x="1145981" y="5515764"/>
            <a:ext cx="2055495" cy="186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6"/>
              </a:lnSpc>
              <a:tabLst/>
            </a:pPr>
            <a:r>
              <a:rPr sz="1400" b="1" kern="0" spc="20" baseline="1488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出力下限</a:t>
            </a:r>
            <a:r>
              <a:rPr sz="900" b="1" kern="0" spc="2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</a:t>
            </a:r>
            <a:r>
              <a:rPr sz="1400" b="1" kern="0" spc="20" baseline="148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最大出力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1600" b="1" kern="0" spc="20" baseline="-3256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</a:t>
            </a:r>
            <a:endParaRPr sz="1600" baseline="-3256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14" name="textbox 3314"/>
          <p:cNvSpPr/>
          <p:nvPr/>
        </p:nvSpPr>
        <p:spPr>
          <a:xfrm>
            <a:off x="4649592" y="5535490"/>
            <a:ext cx="2070735" cy="169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最小出力              </a:t>
            </a:r>
            <a:r>
              <a:rPr sz="900" b="1" kern="0" spc="3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出力上</a:t>
            </a:r>
            <a:r>
              <a:rPr sz="900" b="1" kern="0" spc="2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        </a:t>
            </a:r>
            <a:r>
              <a:rPr sz="1600" b="1" kern="0" spc="20" baseline="3255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</a:t>
            </a:r>
            <a:endParaRPr sz="1600" baseline="3255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16" name="picture 33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8" name="picture 33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2627" y="1719071"/>
            <a:ext cx="9721595" cy="3323844"/>
          </a:xfrm>
          <a:prstGeom prst="rect">
            <a:avLst/>
          </a:prstGeom>
        </p:spPr>
      </p:pic>
      <p:pic>
        <p:nvPicPr>
          <p:cNvPr id="3320" name="picture 33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17719" y="2074164"/>
            <a:ext cx="5399531" cy="2897123"/>
          </a:xfrm>
          <a:prstGeom prst="rect">
            <a:avLst/>
          </a:prstGeom>
        </p:spPr>
      </p:pic>
      <p:pic>
        <p:nvPicPr>
          <p:cNvPr id="3322" name="picture 33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98576" y="2189988"/>
            <a:ext cx="3590543" cy="2407920"/>
          </a:xfrm>
          <a:prstGeom prst="rect">
            <a:avLst/>
          </a:prstGeom>
        </p:spPr>
      </p:pic>
      <p:graphicFrame>
        <p:nvGraphicFramePr>
          <p:cNvPr id="3324" name="table 3324"/>
          <p:cNvGraphicFramePr>
            <a:graphicFrameLocks noGrp="1"/>
          </p:cNvGraphicFramePr>
          <p:nvPr/>
        </p:nvGraphicFramePr>
        <p:xfrm>
          <a:off x="797813" y="2189226"/>
          <a:ext cx="3591559" cy="2408554"/>
        </p:xfrm>
        <a:graphic>
          <a:graphicData uri="http://schemas.openxmlformats.org/drawingml/2006/table">
            <a:tbl>
              <a:tblPr/>
              <a:tblGrid>
                <a:gridCol w="3591559"/>
              </a:tblGrid>
              <a:tr h="23990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5290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如现货试结算中未补偿空载成本，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465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则应在现货报价时考虑此成本。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26" name="textbox 3326"/>
          <p:cNvSpPr/>
          <p:nvPr/>
        </p:nvSpPr>
        <p:spPr>
          <a:xfrm>
            <a:off x="684799" y="5505992"/>
            <a:ext cx="9430384" cy="861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机组第一段报价的出力终点为两条曲线的交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点对应的出力，其报价为交点对应的价格。这样我们保证只要机组中标开机，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-635" algn="l" rtl="0" eaLnBrk="0">
              <a:lnSpc>
                <a:spcPct val="154000"/>
              </a:lnSpc>
              <a:spcBef>
                <a:spcPts val="14"/>
              </a:spcBef>
              <a:tabLst/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度电收益不会在对应出力的平均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变动成本之下。后续分段报价按照交点右侧的分摊空载成本后“边际成本”曲线递增报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价，</a:t>
            </a:r>
            <a:r>
              <a:rPr sz="1400" b="1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由于空载成本是按照最小技术出力分摊的，</a:t>
            </a:r>
            <a:r>
              <a:rPr sz="1400" b="1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即使机组在一直最小技术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出力运行，也可保证回收空载成本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28" name="textbox 3328"/>
          <p:cNvSpPr/>
          <p:nvPr/>
        </p:nvSpPr>
        <p:spPr>
          <a:xfrm>
            <a:off x="523650" y="1114352"/>
            <a:ext cx="3323590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5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考虑空载成本的报价策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30" name="picture 33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8055" y="5478779"/>
            <a:ext cx="155638" cy="1126426"/>
          </a:xfrm>
          <a:prstGeom prst="rect">
            <a:avLst/>
          </a:prstGeom>
        </p:spPr>
      </p:pic>
      <p:sp>
        <p:nvSpPr>
          <p:cNvPr id="3332" name="path 3332"/>
          <p:cNvSpPr/>
          <p:nvPr/>
        </p:nvSpPr>
        <p:spPr>
          <a:xfrm>
            <a:off x="1129284" y="3962400"/>
            <a:ext cx="3166871" cy="24383"/>
          </a:xfrm>
          <a:custGeom>
            <a:avLst/>
            <a:gdLst/>
            <a:ahLst/>
            <a:cxnLst/>
            <a:rect l="0" t="0" r="0" b="0"/>
            <a:pathLst>
              <a:path w="4987" h="38">
                <a:moveTo>
                  <a:pt x="0" y="19"/>
                </a:moveTo>
                <a:lnTo>
                  <a:pt x="4987" y="19"/>
                </a:lnTo>
              </a:path>
            </a:pathLst>
          </a:custGeom>
          <a:noFill/>
          <a:ln w="24383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334" name="picture 33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3336" name="picture 33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277855" y="5463539"/>
            <a:ext cx="10668" cy="902208"/>
          </a:xfrm>
          <a:prstGeom prst="rect">
            <a:avLst/>
          </a:prstGeom>
        </p:spPr>
      </p:pic>
      <p:pic>
        <p:nvPicPr>
          <p:cNvPr id="3338" name="picture 33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270045" y="5414581"/>
            <a:ext cx="16954" cy="1695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0" name="picture 33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93520" y="1892046"/>
            <a:ext cx="7370063" cy="4767833"/>
          </a:xfrm>
          <a:prstGeom prst="rect">
            <a:avLst/>
          </a:prstGeom>
        </p:spPr>
      </p:pic>
      <p:sp>
        <p:nvSpPr>
          <p:cNvPr id="3342" name="textbox 3342"/>
          <p:cNvSpPr/>
          <p:nvPr/>
        </p:nvSpPr>
        <p:spPr>
          <a:xfrm>
            <a:off x="4793524" y="1998016"/>
            <a:ext cx="2637789" cy="2715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1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报价波段1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427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报价波段2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428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报价波段3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4304" algn="l" rtl="0" eaLnBrk="0">
              <a:lnSpc>
                <a:spcPct val="87000"/>
              </a:lnSpc>
              <a:spcBef>
                <a:spcPts val="427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变动报价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7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0670" algn="l" rtl="0" eaLnBrk="0">
              <a:lnSpc>
                <a:spcPct val="94000"/>
              </a:lnSpc>
              <a:spcBef>
                <a:spcPts val="339"/>
              </a:spcBef>
              <a:tabLst/>
            </a:pPr>
            <a:r>
              <a:rPr sz="1100" b="1" kern="0" spc="-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（市场）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29209" algn="l" rtl="0" eaLnBrk="0">
              <a:lnSpc>
                <a:spcPct val="84000"/>
              </a:lnSpc>
              <a:spcBef>
                <a:spcPts val="228"/>
              </a:spcBef>
              <a:tabLst/>
            </a:pP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递增出力报价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88900" algn="l" rtl="0" eaLnBrk="0">
              <a:lnSpc>
                <a:spcPct val="87000"/>
              </a:lnSpc>
              <a:spcBef>
                <a:spcPts val="261"/>
              </a:spcBef>
              <a:tabLst/>
            </a:pPr>
            <a:r>
              <a:rPr sz="1200" b="1" kern="0" spc="-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（元/兆瓦时）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44" name="textbox 3344"/>
          <p:cNvSpPr/>
          <p:nvPr/>
        </p:nvSpPr>
        <p:spPr>
          <a:xfrm>
            <a:off x="2836416" y="2248745"/>
            <a:ext cx="977900" cy="3997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ct val="86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常设报价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9070" algn="l" rtl="0" eaLnBrk="0">
              <a:lnSpc>
                <a:spcPct val="85000"/>
              </a:lnSpc>
              <a:spcBef>
                <a:spcPts val="362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开机成本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00025" algn="l" rtl="0" eaLnBrk="0">
              <a:lnSpc>
                <a:spcPct val="90000"/>
              </a:lnSpc>
              <a:spcBef>
                <a:spcPts val="252"/>
              </a:spcBef>
              <a:tabLst/>
            </a:pPr>
            <a:r>
              <a:rPr sz="11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（冷热温）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243840" algn="l" rtl="0" eaLnBrk="0">
              <a:lnSpc>
                <a:spcPct val="90000"/>
              </a:lnSpc>
              <a:spcBef>
                <a:spcPts val="357"/>
              </a:spcBef>
              <a:tabLst/>
            </a:pPr>
            <a:r>
              <a:rPr sz="1100" b="1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（元/次）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1925" indent="12064" algn="l" rtl="0" eaLnBrk="0">
              <a:lnSpc>
                <a:spcPct val="106000"/>
              </a:lnSpc>
              <a:spcBef>
                <a:spcPts val="364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空载成本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（元/时段）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8264" indent="-65405" algn="l" rtl="0" eaLnBrk="0">
              <a:lnSpc>
                <a:spcPct val="99000"/>
              </a:lnSpc>
              <a:spcBef>
                <a:spcPts val="366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递增出力成本</a:t>
            </a: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（元/兆瓦时）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7495" algn="l" rtl="0" eaLnBrk="0">
              <a:lnSpc>
                <a:spcPct val="94000"/>
              </a:lnSpc>
              <a:spcBef>
                <a:spcPts val="332"/>
              </a:spcBef>
              <a:tabLst/>
            </a:pPr>
            <a:r>
              <a:rPr sz="11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（缺省）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88264" indent="-65405" algn="l" rtl="0" eaLnBrk="0">
              <a:lnSpc>
                <a:spcPct val="106000"/>
              </a:lnSpc>
              <a:spcBef>
                <a:spcPts val="214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递增出力报价</a:t>
            </a: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（元/兆瓦时）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46" name="textbox 3346"/>
          <p:cNvSpPr/>
          <p:nvPr/>
        </p:nvSpPr>
        <p:spPr>
          <a:xfrm>
            <a:off x="8522185" y="1991565"/>
            <a:ext cx="581025" cy="4484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9854" algn="l" rtl="0" eaLnBrk="0">
              <a:lnSpc>
                <a:spcPct val="86000"/>
              </a:lnSpc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时段1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427"/>
              </a:spcBef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时段2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428"/>
              </a:spcBef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时段3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424"/>
              </a:spcBef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时段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47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7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时段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48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48" name="textbox 3348"/>
          <p:cNvSpPr/>
          <p:nvPr/>
        </p:nvSpPr>
        <p:spPr>
          <a:xfrm>
            <a:off x="654489" y="3737367"/>
            <a:ext cx="1091564" cy="2346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7004" algn="l" rtl="0" eaLnBrk="0">
              <a:lnSpc>
                <a:spcPct val="82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核定成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67004" algn="l" rtl="0" eaLnBrk="0">
              <a:lnSpc>
                <a:spcPts val="2515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本报价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可不定期变更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50" name="textbox 3350"/>
          <p:cNvSpPr/>
          <p:nvPr/>
        </p:nvSpPr>
        <p:spPr>
          <a:xfrm>
            <a:off x="523301" y="976615"/>
            <a:ext cx="3767454" cy="448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327"/>
              </a:lnSpc>
              <a:tabLst/>
            </a:pP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发电单元（火电）</a:t>
            </a:r>
            <a:r>
              <a:rPr sz="2400" b="1" kern="0" spc="-4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电能报价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52" name="textbox 3352"/>
          <p:cNvSpPr/>
          <p:nvPr/>
        </p:nvSpPr>
        <p:spPr>
          <a:xfrm>
            <a:off x="6552305" y="5860998"/>
            <a:ext cx="937260" cy="649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报价波段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47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报价波段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48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54" name="textbox 3354"/>
          <p:cNvSpPr/>
          <p:nvPr/>
        </p:nvSpPr>
        <p:spPr>
          <a:xfrm>
            <a:off x="5375266" y="5091334"/>
            <a:ext cx="183514" cy="739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98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默认报价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56" name="picture 33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17726"/>
            <a:ext cx="2596896" cy="19811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8" name="picture 33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98592" y="2269235"/>
            <a:ext cx="4770118" cy="3889247"/>
          </a:xfrm>
          <a:prstGeom prst="rect">
            <a:avLst/>
          </a:prstGeom>
        </p:spPr>
      </p:pic>
      <p:graphicFrame>
        <p:nvGraphicFramePr>
          <p:cNvPr id="3360" name="table 3360"/>
          <p:cNvGraphicFramePr>
            <a:graphicFrameLocks noGrp="1"/>
          </p:cNvGraphicFramePr>
          <p:nvPr/>
        </p:nvGraphicFramePr>
        <p:xfrm>
          <a:off x="2403348" y="3645408"/>
          <a:ext cx="1263014" cy="1874520"/>
        </p:xfrm>
        <a:graphic>
          <a:graphicData uri="http://schemas.openxmlformats.org/drawingml/2006/table">
            <a:tbl>
              <a:tblPr>
                <a:solidFill>
                  <a:srgbClr val="FEE3B3"/>
                </a:solidFill>
              </a:tblPr>
              <a:tblGrid>
                <a:gridCol w="1263014"/>
              </a:tblGrid>
              <a:tr h="4692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337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中标出力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2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3B3"/>
                    </a:solidFill>
                  </a:tcPr>
                </a:tc>
              </a:tr>
              <a:tr h="14052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7205" algn="l" rtl="0" eaLnBrk="0">
                        <a:lnSpc>
                          <a:spcPts val="1266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0834" algn="l" rtl="0" eaLnBrk="0">
                        <a:lnSpc>
                          <a:spcPct val="87000"/>
                        </a:lnSpc>
                        <a:spcBef>
                          <a:spcPts val="100"/>
                        </a:spcBef>
                        <a:tabLst/>
                      </a:pP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元/兆瓦时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25" cap="flat" cmpd="sng" algn="ctr">
                      <a:solidFill>
                        <a:srgbClr val="0D4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3B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62" name="table 3362"/>
          <p:cNvGraphicFramePr>
            <a:graphicFrameLocks noGrp="1"/>
          </p:cNvGraphicFramePr>
          <p:nvPr/>
        </p:nvGraphicFramePr>
        <p:xfrm>
          <a:off x="7648955" y="3857244"/>
          <a:ext cx="1311909" cy="1804035"/>
        </p:xfrm>
        <a:graphic>
          <a:graphicData uri="http://schemas.openxmlformats.org/drawingml/2006/table">
            <a:tbl>
              <a:tblPr>
                <a:solidFill>
                  <a:srgbClr val="B4C5CD"/>
                </a:solidFill>
              </a:tblPr>
              <a:tblGrid>
                <a:gridCol w="1311910"/>
              </a:tblGrid>
              <a:tr h="301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2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5CD"/>
                    </a:solidFill>
                  </a:tcPr>
                </a:tc>
              </a:tr>
              <a:tr h="15024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1266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8620" algn="l" rtl="0" eaLnBrk="0">
                        <a:lnSpc>
                          <a:spcPct val="87000"/>
                        </a:lnSpc>
                        <a:spcBef>
                          <a:spcPts val="87"/>
                        </a:spcBef>
                        <a:tabLst/>
                      </a:pP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元/兆瓦时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25" cap="flat" cmpd="sng" algn="ctr">
                      <a:solidFill>
                        <a:srgbClr val="FDA1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64" name="table 3364"/>
          <p:cNvGraphicFramePr>
            <a:graphicFrameLocks noGrp="1"/>
          </p:cNvGraphicFramePr>
          <p:nvPr/>
        </p:nvGraphicFramePr>
        <p:xfrm>
          <a:off x="6342888" y="3861816"/>
          <a:ext cx="1305559" cy="1811654"/>
        </p:xfrm>
        <a:graphic>
          <a:graphicData uri="http://schemas.openxmlformats.org/drawingml/2006/table">
            <a:tbl>
              <a:tblPr>
                <a:solidFill>
                  <a:srgbClr val="B4C6CD"/>
                </a:solidFill>
              </a:tblPr>
              <a:tblGrid>
                <a:gridCol w="1305559"/>
              </a:tblGrid>
              <a:tr h="18084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1659" algn="l" rtl="0" eaLnBrk="0">
                        <a:lnSpc>
                          <a:spcPts val="1266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13384" algn="l" rtl="0" eaLnBrk="0">
                        <a:lnSpc>
                          <a:spcPct val="87000"/>
                        </a:lnSpc>
                        <a:spcBef>
                          <a:spcPts val="99"/>
                        </a:spcBef>
                        <a:tabLst/>
                      </a:pPr>
                      <a:r>
                        <a:rPr sz="9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元/兆瓦时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CD"/>
                    </a:solidFill>
                  </a:tcPr>
                </a:tc>
              </a:tr>
            </a:tbl>
          </a:graphicData>
        </a:graphic>
      </p:graphicFrame>
      <p:pic>
        <p:nvPicPr>
          <p:cNvPr id="3366" name="picture 33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771644" y="2287523"/>
            <a:ext cx="440435" cy="3904488"/>
          </a:xfrm>
          <a:prstGeom prst="rect">
            <a:avLst/>
          </a:prstGeom>
        </p:spPr>
      </p:pic>
      <p:sp>
        <p:nvSpPr>
          <p:cNvPr id="3368" name="textbox 3368"/>
          <p:cNvSpPr/>
          <p:nvPr/>
        </p:nvSpPr>
        <p:spPr>
          <a:xfrm>
            <a:off x="523049" y="1114052"/>
            <a:ext cx="5125720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机组爬坡能力约束导致非常规出清结果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70" name="picture 33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26123" y="3182111"/>
            <a:ext cx="74676" cy="2484120"/>
          </a:xfrm>
          <a:prstGeom prst="rect">
            <a:avLst/>
          </a:prstGeom>
        </p:spPr>
      </p:pic>
      <p:graphicFrame>
        <p:nvGraphicFramePr>
          <p:cNvPr id="3372" name="table 3372"/>
          <p:cNvGraphicFramePr>
            <a:graphicFrameLocks noGrp="1"/>
          </p:cNvGraphicFramePr>
          <p:nvPr/>
        </p:nvGraphicFramePr>
        <p:xfrm>
          <a:off x="6344411" y="3883151"/>
          <a:ext cx="1307465" cy="927735"/>
        </p:xfrm>
        <a:graphic>
          <a:graphicData uri="http://schemas.openxmlformats.org/drawingml/2006/table">
            <a:tbl>
              <a:tblPr>
                <a:solidFill>
                  <a:srgbClr val="0D4260"/>
                </a:solidFill>
              </a:tblPr>
              <a:tblGrid>
                <a:gridCol w="1307465"/>
              </a:tblGrid>
              <a:tr h="9245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0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64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中标出力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6415" algn="l" rtl="0" eaLnBrk="0">
                        <a:lnSpc>
                          <a:spcPts val="1266"/>
                        </a:lnSpc>
                        <a:spcBef>
                          <a:spcPts val="274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56870" algn="l" rtl="0" eaLnBrk="0">
                        <a:lnSpc>
                          <a:spcPct val="87000"/>
                        </a:lnSpc>
                        <a:spcBef>
                          <a:spcPts val="100"/>
                        </a:spcBef>
                        <a:tabLst/>
                      </a:pPr>
                      <a:r>
                        <a:rPr sz="9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元/兆瓦时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260"/>
                    </a:solidFill>
                  </a:tcPr>
                </a:tc>
              </a:tr>
            </a:tbl>
          </a:graphicData>
        </a:graphic>
      </p:graphicFrame>
      <p:sp>
        <p:nvSpPr>
          <p:cNvPr id="3374" name="path 3374"/>
          <p:cNvSpPr/>
          <p:nvPr/>
        </p:nvSpPr>
        <p:spPr>
          <a:xfrm>
            <a:off x="7636764" y="3864681"/>
            <a:ext cx="36573" cy="279258"/>
          </a:xfrm>
          <a:custGeom>
            <a:avLst/>
            <a:gdLst/>
            <a:ahLst/>
            <a:cxnLst/>
            <a:rect l="0" t="0" r="0" b="0"/>
            <a:pathLst>
              <a:path w="57" h="439">
                <a:moveTo>
                  <a:pt x="31" y="0"/>
                </a:moveTo>
                <a:lnTo>
                  <a:pt x="26" y="439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76" name="rect 3376"/>
          <p:cNvSpPr/>
          <p:nvPr/>
        </p:nvSpPr>
        <p:spPr>
          <a:xfrm>
            <a:off x="7659623" y="3857243"/>
            <a:ext cx="1304544" cy="952500"/>
          </a:xfrm>
          <a:prstGeom prst="rect">
            <a:avLst/>
          </a:pr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378" name="table 3378"/>
          <p:cNvGraphicFramePr>
            <a:graphicFrameLocks noGrp="1"/>
          </p:cNvGraphicFramePr>
          <p:nvPr/>
        </p:nvGraphicFramePr>
        <p:xfrm>
          <a:off x="7658099" y="3855719"/>
          <a:ext cx="1307465" cy="955039"/>
        </p:xfrm>
        <a:graphic>
          <a:graphicData uri="http://schemas.openxmlformats.org/drawingml/2006/table">
            <a:tbl>
              <a:tblPr/>
              <a:tblGrid>
                <a:gridCol w="1307465"/>
              </a:tblGrid>
              <a:tr h="9518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9275" algn="l" rtl="0" eaLnBrk="0">
                        <a:lnSpc>
                          <a:spcPts val="1266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79729" algn="l" rtl="0" eaLnBrk="0">
                        <a:lnSpc>
                          <a:spcPct val="87000"/>
                        </a:lnSpc>
                        <a:spcBef>
                          <a:spcPts val="100"/>
                        </a:spcBef>
                        <a:tabLst/>
                      </a:pPr>
                      <a:r>
                        <a:rPr sz="9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元/兆瓦时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380" name="table 3380"/>
          <p:cNvGraphicFramePr>
            <a:graphicFrameLocks noGrp="1"/>
          </p:cNvGraphicFramePr>
          <p:nvPr/>
        </p:nvGraphicFramePr>
        <p:xfrm>
          <a:off x="1127760" y="4576572"/>
          <a:ext cx="1270635" cy="942975"/>
        </p:xfrm>
        <a:graphic>
          <a:graphicData uri="http://schemas.openxmlformats.org/drawingml/2006/table">
            <a:tbl>
              <a:tblPr>
                <a:solidFill>
                  <a:srgbClr val="FDE3B0"/>
                </a:solidFill>
              </a:tblPr>
              <a:tblGrid>
                <a:gridCol w="1270635"/>
              </a:tblGrid>
              <a:tr h="939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5305" algn="l" rtl="0" eaLnBrk="0">
                        <a:lnSpc>
                          <a:spcPts val="1266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67665" algn="l" rtl="0" eaLnBrk="0">
                        <a:lnSpc>
                          <a:spcPct val="87000"/>
                        </a:lnSpc>
                        <a:spcBef>
                          <a:spcPts val="100"/>
                        </a:spcBef>
                        <a:tabLst/>
                      </a:pP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元/兆瓦时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</a:tr>
            </a:tbl>
          </a:graphicData>
        </a:graphic>
      </p:graphicFrame>
      <p:pic>
        <p:nvPicPr>
          <p:cNvPr id="3382" name="picture 33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09472" y="2941319"/>
            <a:ext cx="76200" cy="2574036"/>
          </a:xfrm>
          <a:prstGeom prst="rect">
            <a:avLst/>
          </a:prstGeom>
        </p:spPr>
      </p:pic>
      <p:graphicFrame>
        <p:nvGraphicFramePr>
          <p:cNvPr id="3384" name="table 3384"/>
          <p:cNvGraphicFramePr>
            <a:graphicFrameLocks noGrp="1"/>
          </p:cNvGraphicFramePr>
          <p:nvPr/>
        </p:nvGraphicFramePr>
        <p:xfrm>
          <a:off x="1146047" y="3646932"/>
          <a:ext cx="1264284" cy="935354"/>
        </p:xfrm>
        <a:graphic>
          <a:graphicData uri="http://schemas.openxmlformats.org/drawingml/2006/table">
            <a:tbl>
              <a:tblPr>
                <a:solidFill>
                  <a:srgbClr val="FDA103"/>
                </a:solidFill>
              </a:tblPr>
              <a:tblGrid>
                <a:gridCol w="1264284"/>
              </a:tblGrid>
              <a:tr h="9321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4034" algn="l" rtl="0" eaLnBrk="0">
                        <a:lnSpc>
                          <a:spcPts val="1266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64490" algn="l" rtl="0" eaLnBrk="0">
                        <a:lnSpc>
                          <a:spcPct val="87000"/>
                        </a:lnSpc>
                        <a:spcBef>
                          <a:spcPts val="100"/>
                        </a:spcBef>
                        <a:tabLst/>
                      </a:pP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元/兆瓦时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3"/>
                    </a:solidFill>
                  </a:tcPr>
                </a:tc>
              </a:tr>
            </a:tbl>
          </a:graphicData>
        </a:graphic>
      </p:graphicFrame>
      <p:sp>
        <p:nvSpPr>
          <p:cNvPr id="3386" name="textbox 3386"/>
          <p:cNvSpPr/>
          <p:nvPr/>
        </p:nvSpPr>
        <p:spPr>
          <a:xfrm>
            <a:off x="1507198" y="2899909"/>
            <a:ext cx="1787525" cy="558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0350" algn="l" rtl="0" eaLnBrk="0">
              <a:lnSpc>
                <a:spcPct val="86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——出清价——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79070" algn="l" rtl="0" eaLnBrk="0">
              <a:lnSpc>
                <a:spcPts val="1266"/>
              </a:lnSpc>
              <a:spcBef>
                <a:spcPts val="442"/>
              </a:spcBef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200              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300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100"/>
              </a:spcBef>
              <a:tabLst/>
            </a:pP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元/兆瓦时  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元/兆瓦时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88" name="textbox 3388"/>
          <p:cNvSpPr/>
          <p:nvPr/>
        </p:nvSpPr>
        <p:spPr>
          <a:xfrm>
            <a:off x="616941" y="2657254"/>
            <a:ext cx="429259" cy="2025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14"/>
              </a:lnSpc>
              <a:spcBef>
                <a:spcPts val="365"/>
              </a:spcBef>
              <a:tabLst/>
            </a:pP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300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ts val="1614"/>
              </a:lnSpc>
              <a:spcBef>
                <a:spcPts val="3"/>
              </a:spcBef>
              <a:tabLst/>
            </a:pPr>
            <a:r>
              <a:rPr sz="12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150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90" name="textbox 3390"/>
          <p:cNvSpPr/>
          <p:nvPr/>
        </p:nvSpPr>
        <p:spPr>
          <a:xfrm>
            <a:off x="5814848" y="2974225"/>
            <a:ext cx="440690" cy="1896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14"/>
              </a:lnSpc>
              <a:spcBef>
                <a:spcPts val="366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300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614"/>
              </a:lnSpc>
              <a:spcBef>
                <a:spcPts val="2"/>
              </a:spcBef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150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92" name="textbox 3392"/>
          <p:cNvSpPr/>
          <p:nvPr/>
        </p:nvSpPr>
        <p:spPr>
          <a:xfrm>
            <a:off x="6745240" y="3369623"/>
            <a:ext cx="1830070" cy="318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0339" algn="l" rtl="0" eaLnBrk="0">
              <a:lnSpc>
                <a:spcPts val="1266"/>
              </a:lnSpc>
              <a:tabLst/>
            </a:pP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300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200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100"/>
              </a:spcBef>
              <a:tabLst/>
            </a:pP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元/兆瓦时      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元/兆瓦时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94" name="textbox 3394"/>
          <p:cNvSpPr/>
          <p:nvPr/>
        </p:nvSpPr>
        <p:spPr>
          <a:xfrm>
            <a:off x="1546859" y="5555725"/>
            <a:ext cx="2826385" cy="183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0" baseline="37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15分钟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1400" b="1" kern="0" spc="0" baseline="-37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15分钟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96" name="textbox 3396"/>
          <p:cNvSpPr/>
          <p:nvPr/>
        </p:nvSpPr>
        <p:spPr>
          <a:xfrm>
            <a:off x="9009208" y="4294291"/>
            <a:ext cx="961389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7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99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下爬坡约束导致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高报价强制中标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98" name="textbox 3398"/>
          <p:cNvSpPr/>
          <p:nvPr/>
        </p:nvSpPr>
        <p:spPr>
          <a:xfrm>
            <a:off x="3692842" y="3712148"/>
            <a:ext cx="960755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6835" indent="-64769" algn="l" rtl="0" eaLnBrk="0">
              <a:lnSpc>
                <a:spcPct val="99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上爬坡约束导致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低报价未中标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00" name="picture 34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64223" y="5629655"/>
            <a:ext cx="3552443" cy="74676"/>
          </a:xfrm>
          <a:prstGeom prst="rect">
            <a:avLst/>
          </a:prstGeom>
        </p:spPr>
      </p:pic>
      <p:pic>
        <p:nvPicPr>
          <p:cNvPr id="3402" name="picture 34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7572" y="5477255"/>
            <a:ext cx="3435096" cy="74676"/>
          </a:xfrm>
          <a:prstGeom prst="rect">
            <a:avLst/>
          </a:prstGeom>
        </p:spPr>
      </p:pic>
      <p:sp>
        <p:nvSpPr>
          <p:cNvPr id="3404" name="textbox 3404"/>
          <p:cNvSpPr/>
          <p:nvPr/>
        </p:nvSpPr>
        <p:spPr>
          <a:xfrm>
            <a:off x="7449192" y="3105643"/>
            <a:ext cx="934085" cy="20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出清价——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06" name="picture 34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93191" y="2269235"/>
            <a:ext cx="4792979" cy="23050"/>
          </a:xfrm>
          <a:prstGeom prst="rect">
            <a:avLst/>
          </a:prstGeom>
        </p:spPr>
      </p:pic>
      <p:pic>
        <p:nvPicPr>
          <p:cNvPr id="3408" name="picture 340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93191" y="2316289"/>
            <a:ext cx="15430" cy="3869626"/>
          </a:xfrm>
          <a:prstGeom prst="rect">
            <a:avLst/>
          </a:prstGeom>
        </p:spPr>
      </p:pic>
      <p:pic>
        <p:nvPicPr>
          <p:cNvPr id="3410" name="picture 34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706367" y="3595115"/>
            <a:ext cx="748284" cy="76200"/>
          </a:xfrm>
          <a:prstGeom prst="rect">
            <a:avLst/>
          </a:prstGeom>
        </p:spPr>
      </p:pic>
      <p:pic>
        <p:nvPicPr>
          <p:cNvPr id="3412" name="picture 34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706367" y="4075175"/>
            <a:ext cx="748284" cy="74676"/>
          </a:xfrm>
          <a:prstGeom prst="rect">
            <a:avLst/>
          </a:prstGeom>
        </p:spPr>
      </p:pic>
      <p:pic>
        <p:nvPicPr>
          <p:cNvPr id="3414" name="picture 34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05383" y="6179820"/>
            <a:ext cx="4332732" cy="12191"/>
          </a:xfrm>
          <a:prstGeom prst="rect">
            <a:avLst/>
          </a:prstGeom>
        </p:spPr>
      </p:pic>
      <p:pic>
        <p:nvPicPr>
          <p:cNvPr id="3416" name="picture 34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028175" y="4149851"/>
            <a:ext cx="697992" cy="74676"/>
          </a:xfrm>
          <a:prstGeom prst="rect">
            <a:avLst/>
          </a:prstGeom>
        </p:spPr>
      </p:pic>
      <p:pic>
        <p:nvPicPr>
          <p:cNvPr id="3418" name="picture 34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028175" y="4713732"/>
            <a:ext cx="697992" cy="74676"/>
          </a:xfrm>
          <a:prstGeom prst="rect">
            <a:avLst/>
          </a:prstGeom>
        </p:spPr>
      </p:pic>
      <p:sp>
        <p:nvSpPr>
          <p:cNvPr id="3420" name="path 3420"/>
          <p:cNvSpPr/>
          <p:nvPr/>
        </p:nvSpPr>
        <p:spPr>
          <a:xfrm>
            <a:off x="6361117" y="3848100"/>
            <a:ext cx="1304661" cy="38099"/>
          </a:xfrm>
          <a:custGeom>
            <a:avLst/>
            <a:gdLst/>
            <a:ahLst/>
            <a:cxnLst/>
            <a:rect l="0" t="0" r="0" b="0"/>
            <a:pathLst>
              <a:path w="2054" h="59">
                <a:moveTo>
                  <a:pt x="0" y="33"/>
                </a:moveTo>
                <a:lnTo>
                  <a:pt x="2054" y="26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2" name="path 3422"/>
          <p:cNvSpPr/>
          <p:nvPr/>
        </p:nvSpPr>
        <p:spPr>
          <a:xfrm>
            <a:off x="1147531" y="4565903"/>
            <a:ext cx="1261953" cy="36576"/>
          </a:xfrm>
          <a:custGeom>
            <a:avLst/>
            <a:gdLst/>
            <a:ahLst/>
            <a:cxnLst/>
            <a:rect l="0" t="0" r="0" b="0"/>
            <a:pathLst>
              <a:path w="1987" h="57">
                <a:moveTo>
                  <a:pt x="0" y="31"/>
                </a:moveTo>
                <a:lnTo>
                  <a:pt x="1987" y="26"/>
                </a:lnTo>
              </a:path>
            </a:pathLst>
          </a:custGeom>
          <a:noFill/>
          <a:ln w="33527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4" name="textbox 3424"/>
          <p:cNvSpPr/>
          <p:nvPr/>
        </p:nvSpPr>
        <p:spPr>
          <a:xfrm>
            <a:off x="8165143" y="5739303"/>
            <a:ext cx="408305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15分钟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26" name="textbox 3426"/>
          <p:cNvSpPr/>
          <p:nvPr/>
        </p:nvSpPr>
        <p:spPr>
          <a:xfrm>
            <a:off x="6797184" y="5739303"/>
            <a:ext cx="407034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15分钟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28" name="textbox 3428"/>
          <p:cNvSpPr/>
          <p:nvPr/>
        </p:nvSpPr>
        <p:spPr>
          <a:xfrm>
            <a:off x="9639620" y="5814838"/>
            <a:ext cx="328295" cy="183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30" name="picture 34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3432" name="path 3432"/>
          <p:cNvSpPr/>
          <p:nvPr/>
        </p:nvSpPr>
        <p:spPr>
          <a:xfrm>
            <a:off x="2385062" y="4114526"/>
            <a:ext cx="41143" cy="466891"/>
          </a:xfrm>
          <a:custGeom>
            <a:avLst/>
            <a:gdLst/>
            <a:ahLst/>
            <a:cxnLst/>
            <a:rect l="0" t="0" r="0" b="0"/>
            <a:pathLst>
              <a:path w="64" h="735">
                <a:moveTo>
                  <a:pt x="38" y="0"/>
                </a:moveTo>
                <a:lnTo>
                  <a:pt x="26" y="734"/>
                </a:lnTo>
              </a:path>
            </a:pathLst>
          </a:custGeom>
          <a:noFill/>
          <a:ln w="33527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34" name="path 3434"/>
          <p:cNvSpPr/>
          <p:nvPr/>
        </p:nvSpPr>
        <p:spPr>
          <a:xfrm>
            <a:off x="295656" y="6310121"/>
            <a:ext cx="1645920" cy="10667"/>
          </a:xfrm>
          <a:custGeom>
            <a:avLst/>
            <a:gdLst/>
            <a:ahLst/>
            <a:cxnLst/>
            <a:rect l="0" t="0" r="0" b="0"/>
            <a:pathLst>
              <a:path w="2592" h="16">
                <a:moveTo>
                  <a:pt x="0" y="8"/>
                </a:moveTo>
                <a:lnTo>
                  <a:pt x="2592" y="8"/>
                </a:lnTo>
                <a:lnTo>
                  <a:pt x="2592" y="8"/>
                </a:lnTo>
                <a:lnTo>
                  <a:pt x="0" y="8"/>
                </a:lnTo>
              </a:path>
            </a:pathLst>
          </a:custGeom>
          <a:noFill/>
          <a:ln w="10668" cap="flat">
            <a:solidFill>
              <a:srgbClr val="006C67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36" name="path 3436"/>
          <p:cNvSpPr/>
          <p:nvPr/>
        </p:nvSpPr>
        <p:spPr>
          <a:xfrm>
            <a:off x="9122664" y="6317741"/>
            <a:ext cx="1275587" cy="10667"/>
          </a:xfrm>
          <a:custGeom>
            <a:avLst/>
            <a:gdLst/>
            <a:ahLst/>
            <a:cxnLst/>
            <a:rect l="0" t="0" r="0" b="0"/>
            <a:pathLst>
              <a:path w="2008" h="16">
                <a:moveTo>
                  <a:pt x="0" y="8"/>
                </a:moveTo>
                <a:lnTo>
                  <a:pt x="2008" y="8"/>
                </a:lnTo>
                <a:moveTo>
                  <a:pt x="2008" y="8"/>
                </a:moveTo>
                <a:lnTo>
                  <a:pt x="0" y="8"/>
                </a:lnTo>
              </a:path>
            </a:pathLst>
          </a:custGeom>
          <a:noFill/>
          <a:ln w="10668" cap="flat">
            <a:solidFill>
              <a:srgbClr val="41719C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38" name="path 3438"/>
          <p:cNvSpPr/>
          <p:nvPr/>
        </p:nvSpPr>
        <p:spPr>
          <a:xfrm>
            <a:off x="290322" y="5213603"/>
            <a:ext cx="10667" cy="1101852"/>
          </a:xfrm>
          <a:custGeom>
            <a:avLst/>
            <a:gdLst/>
            <a:ahLst/>
            <a:cxnLst/>
            <a:rect l="0" t="0" r="0" b="0"/>
            <a:pathLst>
              <a:path w="16" h="1735">
                <a:moveTo>
                  <a:pt x="8" y="0"/>
                </a:moveTo>
                <a:lnTo>
                  <a:pt x="8" y="1735"/>
                </a:lnTo>
                <a:moveTo>
                  <a:pt x="8" y="1735"/>
                </a:moveTo>
                <a:lnTo>
                  <a:pt x="8" y="0"/>
                </a:lnTo>
              </a:path>
            </a:pathLst>
          </a:custGeom>
          <a:noFill/>
          <a:ln w="10668" cap="flat">
            <a:solidFill>
              <a:srgbClr val="006C67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40" name="path 3440"/>
          <p:cNvSpPr/>
          <p:nvPr/>
        </p:nvSpPr>
        <p:spPr>
          <a:xfrm>
            <a:off x="10392916" y="5260847"/>
            <a:ext cx="10669" cy="1062227"/>
          </a:xfrm>
          <a:custGeom>
            <a:avLst/>
            <a:gdLst/>
            <a:ahLst/>
            <a:cxnLst/>
            <a:rect l="0" t="0" r="0" b="0"/>
            <a:pathLst>
              <a:path w="16" h="1672">
                <a:moveTo>
                  <a:pt x="8" y="1672"/>
                </a:moveTo>
                <a:lnTo>
                  <a:pt x="8" y="0"/>
                </a:lnTo>
                <a:lnTo>
                  <a:pt x="8" y="0"/>
                </a:lnTo>
                <a:lnTo>
                  <a:pt x="8" y="1672"/>
                </a:lnTo>
              </a:path>
            </a:pathLst>
          </a:custGeom>
          <a:noFill/>
          <a:ln w="10668" cap="flat">
            <a:solidFill>
              <a:srgbClr val="41719C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42" name="textbox 3442"/>
          <p:cNvSpPr/>
          <p:nvPr/>
        </p:nvSpPr>
        <p:spPr>
          <a:xfrm>
            <a:off x="7054061" y="3193906"/>
            <a:ext cx="410844" cy="97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65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4" name="picture 3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62683" y="2506979"/>
            <a:ext cx="7048500" cy="3252216"/>
          </a:xfrm>
          <a:prstGeom prst="rect">
            <a:avLst/>
          </a:prstGeom>
        </p:spPr>
      </p:pic>
      <p:graphicFrame>
        <p:nvGraphicFramePr>
          <p:cNvPr id="3446" name="table 3446"/>
          <p:cNvGraphicFramePr>
            <a:graphicFrameLocks noGrp="1"/>
          </p:cNvGraphicFramePr>
          <p:nvPr/>
        </p:nvGraphicFramePr>
        <p:xfrm>
          <a:off x="415290" y="2102357"/>
          <a:ext cx="10067290" cy="4300220"/>
        </p:xfrm>
        <a:graphic>
          <a:graphicData uri="http://schemas.openxmlformats.org/drawingml/2006/table">
            <a:tbl>
              <a:tblPr/>
              <a:tblGrid>
                <a:gridCol w="1167130"/>
                <a:gridCol w="8900159"/>
              </a:tblGrid>
              <a:tr h="37795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15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兆瓦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5325" algn="l" rtl="0" eaLnBrk="0">
                        <a:lnSpc>
                          <a:spcPct val="98000"/>
                        </a:lnSpc>
                        <a:spcBef>
                          <a:spcPts val="450"/>
                        </a:spcBef>
                        <a:tabLst/>
                      </a:pPr>
                      <a:r>
                        <a:rPr sz="1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1515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7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89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00" algn="l" rtl="0" eaLnBrk="0">
                        <a:lnSpc>
                          <a:spcPct val="88000"/>
                        </a:lnSpc>
                        <a:spcBef>
                          <a:spcPts val="460"/>
                        </a:spcBef>
                        <a:tabLst/>
                      </a:pPr>
                      <a:r>
                        <a:rPr sz="15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中标出力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3384" algn="l" rtl="0" eaLnBrk="0">
                        <a:lnSpc>
                          <a:spcPct val="83000"/>
                        </a:lnSpc>
                        <a:spcBef>
                          <a:spcPts val="426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4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4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4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4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2605" algn="l" rtl="0" eaLnBrk="0">
                        <a:lnSpc>
                          <a:spcPts val="193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1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</a:t>
                      </a:r>
                      <a:r>
                        <a:rPr sz="2400" b="1" kern="0" spc="-10" baseline="-1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1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</a:t>
                      </a: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r>
                        <a:rPr sz="1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</a:t>
                      </a: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sz="1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       </a:t>
                      </a:r>
                      <a:r>
                        <a:rPr sz="1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</a:t>
                      </a:r>
                      <a:r>
                        <a:rPr sz="2400" b="1" kern="0" spc="-20" baseline="30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2400" baseline="305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5207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950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开机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687829" algn="l" rtl="0" eaLnBrk="0">
                        <a:lnSpc>
                          <a:spcPct val="85000"/>
                        </a:lnSpc>
                        <a:spcBef>
                          <a:spcPts val="13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————机组最小连续运行时间为8小时————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48" name="textbox 3448"/>
          <p:cNvSpPr/>
          <p:nvPr/>
        </p:nvSpPr>
        <p:spPr>
          <a:xfrm>
            <a:off x="6788844" y="4605959"/>
            <a:ext cx="2876550" cy="1261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19"/>
              </a:lnSpc>
              <a:tabLst/>
            </a:pPr>
            <a:r>
              <a:rPr sz="2100" b="1" kern="0" spc="0" baseline="20556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300</a:t>
            </a:r>
            <a:r>
              <a:rPr sz="1300" kern="0" spc="6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2100" b="1" kern="0" spc="0" baseline="20556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300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</a:t>
            </a:r>
            <a:r>
              <a:rPr sz="2400" b="1" kern="0" spc="0" baseline="-154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高报价仍中</a:t>
            </a:r>
            <a:r>
              <a:rPr sz="2400" b="1" kern="0" spc="-10" baseline="-154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标</a:t>
            </a:r>
            <a:endParaRPr sz="2400" baseline="-1545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2198"/>
              </a:lnSpc>
              <a:spcBef>
                <a:spcPts val="1"/>
              </a:spcBef>
              <a:tabLst/>
            </a:pPr>
            <a:r>
              <a:rPr sz="2400" b="1" kern="0" spc="-10" baseline="1703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2400" b="1" kern="0" spc="-10" baseline="1920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b="1" kern="0" spc="-10" baseline="210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r>
              <a:rPr sz="2100" b="1" kern="0" spc="-10" baseline="210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2100" b="1" kern="0" spc="-10" baseline="210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小时</a:t>
            </a:r>
            <a:r>
              <a:rPr sz="2100" b="1" kern="0" spc="-10" baseline="210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2100" baseline="2104" dirty="0">
              <a:latin typeface="Arial"/>
              <a:ea typeface="Arial"/>
              <a:cs typeface="Arial"/>
            </a:endParaRPr>
          </a:p>
        </p:txBody>
      </p:sp>
      <p:sp>
        <p:nvSpPr>
          <p:cNvPr id="3450" name="textbox 3450"/>
          <p:cNvSpPr/>
          <p:nvPr/>
        </p:nvSpPr>
        <p:spPr>
          <a:xfrm>
            <a:off x="523049" y="1114052"/>
            <a:ext cx="6326504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机组最小连续运行时间约束导致非常规出清结果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52" name="textbox 3452"/>
          <p:cNvSpPr/>
          <p:nvPr/>
        </p:nvSpPr>
        <p:spPr>
          <a:xfrm>
            <a:off x="6819233" y="2624856"/>
            <a:ext cx="2473325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260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260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出清价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54" name="picture 34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6" name="picture 34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29155" y="5170931"/>
            <a:ext cx="7173467" cy="76200"/>
          </a:xfrm>
          <a:prstGeom prst="rect">
            <a:avLst/>
          </a:prstGeom>
        </p:spPr>
      </p:pic>
      <p:pic>
        <p:nvPicPr>
          <p:cNvPr id="3458" name="picture 34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66672" y="2359152"/>
            <a:ext cx="6969251" cy="3107435"/>
          </a:xfrm>
          <a:prstGeom prst="rect">
            <a:avLst/>
          </a:prstGeom>
        </p:spPr>
      </p:pic>
      <p:graphicFrame>
        <p:nvGraphicFramePr>
          <p:cNvPr id="3460" name="table 3460"/>
          <p:cNvGraphicFramePr>
            <a:graphicFrameLocks noGrp="1"/>
          </p:cNvGraphicFramePr>
          <p:nvPr/>
        </p:nvGraphicFramePr>
        <p:xfrm>
          <a:off x="366522" y="2161794"/>
          <a:ext cx="10067290" cy="4300220"/>
        </p:xfrm>
        <a:graphic>
          <a:graphicData uri="http://schemas.openxmlformats.org/drawingml/2006/table">
            <a:tbl>
              <a:tblPr/>
              <a:tblGrid>
                <a:gridCol w="1040130"/>
                <a:gridCol w="9027159"/>
              </a:tblGrid>
              <a:tr h="43002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0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兆瓦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5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5955" algn="l" rtl="0" eaLnBrk="0">
                        <a:lnSpc>
                          <a:spcPct val="98000"/>
                        </a:lnSpc>
                        <a:spcBef>
                          <a:spcPts val="451"/>
                        </a:spcBef>
                        <a:tabLst/>
                      </a:pPr>
                      <a:r>
                        <a:rPr sz="1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8969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783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8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0280" algn="l" rtl="0" eaLnBrk="0">
                        <a:lnSpc>
                          <a:spcPct val="86000"/>
                        </a:lnSpc>
                        <a:spcBef>
                          <a:spcPts val="427"/>
                        </a:spcBef>
                        <a:tabLst/>
                      </a:pPr>
                      <a:r>
                        <a:rPr sz="14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中标出力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8794" algn="l" rtl="0" eaLnBrk="0">
                        <a:lnSpc>
                          <a:spcPct val="86000"/>
                        </a:lnSpc>
                        <a:spcBef>
                          <a:spcPts val="422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400" kern="0" spc="3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400" b="1" kern="0" spc="-2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400" kern="0" spc="3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400" b="1" kern="0" spc="-2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400" kern="0" spc="5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400" b="1" kern="0" spc="-2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400" kern="0" spc="-2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400" b="1" kern="0" spc="-2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400" kern="0" spc="3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400" b="1" kern="0" spc="-2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400" kern="0" spc="4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400" b="1" kern="0" spc="-2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r>
                        <a:rPr sz="1400" kern="0" spc="5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400" b="1" kern="0" spc="-2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744" algn="l" rtl="0" eaLnBrk="0">
                        <a:lnSpc>
                          <a:spcPts val="1923"/>
                        </a:lnSpc>
                        <a:spcBef>
                          <a:spcPts val="480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              </a:t>
                      </a:r>
                      <a:r>
                        <a:rPr sz="2400" b="1" kern="0" spc="-10" baseline="-145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</a:t>
                      </a: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3              4          </a:t>
                      </a:r>
                      <a:r>
                        <a:rPr sz="1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5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</a:t>
                      </a:r>
                      <a:r>
                        <a:rPr sz="2400" b="1" kern="0" spc="-20" baseline="2889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2400" baseline="2889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84854" algn="l" rtl="0" eaLnBrk="0">
                        <a:lnSpc>
                          <a:spcPts val="2883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低报价却无法中标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498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——————机组最小停机时间为6小时——————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62" name="textbox 3462"/>
          <p:cNvSpPr/>
          <p:nvPr/>
        </p:nvSpPr>
        <p:spPr>
          <a:xfrm>
            <a:off x="523049" y="1114052"/>
            <a:ext cx="5726429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机组最小停机时间约束导致非常规出清结果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64" name="textbox 3464"/>
          <p:cNvSpPr/>
          <p:nvPr/>
        </p:nvSpPr>
        <p:spPr>
          <a:xfrm>
            <a:off x="9017376" y="5268175"/>
            <a:ext cx="84645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小时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3466" name="textbox 3466"/>
          <p:cNvSpPr/>
          <p:nvPr/>
        </p:nvSpPr>
        <p:spPr>
          <a:xfrm>
            <a:off x="8788086" y="2515155"/>
            <a:ext cx="544194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出清价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68" name="textbox 3468"/>
          <p:cNvSpPr/>
          <p:nvPr/>
        </p:nvSpPr>
        <p:spPr>
          <a:xfrm>
            <a:off x="1425047" y="5602213"/>
            <a:ext cx="380365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停机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70" name="picture 34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3472" name="textbox 3472"/>
          <p:cNvSpPr/>
          <p:nvPr/>
        </p:nvSpPr>
        <p:spPr>
          <a:xfrm>
            <a:off x="7825846" y="5267218"/>
            <a:ext cx="129539" cy="250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3474" name="textbox 3474"/>
          <p:cNvSpPr/>
          <p:nvPr/>
        </p:nvSpPr>
        <p:spPr>
          <a:xfrm>
            <a:off x="6989343" y="5274880"/>
            <a:ext cx="128904" cy="250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pic>
        <p:nvPicPr>
          <p:cNvPr id="3476" name="picture 34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32475" y="5495543"/>
            <a:ext cx="100584" cy="227076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8" name="picture 34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932432"/>
            <a:ext cx="10692384" cy="4529328"/>
          </a:xfrm>
          <a:prstGeom prst="rect">
            <a:avLst/>
          </a:prstGeom>
        </p:spPr>
      </p:pic>
      <p:graphicFrame>
        <p:nvGraphicFramePr>
          <p:cNvPr id="3480" name="table 3480"/>
          <p:cNvGraphicFramePr>
            <a:graphicFrameLocks noGrp="1"/>
          </p:cNvGraphicFramePr>
          <p:nvPr/>
        </p:nvGraphicFramePr>
        <p:xfrm>
          <a:off x="1239011" y="2467355"/>
          <a:ext cx="8035925" cy="3792854"/>
        </p:xfrm>
        <a:graphic>
          <a:graphicData uri="http://schemas.openxmlformats.org/drawingml/2006/table">
            <a:tbl>
              <a:tblPr/>
              <a:tblGrid>
                <a:gridCol w="1489710"/>
                <a:gridCol w="4508500"/>
                <a:gridCol w="2037714"/>
              </a:tblGrid>
              <a:tr h="4330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0005" algn="l" rtl="0" eaLnBrk="0">
                        <a:lnSpc>
                          <a:spcPct val="9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最大出力偏高：实际调电调不上去，被考核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07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0005" algn="l" rtl="0" eaLnBrk="0">
                        <a:lnSpc>
                          <a:spcPct val="9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最大出力偏低：市场价格较高时失去盈利机会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0005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最小出力偏高：</a:t>
                      </a:r>
                      <a:r>
                        <a:rPr sz="1400" b="1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出力调节空间缩小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，可能被优化停机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000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最小出力偏低：无偿深度调峰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49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000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14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00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爬坡率偏大：无法满足调度指令，被考核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000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00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爬坡率偏小：非常规中标或不中标，失去盈利机会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25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0005" algn="l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最小开机时间偏长：非常规中标，失去盈利机会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2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0005" algn="l" rtl="0" eaLnBrk="0">
                        <a:lnSpc>
                          <a:spcPct val="9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最小开机时间偏短：有损设备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2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0005" algn="l" rtl="0" eaLnBrk="0">
                        <a:lnSpc>
                          <a:spcPct val="9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最小停机时间偏长：非常规不中标，失去盈利机会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000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14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最小停机时间偏短：有损设备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D97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9742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82" name="textbox 3482"/>
          <p:cNvSpPr/>
          <p:nvPr/>
        </p:nvSpPr>
        <p:spPr>
          <a:xfrm>
            <a:off x="523650" y="1083729"/>
            <a:ext cx="7743190" cy="391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84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最小出力、爬坡率、最小开机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停机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时间性能参数申报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84" name="picture 34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3486" name="picture 34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221723" y="6245161"/>
            <a:ext cx="48959" cy="1543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8" name="textbox 3488"/>
          <p:cNvSpPr/>
          <p:nvPr/>
        </p:nvSpPr>
        <p:spPr>
          <a:xfrm>
            <a:off x="880300" y="3175277"/>
            <a:ext cx="3000375" cy="1357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18210" algn="l" rtl="0" eaLnBrk="0">
              <a:lnSpc>
                <a:spcPct val="83000"/>
              </a:lnSpc>
              <a:tabLst/>
            </a:pP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</a:t>
            </a:r>
            <a:r>
              <a:rPr sz="4200" b="1" kern="0" spc="8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 sz="4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1"/>
              </a:spcBef>
              <a:tabLst/>
            </a:pPr>
            <a:r>
              <a:rPr sz="4200" b="1" kern="0" spc="-2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 sz="4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36" name="group 336"/>
          <p:cNvGrpSpPr/>
          <p:nvPr/>
        </p:nvGrpSpPr>
        <p:grpSpPr>
          <a:xfrm rot="21600000">
            <a:off x="4762500" y="900683"/>
            <a:ext cx="4724400" cy="559308"/>
            <a:chOff x="0" y="0"/>
            <a:chExt cx="4724400" cy="559308"/>
          </a:xfrm>
        </p:grpSpPr>
        <p:pic>
          <p:nvPicPr>
            <p:cNvPr id="3490" name="picture 349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492" name="textbox 3492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9254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307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集中式现货市场的典型设计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494" name="path 3494"/>
            <p:cNvSpPr/>
            <p:nvPr/>
          </p:nvSpPr>
          <p:spPr>
            <a:xfrm>
              <a:off x="897775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9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38" name="group 338"/>
          <p:cNvGrpSpPr/>
          <p:nvPr/>
        </p:nvGrpSpPr>
        <p:grpSpPr>
          <a:xfrm rot="21600000">
            <a:off x="4762500" y="3128771"/>
            <a:ext cx="4724400" cy="559308"/>
            <a:chOff x="0" y="0"/>
            <a:chExt cx="4724400" cy="559308"/>
          </a:xfrm>
        </p:grpSpPr>
        <p:pic>
          <p:nvPicPr>
            <p:cNvPr id="3496" name="picture 349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498" name="textbox 3498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68934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40" baseline="3586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发电企业现货市场交易策略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500" name="path 3500"/>
            <p:cNvSpPr/>
            <p:nvPr/>
          </p:nvSpPr>
          <p:spPr>
            <a:xfrm>
              <a:off x="878776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6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40" name="group 340"/>
          <p:cNvGrpSpPr/>
          <p:nvPr/>
        </p:nvGrpSpPr>
        <p:grpSpPr>
          <a:xfrm rot="21600000">
            <a:off x="4762500" y="1642871"/>
            <a:ext cx="4724400" cy="559308"/>
            <a:chOff x="0" y="0"/>
            <a:chExt cx="4724400" cy="559308"/>
          </a:xfrm>
        </p:grpSpPr>
        <p:pic>
          <p:nvPicPr>
            <p:cNvPr id="3502" name="picture 350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504" name="textbox 3504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8459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典型省份电力现货市场设计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506" name="path 3506"/>
            <p:cNvSpPr/>
            <p:nvPr/>
          </p:nvSpPr>
          <p:spPr>
            <a:xfrm>
              <a:off x="887107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42" name="group 342"/>
          <p:cNvGrpSpPr/>
          <p:nvPr/>
        </p:nvGrpSpPr>
        <p:grpSpPr>
          <a:xfrm rot="21600000">
            <a:off x="4762500" y="3870959"/>
            <a:ext cx="4724400" cy="559308"/>
            <a:chOff x="0" y="0"/>
            <a:chExt cx="4724400" cy="559308"/>
          </a:xfrm>
        </p:grpSpPr>
        <p:pic>
          <p:nvPicPr>
            <p:cNvPr id="3508" name="picture 350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510" name="textbox 3510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671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4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售电公司现货市场交易策略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512" name="path 3512"/>
            <p:cNvSpPr/>
            <p:nvPr/>
          </p:nvSpPr>
          <p:spPr>
            <a:xfrm>
              <a:off x="895641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44" name="group 344"/>
          <p:cNvGrpSpPr/>
          <p:nvPr/>
        </p:nvGrpSpPr>
        <p:grpSpPr>
          <a:xfrm rot="21600000">
            <a:off x="4762500" y="6099047"/>
            <a:ext cx="4724400" cy="559307"/>
            <a:chOff x="0" y="0"/>
            <a:chExt cx="4724400" cy="559307"/>
          </a:xfrm>
        </p:grpSpPr>
        <p:pic>
          <p:nvPicPr>
            <p:cNvPr id="3514" name="picture 35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3516" name="textbox 3516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592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40" baseline="3345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量化交易在电力现货的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实践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518" name="path 3518"/>
            <p:cNvSpPr/>
            <p:nvPr/>
          </p:nvSpPr>
          <p:spPr>
            <a:xfrm>
              <a:off x="885710" y="192023"/>
              <a:ext cx="185928" cy="175260"/>
            </a:xfrm>
            <a:custGeom>
              <a:avLst/>
              <a:gdLst/>
              <a:ahLst/>
              <a:cxnLst/>
              <a:rect l="0" t="0" r="0" b="0"/>
              <a:pathLst>
                <a:path w="292" h="276">
                  <a:moveTo>
                    <a:pt x="0" y="0"/>
                  </a:moveTo>
                  <a:lnTo>
                    <a:pt x="292" y="139"/>
                  </a:lnTo>
                  <a:lnTo>
                    <a:pt x="0" y="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46" name="group 346"/>
          <p:cNvGrpSpPr/>
          <p:nvPr/>
        </p:nvGrpSpPr>
        <p:grpSpPr>
          <a:xfrm rot="21600000">
            <a:off x="4762500" y="5356860"/>
            <a:ext cx="4724400" cy="559307"/>
            <a:chOff x="0" y="0"/>
            <a:chExt cx="4724400" cy="559307"/>
          </a:xfrm>
        </p:grpSpPr>
        <p:pic>
          <p:nvPicPr>
            <p:cNvPr id="3520" name="picture 35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3522" name="textbox 3522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719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20" baseline="450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试结算案例分析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524" name="path 3524"/>
            <p:cNvSpPr/>
            <p:nvPr/>
          </p:nvSpPr>
          <p:spPr>
            <a:xfrm>
              <a:off x="884504" y="192023"/>
              <a:ext cx="185928" cy="173736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48" name="group 348"/>
          <p:cNvGrpSpPr/>
          <p:nvPr/>
        </p:nvGrpSpPr>
        <p:grpSpPr>
          <a:xfrm rot="21600000">
            <a:off x="4762500" y="4614671"/>
            <a:ext cx="4724400" cy="557783"/>
            <a:chOff x="0" y="0"/>
            <a:chExt cx="4724400" cy="557783"/>
          </a:xfrm>
        </p:grpSpPr>
        <p:pic>
          <p:nvPicPr>
            <p:cNvPr id="3526" name="picture 35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3528" name="textbox 3528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7909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20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中长期合约交易策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530" name="path 3530"/>
            <p:cNvSpPr/>
            <p:nvPr/>
          </p:nvSpPr>
          <p:spPr>
            <a:xfrm>
              <a:off x="881290" y="192024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50" name="group 350"/>
          <p:cNvGrpSpPr/>
          <p:nvPr/>
        </p:nvGrpSpPr>
        <p:grpSpPr>
          <a:xfrm rot="21600000">
            <a:off x="4762500" y="2386584"/>
            <a:ext cx="4724400" cy="557783"/>
            <a:chOff x="0" y="0"/>
            <a:chExt cx="4724400" cy="557783"/>
          </a:xfrm>
        </p:grpSpPr>
        <p:pic>
          <p:nvPicPr>
            <p:cNvPr id="3532" name="picture 353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3534" name="textbox 3534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84809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2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  <a:r>
                <a:rPr sz="20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电力市场的经济学原理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536" name="path 3536"/>
            <p:cNvSpPr/>
            <p:nvPr/>
          </p:nvSpPr>
          <p:spPr>
            <a:xfrm>
              <a:off x="892505" y="192023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538" name="path 3538"/>
          <p:cNvSpPr/>
          <p:nvPr/>
        </p:nvSpPr>
        <p:spPr>
          <a:xfrm>
            <a:off x="4271771" y="835152"/>
            <a:ext cx="6096" cy="5890259"/>
          </a:xfrm>
          <a:custGeom>
            <a:avLst/>
            <a:gdLst/>
            <a:ahLst/>
            <a:cxnLst/>
            <a:rect l="0" t="0" r="0" b="0"/>
            <a:pathLst>
              <a:path w="9" h="9275">
                <a:moveTo>
                  <a:pt x="4" y="0"/>
                </a:moveTo>
                <a:lnTo>
                  <a:pt x="4" y="9275"/>
                </a:ln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textbox 3540"/>
          <p:cNvSpPr/>
          <p:nvPr/>
        </p:nvSpPr>
        <p:spPr>
          <a:xfrm>
            <a:off x="324612" y="5551932"/>
            <a:ext cx="9264650" cy="935989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64894" algn="l" rtl="0" eaLnBrk="0">
              <a:lnSpc>
                <a:spcPct val="93000"/>
              </a:lnSpc>
              <a:spcBef>
                <a:spcPts val="5"/>
              </a:spcBef>
              <a:tabLst/>
            </a:pPr>
            <a:r>
              <a:rPr sz="14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400" b="1" kern="0" spc="1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制定电费套餐：单一电价套餐、固定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+浮动套餐、分时电价套餐、阶梯电价套餐</a:t>
            </a:r>
            <a:r>
              <a:rPr sz="1400" b="1" kern="0" spc="-3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r>
              <a:rPr sz="1400" b="1" kern="0" spc="-3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064894" algn="l" rtl="0" eaLnBrk="0">
              <a:lnSpc>
                <a:spcPct val="93000"/>
              </a:lnSpc>
              <a:tabLst/>
            </a:pPr>
            <a:r>
              <a:rPr sz="14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400" b="1" kern="0" spc="1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推荐增值服务：屋顶光伏、能效管理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、储能、容改需</a:t>
            </a:r>
            <a:r>
              <a:rPr sz="1400" b="1" kern="0" spc="-3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r>
              <a:rPr sz="1400" b="1" kern="0" spc="-3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52" name="group 352"/>
          <p:cNvGrpSpPr/>
          <p:nvPr/>
        </p:nvGrpSpPr>
        <p:grpSpPr>
          <a:xfrm rot="21600000">
            <a:off x="5460492" y="2043684"/>
            <a:ext cx="4146803" cy="1710216"/>
            <a:chOff x="0" y="0"/>
            <a:chExt cx="4146803" cy="1710216"/>
          </a:xfrm>
        </p:grpSpPr>
        <p:pic>
          <p:nvPicPr>
            <p:cNvPr id="3542" name="picture 35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146803" cy="1603247"/>
            </a:xfrm>
            <a:prstGeom prst="rect">
              <a:avLst/>
            </a:prstGeom>
          </p:spPr>
        </p:pic>
        <p:sp>
          <p:nvSpPr>
            <p:cNvPr id="3544" name="textbox 3544"/>
            <p:cNvSpPr/>
            <p:nvPr/>
          </p:nvSpPr>
          <p:spPr>
            <a:xfrm>
              <a:off x="-12700" y="-12700"/>
              <a:ext cx="4172584" cy="17405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67435" algn="l" rtl="0" eaLnBrk="0">
                <a:lnSpc>
                  <a:spcPct val="88000"/>
                </a:lnSpc>
                <a:spcBef>
                  <a:spcPts val="3"/>
                </a:spcBef>
                <a:tabLst/>
              </a:pPr>
              <a:r>
                <a:rPr sz="12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高科技企业：负荷连续、稳定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97179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2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一般制造业：人力密集型、电价敏感度低、日间负荷高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546" name="textbox 3546"/>
          <p:cNvSpPr/>
          <p:nvPr/>
        </p:nvSpPr>
        <p:spPr>
          <a:xfrm>
            <a:off x="574257" y="2686057"/>
            <a:ext cx="3223260" cy="1065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兆瓦时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96000"/>
              </a:lnSpc>
              <a:spcBef>
                <a:spcPts val="1272"/>
              </a:spcBef>
              <a:tabLst/>
            </a:pPr>
            <a:r>
              <a:rPr sz="1800" b="1" kern="0" spc="10" baseline="-5787" dirty="0">
                <a:solidFill>
                  <a:srgbClr val="C2080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用户A</a:t>
            </a:r>
            <a:r>
              <a:rPr sz="1100" b="1" kern="0" spc="10" dirty="0">
                <a:solidFill>
                  <a:srgbClr val="C2080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1100" b="1" kern="0" spc="0" dirty="0">
                <a:solidFill>
                  <a:srgbClr val="C2080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200" b="1" kern="0" spc="0" dirty="0">
                <a:solidFill>
                  <a:srgbClr val="7CD6F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用户B                     </a:t>
            </a:r>
            <a:r>
              <a:rPr sz="1200" b="1" kern="0" spc="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用户C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82394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200" b="1" kern="0" spc="10" dirty="0">
                <a:solidFill>
                  <a:srgbClr val="41719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节点电价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48" name="picture 35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32815" y="2744723"/>
            <a:ext cx="3837432" cy="1844040"/>
          </a:xfrm>
          <a:prstGeom prst="rect">
            <a:avLst/>
          </a:prstGeom>
        </p:spPr>
      </p:pic>
      <p:pic>
        <p:nvPicPr>
          <p:cNvPr id="3550" name="picture 35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62016" y="3829811"/>
            <a:ext cx="4145279" cy="652271"/>
          </a:xfrm>
          <a:prstGeom prst="rect">
            <a:avLst/>
          </a:prstGeom>
        </p:spPr>
      </p:pic>
      <p:sp>
        <p:nvSpPr>
          <p:cNvPr id="3552" name="textbox 3552"/>
          <p:cNvSpPr/>
          <p:nvPr/>
        </p:nvSpPr>
        <p:spPr>
          <a:xfrm>
            <a:off x="362712" y="2049779"/>
            <a:ext cx="4383404" cy="381000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90169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基于用户用电行为与节点电</a:t>
            </a: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价高低时段的关系对客户进行画像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54" name="picture 35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661969" y="1920049"/>
            <a:ext cx="411670" cy="2915792"/>
          </a:xfrm>
          <a:prstGeom prst="rect">
            <a:avLst/>
          </a:prstGeom>
        </p:spPr>
      </p:pic>
      <p:sp>
        <p:nvSpPr>
          <p:cNvPr id="3556" name="textbox 3556"/>
          <p:cNvSpPr/>
          <p:nvPr/>
        </p:nvSpPr>
        <p:spPr>
          <a:xfrm>
            <a:off x="-12700" y="1111986"/>
            <a:ext cx="2959100" cy="345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>
                <a:tab pos="548640" algn="l"/>
              </a:tabLst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094161"/>
                  </a:solidFill>
                </a:u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u="sng" kern="0" spc="5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094161"/>
                  </a:solidFill>
                </a:uFill>
                <a:latin typeface="Microsoft YaHei"/>
                <a:ea typeface="Microsoft YaHei"/>
                <a:cs typeface="Microsoft YaHei"/>
              </a:rPr>
              <a:t>零售用户价值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58" name="picture 35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093207" y="1953577"/>
            <a:ext cx="291274" cy="2513457"/>
          </a:xfrm>
          <a:prstGeom prst="rect">
            <a:avLst/>
          </a:prstGeom>
        </p:spPr>
      </p:pic>
      <p:sp>
        <p:nvSpPr>
          <p:cNvPr id="3560" name="path 3560"/>
          <p:cNvSpPr/>
          <p:nvPr/>
        </p:nvSpPr>
        <p:spPr>
          <a:xfrm>
            <a:off x="7978139" y="5000244"/>
            <a:ext cx="1271016" cy="361187"/>
          </a:xfrm>
          <a:custGeom>
            <a:avLst/>
            <a:gdLst/>
            <a:ahLst/>
            <a:cxnLst/>
            <a:rect l="0" t="0" r="0" b="0"/>
            <a:pathLst>
              <a:path w="2001" h="568">
                <a:moveTo>
                  <a:pt x="1500" y="0"/>
                </a:moveTo>
                <a:lnTo>
                  <a:pt x="1500" y="283"/>
                </a:lnTo>
                <a:lnTo>
                  <a:pt x="2001" y="283"/>
                </a:lnTo>
                <a:lnTo>
                  <a:pt x="1000" y="568"/>
                </a:lnTo>
                <a:lnTo>
                  <a:pt x="0" y="283"/>
                </a:lnTo>
                <a:lnTo>
                  <a:pt x="501" y="283"/>
                </a:lnTo>
                <a:lnTo>
                  <a:pt x="501" y="0"/>
                </a:lnTo>
                <a:lnTo>
                  <a:pt x="1500" y="0"/>
                </a:lnTo>
                <a:close/>
              </a:path>
            </a:pathLst>
          </a:cu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62" name="path 3562"/>
          <p:cNvSpPr/>
          <p:nvPr/>
        </p:nvSpPr>
        <p:spPr>
          <a:xfrm>
            <a:off x="4518659" y="2822447"/>
            <a:ext cx="361188" cy="1269492"/>
          </a:xfrm>
          <a:custGeom>
            <a:avLst/>
            <a:gdLst/>
            <a:ahLst/>
            <a:cxnLst/>
            <a:rect l="0" t="0" r="0" b="0"/>
            <a:pathLst>
              <a:path w="568" h="1999">
                <a:moveTo>
                  <a:pt x="0" y="499"/>
                </a:moveTo>
                <a:lnTo>
                  <a:pt x="283" y="499"/>
                </a:lnTo>
                <a:lnTo>
                  <a:pt x="283" y="0"/>
                </a:lnTo>
                <a:lnTo>
                  <a:pt x="568" y="1000"/>
                </a:lnTo>
                <a:lnTo>
                  <a:pt x="283" y="1999"/>
                </a:lnTo>
                <a:lnTo>
                  <a:pt x="283" y="1500"/>
                </a:lnTo>
                <a:lnTo>
                  <a:pt x="0" y="1500"/>
                </a:lnTo>
                <a:lnTo>
                  <a:pt x="0" y="499"/>
                </a:lnTo>
                <a:close/>
              </a:path>
            </a:pathLst>
          </a:cu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64" name="textbox 3564"/>
          <p:cNvSpPr/>
          <p:nvPr/>
        </p:nvSpPr>
        <p:spPr>
          <a:xfrm>
            <a:off x="6112505" y="4505328"/>
            <a:ext cx="2976245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高耗能企业：</a:t>
            </a:r>
            <a:r>
              <a:rPr sz="12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电价敏感度高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、负荷昼夜差大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66" name="picture 35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02389" y="1911095"/>
            <a:ext cx="4263009" cy="64770"/>
          </a:xfrm>
          <a:prstGeom prst="rect">
            <a:avLst/>
          </a:prstGeom>
        </p:spPr>
      </p:pic>
      <p:sp>
        <p:nvSpPr>
          <p:cNvPr id="3568" name="textbox 3568"/>
          <p:cNvSpPr/>
          <p:nvPr/>
        </p:nvSpPr>
        <p:spPr>
          <a:xfrm>
            <a:off x="6796278" y="1736597"/>
            <a:ext cx="1473835" cy="23114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16839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客户用电行为画像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70" name="picture 35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458967" y="4811267"/>
            <a:ext cx="4182046" cy="27432"/>
          </a:xfrm>
          <a:prstGeom prst="rect">
            <a:avLst/>
          </a:prstGeom>
        </p:spPr>
      </p:pic>
      <p:pic>
        <p:nvPicPr>
          <p:cNvPr id="3572" name="picture 357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109780" y="4486465"/>
            <a:ext cx="320230" cy="326326"/>
          </a:xfrm>
          <a:prstGeom prst="rect">
            <a:avLst/>
          </a:prstGeom>
        </p:spPr>
      </p:pic>
      <p:sp>
        <p:nvSpPr>
          <p:cNvPr id="3574" name="textbox 3574"/>
          <p:cNvSpPr/>
          <p:nvPr/>
        </p:nvSpPr>
        <p:spPr>
          <a:xfrm>
            <a:off x="3844730" y="4637804"/>
            <a:ext cx="310515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24点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76" name="textbox 3576"/>
          <p:cNvSpPr/>
          <p:nvPr/>
        </p:nvSpPr>
        <p:spPr>
          <a:xfrm>
            <a:off x="671811" y="4643861"/>
            <a:ext cx="224790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1点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78" name="textbox 3578"/>
          <p:cNvSpPr/>
          <p:nvPr/>
        </p:nvSpPr>
        <p:spPr>
          <a:xfrm>
            <a:off x="344812" y="4326675"/>
            <a:ext cx="120650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32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3580" name="textbox 3580"/>
          <p:cNvSpPr/>
          <p:nvPr/>
        </p:nvSpPr>
        <p:spPr>
          <a:xfrm>
            <a:off x="2251139" y="4724355"/>
            <a:ext cx="266700" cy="53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19"/>
              </a:lnSpc>
              <a:tabLst/>
            </a:pP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……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2" name="textbox 3582"/>
          <p:cNvSpPr/>
          <p:nvPr/>
        </p:nvSpPr>
        <p:spPr>
          <a:xfrm>
            <a:off x="4204140" y="3152369"/>
            <a:ext cx="2621279" cy="2037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45794" algn="l" rtl="0" eaLnBrk="0">
              <a:lnSpc>
                <a:spcPct val="88000"/>
              </a:lnSpc>
              <a:tabLst/>
            </a:pPr>
            <a:r>
              <a:rPr sz="1500" b="1" kern="0" spc="70" dirty="0">
                <a:solidFill>
                  <a:srgbClr val="0D42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市场费率类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5434" indent="-285750" algn="l" rtl="0" eaLnBrk="0">
              <a:lnSpc>
                <a:spcPct val="139000"/>
              </a:lnSpc>
              <a:spcBef>
                <a:spcPts val="364"/>
              </a:spcBef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</a:t>
            </a:r>
            <a:r>
              <a:rPr sz="12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实时价基准：</a:t>
            </a:r>
            <a:r>
              <a:rPr sz="12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以用户侧实时市场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结算价格月度算术平均值为基准，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乘以调整系数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04800" indent="-292734" algn="l" rtl="0" eaLnBrk="0">
              <a:lnSpc>
                <a:spcPct val="139000"/>
              </a:lnSpc>
              <a:spcBef>
                <a:spcPts val="2"/>
              </a:spcBef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    日前价基准：</a:t>
            </a:r>
            <a:r>
              <a:rPr sz="12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以用户侧日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前市场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结算价格月度算术平均值为基准，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乘以调整系数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84" name="textbox 3584"/>
          <p:cNvSpPr/>
          <p:nvPr/>
        </p:nvSpPr>
        <p:spPr>
          <a:xfrm>
            <a:off x="837546" y="3140189"/>
            <a:ext cx="2804160" cy="147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40384" algn="l" rtl="0" eaLnBrk="0">
              <a:lnSpc>
                <a:spcPct val="88000"/>
              </a:lnSpc>
              <a:tabLst/>
            </a:pPr>
            <a:r>
              <a:rPr sz="1500" b="1" kern="0" spc="6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固定价格类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ts val="1614"/>
              </a:lnSpc>
              <a:spcBef>
                <a:spcPts val="371"/>
              </a:spcBef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</a:t>
            </a:r>
            <a:r>
              <a:rPr sz="12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一口价：只有一个售电价格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1614"/>
              </a:lnSpc>
              <a:spcBef>
                <a:spcPts val="594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</a:t>
            </a:r>
            <a:r>
              <a:rPr sz="12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分时套餐：允许每个小时有不同价格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3970" algn="l" rtl="0" eaLnBrk="0">
              <a:lnSpc>
                <a:spcPts val="1614"/>
              </a:lnSpc>
              <a:spcBef>
                <a:spcPts val="593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</a:t>
            </a:r>
            <a:r>
              <a:rPr sz="12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分月分时套餐：允许每个月每个时段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05434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有不同价格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86" name="picture 35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1480" y="2485643"/>
            <a:ext cx="10668" cy="3352800"/>
          </a:xfrm>
          <a:prstGeom prst="rect">
            <a:avLst/>
          </a:prstGeom>
        </p:spPr>
      </p:pic>
      <p:pic>
        <p:nvPicPr>
          <p:cNvPr id="3588" name="picture 35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75703" y="2409444"/>
            <a:ext cx="124969" cy="3435095"/>
          </a:xfrm>
          <a:prstGeom prst="rect">
            <a:avLst/>
          </a:prstGeom>
        </p:spPr>
      </p:pic>
      <p:pic>
        <p:nvPicPr>
          <p:cNvPr id="3590" name="picture 35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3568" y="2231135"/>
            <a:ext cx="9965435" cy="368808"/>
          </a:xfrm>
          <a:prstGeom prst="rect">
            <a:avLst/>
          </a:prstGeom>
        </p:spPr>
      </p:pic>
      <p:sp>
        <p:nvSpPr>
          <p:cNvPr id="3592" name="textbox 3592"/>
          <p:cNvSpPr/>
          <p:nvPr/>
        </p:nvSpPr>
        <p:spPr>
          <a:xfrm>
            <a:off x="7793012" y="3141461"/>
            <a:ext cx="1917700" cy="1229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1959" algn="l" rtl="0" eaLnBrk="0">
              <a:lnSpc>
                <a:spcPct val="88000"/>
              </a:lnSpc>
              <a:tabLst/>
            </a:pPr>
            <a:r>
              <a:rPr sz="1500" b="1" kern="0" spc="60" dirty="0">
                <a:solidFill>
                  <a:srgbClr val="7F7F7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阶梯套餐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85000"/>
              </a:lnSpc>
              <a:spcBef>
                <a:spcPts val="361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阶梯套餐：将月度用电量划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7000"/>
              </a:lnSpc>
              <a:spcBef>
                <a:spcPts val="15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分为2至4个阶梯，对应不同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价格；逐渐过渡到分时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94" name="picture 35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9579" y="5832347"/>
            <a:ext cx="778763" cy="12192"/>
          </a:xfrm>
          <a:prstGeom prst="rect">
            <a:avLst/>
          </a:prstGeom>
        </p:spPr>
      </p:pic>
      <p:pic>
        <p:nvPicPr>
          <p:cNvPr id="3596" name="picture 35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163055" y="5832347"/>
            <a:ext cx="579120" cy="12192"/>
          </a:xfrm>
          <a:prstGeom prst="rect">
            <a:avLst/>
          </a:prstGeom>
        </p:spPr>
      </p:pic>
      <p:pic>
        <p:nvPicPr>
          <p:cNvPr id="3598" name="picture 35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24127" y="5622035"/>
            <a:ext cx="5169407" cy="365759"/>
          </a:xfrm>
          <a:prstGeom prst="rect">
            <a:avLst/>
          </a:prstGeom>
        </p:spPr>
      </p:pic>
      <p:sp>
        <p:nvSpPr>
          <p:cNvPr id="3600" name="textbox 3600"/>
          <p:cNvSpPr/>
          <p:nvPr/>
        </p:nvSpPr>
        <p:spPr>
          <a:xfrm>
            <a:off x="345390" y="963508"/>
            <a:ext cx="2981960" cy="421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3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零售用户套餐（山东</a:t>
            </a:r>
            <a:r>
              <a:rPr sz="23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02" name="textbox 3602"/>
          <p:cNvSpPr/>
          <p:nvPr/>
        </p:nvSpPr>
        <p:spPr>
          <a:xfrm>
            <a:off x="1096569" y="5737281"/>
            <a:ext cx="501522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混合类：部分（比例）</a:t>
            </a:r>
            <a:r>
              <a:rPr sz="1400" b="1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电量固定价格，部分电量按市场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费率浮动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04" name="picture 360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125211" y="2566416"/>
            <a:ext cx="272795" cy="393191"/>
          </a:xfrm>
          <a:prstGeom prst="rect">
            <a:avLst/>
          </a:prstGeom>
        </p:spPr>
      </p:pic>
      <p:sp>
        <p:nvSpPr>
          <p:cNvPr id="3606" name="path 3606"/>
          <p:cNvSpPr/>
          <p:nvPr/>
        </p:nvSpPr>
        <p:spPr>
          <a:xfrm>
            <a:off x="1661159" y="2566416"/>
            <a:ext cx="469392" cy="190500"/>
          </a:xfrm>
          <a:custGeom>
            <a:avLst/>
            <a:gdLst/>
            <a:ahLst/>
            <a:cxnLst/>
            <a:rect l="0" t="0" r="0" b="0"/>
            <a:pathLst>
              <a:path w="739" h="300">
                <a:moveTo>
                  <a:pt x="739" y="0"/>
                </a:moveTo>
                <a:lnTo>
                  <a:pt x="369" y="300"/>
                </a:lnTo>
                <a:lnTo>
                  <a:pt x="0" y="0"/>
                </a:lnTo>
                <a:lnTo>
                  <a:pt x="739" y="0"/>
                </a:lnTo>
                <a:close/>
              </a:path>
            </a:pathLst>
          </a:cu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08" name="path 3608"/>
          <p:cNvSpPr/>
          <p:nvPr/>
        </p:nvSpPr>
        <p:spPr>
          <a:xfrm>
            <a:off x="8474964" y="2566416"/>
            <a:ext cx="307847" cy="190500"/>
          </a:xfrm>
          <a:custGeom>
            <a:avLst/>
            <a:gdLst/>
            <a:ahLst/>
            <a:cxnLst/>
            <a:rect l="0" t="0" r="0" b="0"/>
            <a:pathLst>
              <a:path w="484" h="300">
                <a:moveTo>
                  <a:pt x="484" y="0"/>
                </a:moveTo>
                <a:lnTo>
                  <a:pt x="242" y="300"/>
                </a:lnTo>
                <a:lnTo>
                  <a:pt x="0" y="0"/>
                </a:lnTo>
                <a:lnTo>
                  <a:pt x="484" y="0"/>
                </a:lnTo>
                <a:close/>
              </a:path>
            </a:pathLst>
          </a:custGeom>
          <a:solidFill>
            <a:srgbClr val="7F7F7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610" name="picture 36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0" y="1485138"/>
            <a:ext cx="2581655" cy="16764"/>
          </a:xfrm>
          <a:prstGeom prst="rect">
            <a:avLst/>
          </a:prstGeom>
        </p:spPr>
      </p:pic>
      <p:pic>
        <p:nvPicPr>
          <p:cNvPr id="3612" name="picture 36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96796" y="2801111"/>
            <a:ext cx="199644" cy="199643"/>
          </a:xfrm>
          <a:prstGeom prst="rect">
            <a:avLst/>
          </a:prstGeom>
        </p:spPr>
      </p:pic>
      <p:pic>
        <p:nvPicPr>
          <p:cNvPr id="3614" name="picture 36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529828" y="2801111"/>
            <a:ext cx="199643" cy="199643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6" name="picture 36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7680" y="2147315"/>
            <a:ext cx="3593591" cy="3617976"/>
          </a:xfrm>
          <a:prstGeom prst="rect">
            <a:avLst/>
          </a:prstGeom>
        </p:spPr>
      </p:pic>
      <p:sp>
        <p:nvSpPr>
          <p:cNvPr id="3618" name="textbox 3618"/>
          <p:cNvSpPr/>
          <p:nvPr/>
        </p:nvSpPr>
        <p:spPr>
          <a:xfrm>
            <a:off x="4728884" y="2652946"/>
            <a:ext cx="5372734" cy="1209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909" algn="l" rtl="0" eaLnBrk="0">
              <a:lnSpc>
                <a:spcPts val="1614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</a:t>
            </a:r>
            <a:r>
              <a:rPr sz="12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约定月分日、日分时电量比例，形成基准曲线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4925" algn="l" rtl="0" eaLnBrk="0">
              <a:lnSpc>
                <a:spcPts val="1614"/>
              </a:lnSpc>
              <a:spcBef>
                <a:spcPts val="593"/>
              </a:spcBef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</a:t>
            </a:r>
            <a:r>
              <a:rPr sz="12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约定正偏差考核时段和负偏差考核时段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6830" algn="l" rtl="0" eaLnBrk="0">
              <a:lnSpc>
                <a:spcPts val="1614"/>
              </a:lnSpc>
              <a:spcBef>
                <a:spcPts val="594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   约定偏差容忍比例和考核价格（实时市场用电侧结算价格的%）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控制用电量曲线与合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约电量曲线之间的偏差；控制用电分时比例偏差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20" name="textbox 3620"/>
          <p:cNvSpPr/>
          <p:nvPr/>
        </p:nvSpPr>
        <p:spPr>
          <a:xfrm>
            <a:off x="4751247" y="5079200"/>
            <a:ext cx="5210175" cy="1158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ts val="1614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</a:t>
            </a:r>
            <a:r>
              <a:rPr sz="12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约定月、日和分时用电量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1614"/>
              </a:lnSpc>
              <a:spcBef>
                <a:spcPts val="593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   约定偏差容忍比例和考核价格（用户月度加权平均电量价格的%）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3970" algn="l" rtl="0" eaLnBrk="0">
              <a:lnSpc>
                <a:spcPts val="1614"/>
              </a:lnSpc>
              <a:spcBef>
                <a:spcPts val="593"/>
              </a:spcBef>
              <a:tabLst/>
            </a:pP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   可按月或日总量考核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，也可按多个时段的月总电量或日总电量考核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794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控制合约量和用电量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及其曲线之间的偏差；控制高电价时段用电量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22" name="textbox 3622"/>
          <p:cNvSpPr/>
          <p:nvPr/>
        </p:nvSpPr>
        <p:spPr>
          <a:xfrm>
            <a:off x="523650" y="1050438"/>
            <a:ext cx="2981960" cy="421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3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零售用户考核（山东</a:t>
            </a:r>
            <a:r>
              <a:rPr sz="23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24" name="textbox 3624"/>
          <p:cNvSpPr/>
          <p:nvPr/>
        </p:nvSpPr>
        <p:spPr>
          <a:xfrm>
            <a:off x="5221223" y="4440935"/>
            <a:ext cx="2637154" cy="356870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16255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基于申报电量考核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26" name="textbox 3626"/>
          <p:cNvSpPr/>
          <p:nvPr/>
        </p:nvSpPr>
        <p:spPr>
          <a:xfrm>
            <a:off x="5221223" y="2072640"/>
            <a:ext cx="2360929" cy="342900"/>
          </a:xfrm>
          <a:prstGeom prst="rect">
            <a:avLst/>
          </a:pr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77190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基于基准曲线考核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28" name="path 3628"/>
          <p:cNvSpPr/>
          <p:nvPr/>
        </p:nvSpPr>
        <p:spPr>
          <a:xfrm>
            <a:off x="4698491" y="2023871"/>
            <a:ext cx="381000" cy="473964"/>
          </a:xfrm>
          <a:custGeom>
            <a:avLst/>
            <a:gdLst/>
            <a:ahLst/>
            <a:cxnLst/>
            <a:rect l="0" t="0" r="0" b="0"/>
            <a:pathLst>
              <a:path w="600" h="746">
                <a:moveTo>
                  <a:pt x="0" y="187"/>
                </a:moveTo>
                <a:lnTo>
                  <a:pt x="300" y="187"/>
                </a:lnTo>
                <a:lnTo>
                  <a:pt x="300" y="0"/>
                </a:lnTo>
                <a:lnTo>
                  <a:pt x="600" y="372"/>
                </a:lnTo>
                <a:lnTo>
                  <a:pt x="300" y="746"/>
                </a:lnTo>
                <a:lnTo>
                  <a:pt x="300" y="559"/>
                </a:lnTo>
                <a:lnTo>
                  <a:pt x="0" y="559"/>
                </a:lnTo>
                <a:lnTo>
                  <a:pt x="0" y="187"/>
                </a:lnTo>
                <a:close/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30" name="path 3630"/>
          <p:cNvSpPr/>
          <p:nvPr/>
        </p:nvSpPr>
        <p:spPr>
          <a:xfrm>
            <a:off x="4683252" y="4396740"/>
            <a:ext cx="380999" cy="473963"/>
          </a:xfrm>
          <a:custGeom>
            <a:avLst/>
            <a:gdLst/>
            <a:ahLst/>
            <a:cxnLst/>
            <a:rect l="0" t="0" r="0" b="0"/>
            <a:pathLst>
              <a:path w="599" h="746">
                <a:moveTo>
                  <a:pt x="0" y="187"/>
                </a:moveTo>
                <a:lnTo>
                  <a:pt x="300" y="187"/>
                </a:lnTo>
                <a:lnTo>
                  <a:pt x="300" y="0"/>
                </a:lnTo>
                <a:lnTo>
                  <a:pt x="599" y="371"/>
                </a:lnTo>
                <a:lnTo>
                  <a:pt x="300" y="746"/>
                </a:lnTo>
                <a:lnTo>
                  <a:pt x="300" y="559"/>
                </a:lnTo>
                <a:lnTo>
                  <a:pt x="0" y="559"/>
                </a:lnTo>
                <a:lnTo>
                  <a:pt x="0" y="187"/>
                </a:lnTo>
                <a:close/>
              </a:path>
            </a:pathLst>
          </a:cu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32" name="path 3632"/>
          <p:cNvSpPr/>
          <p:nvPr/>
        </p:nvSpPr>
        <p:spPr>
          <a:xfrm>
            <a:off x="4575047" y="4166616"/>
            <a:ext cx="5681472" cy="24383"/>
          </a:xfrm>
          <a:custGeom>
            <a:avLst/>
            <a:gdLst/>
            <a:ahLst/>
            <a:cxnLst/>
            <a:rect l="0" t="0" r="0" b="0"/>
            <a:pathLst>
              <a:path w="8947" h="38">
                <a:moveTo>
                  <a:pt x="0" y="19"/>
                </a:moveTo>
                <a:lnTo>
                  <a:pt x="8947" y="19"/>
                </a:lnTo>
              </a:path>
            </a:pathLst>
          </a:custGeom>
          <a:noFill/>
          <a:ln w="24383" cap="flat">
            <a:solidFill>
              <a:srgbClr val="7F7F7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634" name="picture 36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568958"/>
            <a:ext cx="2581655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36" name="table 3636"/>
          <p:cNvGraphicFramePr>
            <a:graphicFrameLocks noGrp="1"/>
          </p:cNvGraphicFramePr>
          <p:nvPr/>
        </p:nvGraphicFramePr>
        <p:xfrm>
          <a:off x="386333" y="4010405"/>
          <a:ext cx="9994264" cy="2637790"/>
        </p:xfrm>
        <a:graphic>
          <a:graphicData uri="http://schemas.openxmlformats.org/drawingml/2006/table">
            <a:tbl>
              <a:tblPr/>
              <a:tblGrid>
                <a:gridCol w="502919"/>
                <a:gridCol w="9491344"/>
              </a:tblGrid>
              <a:tr h="203708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0575" algn="l" rtl="0" eaLnBrk="0">
                        <a:lnSpc>
                          <a:spcPts val="2089"/>
                        </a:lnSpc>
                        <a:tabLst/>
                      </a:pPr>
                      <a:r>
                        <a:rPr sz="1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即峰段价格：</a:t>
                      </a:r>
                      <a:r>
                        <a:rPr sz="1500" b="1" kern="0" spc="-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平段价格≥1.7；</a:t>
                      </a:r>
                      <a:r>
                        <a:rPr sz="1500" b="1" kern="0" spc="-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谷段价格：</a:t>
                      </a:r>
                      <a:r>
                        <a:rPr sz="1500" b="1" kern="0" spc="-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平段价格≤0.38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84225" algn="l" rtl="0" eaLnBrk="0">
                        <a:lnSpc>
                          <a:spcPts val="2089"/>
                        </a:lnSpc>
                        <a:spcBef>
                          <a:spcPts val="1294"/>
                        </a:spcBef>
                        <a:tabLst/>
                      </a:pP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深圳用户需满足峰段价格：</a:t>
                      </a:r>
                      <a:r>
                        <a:rPr sz="1500" b="1" kern="0" spc="-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平段价</a:t>
                      </a:r>
                      <a:r>
                        <a:rPr sz="1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格≥1.53，</a:t>
                      </a:r>
                      <a:r>
                        <a:rPr sz="1500" b="1" kern="0" spc="-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谷段价格：</a:t>
                      </a:r>
                      <a:r>
                        <a:rPr sz="1500" b="1" kern="0" spc="-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平段价格≤0.32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84225" algn="l" rtl="0" eaLnBrk="0">
                        <a:lnSpc>
                          <a:spcPts val="3241"/>
                        </a:lnSpc>
                        <a:tabLst/>
                      </a:pP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某段电量价格=联动价格*峰（谷）段比例*</a:t>
                      </a: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调整系数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68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不同比例电量联动不同价格。例如，</a:t>
                      </a:r>
                      <a:r>
                        <a:rPr sz="1500" b="1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10%电量与20%电量分别与不同的价格联</a:t>
                      </a: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91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638" name="table 3638"/>
          <p:cNvGraphicFramePr>
            <a:graphicFrameLocks noGrp="1"/>
          </p:cNvGraphicFramePr>
          <p:nvPr/>
        </p:nvGraphicFramePr>
        <p:xfrm>
          <a:off x="386333" y="1881378"/>
          <a:ext cx="9994265" cy="1873884"/>
        </p:xfrm>
        <a:graphic>
          <a:graphicData uri="http://schemas.openxmlformats.org/drawingml/2006/table">
            <a:tbl>
              <a:tblPr/>
              <a:tblGrid>
                <a:gridCol w="9994265"/>
              </a:tblGrid>
              <a:tr h="18643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438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•</a:t>
                      </a:r>
                      <a:r>
                        <a:rPr sz="13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售电公司自身的批</a:t>
                      </a:r>
                      <a:r>
                        <a:rPr sz="1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发侧均价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94384" algn="l" rtl="0" eaLnBrk="0">
                        <a:lnSpc>
                          <a:spcPts val="1741"/>
                        </a:lnSpc>
                        <a:spcBef>
                          <a:spcPts val="732"/>
                        </a:spcBef>
                        <a:tabLst/>
                      </a:pPr>
                      <a:r>
                        <a:rPr sz="1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• 日前市场月度综合价=∑（</a:t>
                      </a:r>
                      <a:r>
                        <a:rPr sz="1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每小时实际用电量*每小时日前出清价格）/月度总实际用电量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94384" algn="l" rtl="0" eaLnBrk="0">
                        <a:lnSpc>
                          <a:spcPts val="1741"/>
                        </a:lnSpc>
                        <a:spcBef>
                          <a:spcPts val="623"/>
                        </a:spcBef>
                        <a:tabLst/>
                      </a:pPr>
                      <a:r>
                        <a:rPr sz="1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•</a:t>
                      </a:r>
                      <a:r>
                        <a:rPr sz="13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实时市场月度综合价=∑（每小时实际用电量*每小时实时出清</a:t>
                      </a:r>
                      <a:r>
                        <a:rPr sz="1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价格）/月度总实际用电量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94384" algn="l" rtl="0" eaLnBrk="0">
                        <a:lnSpc>
                          <a:spcPct val="88000"/>
                        </a:lnSpc>
                        <a:spcBef>
                          <a:spcPts val="895"/>
                        </a:spcBef>
                        <a:tabLst/>
                      </a:pPr>
                      <a:r>
                        <a:rPr sz="1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•</a:t>
                      </a:r>
                      <a:r>
                        <a:rPr sz="13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月度中长期交易综合价为月度集中竞价、月度挂牌与月度双边三个品种的加权平均价格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4384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•</a:t>
                      </a:r>
                      <a:r>
                        <a:rPr sz="1300" b="1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月度双边协商综合价、月度挂牌综合价为对应品种的加权综合价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54" name="group 354"/>
          <p:cNvGrpSpPr/>
          <p:nvPr/>
        </p:nvGrpSpPr>
        <p:grpSpPr>
          <a:xfrm rot="21600000">
            <a:off x="886205" y="3822191"/>
            <a:ext cx="6999732" cy="393954"/>
            <a:chOff x="0" y="0"/>
            <a:chExt cx="6999732" cy="393954"/>
          </a:xfrm>
        </p:grpSpPr>
        <p:sp>
          <p:nvSpPr>
            <p:cNvPr id="3640" name="path 3640"/>
            <p:cNvSpPr/>
            <p:nvPr/>
          </p:nvSpPr>
          <p:spPr>
            <a:xfrm>
              <a:off x="5333" y="0"/>
              <a:ext cx="6989064" cy="388620"/>
            </a:xfrm>
            <a:custGeom>
              <a:avLst/>
              <a:gdLst/>
              <a:ahLst/>
              <a:cxnLst/>
              <a:rect l="0" t="0" r="0" b="0"/>
              <a:pathLst>
                <a:path w="11006" h="612">
                  <a:moveTo>
                    <a:pt x="0" y="100"/>
                  </a:moveTo>
                  <a:moveTo>
                    <a:pt x="0" y="100"/>
                  </a:moveTo>
                  <a:cubicBezTo>
                    <a:pt x="0" y="45"/>
                    <a:pt x="45" y="0"/>
                    <a:pt x="100" y="0"/>
                  </a:cubicBezTo>
                  <a:lnTo>
                    <a:pt x="10903" y="0"/>
                  </a:lnTo>
                  <a:cubicBezTo>
                    <a:pt x="10960" y="0"/>
                    <a:pt x="11006" y="45"/>
                    <a:pt x="11006" y="100"/>
                  </a:cubicBezTo>
                  <a:lnTo>
                    <a:pt x="11006" y="508"/>
                  </a:lnTo>
                  <a:cubicBezTo>
                    <a:pt x="11006" y="566"/>
                    <a:pt x="10960" y="612"/>
                    <a:pt x="10903" y="612"/>
                  </a:cubicBezTo>
                  <a:lnTo>
                    <a:pt x="100" y="612"/>
                  </a:lnTo>
                  <a:cubicBezTo>
                    <a:pt x="45" y="612"/>
                    <a:pt x="0" y="566"/>
                    <a:pt x="0" y="508"/>
                  </a:cubicBezTo>
                  <a:lnTo>
                    <a:pt x="0" y="100"/>
                  </a:lnTo>
                  <a:close/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42" name="path 3642"/>
            <p:cNvSpPr/>
            <p:nvPr/>
          </p:nvSpPr>
          <p:spPr>
            <a:xfrm>
              <a:off x="0" y="317754"/>
              <a:ext cx="6999732" cy="76200"/>
            </a:xfrm>
            <a:custGeom>
              <a:avLst/>
              <a:gdLst/>
              <a:ahLst/>
              <a:cxnLst/>
              <a:rect l="0" t="0" r="0" b="0"/>
              <a:pathLst>
                <a:path w="11023" h="120">
                  <a:moveTo>
                    <a:pt x="11014" y="8"/>
                  </a:moveTo>
                  <a:cubicBezTo>
                    <a:pt x="11014" y="65"/>
                    <a:pt x="10969" y="111"/>
                    <a:pt x="10911" y="111"/>
                  </a:cubicBezTo>
                  <a:lnTo>
                    <a:pt x="109" y="111"/>
                  </a:lnTo>
                  <a:cubicBezTo>
                    <a:pt x="53" y="111"/>
                    <a:pt x="8" y="65"/>
                    <a:pt x="8" y="8"/>
                  </a:cubicBez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644" name="textbox 3644"/>
          <p:cNvSpPr/>
          <p:nvPr/>
        </p:nvSpPr>
        <p:spPr>
          <a:xfrm>
            <a:off x="886205" y="1691639"/>
            <a:ext cx="7000240" cy="389254"/>
          </a:xfrm>
          <a:prstGeom prst="rect">
            <a:avLst/>
          </a:prstGeom>
          <a:solidFill>
            <a:srgbClr val="16375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0160" algn="l" rtl="0" eaLnBrk="0">
              <a:lnSpc>
                <a:spcPct val="87000"/>
              </a:lnSpc>
              <a:spcBef>
                <a:spcPts val="3"/>
              </a:spcBef>
              <a:tabLst>
                <a:tab pos="289559" algn="l"/>
              </a:tabLst>
            </a:pP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不少于10%电量市场联</a:t>
            </a: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                                                                                                   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46" name="path 3646"/>
          <p:cNvSpPr/>
          <p:nvPr/>
        </p:nvSpPr>
        <p:spPr>
          <a:xfrm>
            <a:off x="7880633" y="1757171"/>
            <a:ext cx="10668" cy="259079"/>
          </a:xfrm>
          <a:custGeom>
            <a:avLst/>
            <a:gdLst/>
            <a:ahLst/>
            <a:cxnLst/>
            <a:rect l="0" t="0" r="0" b="0"/>
            <a:pathLst>
              <a:path w="16" h="407">
                <a:moveTo>
                  <a:pt x="8" y="0"/>
                </a:moveTo>
                <a:lnTo>
                  <a:pt x="8" y="407"/>
                </a:lnTo>
              </a:path>
            </a:pathLst>
          </a:custGeom>
          <a:noFill/>
          <a:ln w="10668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48" name="path 3648"/>
          <p:cNvSpPr/>
          <p:nvPr/>
        </p:nvSpPr>
        <p:spPr>
          <a:xfrm>
            <a:off x="886205" y="1757171"/>
            <a:ext cx="10667" cy="259079"/>
          </a:xfrm>
          <a:custGeom>
            <a:avLst/>
            <a:gdLst/>
            <a:ahLst/>
            <a:cxnLst/>
            <a:rect l="0" t="0" r="0" b="0"/>
            <a:pathLst>
              <a:path w="16" h="407">
                <a:moveTo>
                  <a:pt x="8" y="407"/>
                </a:moveTo>
                <a:lnTo>
                  <a:pt x="8" y="0"/>
                </a:lnTo>
              </a:path>
            </a:pathLst>
          </a:custGeom>
          <a:noFill/>
          <a:ln w="10668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56" name="group 356"/>
          <p:cNvGrpSpPr/>
          <p:nvPr/>
        </p:nvGrpSpPr>
        <p:grpSpPr>
          <a:xfrm rot="21600000">
            <a:off x="886205" y="6117335"/>
            <a:ext cx="6994397" cy="388620"/>
            <a:chOff x="0" y="0"/>
            <a:chExt cx="6994397" cy="388620"/>
          </a:xfrm>
        </p:grpSpPr>
        <p:sp>
          <p:nvSpPr>
            <p:cNvPr id="3650" name="path 3650"/>
            <p:cNvSpPr/>
            <p:nvPr/>
          </p:nvSpPr>
          <p:spPr>
            <a:xfrm>
              <a:off x="5333" y="0"/>
              <a:ext cx="6989064" cy="388620"/>
            </a:xfrm>
            <a:custGeom>
              <a:avLst/>
              <a:gdLst/>
              <a:ahLst/>
              <a:cxnLst/>
              <a:rect l="0" t="0" r="0" b="0"/>
              <a:pathLst>
                <a:path w="11006" h="612">
                  <a:moveTo>
                    <a:pt x="0" y="103"/>
                  </a:moveTo>
                  <a:moveTo>
                    <a:pt x="0" y="103"/>
                  </a:moveTo>
                  <a:cubicBezTo>
                    <a:pt x="0" y="45"/>
                    <a:pt x="45" y="0"/>
                    <a:pt x="100" y="0"/>
                  </a:cubicBezTo>
                  <a:lnTo>
                    <a:pt x="10903" y="0"/>
                  </a:lnTo>
                  <a:cubicBezTo>
                    <a:pt x="10960" y="0"/>
                    <a:pt x="11006" y="45"/>
                    <a:pt x="11006" y="103"/>
                  </a:cubicBezTo>
                  <a:lnTo>
                    <a:pt x="11006" y="511"/>
                  </a:lnTo>
                  <a:cubicBezTo>
                    <a:pt x="11006" y="566"/>
                    <a:pt x="10960" y="612"/>
                    <a:pt x="10903" y="612"/>
                  </a:cubicBezTo>
                  <a:lnTo>
                    <a:pt x="100" y="612"/>
                  </a:lnTo>
                  <a:cubicBezTo>
                    <a:pt x="45" y="612"/>
                    <a:pt x="0" y="566"/>
                    <a:pt x="0" y="511"/>
                  </a:cubicBezTo>
                  <a:lnTo>
                    <a:pt x="0" y="1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52" name="path 3652"/>
            <p:cNvSpPr/>
            <p:nvPr/>
          </p:nvSpPr>
          <p:spPr>
            <a:xfrm>
              <a:off x="0" y="65532"/>
              <a:ext cx="10667" cy="259080"/>
            </a:xfrm>
            <a:custGeom>
              <a:avLst/>
              <a:gdLst/>
              <a:ahLst/>
              <a:cxnLst/>
              <a:rect l="0" t="0" r="0" b="0"/>
              <a:pathLst>
                <a:path w="16" h="408">
                  <a:moveTo>
                    <a:pt x="8" y="408"/>
                  </a:moveTo>
                  <a:lnTo>
                    <a:pt x="8" y="0"/>
                  </a:ln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654" name="table 3654"/>
          <p:cNvGraphicFramePr>
            <a:graphicFrameLocks noGrp="1"/>
          </p:cNvGraphicFramePr>
          <p:nvPr/>
        </p:nvGraphicFramePr>
        <p:xfrm>
          <a:off x="886205" y="3816858"/>
          <a:ext cx="6999605" cy="328295"/>
        </p:xfrm>
        <a:graphic>
          <a:graphicData uri="http://schemas.openxmlformats.org/drawingml/2006/table">
            <a:tbl>
              <a:tblPr/>
              <a:tblGrid>
                <a:gridCol w="6999605"/>
              </a:tblGrid>
              <a:tr h="3187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1465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执行峰谷分时用户须分别约定锋平谷价格或选</a:t>
                      </a:r>
                      <a:r>
                        <a:rPr sz="15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择调整系数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656" name="textbox 3656"/>
          <p:cNvSpPr/>
          <p:nvPr/>
        </p:nvSpPr>
        <p:spPr>
          <a:xfrm>
            <a:off x="345390" y="963508"/>
            <a:ext cx="2981960" cy="421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3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零售用户套餐（广东</a:t>
            </a:r>
            <a:r>
              <a:rPr sz="23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58" name="path 3658"/>
          <p:cNvSpPr/>
          <p:nvPr/>
        </p:nvSpPr>
        <p:spPr>
          <a:xfrm>
            <a:off x="886205" y="1686305"/>
            <a:ext cx="6999732" cy="76200"/>
          </a:xfrm>
          <a:custGeom>
            <a:avLst/>
            <a:gdLst/>
            <a:ahLst/>
            <a:cxnLst/>
            <a:rect l="0" t="0" r="0" b="0"/>
            <a:pathLst>
              <a:path w="11023" h="120">
                <a:moveTo>
                  <a:pt x="8" y="111"/>
                </a:moveTo>
                <a:cubicBezTo>
                  <a:pt x="8" y="56"/>
                  <a:pt x="53" y="8"/>
                  <a:pt x="109" y="8"/>
                </a:cubicBezTo>
                <a:lnTo>
                  <a:pt x="10911" y="8"/>
                </a:lnTo>
                <a:cubicBezTo>
                  <a:pt x="10969" y="8"/>
                  <a:pt x="11014" y="56"/>
                  <a:pt x="11014" y="111"/>
                </a:cubicBezTo>
              </a:path>
            </a:pathLst>
          </a:custGeom>
          <a:noFill/>
          <a:ln w="10668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60" name="path 3660"/>
          <p:cNvSpPr/>
          <p:nvPr/>
        </p:nvSpPr>
        <p:spPr>
          <a:xfrm>
            <a:off x="886205" y="6436613"/>
            <a:ext cx="6999732" cy="74675"/>
          </a:xfrm>
          <a:custGeom>
            <a:avLst/>
            <a:gdLst/>
            <a:ahLst/>
            <a:cxnLst/>
            <a:rect l="0" t="0" r="0" b="0"/>
            <a:pathLst>
              <a:path w="11023" h="117">
                <a:moveTo>
                  <a:pt x="11014" y="8"/>
                </a:moveTo>
                <a:cubicBezTo>
                  <a:pt x="11014" y="63"/>
                  <a:pt x="10969" y="109"/>
                  <a:pt x="10911" y="109"/>
                </a:cubicBezTo>
                <a:lnTo>
                  <a:pt x="109" y="109"/>
                </a:lnTo>
                <a:cubicBezTo>
                  <a:pt x="53" y="109"/>
                  <a:pt x="8" y="63"/>
                  <a:pt x="8" y="8"/>
                </a:cubicBezTo>
              </a:path>
            </a:pathLst>
          </a:custGeom>
          <a:noFill/>
          <a:ln w="10668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62" name="path 3662"/>
          <p:cNvSpPr/>
          <p:nvPr/>
        </p:nvSpPr>
        <p:spPr>
          <a:xfrm>
            <a:off x="886205" y="2010917"/>
            <a:ext cx="6999732" cy="74675"/>
          </a:xfrm>
          <a:custGeom>
            <a:avLst/>
            <a:gdLst/>
            <a:ahLst/>
            <a:cxnLst/>
            <a:rect l="0" t="0" r="0" b="0"/>
            <a:pathLst>
              <a:path w="11023" h="117">
                <a:moveTo>
                  <a:pt x="11014" y="8"/>
                </a:moveTo>
                <a:cubicBezTo>
                  <a:pt x="11014" y="63"/>
                  <a:pt x="10969" y="109"/>
                  <a:pt x="10911" y="109"/>
                </a:cubicBezTo>
                <a:lnTo>
                  <a:pt x="109" y="109"/>
                </a:lnTo>
                <a:cubicBezTo>
                  <a:pt x="53" y="109"/>
                  <a:pt x="8" y="63"/>
                  <a:pt x="8" y="8"/>
                </a:cubicBezTo>
              </a:path>
            </a:pathLst>
          </a:custGeom>
          <a:noFill/>
          <a:ln w="10668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64" name="textbox 3664"/>
          <p:cNvSpPr/>
          <p:nvPr/>
        </p:nvSpPr>
        <p:spPr>
          <a:xfrm>
            <a:off x="1163845" y="6212738"/>
            <a:ext cx="1866264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3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煤电联动和服务费为可选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66" name="path 3666"/>
          <p:cNvSpPr/>
          <p:nvPr/>
        </p:nvSpPr>
        <p:spPr>
          <a:xfrm>
            <a:off x="955547" y="6112001"/>
            <a:ext cx="6859523" cy="10668"/>
          </a:xfrm>
          <a:custGeom>
            <a:avLst/>
            <a:gdLst/>
            <a:ahLst/>
            <a:cxnLst/>
            <a:rect l="0" t="0" r="0" b="0"/>
            <a:pathLst>
              <a:path w="10802" h="16">
                <a:moveTo>
                  <a:pt x="0" y="8"/>
                </a:moveTo>
                <a:lnTo>
                  <a:pt x="10802" y="8"/>
                </a:lnTo>
              </a:path>
            </a:pathLst>
          </a:custGeom>
          <a:noFill/>
          <a:ln w="10668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668" name="picture 36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485138"/>
            <a:ext cx="2581655" cy="16764"/>
          </a:xfrm>
          <a:prstGeom prst="rect">
            <a:avLst/>
          </a:prstGeom>
        </p:spPr>
      </p:pic>
      <p:sp>
        <p:nvSpPr>
          <p:cNvPr id="3670" name="path 3670"/>
          <p:cNvSpPr/>
          <p:nvPr/>
        </p:nvSpPr>
        <p:spPr>
          <a:xfrm>
            <a:off x="7809738" y="6112001"/>
            <a:ext cx="76200" cy="329946"/>
          </a:xfrm>
          <a:custGeom>
            <a:avLst/>
            <a:gdLst/>
            <a:ahLst/>
            <a:cxnLst/>
            <a:rect l="0" t="0" r="0" b="0"/>
            <a:pathLst>
              <a:path w="120" h="519">
                <a:moveTo>
                  <a:pt x="8" y="8"/>
                </a:moveTo>
                <a:cubicBezTo>
                  <a:pt x="65" y="8"/>
                  <a:pt x="111" y="54"/>
                  <a:pt x="111" y="111"/>
                </a:cubicBezTo>
                <a:lnTo>
                  <a:pt x="111" y="519"/>
                </a:lnTo>
              </a:path>
            </a:pathLst>
          </a:custGeom>
          <a:noFill/>
          <a:ln w="10668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2" name="picture 36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4527" y="2453639"/>
            <a:ext cx="5050535" cy="2887980"/>
          </a:xfrm>
          <a:prstGeom prst="rect">
            <a:avLst/>
          </a:prstGeom>
        </p:spPr>
      </p:pic>
      <p:sp>
        <p:nvSpPr>
          <p:cNvPr id="3674" name="textbox 3674"/>
          <p:cNvSpPr/>
          <p:nvPr/>
        </p:nvSpPr>
        <p:spPr>
          <a:xfrm>
            <a:off x="259552" y="2318454"/>
            <a:ext cx="4625975" cy="3053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4325" algn="l" rtl="0" eaLnBrk="0">
              <a:lnSpc>
                <a:spcPct val="86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兆瓦时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09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日前量＞实时量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58314" algn="l" rtl="0" eaLnBrk="0">
              <a:lnSpc>
                <a:spcPct val="88000"/>
              </a:lnSpc>
              <a:spcBef>
                <a:spcPts val="300"/>
              </a:spcBef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合约量＞日前量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32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3676" name="textbox 3676"/>
          <p:cNvSpPr/>
          <p:nvPr/>
        </p:nvSpPr>
        <p:spPr>
          <a:xfrm>
            <a:off x="5860224" y="4416996"/>
            <a:ext cx="4376420" cy="1649729"/>
          </a:xfrm>
          <a:prstGeom prst="roundRect">
            <a:avLst>
              <a:gd name="adj" fmla="val 17187"/>
            </a:avLst>
          </a:prstGeom>
          <a:noFill/>
          <a:ln w="9525" cap="flat">
            <a:solidFill>
              <a:srgbClr val="FDA103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79095" algn="l" rtl="0" eaLnBrk="0">
              <a:lnSpc>
                <a:spcPct val="83000"/>
              </a:lnSpc>
              <a:spcBef>
                <a:spcPts val="3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日前电量＞日前申报电量的部分，售电公司按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54329" indent="1905" algn="l" rtl="0" eaLnBrk="0">
              <a:lnSpc>
                <a:spcPct val="154000"/>
              </a:lnSpc>
              <a:spcBef>
                <a:spcPts val="17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照实时市场价格退回，或者说反卖回实时市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场。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如日前价＞实时价，则亏损；反之，为套利。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78" name="textbox 3678"/>
          <p:cNvSpPr/>
          <p:nvPr/>
        </p:nvSpPr>
        <p:spPr>
          <a:xfrm>
            <a:off x="5848031" y="2263584"/>
            <a:ext cx="4376420" cy="1530985"/>
          </a:xfrm>
          <a:prstGeom prst="roundRect">
            <a:avLst>
              <a:gd name="adj" fmla="val 17253"/>
            </a:avLst>
          </a:prstGeom>
          <a:noFill/>
          <a:ln w="9525" cap="flat">
            <a:solidFill>
              <a:srgbClr val="0D426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2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5434" algn="l" rtl="0" eaLnBrk="0">
              <a:lnSpc>
                <a:spcPct val="83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合约电量＞日前市场申报电量的部分，售电公司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05434" algn="l" rtl="0" eaLnBrk="0">
              <a:lnSpc>
                <a:spcPct val="154000"/>
              </a:lnSpc>
              <a:spcBef>
                <a:spcPts val="23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按照日前市场价格退回，或者说反卖回日前市场。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如合约价＞日前价，则亏损；反之，为套利。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80" name="textbox 3680"/>
          <p:cNvSpPr/>
          <p:nvPr/>
        </p:nvSpPr>
        <p:spPr>
          <a:xfrm>
            <a:off x="410751" y="5478739"/>
            <a:ext cx="4877434" cy="6584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711"/>
              </a:lnSpc>
              <a:tabLst/>
            </a:pPr>
            <a:r>
              <a:rPr sz="1400" b="1" kern="0" spc="-20" baseline="4222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1点</a:t>
            </a: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</a:t>
            </a:r>
            <a:r>
              <a:rPr sz="9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-30" baseline="-1635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……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</a:t>
            </a:r>
            <a:r>
              <a:rPr sz="1400" b="1" kern="0" spc="-30" baseline="199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24点</a:t>
            </a:r>
            <a:endParaRPr sz="1400" baseline="19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200" b="1" kern="0" spc="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实际用电曲线               </a:t>
            </a:r>
            <a:r>
              <a:rPr sz="1200" b="1" kern="0" spc="1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日前申报曲线              </a:t>
            </a:r>
            <a:r>
              <a:rPr sz="1200" b="1" kern="0" spc="1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合约分解曲线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82" name="textbox 3682"/>
          <p:cNvSpPr/>
          <p:nvPr/>
        </p:nvSpPr>
        <p:spPr>
          <a:xfrm>
            <a:off x="6717792" y="2060447"/>
            <a:ext cx="2636520" cy="433069"/>
          </a:xfrm>
          <a:prstGeom prst="rect">
            <a:avLst/>
          </a:pr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905510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7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84" name="textbox 3684"/>
          <p:cNvSpPr/>
          <p:nvPr/>
        </p:nvSpPr>
        <p:spPr>
          <a:xfrm>
            <a:off x="6717792" y="4198619"/>
            <a:ext cx="2636520" cy="431800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875664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7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86" name="textbox 3686"/>
          <p:cNvSpPr/>
          <p:nvPr/>
        </p:nvSpPr>
        <p:spPr>
          <a:xfrm>
            <a:off x="523049" y="1111986"/>
            <a:ext cx="3624579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售电公司现货市场报量策略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88" name="picture 36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584197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roup 358"/>
          <p:cNvGrpSpPr/>
          <p:nvPr/>
        </p:nvGrpSpPr>
        <p:grpSpPr>
          <a:xfrm rot="21600000">
            <a:off x="7126223" y="2275332"/>
            <a:ext cx="3084575" cy="4012691"/>
            <a:chOff x="0" y="0"/>
            <a:chExt cx="3084575" cy="4012691"/>
          </a:xfrm>
        </p:grpSpPr>
        <p:sp>
          <p:nvSpPr>
            <p:cNvPr id="3690" name="rect 3690"/>
            <p:cNvSpPr/>
            <p:nvPr/>
          </p:nvSpPr>
          <p:spPr>
            <a:xfrm>
              <a:off x="0" y="0"/>
              <a:ext cx="3084575" cy="4012691"/>
            </a:xfrm>
            <a:prstGeom prst="rect">
              <a:avLst/>
            </a:pr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692" name="picture 36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487680" y="1310640"/>
              <a:ext cx="2494788" cy="2490215"/>
            </a:xfrm>
            <a:prstGeom prst="rect">
              <a:avLst/>
            </a:prstGeom>
          </p:spPr>
        </p:pic>
        <p:sp>
          <p:nvSpPr>
            <p:cNvPr id="3694" name="rect 3694"/>
            <p:cNvSpPr/>
            <p:nvPr/>
          </p:nvSpPr>
          <p:spPr>
            <a:xfrm>
              <a:off x="173737" y="182879"/>
              <a:ext cx="2727959" cy="7132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96" name="textbox 3696"/>
            <p:cNvSpPr/>
            <p:nvPr/>
          </p:nvSpPr>
          <p:spPr>
            <a:xfrm>
              <a:off x="478287" y="350929"/>
              <a:ext cx="2190114" cy="2171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854" rIns="0" bIns="0"/>
            <a:lstStyle/>
            <a:p>
              <a:pPr marL="12700" indent="-635" algn="l" rtl="0" eaLnBrk="0">
                <a:lnSpc>
                  <a:spcPct val="131000"/>
                </a:lnSpc>
                <a:spcBef>
                  <a:spcPts val="7"/>
                </a:spcBef>
                <a:tabLst/>
              </a:pPr>
              <a:r>
                <a:rPr sz="10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偏差利亏自行承担，</a:t>
              </a:r>
              <a:r>
                <a:rPr sz="1000" b="1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超过</a:t>
              </a:r>
              <a:r>
                <a:rPr sz="1000" b="1" kern="0" spc="80" dirty="0">
                  <a:solidFill>
                    <a:srgbClr val="000000">
                      <a:alpha val="100000"/>
                    </a:srgbClr>
                  </a:solidFill>
                  <a:latin typeface="Constantia"/>
                  <a:ea typeface="Constantia"/>
                  <a:cs typeface="Constantia"/>
                </a:rPr>
                <a:t>λ</a:t>
              </a:r>
              <a:r>
                <a:rPr sz="10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容忍的电</a:t>
              </a:r>
              <a:r>
                <a:rPr sz="1000" b="1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量偏差所获套利，</a:t>
              </a:r>
              <a:r>
                <a:rPr sz="1000" b="1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b="1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由交易中心回收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01700" algn="l" rtl="0" eaLnBrk="0">
                <a:lnSpc>
                  <a:spcPts val="2126"/>
                </a:lnSpc>
                <a:spcBef>
                  <a:spcPts val="475"/>
                </a:spcBef>
                <a:tabLst/>
              </a:pPr>
              <a:r>
                <a:rPr sz="2400" b="1" kern="0" spc="180" baseline="12409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+</a:t>
              </a:r>
              <a:r>
                <a:rPr sz="2400" b="1" kern="0" spc="180" baseline="12409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λ</a:t>
              </a:r>
              <a:r>
                <a:rPr sz="1600" b="1" kern="0" spc="180" baseline="-4174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0</a:t>
              </a:r>
              <a:endParaRPr sz="1600" baseline="-4174" dirty="0">
                <a:latin typeface="Calibri"/>
                <a:ea typeface="Calibri"/>
                <a:cs typeface="Calibri"/>
              </a:endParaRPr>
            </a:p>
            <a:p>
              <a:pPr marL="1725929" algn="l" rtl="0" eaLnBrk="0">
                <a:lnSpc>
                  <a:spcPct val="86000"/>
                </a:lnSpc>
                <a:spcBef>
                  <a:spcPts val="5"/>
                </a:spcBef>
                <a:tabLst/>
              </a:pPr>
              <a:r>
                <a:rPr sz="1000" b="1" kern="0" spc="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偏差</a:t>
              </a:r>
              <a:endParaRPr sz="1000" dirty="0">
                <a:latin typeface="SimSun"/>
                <a:ea typeface="SimSun"/>
                <a:cs typeface="SimSun"/>
              </a:endParaRPr>
            </a:p>
            <a:p>
              <a:pPr marL="902335" algn="l" rtl="0" eaLnBrk="0">
                <a:lnSpc>
                  <a:spcPts val="2175"/>
                </a:lnSpc>
                <a:spcBef>
                  <a:spcPts val="65"/>
                </a:spcBef>
                <a:tabLst/>
              </a:pPr>
              <a:r>
                <a:rPr sz="2400" b="1" kern="0" spc="180" baseline="13047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-</a:t>
              </a:r>
              <a:r>
                <a:rPr sz="2400" b="1" kern="0" spc="180" baseline="13047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λ</a:t>
              </a:r>
              <a:r>
                <a:rPr sz="1600" b="1" kern="0" spc="180" baseline="-3217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0</a:t>
              </a:r>
              <a:endParaRPr sz="1600" baseline="-3217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698" name="textbox 3698"/>
          <p:cNvSpPr/>
          <p:nvPr/>
        </p:nvSpPr>
        <p:spPr>
          <a:xfrm>
            <a:off x="650747" y="4619244"/>
            <a:ext cx="5125720" cy="490855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305434" algn="l" rtl="0" eaLnBrk="0">
              <a:lnSpc>
                <a:spcPts val="1741"/>
              </a:lnSpc>
              <a:spcBef>
                <a:spcPts val="3"/>
              </a:spcBef>
              <a:tabLst/>
            </a:pP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日前申报电量</a:t>
            </a:r>
            <a:r>
              <a:rPr sz="1300" b="1" kern="0" spc="1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&lt; 实际用电量</a:t>
            </a:r>
            <a:r>
              <a:rPr sz="1300" b="1" kern="0" spc="1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</a:t>
            </a:r>
            <a:r>
              <a:rPr sz="1300" b="1" kern="0" spc="1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1</a:t>
            </a: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λ</a:t>
            </a: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) 并且</a:t>
            </a:r>
            <a:r>
              <a:rPr sz="1300" b="1" kern="0" spc="2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日前电价</a:t>
            </a:r>
            <a:r>
              <a:rPr sz="1300" b="1" kern="0" spc="1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</a:t>
            </a:r>
            <a:r>
              <a:rPr sz="13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实时电价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00" name="textbox 3700"/>
          <p:cNvSpPr/>
          <p:nvPr/>
        </p:nvSpPr>
        <p:spPr>
          <a:xfrm>
            <a:off x="667512" y="3348227"/>
            <a:ext cx="5108575" cy="477519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0" algn="l" rtl="0" eaLnBrk="0">
              <a:lnSpc>
                <a:spcPts val="1741"/>
              </a:lnSpc>
              <a:tabLst/>
            </a:pPr>
            <a:r>
              <a:rPr sz="13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日前申报电量</a:t>
            </a:r>
            <a:r>
              <a:rPr sz="1300" b="1" kern="0" spc="1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 实际用电量</a:t>
            </a:r>
            <a:r>
              <a:rPr sz="1300" b="1" kern="0" spc="1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</a:t>
            </a:r>
            <a:r>
              <a:rPr sz="1300" b="1" kern="0" spc="1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sz="1300" b="1" kern="0" spc="-10" dirty="0">
                <a:solidFill>
                  <a:srgbClr val="FFFFFF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1</a:t>
            </a:r>
            <a:r>
              <a:rPr sz="13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300" b="1" kern="0" spc="-20" dirty="0">
                <a:solidFill>
                  <a:srgbClr val="FFFFFF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λ</a:t>
            </a:r>
            <a:r>
              <a:rPr sz="13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) 并且</a:t>
            </a:r>
            <a:r>
              <a:rPr sz="1300" b="1" kern="0" spc="1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日前电价</a:t>
            </a:r>
            <a:r>
              <a:rPr sz="1300" b="1" kern="0" spc="1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&lt; 实时电价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02" name="textbox 3702"/>
          <p:cNvSpPr/>
          <p:nvPr/>
        </p:nvSpPr>
        <p:spPr>
          <a:xfrm>
            <a:off x="554273" y="1112586"/>
            <a:ext cx="4885690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实时市场偏差价差收益回收结算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04" name="path 3704"/>
          <p:cNvSpPr/>
          <p:nvPr/>
        </p:nvSpPr>
        <p:spPr>
          <a:xfrm>
            <a:off x="3785616" y="4165091"/>
            <a:ext cx="467867" cy="144779"/>
          </a:xfrm>
          <a:custGeom>
            <a:avLst/>
            <a:gdLst/>
            <a:ahLst/>
            <a:cxnLst/>
            <a:rect l="0" t="0" r="0" b="0"/>
            <a:pathLst>
              <a:path w="736" h="227">
                <a:moveTo>
                  <a:pt x="664" y="0"/>
                </a:moveTo>
                <a:cubicBezTo>
                  <a:pt x="688" y="7"/>
                  <a:pt x="705" y="19"/>
                  <a:pt x="717" y="40"/>
                </a:cubicBezTo>
                <a:cubicBezTo>
                  <a:pt x="729" y="60"/>
                  <a:pt x="736" y="84"/>
                  <a:pt x="736" y="112"/>
                </a:cubicBezTo>
                <a:cubicBezTo>
                  <a:pt x="736" y="141"/>
                  <a:pt x="729" y="167"/>
                  <a:pt x="717" y="187"/>
                </a:cubicBezTo>
                <a:cubicBezTo>
                  <a:pt x="705" y="208"/>
                  <a:pt x="688" y="220"/>
                  <a:pt x="664" y="227"/>
                </a:cubicBezTo>
                <a:lnTo>
                  <a:pt x="662" y="218"/>
                </a:lnTo>
                <a:cubicBezTo>
                  <a:pt x="679" y="211"/>
                  <a:pt x="693" y="199"/>
                  <a:pt x="703" y="182"/>
                </a:cubicBezTo>
                <a:cubicBezTo>
                  <a:pt x="712" y="163"/>
                  <a:pt x="715" y="141"/>
                  <a:pt x="715" y="112"/>
                </a:cubicBezTo>
                <a:cubicBezTo>
                  <a:pt x="715" y="86"/>
                  <a:pt x="712" y="62"/>
                  <a:pt x="703" y="45"/>
                </a:cubicBezTo>
                <a:cubicBezTo>
                  <a:pt x="693" y="28"/>
                  <a:pt x="679" y="16"/>
                  <a:pt x="662" y="9"/>
                </a:cubicBezTo>
                <a:lnTo>
                  <a:pt x="664" y="0"/>
                </a:lnTo>
                <a:close/>
                <a:moveTo>
                  <a:pt x="71" y="0"/>
                </a:moveTo>
                <a:lnTo>
                  <a:pt x="74" y="9"/>
                </a:lnTo>
                <a:cubicBezTo>
                  <a:pt x="55" y="16"/>
                  <a:pt x="43" y="28"/>
                  <a:pt x="33" y="45"/>
                </a:cubicBezTo>
                <a:cubicBezTo>
                  <a:pt x="23" y="62"/>
                  <a:pt x="19" y="86"/>
                  <a:pt x="19" y="112"/>
                </a:cubicBezTo>
                <a:cubicBezTo>
                  <a:pt x="19" y="141"/>
                  <a:pt x="23" y="163"/>
                  <a:pt x="33" y="182"/>
                </a:cubicBezTo>
                <a:cubicBezTo>
                  <a:pt x="43" y="199"/>
                  <a:pt x="55" y="211"/>
                  <a:pt x="74" y="218"/>
                </a:cubicBezTo>
                <a:lnTo>
                  <a:pt x="71" y="227"/>
                </a:lnTo>
                <a:cubicBezTo>
                  <a:pt x="47" y="220"/>
                  <a:pt x="31" y="208"/>
                  <a:pt x="16" y="187"/>
                </a:cubicBezTo>
                <a:cubicBezTo>
                  <a:pt x="4" y="167"/>
                  <a:pt x="0" y="141"/>
                  <a:pt x="0" y="112"/>
                </a:cubicBezTo>
                <a:cubicBezTo>
                  <a:pt x="0" y="84"/>
                  <a:pt x="4" y="60"/>
                  <a:pt x="16" y="40"/>
                </a:cubicBezTo>
                <a:cubicBezTo>
                  <a:pt x="31" y="19"/>
                  <a:pt x="47" y="7"/>
                  <a:pt x="71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06" name="textbox 3706"/>
          <p:cNvSpPr/>
          <p:nvPr/>
        </p:nvSpPr>
        <p:spPr>
          <a:xfrm>
            <a:off x="770991" y="4105271"/>
            <a:ext cx="5321934" cy="23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14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回收效益</a:t>
            </a:r>
            <a:r>
              <a:rPr sz="12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[日前申报电量</a:t>
            </a:r>
            <a:r>
              <a:rPr sz="12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 实际用电量</a:t>
            </a:r>
            <a:r>
              <a:rPr sz="12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×    1</a:t>
            </a:r>
            <a:r>
              <a:rPr sz="1200" b="1" kern="0" spc="7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+ λ</a:t>
            </a:r>
            <a:r>
              <a:rPr sz="1200" b="1" kern="0" spc="26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]</a:t>
            </a:r>
            <a:r>
              <a:rPr sz="12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(实时电价 –</a:t>
            </a: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日前电价)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08" name="textbox 3708"/>
          <p:cNvSpPr/>
          <p:nvPr/>
        </p:nvSpPr>
        <p:spPr>
          <a:xfrm>
            <a:off x="755734" y="5385467"/>
            <a:ext cx="5228590" cy="23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14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回收效益</a:t>
            </a:r>
            <a:r>
              <a:rPr sz="12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[实际用电量</a:t>
            </a:r>
            <a:r>
              <a:rPr sz="12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</a:t>
            </a:r>
            <a:r>
              <a:rPr sz="12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1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−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Constantia"/>
                <a:ea typeface="Constantia"/>
                <a:cs typeface="Constantia"/>
              </a:rPr>
              <a:t>λ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) -日前申报电量 ]</a:t>
            </a:r>
            <a:r>
              <a:rPr sz="12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</a:t>
            </a:r>
            <a:r>
              <a:rPr sz="12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(日前电价 – 实时电价)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10" name="textbox 3710"/>
          <p:cNvSpPr/>
          <p:nvPr/>
        </p:nvSpPr>
        <p:spPr>
          <a:xfrm>
            <a:off x="901259" y="2786373"/>
            <a:ext cx="1791970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5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对于每个结算时段：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712" name="picture 37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sp>
        <p:nvSpPr>
          <p:cNvPr id="3714" name="textbox 3714"/>
          <p:cNvSpPr/>
          <p:nvPr/>
        </p:nvSpPr>
        <p:spPr>
          <a:xfrm>
            <a:off x="9322723" y="4198781"/>
            <a:ext cx="283845" cy="159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允许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3716" name="path 3716"/>
          <p:cNvSpPr/>
          <p:nvPr/>
        </p:nvSpPr>
        <p:spPr>
          <a:xfrm>
            <a:off x="812291" y="3102863"/>
            <a:ext cx="1997964" cy="6096"/>
          </a:xfrm>
          <a:custGeom>
            <a:avLst/>
            <a:gdLst/>
            <a:ahLst/>
            <a:cxnLst/>
            <a:rect l="0" t="0" r="0" b="0"/>
            <a:pathLst>
              <a:path w="3146" h="9">
                <a:moveTo>
                  <a:pt x="0" y="4"/>
                </a:moveTo>
                <a:lnTo>
                  <a:pt x="3146" y="4"/>
                </a:lnTo>
              </a:path>
            </a:pathLst>
          </a:custGeom>
          <a:noFill/>
          <a:ln w="6096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8" name="textbox 3718"/>
          <p:cNvSpPr/>
          <p:nvPr/>
        </p:nvSpPr>
        <p:spPr>
          <a:xfrm>
            <a:off x="6933120" y="2130996"/>
            <a:ext cx="2762250" cy="4189095"/>
          </a:xfrm>
          <a:prstGeom prst="roundRect">
            <a:avLst>
              <a:gd name="adj" fmla="val 16981"/>
            </a:avLst>
          </a:prstGeom>
          <a:noFill/>
          <a:ln w="9525" cap="flat">
            <a:solidFill>
              <a:srgbClr val="0D426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9879" algn="l" rtl="0" eaLnBrk="0">
              <a:lnSpc>
                <a:spcPct val="87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考核用户高电价时段用电量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56210" algn="l" rtl="0" eaLnBrk="0">
              <a:lnSpc>
                <a:spcPct val="87000"/>
              </a:lnSpc>
              <a:spcBef>
                <a:spcPts val="953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高电价时段有较多合约电量覆盖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08050" algn="l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降低风险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20" name="rect 3720"/>
          <p:cNvSpPr/>
          <p:nvPr/>
        </p:nvSpPr>
        <p:spPr>
          <a:xfrm>
            <a:off x="737616" y="2144267"/>
            <a:ext cx="795527" cy="4169664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22" name="textbox 3722"/>
          <p:cNvSpPr/>
          <p:nvPr/>
        </p:nvSpPr>
        <p:spPr>
          <a:xfrm>
            <a:off x="1703813" y="5074609"/>
            <a:ext cx="3757295" cy="774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34464" algn="l" rtl="0" eaLnBrk="0">
              <a:lnSpc>
                <a:spcPct val="86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低风险电量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13384" algn="l" rtl="0" eaLnBrk="0">
              <a:lnSpc>
                <a:spcPct val="88000"/>
              </a:lnSpc>
              <a:spcBef>
                <a:spcPts val="970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因售电价格按照现货均价浮动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，风险较低。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如果用户高电价时段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用电比例较大，依然存在一定风险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24" name="path 3724"/>
          <p:cNvSpPr/>
          <p:nvPr/>
        </p:nvSpPr>
        <p:spPr>
          <a:xfrm>
            <a:off x="5946647" y="2132076"/>
            <a:ext cx="588264" cy="4186427"/>
          </a:xfrm>
          <a:custGeom>
            <a:avLst/>
            <a:gdLst/>
            <a:ahLst/>
            <a:cxnLst/>
            <a:rect l="0" t="0" r="0" b="0"/>
            <a:pathLst>
              <a:path w="926" h="6592">
                <a:moveTo>
                  <a:pt x="19" y="19"/>
                </a:moveTo>
                <a:cubicBezTo>
                  <a:pt x="263" y="19"/>
                  <a:pt x="463" y="52"/>
                  <a:pt x="463" y="93"/>
                </a:cubicBezTo>
                <a:lnTo>
                  <a:pt x="463" y="3220"/>
                </a:lnTo>
                <a:cubicBezTo>
                  <a:pt x="463" y="3261"/>
                  <a:pt x="660" y="3295"/>
                  <a:pt x="907" y="3295"/>
                </a:cubicBezTo>
                <a:cubicBezTo>
                  <a:pt x="660" y="3295"/>
                  <a:pt x="463" y="3328"/>
                  <a:pt x="463" y="3369"/>
                </a:cubicBezTo>
                <a:lnTo>
                  <a:pt x="463" y="6499"/>
                </a:lnTo>
                <a:cubicBezTo>
                  <a:pt x="463" y="6540"/>
                  <a:pt x="263" y="6573"/>
                  <a:pt x="19" y="6573"/>
                </a:cubicBezTo>
              </a:path>
            </a:pathLst>
          </a:custGeom>
          <a:noFill/>
          <a:ln w="24383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26" name="textbox 3726"/>
          <p:cNvSpPr/>
          <p:nvPr/>
        </p:nvSpPr>
        <p:spPr>
          <a:xfrm>
            <a:off x="1938504" y="3666070"/>
            <a:ext cx="3289934" cy="494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08405" algn="l" rtl="0" eaLnBrk="0">
              <a:lnSpc>
                <a:spcPct val="87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中风险电量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承担部分时段电量现货价格波动可能售价的风险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28" name="textbox 3728"/>
          <p:cNvSpPr/>
          <p:nvPr/>
        </p:nvSpPr>
        <p:spPr>
          <a:xfrm>
            <a:off x="523049" y="1111986"/>
            <a:ext cx="3023870" cy="334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售电公司风险电量识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别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30" name="textbox 3730"/>
          <p:cNvSpPr/>
          <p:nvPr/>
        </p:nvSpPr>
        <p:spPr>
          <a:xfrm>
            <a:off x="2610624" y="2462372"/>
            <a:ext cx="1889125" cy="494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0380" algn="l" rtl="0" eaLnBrk="0">
              <a:lnSpc>
                <a:spcPct val="88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高风险电量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承担现货价格波动全部风险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32" name="path 3732"/>
          <p:cNvSpPr/>
          <p:nvPr/>
        </p:nvSpPr>
        <p:spPr>
          <a:xfrm>
            <a:off x="7865364" y="4082796"/>
            <a:ext cx="897635" cy="355091"/>
          </a:xfrm>
          <a:custGeom>
            <a:avLst/>
            <a:gdLst/>
            <a:ahLst/>
            <a:cxnLst/>
            <a:rect l="0" t="0" r="0" b="0"/>
            <a:pathLst>
              <a:path w="1413" h="559">
                <a:moveTo>
                  <a:pt x="0" y="280"/>
                </a:moveTo>
                <a:lnTo>
                  <a:pt x="352" y="280"/>
                </a:lnTo>
                <a:lnTo>
                  <a:pt x="352" y="0"/>
                </a:lnTo>
                <a:lnTo>
                  <a:pt x="1060" y="0"/>
                </a:lnTo>
                <a:lnTo>
                  <a:pt x="1060" y="280"/>
                </a:lnTo>
                <a:lnTo>
                  <a:pt x="1413" y="280"/>
                </a:lnTo>
                <a:lnTo>
                  <a:pt x="708" y="559"/>
                </a:lnTo>
                <a:lnTo>
                  <a:pt x="0" y="280"/>
                </a:lnTo>
                <a:close/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34" name="textbox 3734"/>
          <p:cNvSpPr/>
          <p:nvPr/>
        </p:nvSpPr>
        <p:spPr>
          <a:xfrm>
            <a:off x="815834" y="5405656"/>
            <a:ext cx="641984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市场费率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36" name="textbox 3736"/>
          <p:cNvSpPr/>
          <p:nvPr/>
        </p:nvSpPr>
        <p:spPr>
          <a:xfrm>
            <a:off x="840787" y="3896411"/>
            <a:ext cx="645794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分时电价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38" name="textbox 3738"/>
          <p:cNvSpPr/>
          <p:nvPr/>
        </p:nvSpPr>
        <p:spPr>
          <a:xfrm>
            <a:off x="863551" y="2591284"/>
            <a:ext cx="487680" cy="183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一口价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740" name="picture 37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736597"/>
            <a:ext cx="2596896" cy="16764"/>
          </a:xfrm>
          <a:prstGeom prst="rect">
            <a:avLst/>
          </a:prstGeom>
        </p:spPr>
      </p:pic>
      <p:sp>
        <p:nvSpPr>
          <p:cNvPr id="3742" name="path 3742"/>
          <p:cNvSpPr/>
          <p:nvPr/>
        </p:nvSpPr>
        <p:spPr>
          <a:xfrm>
            <a:off x="737616" y="3257549"/>
            <a:ext cx="2168651" cy="13716"/>
          </a:xfrm>
          <a:custGeom>
            <a:avLst/>
            <a:gdLst/>
            <a:ahLst/>
            <a:cxnLst/>
            <a:rect l="0" t="0" r="0" b="0"/>
            <a:pathLst>
              <a:path w="3415" h="21">
                <a:moveTo>
                  <a:pt x="0" y="13"/>
                </a:moveTo>
                <a:lnTo>
                  <a:pt x="1252" y="13"/>
                </a:lnTo>
                <a:moveTo>
                  <a:pt x="1252" y="8"/>
                </a:moveTo>
                <a:lnTo>
                  <a:pt x="3415" y="8"/>
                </a:lnTo>
              </a:path>
            </a:pathLst>
          </a:custGeom>
          <a:noFill/>
          <a:ln w="10668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44" name="path 3744"/>
          <p:cNvSpPr/>
          <p:nvPr/>
        </p:nvSpPr>
        <p:spPr>
          <a:xfrm>
            <a:off x="737616" y="4674869"/>
            <a:ext cx="2156459" cy="10667"/>
          </a:xfrm>
          <a:custGeom>
            <a:avLst/>
            <a:gdLst/>
            <a:ahLst/>
            <a:cxnLst/>
            <a:rect l="0" t="0" r="0" b="0"/>
            <a:pathLst>
              <a:path w="3395" h="16">
                <a:moveTo>
                  <a:pt x="0" y="8"/>
                </a:moveTo>
                <a:lnTo>
                  <a:pt x="1252" y="8"/>
                </a:lnTo>
                <a:moveTo>
                  <a:pt x="1231" y="8"/>
                </a:moveTo>
                <a:lnTo>
                  <a:pt x="3395" y="8"/>
                </a:lnTo>
              </a:path>
            </a:pathLst>
          </a:custGeom>
          <a:noFill/>
          <a:ln w="10668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46" name="path 3746"/>
          <p:cNvSpPr/>
          <p:nvPr/>
        </p:nvSpPr>
        <p:spPr>
          <a:xfrm>
            <a:off x="1533143" y="2146553"/>
            <a:ext cx="1373124" cy="10667"/>
          </a:xfrm>
          <a:custGeom>
            <a:avLst/>
            <a:gdLst/>
            <a:ahLst/>
            <a:cxnLst/>
            <a:rect l="0" t="0" r="0" b="0"/>
            <a:pathLst>
              <a:path w="2162" h="16">
                <a:moveTo>
                  <a:pt x="0" y="8"/>
                </a:moveTo>
                <a:lnTo>
                  <a:pt x="2162" y="8"/>
                </a:lnTo>
              </a:path>
            </a:pathLst>
          </a:custGeom>
          <a:noFill/>
          <a:ln w="10668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48" name="path 3748"/>
          <p:cNvSpPr/>
          <p:nvPr/>
        </p:nvSpPr>
        <p:spPr>
          <a:xfrm>
            <a:off x="1525524" y="6300978"/>
            <a:ext cx="1373123" cy="10667"/>
          </a:xfrm>
          <a:custGeom>
            <a:avLst/>
            <a:gdLst/>
            <a:ahLst/>
            <a:cxnLst/>
            <a:rect l="0" t="0" r="0" b="0"/>
            <a:pathLst>
              <a:path w="2162" h="16">
                <a:moveTo>
                  <a:pt x="0" y="8"/>
                </a:moveTo>
                <a:lnTo>
                  <a:pt x="2162" y="8"/>
                </a:lnTo>
              </a:path>
            </a:pathLst>
          </a:custGeom>
          <a:noFill/>
          <a:ln w="10668" cap="flat">
            <a:solidFill>
              <a:srgbClr val="0D426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0" name="picture 37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89476" y="2439923"/>
            <a:ext cx="5690615" cy="3221736"/>
          </a:xfrm>
          <a:prstGeom prst="rect">
            <a:avLst/>
          </a:prstGeom>
        </p:spPr>
      </p:pic>
      <p:sp>
        <p:nvSpPr>
          <p:cNvPr id="3752" name="textbox 3752"/>
          <p:cNvSpPr/>
          <p:nvPr/>
        </p:nvSpPr>
        <p:spPr>
          <a:xfrm>
            <a:off x="352043" y="2706623"/>
            <a:ext cx="3432175" cy="2651760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0644" algn="l" rtl="0" eaLnBrk="0">
              <a:lnSpc>
                <a:spcPct val="169000"/>
              </a:lnSpc>
              <a:tabLst/>
            </a:pPr>
            <a:r>
              <a:rPr sz="14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现货市场中，</a:t>
            </a:r>
            <a:r>
              <a:rPr sz="1400" b="1" kern="0" spc="-2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用电侧（售电公司）报价前</a:t>
            </a:r>
            <a:r>
              <a:rPr sz="14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须考虑负荷性质和零售电价格，</a:t>
            </a:r>
            <a:r>
              <a:rPr sz="1400" b="1" kern="0" spc="-2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2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刚性负荷</a:t>
            </a:r>
            <a:r>
              <a:rPr sz="1400" b="1" kern="0" spc="3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报价一般为交易中心公布的价格上限</a:t>
            </a:r>
            <a:r>
              <a:rPr sz="14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，确</a:t>
            </a:r>
            <a:r>
              <a:rPr sz="14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保百分百成交；对于</a:t>
            </a:r>
            <a:r>
              <a:rPr sz="1400" b="1" kern="0" spc="3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价格响应负荷以</a:t>
            </a:r>
            <a:r>
              <a:rPr sz="1400" b="1" kern="0" spc="2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零售</a:t>
            </a:r>
            <a:r>
              <a:rPr sz="1400" b="1" kern="0" spc="3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电价格为报价基准</a:t>
            </a:r>
            <a:r>
              <a:rPr sz="14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，保证一旦成交，</a:t>
            </a:r>
            <a:r>
              <a:rPr sz="14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购售</a:t>
            </a:r>
            <a:r>
              <a:rPr sz="14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电收益为正，购电价格过高时，宁愿</a:t>
            </a:r>
            <a:r>
              <a:rPr sz="14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放弃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该段负荷，</a:t>
            </a:r>
            <a:r>
              <a:rPr sz="1400" b="1" kern="0" spc="-2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以免产生负收益。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54" name="textbox 3754"/>
          <p:cNvSpPr/>
          <p:nvPr/>
        </p:nvSpPr>
        <p:spPr>
          <a:xfrm>
            <a:off x="4623861" y="2701316"/>
            <a:ext cx="5074284" cy="1002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90850" algn="l" rtl="0" eaLnBrk="0">
              <a:lnSpc>
                <a:spcPct val="88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零售电价格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12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刚性负荷报价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响应负荷报价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56" name="textbox 3756"/>
          <p:cNvSpPr/>
          <p:nvPr/>
        </p:nvSpPr>
        <p:spPr>
          <a:xfrm>
            <a:off x="3439171" y="6117416"/>
            <a:ext cx="6909434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——刚性负荷须保证成交，价格响应负荷根据零售价格曲线构建报价曲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线——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58" name="textbox 3758"/>
          <p:cNvSpPr/>
          <p:nvPr/>
        </p:nvSpPr>
        <p:spPr>
          <a:xfrm>
            <a:off x="402695" y="1095127"/>
            <a:ext cx="3023870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售电公司日前报价策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60" name="textbox 3760"/>
          <p:cNvSpPr/>
          <p:nvPr/>
        </p:nvSpPr>
        <p:spPr>
          <a:xfrm>
            <a:off x="5411418" y="5711461"/>
            <a:ext cx="3094989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100" b="1" kern="0" spc="20" baseline="49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刚性负荷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100" b="1" kern="0" spc="20" baseline="-24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价格响应负荷</a:t>
            </a:r>
            <a:endParaRPr sz="2100" baseline="-248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62" name="textbox 3762"/>
          <p:cNvSpPr/>
          <p:nvPr/>
        </p:nvSpPr>
        <p:spPr>
          <a:xfrm>
            <a:off x="3919875" y="2184058"/>
            <a:ext cx="718184" cy="183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kern="0" spc="1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元/兆瓦时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64" name="textbox 3764"/>
          <p:cNvSpPr/>
          <p:nvPr/>
        </p:nvSpPr>
        <p:spPr>
          <a:xfrm>
            <a:off x="9926593" y="5247880"/>
            <a:ext cx="335279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1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b="1" kern="0" spc="1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766" name="picture 37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" name="textbox 3768"/>
          <p:cNvSpPr/>
          <p:nvPr/>
        </p:nvSpPr>
        <p:spPr>
          <a:xfrm>
            <a:off x="880300" y="3175277"/>
            <a:ext cx="3000375" cy="1357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18210" algn="l" rtl="0" eaLnBrk="0">
              <a:lnSpc>
                <a:spcPct val="83000"/>
              </a:lnSpc>
              <a:tabLst/>
            </a:pP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</a:t>
            </a:r>
            <a:r>
              <a:rPr sz="4200" b="1" kern="0" spc="8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 sz="4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1"/>
              </a:spcBef>
              <a:tabLst/>
            </a:pPr>
            <a:r>
              <a:rPr sz="4200" b="1" kern="0" spc="-2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 sz="4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60" name="group 360"/>
          <p:cNvGrpSpPr/>
          <p:nvPr/>
        </p:nvGrpSpPr>
        <p:grpSpPr>
          <a:xfrm rot="21600000">
            <a:off x="4762500" y="900683"/>
            <a:ext cx="4724400" cy="559308"/>
            <a:chOff x="0" y="0"/>
            <a:chExt cx="4724400" cy="559308"/>
          </a:xfrm>
        </p:grpSpPr>
        <p:pic>
          <p:nvPicPr>
            <p:cNvPr id="3770" name="picture 37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772" name="textbox 3772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9254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307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集中式现货市场的典型设计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774" name="path 3774"/>
            <p:cNvSpPr/>
            <p:nvPr/>
          </p:nvSpPr>
          <p:spPr>
            <a:xfrm>
              <a:off x="897775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9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62" name="group 362"/>
          <p:cNvGrpSpPr/>
          <p:nvPr/>
        </p:nvGrpSpPr>
        <p:grpSpPr>
          <a:xfrm rot="21600000">
            <a:off x="4762500" y="3128771"/>
            <a:ext cx="4724400" cy="559308"/>
            <a:chOff x="0" y="0"/>
            <a:chExt cx="4724400" cy="559308"/>
          </a:xfrm>
        </p:grpSpPr>
        <p:pic>
          <p:nvPicPr>
            <p:cNvPr id="3776" name="picture 377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778" name="textbox 3778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68934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40" baseline="3586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发电企业现货市场交易策略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780" name="path 3780"/>
            <p:cNvSpPr/>
            <p:nvPr/>
          </p:nvSpPr>
          <p:spPr>
            <a:xfrm>
              <a:off x="878776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6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64" name="group 364"/>
          <p:cNvGrpSpPr/>
          <p:nvPr/>
        </p:nvGrpSpPr>
        <p:grpSpPr>
          <a:xfrm rot="21600000">
            <a:off x="4762500" y="1642871"/>
            <a:ext cx="4724400" cy="559308"/>
            <a:chOff x="0" y="0"/>
            <a:chExt cx="4724400" cy="559308"/>
          </a:xfrm>
        </p:grpSpPr>
        <p:pic>
          <p:nvPicPr>
            <p:cNvPr id="3782" name="picture 378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784" name="textbox 3784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8459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典型省份电力现货市场设计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786" name="path 3786"/>
            <p:cNvSpPr/>
            <p:nvPr/>
          </p:nvSpPr>
          <p:spPr>
            <a:xfrm>
              <a:off x="887107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66" name="group 366"/>
          <p:cNvGrpSpPr/>
          <p:nvPr/>
        </p:nvGrpSpPr>
        <p:grpSpPr>
          <a:xfrm rot="21600000">
            <a:off x="4762500" y="3870959"/>
            <a:ext cx="4724400" cy="559308"/>
            <a:chOff x="0" y="0"/>
            <a:chExt cx="4724400" cy="559308"/>
          </a:xfrm>
        </p:grpSpPr>
        <p:pic>
          <p:nvPicPr>
            <p:cNvPr id="3788" name="picture 378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3790" name="textbox 3790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671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4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售电公司现货市场交易策略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792" name="path 3792"/>
            <p:cNvSpPr/>
            <p:nvPr/>
          </p:nvSpPr>
          <p:spPr>
            <a:xfrm>
              <a:off x="895641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68" name="group 368"/>
          <p:cNvGrpSpPr/>
          <p:nvPr/>
        </p:nvGrpSpPr>
        <p:grpSpPr>
          <a:xfrm rot="21600000">
            <a:off x="4762500" y="6099047"/>
            <a:ext cx="4724400" cy="559307"/>
            <a:chOff x="0" y="0"/>
            <a:chExt cx="4724400" cy="559307"/>
          </a:xfrm>
        </p:grpSpPr>
        <p:pic>
          <p:nvPicPr>
            <p:cNvPr id="3794" name="picture 379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3796" name="textbox 3796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592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40" baseline="3345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量化交易在电力现货的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实践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798" name="path 3798"/>
            <p:cNvSpPr/>
            <p:nvPr/>
          </p:nvSpPr>
          <p:spPr>
            <a:xfrm>
              <a:off x="885710" y="192023"/>
              <a:ext cx="185928" cy="175260"/>
            </a:xfrm>
            <a:custGeom>
              <a:avLst/>
              <a:gdLst/>
              <a:ahLst/>
              <a:cxnLst/>
              <a:rect l="0" t="0" r="0" b="0"/>
              <a:pathLst>
                <a:path w="292" h="276">
                  <a:moveTo>
                    <a:pt x="0" y="0"/>
                  </a:moveTo>
                  <a:lnTo>
                    <a:pt x="292" y="139"/>
                  </a:lnTo>
                  <a:lnTo>
                    <a:pt x="0" y="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70" name="group 370"/>
          <p:cNvGrpSpPr/>
          <p:nvPr/>
        </p:nvGrpSpPr>
        <p:grpSpPr>
          <a:xfrm rot="21600000">
            <a:off x="4762500" y="5356860"/>
            <a:ext cx="4724400" cy="559307"/>
            <a:chOff x="0" y="0"/>
            <a:chExt cx="4724400" cy="559307"/>
          </a:xfrm>
        </p:grpSpPr>
        <p:pic>
          <p:nvPicPr>
            <p:cNvPr id="3800" name="picture 38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3802" name="textbox 3802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719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20" baseline="450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试结算案例分析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804" name="path 3804"/>
            <p:cNvSpPr/>
            <p:nvPr/>
          </p:nvSpPr>
          <p:spPr>
            <a:xfrm>
              <a:off x="884504" y="192023"/>
              <a:ext cx="185928" cy="173736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72" name="group 372"/>
          <p:cNvGrpSpPr/>
          <p:nvPr/>
        </p:nvGrpSpPr>
        <p:grpSpPr>
          <a:xfrm rot="21600000">
            <a:off x="4762500" y="4614671"/>
            <a:ext cx="4724400" cy="557783"/>
            <a:chOff x="0" y="0"/>
            <a:chExt cx="4724400" cy="557783"/>
          </a:xfrm>
        </p:grpSpPr>
        <p:pic>
          <p:nvPicPr>
            <p:cNvPr id="3806" name="picture 380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3808" name="textbox 3808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7909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20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中长期合约交易策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810" name="path 3810"/>
            <p:cNvSpPr/>
            <p:nvPr/>
          </p:nvSpPr>
          <p:spPr>
            <a:xfrm>
              <a:off x="881290" y="192024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74" name="group 374"/>
          <p:cNvGrpSpPr/>
          <p:nvPr/>
        </p:nvGrpSpPr>
        <p:grpSpPr>
          <a:xfrm rot="21600000">
            <a:off x="4762500" y="2386584"/>
            <a:ext cx="4724400" cy="557783"/>
            <a:chOff x="0" y="0"/>
            <a:chExt cx="4724400" cy="557783"/>
          </a:xfrm>
        </p:grpSpPr>
        <p:pic>
          <p:nvPicPr>
            <p:cNvPr id="3812" name="picture 381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3814" name="textbox 3814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84809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2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  <a:r>
                <a:rPr sz="20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电力市场的经济学原理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816" name="path 3816"/>
            <p:cNvSpPr/>
            <p:nvPr/>
          </p:nvSpPr>
          <p:spPr>
            <a:xfrm>
              <a:off x="892505" y="192023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818" name="path 3818"/>
          <p:cNvSpPr/>
          <p:nvPr/>
        </p:nvSpPr>
        <p:spPr>
          <a:xfrm>
            <a:off x="4271771" y="835152"/>
            <a:ext cx="6096" cy="5890259"/>
          </a:xfrm>
          <a:custGeom>
            <a:avLst/>
            <a:gdLst/>
            <a:ahLst/>
            <a:cxnLst/>
            <a:rect l="0" t="0" r="0" b="0"/>
            <a:pathLst>
              <a:path w="9" h="9275">
                <a:moveTo>
                  <a:pt x="4" y="0"/>
                </a:moveTo>
                <a:lnTo>
                  <a:pt x="4" y="9275"/>
                </a:ln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0" name="picture 38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13247" y="3471671"/>
            <a:ext cx="1072896" cy="371855"/>
          </a:xfrm>
          <a:prstGeom prst="rect">
            <a:avLst/>
          </a:prstGeom>
        </p:spPr>
      </p:pic>
      <p:graphicFrame>
        <p:nvGraphicFramePr>
          <p:cNvPr id="3822" name="table 3822"/>
          <p:cNvGraphicFramePr>
            <a:graphicFrameLocks noGrp="1"/>
          </p:cNvGraphicFramePr>
          <p:nvPr/>
        </p:nvGraphicFramePr>
        <p:xfrm>
          <a:off x="300990" y="1925573"/>
          <a:ext cx="6353175" cy="4662805"/>
        </p:xfrm>
        <a:graphic>
          <a:graphicData uri="http://schemas.openxmlformats.org/drawingml/2006/table">
            <a:tbl>
              <a:tblPr/>
              <a:tblGrid>
                <a:gridCol w="6353175"/>
              </a:tblGrid>
              <a:tr h="9105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907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差量表达：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9079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总交割电费</a:t>
                      </a:r>
                      <a:r>
                        <a:rPr sz="14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 合约量×合约价</a:t>
                      </a:r>
                      <a:r>
                        <a:rPr sz="14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r>
                        <a:rPr sz="14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日前上网节点价×(日前中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标量 – 合约量)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7522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9989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1600" b="1" kern="0" spc="20" baseline="3255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合约电费</a:t>
                      </a:r>
                      <a:r>
                        <a:rPr sz="1000" b="1" kern="0" spc="2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    </a:t>
                      </a:r>
                      <a:r>
                        <a:rPr sz="1000" b="1" kern="0" spc="1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          </a:t>
                      </a:r>
                      <a:r>
                        <a:rPr sz="1000" b="1" kern="0" spc="10" dirty="0">
                          <a:solidFill>
                            <a:srgbClr val="FDA10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日前差量电费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390014" algn="l" rtl="0" eaLnBrk="0">
                        <a:lnSpc>
                          <a:spcPct val="88000"/>
                        </a:lnSpc>
                        <a:spcBef>
                          <a:spcPts val="1257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合约量×(日前上网节点价 –</a:t>
                      </a:r>
                      <a:r>
                        <a:rPr sz="1400" b="1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交割节点价)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674995" algn="l" rtl="0" eaLnBrk="0">
                        <a:lnSpc>
                          <a:spcPct val="87000"/>
                        </a:lnSpc>
                        <a:spcBef>
                          <a:spcPts val="217"/>
                        </a:spcBef>
                        <a:tabLst/>
                      </a:pPr>
                      <a:r>
                        <a:rPr sz="900" b="1" kern="0" spc="30" dirty="0">
                          <a:solidFill>
                            <a:srgbClr val="FDA10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因阻塞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669279" algn="l" rtl="0" eaLnBrk="0">
                        <a:lnSpc>
                          <a:spcPct val="87000"/>
                        </a:lnSpc>
                        <a:spcBef>
                          <a:spcPts val="226"/>
                        </a:spcBef>
                        <a:tabLst/>
                      </a:pPr>
                      <a:r>
                        <a:rPr sz="900" b="1" kern="0" spc="40" dirty="0">
                          <a:solidFill>
                            <a:srgbClr val="FDA10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造成的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8140" algn="l" rtl="0" eaLnBrk="0">
                        <a:lnSpc>
                          <a:spcPct val="93000"/>
                        </a:lnSpc>
                        <a:spcBef>
                          <a:spcPts val="427"/>
                        </a:spcBef>
                        <a:tabLst/>
                      </a:pPr>
                      <a:r>
                        <a:rPr sz="1400" b="1" kern="0" spc="2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</a:t>
                      </a:r>
                      <a:r>
                        <a:rPr sz="1400" b="1" kern="0" spc="27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买卖双方按合约量、合约价全额单独结算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58140" algn="l" rtl="0" eaLnBrk="0">
                        <a:lnSpc>
                          <a:spcPct val="93000"/>
                        </a:lnSpc>
                        <a:spcBef>
                          <a:spcPts val="958"/>
                        </a:spcBef>
                        <a:tabLst/>
                      </a:pPr>
                      <a:r>
                        <a:rPr sz="1400" b="1" kern="0" spc="6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</a:t>
                      </a:r>
                      <a:r>
                        <a:rPr sz="1400" b="1" kern="0" spc="23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对于卖方：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22300" algn="l" rtl="0" eaLnBrk="0">
                        <a:lnSpc>
                          <a:spcPct val="87000"/>
                        </a:lnSpc>
                        <a:spcBef>
                          <a:spcPts val="1038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4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日前中标量超出合约量部分按日前上网节点价获得电费收入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22300" algn="l" rtl="0" eaLnBrk="0">
                        <a:lnSpc>
                          <a:spcPct val="87000"/>
                        </a:lnSpc>
                        <a:spcBef>
                          <a:spcPts val="1059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4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日前中标量不足合约量部分按日前上网节点价支付电费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58140" algn="l" rtl="0" eaLnBrk="0">
                        <a:lnSpc>
                          <a:spcPct val="93000"/>
                        </a:lnSpc>
                        <a:spcBef>
                          <a:spcPts val="990"/>
                        </a:spcBef>
                        <a:tabLst/>
                      </a:pPr>
                      <a:r>
                        <a:rPr sz="1400" b="1" kern="0" spc="6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</a:t>
                      </a:r>
                      <a:r>
                        <a:rPr sz="1400" b="1" kern="0" spc="23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对于买方：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622300" algn="l" rtl="0" eaLnBrk="0">
                        <a:lnSpc>
                          <a:spcPct val="87000"/>
                        </a:lnSpc>
                        <a:spcBef>
                          <a:spcPts val="1038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4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日前中标量超出合约量部分按日前上网节点价支付电费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230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4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日前中标量不足合约量部分按日前上网节点价获得电费返还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824" name="picture 38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926580" y="1784603"/>
            <a:ext cx="3439667" cy="4959096"/>
          </a:xfrm>
          <a:prstGeom prst="rect">
            <a:avLst/>
          </a:prstGeom>
        </p:spPr>
      </p:pic>
      <p:graphicFrame>
        <p:nvGraphicFramePr>
          <p:cNvPr id="3826" name="table 3826"/>
          <p:cNvGraphicFramePr>
            <a:graphicFrameLocks noGrp="1"/>
          </p:cNvGraphicFramePr>
          <p:nvPr/>
        </p:nvGraphicFramePr>
        <p:xfrm>
          <a:off x="8812530" y="5177789"/>
          <a:ext cx="894080" cy="950594"/>
        </p:xfrm>
        <a:graphic>
          <a:graphicData uri="http://schemas.openxmlformats.org/drawingml/2006/table">
            <a:tbl>
              <a:tblPr>
                <a:solidFill>
                  <a:srgbClr val="094161"/>
                </a:solidFill>
              </a:tblPr>
              <a:tblGrid>
                <a:gridCol w="894080"/>
              </a:tblGrid>
              <a:tr h="9410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352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按合约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22884" algn="l" rtl="0" eaLnBrk="0">
                        <a:lnSpc>
                          <a:spcPct val="87000"/>
                        </a:lnSpc>
                        <a:spcBef>
                          <a:spcPts val="226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价结算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</a:tbl>
          </a:graphicData>
        </a:graphic>
      </p:graphicFrame>
      <p:pic>
        <p:nvPicPr>
          <p:cNvPr id="3828" name="picture 38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23988" y="4544567"/>
            <a:ext cx="1456944" cy="1578864"/>
          </a:xfrm>
          <a:prstGeom prst="rect">
            <a:avLst/>
          </a:prstGeom>
        </p:spPr>
      </p:pic>
      <p:graphicFrame>
        <p:nvGraphicFramePr>
          <p:cNvPr id="3830" name="table 3830"/>
          <p:cNvGraphicFramePr>
            <a:graphicFrameLocks noGrp="1"/>
          </p:cNvGraphicFramePr>
          <p:nvPr/>
        </p:nvGraphicFramePr>
        <p:xfrm>
          <a:off x="8757666" y="2120646"/>
          <a:ext cx="894080" cy="1589404"/>
        </p:xfrm>
        <a:graphic>
          <a:graphicData uri="http://schemas.openxmlformats.org/drawingml/2006/table">
            <a:tbl>
              <a:tblPr>
                <a:solidFill>
                  <a:srgbClr val="094161"/>
                </a:solidFill>
              </a:tblPr>
              <a:tblGrid>
                <a:gridCol w="894080"/>
              </a:tblGrid>
              <a:tr h="15798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352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按合约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22884" algn="l" rtl="0" eaLnBrk="0">
                        <a:lnSpc>
                          <a:spcPct val="87000"/>
                        </a:lnSpc>
                        <a:spcBef>
                          <a:spcPts val="226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价结算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</a:tbl>
          </a:graphicData>
        </a:graphic>
      </p:graphicFrame>
      <p:sp>
        <p:nvSpPr>
          <p:cNvPr id="3832" name="textbox 3832"/>
          <p:cNvSpPr/>
          <p:nvPr/>
        </p:nvSpPr>
        <p:spPr>
          <a:xfrm>
            <a:off x="7576917" y="3882636"/>
            <a:ext cx="2226945" cy="588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——日前中标量完全兑现合约量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065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000" b="1" kern="0" spc="4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合约电量     </a:t>
            </a:r>
            <a:r>
              <a:rPr sz="1000" b="1" kern="0" spc="3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1000" b="1" kern="0" spc="3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未兑现合约电量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34" name="textbox 3834"/>
          <p:cNvSpPr/>
          <p:nvPr/>
        </p:nvSpPr>
        <p:spPr>
          <a:xfrm>
            <a:off x="523350" y="1108041"/>
            <a:ext cx="3324225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合约结算的差量表达方式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36" name="textbox 3836"/>
          <p:cNvSpPr/>
          <p:nvPr/>
        </p:nvSpPr>
        <p:spPr>
          <a:xfrm>
            <a:off x="7601253" y="6164424"/>
            <a:ext cx="2226945" cy="441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00480" algn="l" rtl="0" eaLnBrk="0">
              <a:lnSpc>
                <a:spcPct val="88000"/>
              </a:lnSpc>
              <a:tabLst/>
            </a:pPr>
            <a:r>
              <a:rPr sz="1000" b="1" kern="0" spc="3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日前中标电量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——日前中标量部分兑现合约量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38" name="textbox 3838"/>
          <p:cNvSpPr/>
          <p:nvPr/>
        </p:nvSpPr>
        <p:spPr>
          <a:xfrm>
            <a:off x="7588201" y="2170128"/>
            <a:ext cx="1939289" cy="509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75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1135" indent="-154939" algn="l" rtl="0" eaLnBrk="0">
              <a:lnSpc>
                <a:spcPct val="91000"/>
              </a:lnSpc>
              <a:tabLst/>
            </a:pP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按日前价</a:t>
            </a: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结算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6000"/>
              </a:lnSpc>
              <a:spcBef>
                <a:spcPts val="5"/>
              </a:spcBef>
              <a:tabLst/>
            </a:pPr>
            <a:r>
              <a:rPr sz="1200" b="1" kern="0" spc="1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合约电量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40" name="rect 3840"/>
          <p:cNvSpPr/>
          <p:nvPr/>
        </p:nvSpPr>
        <p:spPr>
          <a:xfrm>
            <a:off x="7467600" y="2734055"/>
            <a:ext cx="883919" cy="970787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76" name="group 376"/>
          <p:cNvGrpSpPr/>
          <p:nvPr/>
        </p:nvGrpSpPr>
        <p:grpSpPr>
          <a:xfrm rot="21600000">
            <a:off x="1664969" y="2794253"/>
            <a:ext cx="4733543" cy="115824"/>
            <a:chOff x="0" y="0"/>
            <a:chExt cx="4733543" cy="115824"/>
          </a:xfrm>
        </p:grpSpPr>
        <p:sp>
          <p:nvSpPr>
            <p:cNvPr id="3842" name="path 3842"/>
            <p:cNvSpPr/>
            <p:nvPr/>
          </p:nvSpPr>
          <p:spPr>
            <a:xfrm>
              <a:off x="0" y="0"/>
              <a:ext cx="1196339" cy="112776"/>
            </a:xfrm>
            <a:custGeom>
              <a:avLst/>
              <a:gdLst/>
              <a:ahLst/>
              <a:cxnLst/>
              <a:rect l="0" t="0" r="0" b="0"/>
              <a:pathLst>
                <a:path w="1883" h="177">
                  <a:moveTo>
                    <a:pt x="1875" y="8"/>
                  </a:moveTo>
                  <a:cubicBezTo>
                    <a:pt x="1875" y="51"/>
                    <a:pt x="1830" y="87"/>
                    <a:pt x="1772" y="87"/>
                  </a:cubicBezTo>
                  <a:lnTo>
                    <a:pt x="1045" y="87"/>
                  </a:lnTo>
                  <a:cubicBezTo>
                    <a:pt x="987" y="87"/>
                    <a:pt x="941" y="123"/>
                    <a:pt x="941" y="169"/>
                  </a:cubicBezTo>
                  <a:cubicBezTo>
                    <a:pt x="941" y="123"/>
                    <a:pt x="896" y="87"/>
                    <a:pt x="838" y="87"/>
                  </a:cubicBezTo>
                  <a:lnTo>
                    <a:pt x="111" y="87"/>
                  </a:lnTo>
                  <a:cubicBezTo>
                    <a:pt x="53" y="87"/>
                    <a:pt x="8" y="51"/>
                    <a:pt x="8" y="8"/>
                  </a:cubicBezTo>
                </a:path>
              </a:pathLst>
            </a:custGeom>
            <a:noFill/>
            <a:ln w="10668" cap="flat">
              <a:solidFill>
                <a:srgbClr val="094161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44" name="path 3844"/>
            <p:cNvSpPr/>
            <p:nvPr/>
          </p:nvSpPr>
          <p:spPr>
            <a:xfrm>
              <a:off x="1367027" y="35052"/>
              <a:ext cx="3366515" cy="80771"/>
            </a:xfrm>
            <a:custGeom>
              <a:avLst/>
              <a:gdLst/>
              <a:ahLst/>
              <a:cxnLst/>
              <a:rect l="0" t="0" r="0" b="0"/>
              <a:pathLst>
                <a:path w="5301" h="127">
                  <a:moveTo>
                    <a:pt x="5295" y="5"/>
                  </a:moveTo>
                  <a:cubicBezTo>
                    <a:pt x="5295" y="37"/>
                    <a:pt x="5264" y="63"/>
                    <a:pt x="5225" y="63"/>
                  </a:cubicBezTo>
                  <a:lnTo>
                    <a:pt x="2734" y="63"/>
                  </a:lnTo>
                  <a:cubicBezTo>
                    <a:pt x="2698" y="63"/>
                    <a:pt x="2667" y="90"/>
                    <a:pt x="2667" y="121"/>
                  </a:cubicBezTo>
                  <a:cubicBezTo>
                    <a:pt x="2667" y="90"/>
                    <a:pt x="2636" y="63"/>
                    <a:pt x="2597" y="63"/>
                  </a:cubicBezTo>
                  <a:lnTo>
                    <a:pt x="75" y="63"/>
                  </a:lnTo>
                  <a:cubicBezTo>
                    <a:pt x="37" y="63"/>
                    <a:pt x="5" y="37"/>
                    <a:pt x="5" y="5"/>
                  </a:cubicBezTo>
                </a:path>
              </a:pathLst>
            </a:custGeom>
            <a:noFill/>
            <a:ln w="762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846" name="textbox 3846"/>
          <p:cNvSpPr/>
          <p:nvPr/>
        </p:nvSpPr>
        <p:spPr>
          <a:xfrm>
            <a:off x="8924143" y="4620621"/>
            <a:ext cx="659130" cy="503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0175" algn="l" rtl="0" eaLnBrk="0">
              <a:lnSpc>
                <a:spcPct val="88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按日前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9375" indent="50800" algn="l" rtl="0" eaLnBrk="0">
              <a:lnSpc>
                <a:spcPct val="110000"/>
              </a:lnSpc>
              <a:spcBef>
                <a:spcPts val="237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价买入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8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（或返还）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48" name="path 3848"/>
          <p:cNvSpPr/>
          <p:nvPr/>
        </p:nvSpPr>
        <p:spPr>
          <a:xfrm>
            <a:off x="8130539" y="3115055"/>
            <a:ext cx="640080" cy="297179"/>
          </a:xfrm>
          <a:custGeom>
            <a:avLst/>
            <a:gdLst/>
            <a:ahLst/>
            <a:cxnLst/>
            <a:rect l="0" t="0" r="0" b="0"/>
            <a:pathLst>
              <a:path w="1008" h="467">
                <a:moveTo>
                  <a:pt x="1008" y="350"/>
                </a:moveTo>
                <a:lnTo>
                  <a:pt x="235" y="350"/>
                </a:lnTo>
                <a:lnTo>
                  <a:pt x="235" y="467"/>
                </a:lnTo>
                <a:lnTo>
                  <a:pt x="0" y="235"/>
                </a:lnTo>
                <a:lnTo>
                  <a:pt x="235" y="0"/>
                </a:lnTo>
                <a:lnTo>
                  <a:pt x="235" y="117"/>
                </a:lnTo>
                <a:lnTo>
                  <a:pt x="1008" y="117"/>
                </a:lnTo>
                <a:lnTo>
                  <a:pt x="1008" y="350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50" name="picture 38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805671" y="4585715"/>
            <a:ext cx="12192" cy="589787"/>
          </a:xfrm>
          <a:prstGeom prst="rect">
            <a:avLst/>
          </a:prstGeom>
        </p:spPr>
      </p:pic>
      <p:sp>
        <p:nvSpPr>
          <p:cNvPr id="3852" name="path 3852"/>
          <p:cNvSpPr/>
          <p:nvPr/>
        </p:nvSpPr>
        <p:spPr>
          <a:xfrm>
            <a:off x="8209788" y="4735067"/>
            <a:ext cx="640079" cy="297180"/>
          </a:xfrm>
          <a:custGeom>
            <a:avLst/>
            <a:gdLst/>
            <a:ahLst/>
            <a:cxnLst/>
            <a:rect l="0" t="0" r="0" b="0"/>
            <a:pathLst>
              <a:path w="1007" h="468">
                <a:moveTo>
                  <a:pt x="1007" y="352"/>
                </a:moveTo>
                <a:lnTo>
                  <a:pt x="235" y="352"/>
                </a:lnTo>
                <a:lnTo>
                  <a:pt x="235" y="468"/>
                </a:lnTo>
                <a:lnTo>
                  <a:pt x="0" y="235"/>
                </a:lnTo>
                <a:lnTo>
                  <a:pt x="235" y="0"/>
                </a:lnTo>
                <a:lnTo>
                  <a:pt x="235" y="117"/>
                </a:lnTo>
                <a:lnTo>
                  <a:pt x="1007" y="117"/>
                </a:lnTo>
                <a:lnTo>
                  <a:pt x="1007" y="352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54" name="textbox 3854"/>
          <p:cNvSpPr/>
          <p:nvPr/>
        </p:nvSpPr>
        <p:spPr>
          <a:xfrm>
            <a:off x="8742660" y="1872968"/>
            <a:ext cx="940435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-1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日前中标电量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56" name="picture 38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  <p:pic>
        <p:nvPicPr>
          <p:cNvPr id="3858" name="picture 38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54467" y="5169407"/>
            <a:ext cx="2104644" cy="19812"/>
          </a:xfrm>
          <a:prstGeom prst="rect">
            <a:avLst/>
          </a:prstGeom>
        </p:spPr>
      </p:pic>
      <p:pic>
        <p:nvPicPr>
          <p:cNvPr id="3860" name="picture 38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805671" y="4539995"/>
            <a:ext cx="896111" cy="16764"/>
          </a:xfrm>
          <a:prstGeom prst="rect">
            <a:avLst/>
          </a:prstGeom>
        </p:spPr>
      </p:pic>
      <p:pic>
        <p:nvPicPr>
          <p:cNvPr id="3862" name="picture 38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351519" y="2729483"/>
            <a:ext cx="1292352" cy="10667"/>
          </a:xfrm>
          <a:prstGeom prst="rect">
            <a:avLst/>
          </a:prstGeom>
        </p:spPr>
      </p:pic>
      <p:pic>
        <p:nvPicPr>
          <p:cNvPr id="3864" name="picture 386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691114" y="4590288"/>
            <a:ext cx="10668" cy="591311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roup 378"/>
          <p:cNvGrpSpPr/>
          <p:nvPr/>
        </p:nvGrpSpPr>
        <p:grpSpPr>
          <a:xfrm rot="21600000">
            <a:off x="1203960" y="2075688"/>
            <a:ext cx="8282940" cy="1722120"/>
            <a:chOff x="0" y="0"/>
            <a:chExt cx="8282940" cy="1722120"/>
          </a:xfrm>
        </p:grpSpPr>
        <p:grpSp>
          <p:nvGrpSpPr>
            <p:cNvPr id="380" name="group 380"/>
            <p:cNvGrpSpPr/>
            <p:nvPr/>
          </p:nvGrpSpPr>
          <p:grpSpPr>
            <a:xfrm rot="21600000">
              <a:off x="0" y="0"/>
              <a:ext cx="8282940" cy="1722120"/>
              <a:chOff x="0" y="0"/>
              <a:chExt cx="8282940" cy="1722120"/>
            </a:xfrm>
          </p:grpSpPr>
          <p:sp>
            <p:nvSpPr>
              <p:cNvPr id="3866" name="path 3866"/>
              <p:cNvSpPr/>
              <p:nvPr/>
            </p:nvSpPr>
            <p:spPr>
              <a:xfrm>
                <a:off x="0" y="0"/>
                <a:ext cx="4180332" cy="1722120"/>
              </a:xfrm>
              <a:custGeom>
                <a:avLst/>
                <a:gdLst/>
                <a:ahLst/>
                <a:cxnLst/>
                <a:rect l="0" t="0" r="0" b="0"/>
                <a:pathLst>
                  <a:path w="6583" h="2712">
                    <a:moveTo>
                      <a:pt x="1862" y="0"/>
                    </a:moveTo>
                    <a:lnTo>
                      <a:pt x="5611" y="0"/>
                    </a:lnTo>
                    <a:cubicBezTo>
                      <a:pt x="5932" y="0"/>
                      <a:pt x="6232" y="57"/>
                      <a:pt x="6496" y="163"/>
                    </a:cubicBezTo>
                    <a:lnTo>
                      <a:pt x="6583" y="201"/>
                    </a:lnTo>
                    <a:lnTo>
                      <a:pt x="6513" y="230"/>
                    </a:lnTo>
                    <a:cubicBezTo>
                      <a:pt x="6019" y="475"/>
                      <a:pt x="5692" y="887"/>
                      <a:pt x="5692" y="1355"/>
                    </a:cubicBezTo>
                    <a:cubicBezTo>
                      <a:pt x="5692" y="1824"/>
                      <a:pt x="6019" y="2236"/>
                      <a:pt x="6513" y="2481"/>
                    </a:cubicBezTo>
                    <a:lnTo>
                      <a:pt x="6583" y="2512"/>
                    </a:lnTo>
                    <a:lnTo>
                      <a:pt x="6496" y="2548"/>
                    </a:lnTo>
                    <a:cubicBezTo>
                      <a:pt x="6232" y="2654"/>
                      <a:pt x="5932" y="2712"/>
                      <a:pt x="5611" y="2712"/>
                    </a:cubicBezTo>
                    <a:lnTo>
                      <a:pt x="1862" y="2712"/>
                    </a:lnTo>
                    <a:cubicBezTo>
                      <a:pt x="832" y="2712"/>
                      <a:pt x="0" y="2104"/>
                      <a:pt x="0" y="1355"/>
                    </a:cubicBezTo>
                    <a:cubicBezTo>
                      <a:pt x="0" y="607"/>
                      <a:pt x="832" y="0"/>
                      <a:pt x="1862" y="0"/>
                    </a:cubicBezTo>
                  </a:path>
                </a:pathLst>
              </a:custGeom>
              <a:solidFill>
                <a:srgbClr val="FDA10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8" name="path 3868"/>
              <p:cNvSpPr/>
              <p:nvPr/>
            </p:nvSpPr>
            <p:spPr>
              <a:xfrm>
                <a:off x="4178807" y="0"/>
                <a:ext cx="4104132" cy="1722120"/>
              </a:xfrm>
              <a:custGeom>
                <a:avLst/>
                <a:gdLst/>
                <a:ahLst/>
                <a:cxnLst/>
                <a:rect l="0" t="0" r="0" b="0"/>
                <a:pathLst>
                  <a:path w="6463" h="2712">
                    <a:moveTo>
                      <a:pt x="972" y="0"/>
                    </a:moveTo>
                    <a:lnTo>
                      <a:pt x="4603" y="0"/>
                    </a:lnTo>
                    <a:cubicBezTo>
                      <a:pt x="5630" y="0"/>
                      <a:pt x="6463" y="607"/>
                      <a:pt x="6463" y="1355"/>
                    </a:cubicBezTo>
                    <a:cubicBezTo>
                      <a:pt x="6463" y="2104"/>
                      <a:pt x="5630" y="2712"/>
                      <a:pt x="4603" y="2712"/>
                    </a:cubicBezTo>
                    <a:lnTo>
                      <a:pt x="972" y="2712"/>
                    </a:lnTo>
                    <a:cubicBezTo>
                      <a:pt x="650" y="2712"/>
                      <a:pt x="347" y="2654"/>
                      <a:pt x="84" y="2548"/>
                    </a:cubicBezTo>
                    <a:lnTo>
                      <a:pt x="0" y="2512"/>
                    </a:lnTo>
                    <a:lnTo>
                      <a:pt x="67" y="2481"/>
                    </a:lnTo>
                    <a:cubicBezTo>
                      <a:pt x="561" y="2236"/>
                      <a:pt x="887" y="1824"/>
                      <a:pt x="887" y="1355"/>
                    </a:cubicBezTo>
                    <a:cubicBezTo>
                      <a:pt x="887" y="887"/>
                      <a:pt x="561" y="475"/>
                      <a:pt x="67" y="230"/>
                    </a:cubicBezTo>
                    <a:lnTo>
                      <a:pt x="0" y="201"/>
                    </a:lnTo>
                    <a:lnTo>
                      <a:pt x="84" y="163"/>
                    </a:lnTo>
                    <a:cubicBezTo>
                      <a:pt x="347" y="57"/>
                      <a:pt x="650" y="0"/>
                      <a:pt x="972" y="0"/>
                    </a:cubicBezTo>
                  </a:path>
                </a:pathLst>
              </a:custGeom>
              <a:solidFill>
                <a:srgbClr val="0D426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0" name="path 3870"/>
              <p:cNvSpPr/>
              <p:nvPr/>
            </p:nvSpPr>
            <p:spPr>
              <a:xfrm>
                <a:off x="3617976" y="128015"/>
                <a:ext cx="1129283" cy="1467611"/>
              </a:xfrm>
              <a:custGeom>
                <a:avLst/>
                <a:gdLst/>
                <a:ahLst/>
                <a:cxnLst/>
                <a:rect l="0" t="0" r="0" b="0"/>
                <a:pathLst>
                  <a:path w="1778" h="2311">
                    <a:moveTo>
                      <a:pt x="887" y="0"/>
                    </a:moveTo>
                    <a:lnTo>
                      <a:pt x="957" y="28"/>
                    </a:lnTo>
                    <a:cubicBezTo>
                      <a:pt x="1452" y="273"/>
                      <a:pt x="1778" y="686"/>
                      <a:pt x="1778" y="1154"/>
                    </a:cubicBezTo>
                    <a:cubicBezTo>
                      <a:pt x="1778" y="1622"/>
                      <a:pt x="1452" y="2035"/>
                      <a:pt x="957" y="2280"/>
                    </a:cubicBezTo>
                    <a:lnTo>
                      <a:pt x="887" y="2311"/>
                    </a:lnTo>
                    <a:lnTo>
                      <a:pt x="820" y="2280"/>
                    </a:lnTo>
                    <a:cubicBezTo>
                      <a:pt x="323" y="2035"/>
                      <a:pt x="0" y="1622"/>
                      <a:pt x="0" y="1154"/>
                    </a:cubicBezTo>
                    <a:cubicBezTo>
                      <a:pt x="0" y="686"/>
                      <a:pt x="323" y="273"/>
                      <a:pt x="820" y="28"/>
                    </a:cubicBezTo>
                    <a:lnTo>
                      <a:pt x="887" y="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72" name="textbox 3872"/>
            <p:cNvSpPr/>
            <p:nvPr/>
          </p:nvSpPr>
          <p:spPr>
            <a:xfrm>
              <a:off x="5437470" y="302349"/>
              <a:ext cx="1267460" cy="12179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517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2544" algn="l" rtl="0" eaLnBrk="0">
                <a:lnSpc>
                  <a:spcPct val="88000"/>
                </a:lnSpc>
                <a:tabLst/>
              </a:pP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中长期合约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4000"/>
                </a:lnSpc>
                <a:spcBef>
                  <a:spcPts val="370"/>
                </a:spcBef>
                <a:tabLst/>
              </a:pPr>
              <a:r>
                <a:rPr sz="12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根据合同约定价格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150000"/>
                </a:lnSpc>
                <a:spcBef>
                  <a:spcPts val="2"/>
                </a:spcBef>
                <a:tabLst/>
              </a:pPr>
              <a:r>
                <a:rPr sz="12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和日前现货市场价</a:t>
              </a:r>
              <a:r>
                <a:rPr sz="12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格差异作差价结算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3874" name="path 3874"/>
            <p:cNvSpPr/>
            <p:nvPr/>
          </p:nvSpPr>
          <p:spPr>
            <a:xfrm>
              <a:off x="249935" y="632459"/>
              <a:ext cx="655320" cy="519684"/>
            </a:xfrm>
            <a:custGeom>
              <a:avLst/>
              <a:gdLst/>
              <a:ahLst/>
              <a:cxnLst/>
              <a:rect l="0" t="0" r="0" b="0"/>
              <a:pathLst>
                <a:path w="1032" h="818">
                  <a:moveTo>
                    <a:pt x="1032" y="0"/>
                  </a:moveTo>
                  <a:lnTo>
                    <a:pt x="0" y="0"/>
                  </a:lnTo>
                  <a:lnTo>
                    <a:pt x="0" y="76"/>
                  </a:lnTo>
                  <a:lnTo>
                    <a:pt x="33" y="76"/>
                  </a:lnTo>
                  <a:lnTo>
                    <a:pt x="33" y="564"/>
                  </a:lnTo>
                  <a:lnTo>
                    <a:pt x="96" y="564"/>
                  </a:lnTo>
                  <a:lnTo>
                    <a:pt x="96" y="76"/>
                  </a:lnTo>
                  <a:lnTo>
                    <a:pt x="926" y="76"/>
                  </a:lnTo>
                  <a:lnTo>
                    <a:pt x="926" y="652"/>
                  </a:lnTo>
                  <a:lnTo>
                    <a:pt x="609" y="652"/>
                  </a:lnTo>
                  <a:lnTo>
                    <a:pt x="609" y="712"/>
                  </a:lnTo>
                  <a:lnTo>
                    <a:pt x="991" y="712"/>
                  </a:lnTo>
                  <a:lnTo>
                    <a:pt x="991" y="76"/>
                  </a:lnTo>
                  <a:lnTo>
                    <a:pt x="1032" y="76"/>
                  </a:lnTo>
                  <a:lnTo>
                    <a:pt x="1032" y="0"/>
                  </a:lnTo>
                  <a:close/>
                </a:path>
                <a:path w="1032" h="818">
                  <a:moveTo>
                    <a:pt x="489" y="448"/>
                  </a:moveTo>
                  <a:lnTo>
                    <a:pt x="573" y="448"/>
                  </a:lnTo>
                  <a:lnTo>
                    <a:pt x="573" y="571"/>
                  </a:lnTo>
                  <a:lnTo>
                    <a:pt x="489" y="571"/>
                  </a:lnTo>
                  <a:lnTo>
                    <a:pt x="489" y="448"/>
                  </a:lnTo>
                  <a:close/>
                  <a:moveTo>
                    <a:pt x="636" y="374"/>
                  </a:moveTo>
                  <a:lnTo>
                    <a:pt x="717" y="374"/>
                  </a:lnTo>
                  <a:lnTo>
                    <a:pt x="717" y="566"/>
                  </a:lnTo>
                  <a:lnTo>
                    <a:pt x="636" y="566"/>
                  </a:lnTo>
                  <a:lnTo>
                    <a:pt x="636" y="374"/>
                  </a:lnTo>
                  <a:close/>
                  <a:moveTo>
                    <a:pt x="780" y="208"/>
                  </a:moveTo>
                  <a:lnTo>
                    <a:pt x="861" y="208"/>
                  </a:lnTo>
                  <a:lnTo>
                    <a:pt x="861" y="566"/>
                  </a:lnTo>
                  <a:lnTo>
                    <a:pt x="780" y="566"/>
                  </a:lnTo>
                  <a:lnTo>
                    <a:pt x="780" y="208"/>
                  </a:lnTo>
                  <a:close/>
                </a:path>
                <a:path w="1032" h="818">
                  <a:moveTo>
                    <a:pt x="460" y="600"/>
                  </a:moveTo>
                  <a:lnTo>
                    <a:pt x="460" y="600"/>
                  </a:lnTo>
                  <a:lnTo>
                    <a:pt x="393" y="597"/>
                  </a:lnTo>
                  <a:lnTo>
                    <a:pt x="393" y="597"/>
                  </a:lnTo>
                  <a:lnTo>
                    <a:pt x="391" y="633"/>
                  </a:lnTo>
                  <a:lnTo>
                    <a:pt x="391" y="669"/>
                  </a:lnTo>
                  <a:lnTo>
                    <a:pt x="386" y="700"/>
                  </a:lnTo>
                  <a:lnTo>
                    <a:pt x="379" y="727"/>
                  </a:lnTo>
                  <a:lnTo>
                    <a:pt x="369" y="748"/>
                  </a:lnTo>
                  <a:lnTo>
                    <a:pt x="362" y="767"/>
                  </a:lnTo>
                  <a:lnTo>
                    <a:pt x="348" y="782"/>
                  </a:lnTo>
                  <a:lnTo>
                    <a:pt x="336" y="792"/>
                  </a:lnTo>
                  <a:lnTo>
                    <a:pt x="336" y="676"/>
                  </a:lnTo>
                  <a:lnTo>
                    <a:pt x="336" y="676"/>
                  </a:lnTo>
                  <a:lnTo>
                    <a:pt x="340" y="674"/>
                  </a:lnTo>
                  <a:lnTo>
                    <a:pt x="345" y="672"/>
                  </a:lnTo>
                  <a:lnTo>
                    <a:pt x="350" y="664"/>
                  </a:lnTo>
                  <a:lnTo>
                    <a:pt x="350" y="660"/>
                  </a:lnTo>
                  <a:lnTo>
                    <a:pt x="350" y="643"/>
                  </a:lnTo>
                  <a:lnTo>
                    <a:pt x="350" y="643"/>
                  </a:lnTo>
                  <a:lnTo>
                    <a:pt x="350" y="635"/>
                  </a:lnTo>
                  <a:lnTo>
                    <a:pt x="345" y="631"/>
                  </a:lnTo>
                  <a:lnTo>
                    <a:pt x="338" y="628"/>
                  </a:lnTo>
                  <a:lnTo>
                    <a:pt x="333" y="626"/>
                  </a:lnTo>
                  <a:lnTo>
                    <a:pt x="292" y="626"/>
                  </a:lnTo>
                  <a:lnTo>
                    <a:pt x="292" y="626"/>
                  </a:lnTo>
                  <a:lnTo>
                    <a:pt x="285" y="628"/>
                  </a:lnTo>
                  <a:lnTo>
                    <a:pt x="278" y="631"/>
                  </a:lnTo>
                  <a:lnTo>
                    <a:pt x="276" y="635"/>
                  </a:lnTo>
                  <a:lnTo>
                    <a:pt x="273" y="643"/>
                  </a:lnTo>
                  <a:lnTo>
                    <a:pt x="273" y="660"/>
                  </a:lnTo>
                  <a:lnTo>
                    <a:pt x="273" y="660"/>
                  </a:lnTo>
                  <a:lnTo>
                    <a:pt x="276" y="664"/>
                  </a:lnTo>
                  <a:lnTo>
                    <a:pt x="278" y="672"/>
                  </a:lnTo>
                  <a:lnTo>
                    <a:pt x="283" y="674"/>
                  </a:lnTo>
                  <a:lnTo>
                    <a:pt x="290" y="676"/>
                  </a:lnTo>
                  <a:lnTo>
                    <a:pt x="290" y="792"/>
                  </a:lnTo>
                  <a:lnTo>
                    <a:pt x="290" y="792"/>
                  </a:lnTo>
                  <a:lnTo>
                    <a:pt x="276" y="782"/>
                  </a:lnTo>
                  <a:lnTo>
                    <a:pt x="266" y="767"/>
                  </a:lnTo>
                  <a:lnTo>
                    <a:pt x="252" y="748"/>
                  </a:lnTo>
                  <a:lnTo>
                    <a:pt x="244" y="727"/>
                  </a:lnTo>
                  <a:lnTo>
                    <a:pt x="237" y="700"/>
                  </a:lnTo>
                  <a:lnTo>
                    <a:pt x="232" y="669"/>
                  </a:lnTo>
                  <a:lnTo>
                    <a:pt x="230" y="633"/>
                  </a:lnTo>
                  <a:lnTo>
                    <a:pt x="228" y="597"/>
                  </a:lnTo>
                  <a:lnTo>
                    <a:pt x="228" y="597"/>
                  </a:lnTo>
                  <a:lnTo>
                    <a:pt x="163" y="600"/>
                  </a:lnTo>
                  <a:lnTo>
                    <a:pt x="163" y="600"/>
                  </a:lnTo>
                  <a:lnTo>
                    <a:pt x="148" y="602"/>
                  </a:lnTo>
                  <a:lnTo>
                    <a:pt x="134" y="607"/>
                  </a:lnTo>
                  <a:lnTo>
                    <a:pt x="120" y="614"/>
                  </a:lnTo>
                  <a:lnTo>
                    <a:pt x="110" y="621"/>
                  </a:lnTo>
                  <a:lnTo>
                    <a:pt x="100" y="633"/>
                  </a:lnTo>
                  <a:lnTo>
                    <a:pt x="93" y="645"/>
                  </a:lnTo>
                  <a:lnTo>
                    <a:pt x="88" y="657"/>
                  </a:lnTo>
                  <a:lnTo>
                    <a:pt x="86" y="672"/>
                  </a:lnTo>
                  <a:lnTo>
                    <a:pt x="86" y="760"/>
                  </a:lnTo>
                  <a:lnTo>
                    <a:pt x="86" y="760"/>
                  </a:lnTo>
                  <a:lnTo>
                    <a:pt x="86" y="767"/>
                  </a:lnTo>
                  <a:lnTo>
                    <a:pt x="91" y="775"/>
                  </a:lnTo>
                  <a:lnTo>
                    <a:pt x="98" y="780"/>
                  </a:lnTo>
                  <a:lnTo>
                    <a:pt x="108" y="787"/>
                  </a:lnTo>
                  <a:lnTo>
                    <a:pt x="129" y="796"/>
                  </a:lnTo>
                  <a:lnTo>
                    <a:pt x="158" y="804"/>
                  </a:lnTo>
                  <a:lnTo>
                    <a:pt x="196" y="811"/>
                  </a:lnTo>
                  <a:lnTo>
                    <a:pt x="232" y="813"/>
                  </a:lnTo>
                  <a:lnTo>
                    <a:pt x="273" y="815"/>
                  </a:lnTo>
                  <a:lnTo>
                    <a:pt x="314" y="818"/>
                  </a:lnTo>
                  <a:lnTo>
                    <a:pt x="314" y="818"/>
                  </a:lnTo>
                  <a:lnTo>
                    <a:pt x="357" y="815"/>
                  </a:lnTo>
                  <a:lnTo>
                    <a:pt x="393" y="813"/>
                  </a:lnTo>
                  <a:lnTo>
                    <a:pt x="434" y="811"/>
                  </a:lnTo>
                  <a:lnTo>
                    <a:pt x="468" y="804"/>
                  </a:lnTo>
                  <a:lnTo>
                    <a:pt x="496" y="796"/>
                  </a:lnTo>
                  <a:lnTo>
                    <a:pt x="518" y="787"/>
                  </a:lnTo>
                  <a:lnTo>
                    <a:pt x="525" y="780"/>
                  </a:lnTo>
                  <a:lnTo>
                    <a:pt x="532" y="775"/>
                  </a:lnTo>
                  <a:lnTo>
                    <a:pt x="537" y="767"/>
                  </a:lnTo>
                  <a:lnTo>
                    <a:pt x="537" y="760"/>
                  </a:lnTo>
                  <a:lnTo>
                    <a:pt x="537" y="672"/>
                  </a:lnTo>
                  <a:lnTo>
                    <a:pt x="537" y="672"/>
                  </a:lnTo>
                  <a:lnTo>
                    <a:pt x="537" y="657"/>
                  </a:lnTo>
                  <a:lnTo>
                    <a:pt x="532" y="645"/>
                  </a:lnTo>
                  <a:lnTo>
                    <a:pt x="525" y="633"/>
                  </a:lnTo>
                  <a:lnTo>
                    <a:pt x="516" y="621"/>
                  </a:lnTo>
                  <a:lnTo>
                    <a:pt x="504" y="614"/>
                  </a:lnTo>
                  <a:lnTo>
                    <a:pt x="492" y="607"/>
                  </a:lnTo>
                  <a:lnTo>
                    <a:pt x="475" y="602"/>
                  </a:lnTo>
                  <a:lnTo>
                    <a:pt x="460" y="600"/>
                  </a:lnTo>
                  <a:lnTo>
                    <a:pt x="460" y="600"/>
                  </a:lnTo>
                  <a:close/>
                </a:path>
                <a:path w="1032" h="818">
                  <a:moveTo>
                    <a:pt x="448" y="448"/>
                  </a:moveTo>
                  <a:lnTo>
                    <a:pt x="448" y="448"/>
                  </a:lnTo>
                  <a:lnTo>
                    <a:pt x="448" y="432"/>
                  </a:lnTo>
                  <a:lnTo>
                    <a:pt x="446" y="417"/>
                  </a:lnTo>
                  <a:lnTo>
                    <a:pt x="441" y="403"/>
                  </a:lnTo>
                  <a:lnTo>
                    <a:pt x="436" y="388"/>
                  </a:lnTo>
                  <a:lnTo>
                    <a:pt x="427" y="364"/>
                  </a:lnTo>
                  <a:lnTo>
                    <a:pt x="408" y="340"/>
                  </a:lnTo>
                  <a:lnTo>
                    <a:pt x="400" y="328"/>
                  </a:lnTo>
                  <a:lnTo>
                    <a:pt x="388" y="321"/>
                  </a:lnTo>
                  <a:lnTo>
                    <a:pt x="376" y="314"/>
                  </a:lnTo>
                  <a:lnTo>
                    <a:pt x="364" y="307"/>
                  </a:lnTo>
                  <a:lnTo>
                    <a:pt x="352" y="302"/>
                  </a:lnTo>
                  <a:lnTo>
                    <a:pt x="338" y="300"/>
                  </a:lnTo>
                  <a:lnTo>
                    <a:pt x="324" y="297"/>
                  </a:lnTo>
                  <a:lnTo>
                    <a:pt x="312" y="297"/>
                  </a:lnTo>
                  <a:lnTo>
                    <a:pt x="312" y="297"/>
                  </a:lnTo>
                  <a:lnTo>
                    <a:pt x="297" y="297"/>
                  </a:lnTo>
                  <a:lnTo>
                    <a:pt x="285" y="300"/>
                  </a:lnTo>
                  <a:lnTo>
                    <a:pt x="271" y="302"/>
                  </a:lnTo>
                  <a:lnTo>
                    <a:pt x="259" y="307"/>
                  </a:lnTo>
                  <a:lnTo>
                    <a:pt x="247" y="314"/>
                  </a:lnTo>
                  <a:lnTo>
                    <a:pt x="235" y="321"/>
                  </a:lnTo>
                  <a:lnTo>
                    <a:pt x="225" y="328"/>
                  </a:lnTo>
                  <a:lnTo>
                    <a:pt x="216" y="340"/>
                  </a:lnTo>
                  <a:lnTo>
                    <a:pt x="199" y="364"/>
                  </a:lnTo>
                  <a:lnTo>
                    <a:pt x="184" y="388"/>
                  </a:lnTo>
                  <a:lnTo>
                    <a:pt x="182" y="403"/>
                  </a:lnTo>
                  <a:lnTo>
                    <a:pt x="180" y="417"/>
                  </a:lnTo>
                  <a:lnTo>
                    <a:pt x="177" y="432"/>
                  </a:lnTo>
                  <a:lnTo>
                    <a:pt x="175" y="448"/>
                  </a:lnTo>
                  <a:lnTo>
                    <a:pt x="175" y="448"/>
                  </a:lnTo>
                  <a:lnTo>
                    <a:pt x="177" y="463"/>
                  </a:lnTo>
                  <a:lnTo>
                    <a:pt x="180" y="480"/>
                  </a:lnTo>
                  <a:lnTo>
                    <a:pt x="182" y="494"/>
                  </a:lnTo>
                  <a:lnTo>
                    <a:pt x="187" y="508"/>
                  </a:lnTo>
                  <a:lnTo>
                    <a:pt x="196" y="520"/>
                  </a:lnTo>
                  <a:lnTo>
                    <a:pt x="204" y="535"/>
                  </a:lnTo>
                  <a:lnTo>
                    <a:pt x="225" y="556"/>
                  </a:lnTo>
                  <a:lnTo>
                    <a:pt x="244" y="573"/>
                  </a:lnTo>
                  <a:lnTo>
                    <a:pt x="268" y="587"/>
                  </a:lnTo>
                  <a:lnTo>
                    <a:pt x="292" y="597"/>
                  </a:lnTo>
                  <a:lnTo>
                    <a:pt x="302" y="600"/>
                  </a:lnTo>
                  <a:lnTo>
                    <a:pt x="312" y="600"/>
                  </a:lnTo>
                  <a:lnTo>
                    <a:pt x="312" y="600"/>
                  </a:lnTo>
                  <a:lnTo>
                    <a:pt x="321" y="600"/>
                  </a:lnTo>
                  <a:lnTo>
                    <a:pt x="336" y="597"/>
                  </a:lnTo>
                  <a:lnTo>
                    <a:pt x="357" y="587"/>
                  </a:lnTo>
                  <a:lnTo>
                    <a:pt x="379" y="573"/>
                  </a:lnTo>
                  <a:lnTo>
                    <a:pt x="403" y="556"/>
                  </a:lnTo>
                  <a:lnTo>
                    <a:pt x="420" y="535"/>
                  </a:lnTo>
                  <a:lnTo>
                    <a:pt x="429" y="520"/>
                  </a:lnTo>
                  <a:lnTo>
                    <a:pt x="434" y="508"/>
                  </a:lnTo>
                  <a:lnTo>
                    <a:pt x="439" y="494"/>
                  </a:lnTo>
                  <a:lnTo>
                    <a:pt x="444" y="480"/>
                  </a:lnTo>
                  <a:lnTo>
                    <a:pt x="448" y="463"/>
                  </a:lnTo>
                  <a:lnTo>
                    <a:pt x="448" y="448"/>
                  </a:lnTo>
                  <a:lnTo>
                    <a:pt x="448" y="448"/>
                  </a:lnTo>
                  <a:close/>
                  <a:moveTo>
                    <a:pt x="206" y="448"/>
                  </a:moveTo>
                  <a:lnTo>
                    <a:pt x="206" y="448"/>
                  </a:lnTo>
                  <a:lnTo>
                    <a:pt x="206" y="429"/>
                  </a:lnTo>
                  <a:lnTo>
                    <a:pt x="211" y="412"/>
                  </a:lnTo>
                  <a:lnTo>
                    <a:pt x="211" y="412"/>
                  </a:lnTo>
                  <a:lnTo>
                    <a:pt x="223" y="398"/>
                  </a:lnTo>
                  <a:lnTo>
                    <a:pt x="223" y="398"/>
                  </a:lnTo>
                  <a:lnTo>
                    <a:pt x="228" y="388"/>
                  </a:lnTo>
                  <a:lnTo>
                    <a:pt x="232" y="384"/>
                  </a:lnTo>
                  <a:lnTo>
                    <a:pt x="237" y="381"/>
                  </a:lnTo>
                  <a:lnTo>
                    <a:pt x="242" y="381"/>
                  </a:lnTo>
                  <a:lnTo>
                    <a:pt x="249" y="384"/>
                  </a:lnTo>
                  <a:lnTo>
                    <a:pt x="254" y="391"/>
                  </a:lnTo>
                  <a:lnTo>
                    <a:pt x="264" y="398"/>
                  </a:lnTo>
                  <a:lnTo>
                    <a:pt x="264" y="398"/>
                  </a:lnTo>
                  <a:lnTo>
                    <a:pt x="273" y="407"/>
                  </a:lnTo>
                  <a:lnTo>
                    <a:pt x="290" y="415"/>
                  </a:lnTo>
                  <a:lnTo>
                    <a:pt x="307" y="422"/>
                  </a:lnTo>
                  <a:lnTo>
                    <a:pt x="326" y="427"/>
                  </a:lnTo>
                  <a:lnTo>
                    <a:pt x="350" y="434"/>
                  </a:lnTo>
                  <a:lnTo>
                    <a:pt x="372" y="436"/>
                  </a:lnTo>
                  <a:lnTo>
                    <a:pt x="417" y="441"/>
                  </a:lnTo>
                  <a:lnTo>
                    <a:pt x="417" y="441"/>
                  </a:lnTo>
                  <a:lnTo>
                    <a:pt x="417" y="448"/>
                  </a:lnTo>
                  <a:lnTo>
                    <a:pt x="417" y="448"/>
                  </a:lnTo>
                  <a:lnTo>
                    <a:pt x="417" y="460"/>
                  </a:lnTo>
                  <a:lnTo>
                    <a:pt x="415" y="470"/>
                  </a:lnTo>
                  <a:lnTo>
                    <a:pt x="408" y="494"/>
                  </a:lnTo>
                  <a:lnTo>
                    <a:pt x="393" y="518"/>
                  </a:lnTo>
                  <a:lnTo>
                    <a:pt x="381" y="535"/>
                  </a:lnTo>
                  <a:lnTo>
                    <a:pt x="364" y="552"/>
                  </a:lnTo>
                  <a:lnTo>
                    <a:pt x="345" y="561"/>
                  </a:lnTo>
                  <a:lnTo>
                    <a:pt x="326" y="571"/>
                  </a:lnTo>
                  <a:lnTo>
                    <a:pt x="312" y="571"/>
                  </a:lnTo>
                  <a:lnTo>
                    <a:pt x="312" y="571"/>
                  </a:lnTo>
                  <a:lnTo>
                    <a:pt x="295" y="571"/>
                  </a:lnTo>
                  <a:lnTo>
                    <a:pt x="278" y="561"/>
                  </a:lnTo>
                  <a:lnTo>
                    <a:pt x="259" y="552"/>
                  </a:lnTo>
                  <a:lnTo>
                    <a:pt x="244" y="535"/>
                  </a:lnTo>
                  <a:lnTo>
                    <a:pt x="228" y="518"/>
                  </a:lnTo>
                  <a:lnTo>
                    <a:pt x="218" y="494"/>
                  </a:lnTo>
                  <a:lnTo>
                    <a:pt x="208" y="470"/>
                  </a:lnTo>
                  <a:lnTo>
                    <a:pt x="206" y="460"/>
                  </a:lnTo>
                  <a:lnTo>
                    <a:pt x="206" y="448"/>
                  </a:lnTo>
                  <a:lnTo>
                    <a:pt x="206" y="4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876" name="picture 387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7341107" y="580643"/>
              <a:ext cx="676656" cy="486155"/>
            </a:xfrm>
            <a:prstGeom prst="rect">
              <a:avLst/>
            </a:prstGeom>
          </p:spPr>
        </p:pic>
      </p:grpSp>
      <p:sp>
        <p:nvSpPr>
          <p:cNvPr id="3878" name="textbox 3878"/>
          <p:cNvSpPr/>
          <p:nvPr/>
        </p:nvSpPr>
        <p:spPr>
          <a:xfrm>
            <a:off x="517715" y="4382579"/>
            <a:ext cx="6490334" cy="1704975"/>
          </a:xfrm>
          <a:prstGeom prst="roundRect">
            <a:avLst>
              <a:gd name="adj" fmla="val 16938"/>
            </a:avLst>
          </a:prstGeom>
          <a:noFill/>
          <a:ln w="3175" cap="flat">
            <a:solidFill>
              <a:srgbClr val="41719C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7175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差价表达：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86994" algn="l" rtl="0" eaLnBrk="0">
              <a:lnSpc>
                <a:spcPct val="80000"/>
              </a:lnSpc>
              <a:spcBef>
                <a:spcPts val="366"/>
              </a:spcBef>
              <a:tabLst/>
            </a:pP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电费</a:t>
            </a:r>
            <a:r>
              <a:rPr sz="10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日前中标量×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日前上网节点价+合约量×（合约价-日前交割节点价）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01625" algn="l" rtl="0" eaLnBrk="0">
              <a:lnSpc>
                <a:spcPts val="2369"/>
              </a:lnSpc>
              <a:spcBef>
                <a:spcPts val="102"/>
              </a:spcBef>
              <a:tabLst/>
            </a:pPr>
            <a:r>
              <a:rPr sz="1300" b="1" kern="0" spc="1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</a:t>
            </a:r>
            <a:r>
              <a:rPr sz="1300" b="1" kern="0" spc="1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00" b="1" kern="0" spc="1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日前市场：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根据日前出清电量和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价格做全电量结算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1625" algn="l" rtl="0" eaLnBrk="0">
              <a:lnSpc>
                <a:spcPct val="94000"/>
              </a:lnSpc>
              <a:tabLst/>
            </a:pPr>
            <a:r>
              <a:rPr sz="1300" b="1" kern="0" spc="1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</a:t>
            </a:r>
            <a:r>
              <a:rPr sz="1300" b="1" kern="0" spc="13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00" b="1" kern="0" spc="1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中长期合约电量：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根据合同约定价格和日前市场出清价格的差值作差价结算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80" name="textbox 3880"/>
          <p:cNvSpPr/>
          <p:nvPr/>
        </p:nvSpPr>
        <p:spPr>
          <a:xfrm>
            <a:off x="7448232" y="4445952"/>
            <a:ext cx="3099435" cy="1640839"/>
          </a:xfrm>
          <a:prstGeom prst="roundRect">
            <a:avLst>
              <a:gd name="adj" fmla="val 17190"/>
            </a:avLst>
          </a:prstGeom>
          <a:noFill/>
          <a:ln w="9525" cap="flat">
            <a:solidFill>
              <a:srgbClr val="41719C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9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82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买卖双方承诺针：对合约量支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286384" algn="l" rtl="0" eaLnBrk="0">
              <a:lnSpc>
                <a:spcPct val="154000"/>
              </a:lnSpc>
              <a:spcBef>
                <a:spcPts val="22"/>
              </a:spcBef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付（或退还）</a:t>
            </a:r>
            <a:r>
              <a:rPr sz="1400" b="1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日前价格超出合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约价格的差价电费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82" name="textbox 3882"/>
          <p:cNvSpPr/>
          <p:nvPr/>
        </p:nvSpPr>
        <p:spPr>
          <a:xfrm>
            <a:off x="2556916" y="2434646"/>
            <a:ext cx="1334769" cy="1003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日前现货市场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7795" algn="l" rtl="0" eaLnBrk="0">
              <a:lnSpc>
                <a:spcPct val="84000"/>
              </a:lnSpc>
              <a:spcBef>
                <a:spcPts val="370"/>
              </a:spcBef>
              <a:tabLst/>
            </a:pP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根据日前出清价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37795" algn="l" rtl="0" eaLnBrk="0">
              <a:lnSpc>
                <a:spcPts val="2102"/>
              </a:lnSpc>
              <a:tabLst/>
            </a:pP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格做全电量结算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84" name="textbox 3884"/>
          <p:cNvSpPr/>
          <p:nvPr/>
        </p:nvSpPr>
        <p:spPr>
          <a:xfrm>
            <a:off x="523350" y="1112586"/>
            <a:ext cx="3324225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合约结算的差价表达方式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82" name="group 382"/>
          <p:cNvGrpSpPr/>
          <p:nvPr/>
        </p:nvGrpSpPr>
        <p:grpSpPr>
          <a:xfrm rot="21600000">
            <a:off x="7110221" y="4881262"/>
            <a:ext cx="234439" cy="695162"/>
            <a:chOff x="0" y="0"/>
            <a:chExt cx="234439" cy="695162"/>
          </a:xfrm>
        </p:grpSpPr>
        <p:sp>
          <p:nvSpPr>
            <p:cNvPr id="3886" name="path 3886"/>
            <p:cNvSpPr/>
            <p:nvPr/>
          </p:nvSpPr>
          <p:spPr>
            <a:xfrm>
              <a:off x="5333" y="1633"/>
              <a:ext cx="224027" cy="691896"/>
            </a:xfrm>
            <a:custGeom>
              <a:avLst/>
              <a:gdLst/>
              <a:ahLst/>
              <a:cxnLst/>
              <a:rect l="0" t="0" r="0" b="0"/>
              <a:pathLst>
                <a:path w="352" h="1089">
                  <a:moveTo>
                    <a:pt x="0" y="271"/>
                  </a:moveTo>
                  <a:lnTo>
                    <a:pt x="177" y="271"/>
                  </a:lnTo>
                  <a:lnTo>
                    <a:pt x="177" y="0"/>
                  </a:lnTo>
                  <a:lnTo>
                    <a:pt x="352" y="544"/>
                  </a:lnTo>
                  <a:lnTo>
                    <a:pt x="177" y="1089"/>
                  </a:lnTo>
                  <a:lnTo>
                    <a:pt x="177" y="816"/>
                  </a:lnTo>
                  <a:lnTo>
                    <a:pt x="0" y="816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09416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88" name="path 3888"/>
            <p:cNvSpPr/>
            <p:nvPr/>
          </p:nvSpPr>
          <p:spPr>
            <a:xfrm>
              <a:off x="0" y="0"/>
              <a:ext cx="234439" cy="695162"/>
            </a:xfrm>
            <a:custGeom>
              <a:avLst/>
              <a:gdLst/>
              <a:ahLst/>
              <a:cxnLst/>
              <a:rect l="0" t="0" r="0" b="0"/>
              <a:pathLst>
                <a:path w="369" h="1094">
                  <a:moveTo>
                    <a:pt x="8" y="273"/>
                  </a:moveTo>
                  <a:lnTo>
                    <a:pt x="186" y="273"/>
                  </a:lnTo>
                  <a:lnTo>
                    <a:pt x="186" y="2"/>
                  </a:lnTo>
                  <a:lnTo>
                    <a:pt x="361" y="547"/>
                  </a:lnTo>
                  <a:lnTo>
                    <a:pt x="186" y="1092"/>
                  </a:lnTo>
                  <a:lnTo>
                    <a:pt x="186" y="818"/>
                  </a:lnTo>
                  <a:lnTo>
                    <a:pt x="8" y="818"/>
                  </a:lnTo>
                  <a:lnTo>
                    <a:pt x="8" y="273"/>
                  </a:lnTo>
                  <a:close/>
                </a:path>
              </a:pathLst>
            </a:custGeom>
            <a:noFill/>
            <a:ln w="10668" cap="flat">
              <a:solidFill>
                <a:srgbClr val="41719C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3890" name="picture 38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roup 384"/>
          <p:cNvGrpSpPr/>
          <p:nvPr/>
        </p:nvGrpSpPr>
        <p:grpSpPr>
          <a:xfrm rot="21600000">
            <a:off x="5551465" y="2097023"/>
            <a:ext cx="1550840" cy="633201"/>
            <a:chOff x="0" y="0"/>
            <a:chExt cx="1550840" cy="633201"/>
          </a:xfrm>
        </p:grpSpPr>
        <p:sp>
          <p:nvSpPr>
            <p:cNvPr id="3892" name="path 3892"/>
            <p:cNvSpPr/>
            <p:nvPr/>
          </p:nvSpPr>
          <p:spPr>
            <a:xfrm>
              <a:off x="466" y="435864"/>
              <a:ext cx="1549907" cy="192023"/>
            </a:xfrm>
            <a:custGeom>
              <a:avLst/>
              <a:gdLst/>
              <a:ahLst/>
              <a:cxnLst/>
              <a:rect l="0" t="0" r="0" b="0"/>
              <a:pathLst>
                <a:path w="2440" h="302">
                  <a:moveTo>
                    <a:pt x="0" y="213"/>
                  </a:moveTo>
                  <a:lnTo>
                    <a:pt x="2433" y="0"/>
                  </a:lnTo>
                  <a:lnTo>
                    <a:pt x="2440" y="88"/>
                  </a:lnTo>
                  <a:lnTo>
                    <a:pt x="7" y="302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94" name="path 3894"/>
            <p:cNvSpPr/>
            <p:nvPr/>
          </p:nvSpPr>
          <p:spPr>
            <a:xfrm>
              <a:off x="0" y="430550"/>
              <a:ext cx="1550840" cy="202651"/>
            </a:xfrm>
            <a:custGeom>
              <a:avLst/>
              <a:gdLst/>
              <a:ahLst/>
              <a:cxnLst/>
              <a:rect l="0" t="0" r="0" b="0"/>
              <a:pathLst>
                <a:path w="2442" h="319">
                  <a:moveTo>
                    <a:pt x="0" y="221"/>
                  </a:moveTo>
                  <a:lnTo>
                    <a:pt x="2434" y="8"/>
                  </a:lnTo>
                  <a:moveTo>
                    <a:pt x="2441" y="97"/>
                  </a:moveTo>
                  <a:lnTo>
                    <a:pt x="7" y="310"/>
                  </a:ln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96" name="path 3896"/>
            <p:cNvSpPr/>
            <p:nvPr/>
          </p:nvSpPr>
          <p:spPr>
            <a:xfrm>
              <a:off x="87334" y="0"/>
              <a:ext cx="399288" cy="472440"/>
            </a:xfrm>
            <a:custGeom>
              <a:avLst/>
              <a:gdLst/>
              <a:ahLst/>
              <a:cxnLst/>
              <a:rect l="0" t="0" r="0" b="0"/>
              <a:pathLst>
                <a:path w="628" h="744">
                  <a:moveTo>
                    <a:pt x="0" y="429"/>
                  </a:moveTo>
                  <a:lnTo>
                    <a:pt x="158" y="429"/>
                  </a:lnTo>
                  <a:lnTo>
                    <a:pt x="158" y="0"/>
                  </a:lnTo>
                  <a:lnTo>
                    <a:pt x="470" y="0"/>
                  </a:lnTo>
                  <a:lnTo>
                    <a:pt x="470" y="429"/>
                  </a:lnTo>
                  <a:lnTo>
                    <a:pt x="628" y="429"/>
                  </a:lnTo>
                  <a:lnTo>
                    <a:pt x="314" y="744"/>
                  </a:lnTo>
                  <a:lnTo>
                    <a:pt x="0" y="429"/>
                  </a:lnTo>
                  <a:close/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98" name="path 3898"/>
            <p:cNvSpPr/>
            <p:nvPr/>
          </p:nvSpPr>
          <p:spPr>
            <a:xfrm>
              <a:off x="83562" y="0"/>
              <a:ext cx="406831" cy="476211"/>
            </a:xfrm>
            <a:custGeom>
              <a:avLst/>
              <a:gdLst/>
              <a:ahLst/>
              <a:cxnLst/>
              <a:rect l="0" t="0" r="0" b="0"/>
              <a:pathLst>
                <a:path w="640" h="749">
                  <a:moveTo>
                    <a:pt x="5" y="429"/>
                  </a:moveTo>
                  <a:lnTo>
                    <a:pt x="164" y="429"/>
                  </a:lnTo>
                  <a:lnTo>
                    <a:pt x="164" y="0"/>
                  </a:lnTo>
                  <a:moveTo>
                    <a:pt x="476" y="0"/>
                  </a:moveTo>
                  <a:lnTo>
                    <a:pt x="476" y="429"/>
                  </a:lnTo>
                  <a:lnTo>
                    <a:pt x="634" y="429"/>
                  </a:lnTo>
                  <a:lnTo>
                    <a:pt x="320" y="744"/>
                  </a:lnTo>
                  <a:lnTo>
                    <a:pt x="5" y="429"/>
                  </a:ln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900" name="table 3900"/>
          <p:cNvGraphicFramePr>
            <a:graphicFrameLocks noGrp="1"/>
          </p:cNvGraphicFramePr>
          <p:nvPr/>
        </p:nvGraphicFramePr>
        <p:xfrm>
          <a:off x="5160264" y="2033015"/>
          <a:ext cx="5307965" cy="1296670"/>
        </p:xfrm>
        <a:graphic>
          <a:graphicData uri="http://schemas.openxmlformats.org/drawingml/2006/table">
            <a:tbl>
              <a:tblPr/>
              <a:tblGrid>
                <a:gridCol w="5307965"/>
              </a:tblGrid>
              <a:tr h="12807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885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因为合约的对冲作用，使市</a:t>
                      </a: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场主体在现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498725" indent="635" algn="l" rtl="0" eaLnBrk="0">
                        <a:lnSpc>
                          <a:spcPct val="15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货市场中的大亏大盈变成了小亏小</a:t>
                      </a: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赢，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实现了收益和风险的平衡</a:t>
                      </a: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902" name="table 3902"/>
          <p:cNvGraphicFramePr>
            <a:graphicFrameLocks noGrp="1"/>
          </p:cNvGraphicFramePr>
          <p:nvPr/>
        </p:nvGraphicFramePr>
        <p:xfrm>
          <a:off x="5160264" y="3820667"/>
          <a:ext cx="5307965" cy="1296670"/>
        </p:xfrm>
        <a:graphic>
          <a:graphicData uri="http://schemas.openxmlformats.org/drawingml/2006/table">
            <a:tbl>
              <a:tblPr/>
              <a:tblGrid>
                <a:gridCol w="2186304"/>
                <a:gridCol w="3081020"/>
                <a:gridCol w="40640"/>
              </a:tblGrid>
              <a:tr h="1296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7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870" algn="l" rtl="0" eaLnBrk="0">
                        <a:lnSpc>
                          <a:spcPts val="1899"/>
                        </a:lnSpc>
                        <a:tabLst/>
                      </a:pPr>
                      <a:r>
                        <a:rPr sz="2400" b="1" kern="0" spc="-30" baseline="614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基差=</a:t>
                      </a:r>
                      <a:r>
                        <a:rPr sz="15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400" b="1" kern="0" spc="-30" baseline="6145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</a:t>
                      </a:r>
                      <a:r>
                        <a:rPr sz="1600" b="1" kern="0" spc="-30" baseline="-10314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交割节点</a:t>
                      </a:r>
                      <a:r>
                        <a:rPr sz="1600" b="1" kern="0" spc="-30" baseline="-1031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2400" b="1" kern="0" spc="-30" baseline="6145" dirty="0">
                          <a:solidFill>
                            <a:srgbClr val="843C0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</a:t>
                      </a:r>
                      <a:r>
                        <a:rPr sz="1600" b="1" kern="0" spc="-30" baseline="-10314" dirty="0">
                          <a:solidFill>
                            <a:srgbClr val="843C0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</a:t>
                      </a:r>
                      <a:endParaRPr sz="1600" baseline="-10314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587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864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基差增大时，对持有空头头寸者有利，对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90500" indent="-635" algn="l" rtl="0" eaLnBrk="0">
                        <a:lnSpc>
                          <a:spcPct val="157000"/>
                        </a:lnSpc>
                        <a:spcBef>
                          <a:spcPts val="14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持有多头头寸者不利；反之，对持有多头</a:t>
                      </a: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头寸者有利，对持有空头头寸者不利。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587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04" name="path 3904"/>
          <p:cNvSpPr/>
          <p:nvPr/>
        </p:nvSpPr>
        <p:spPr>
          <a:xfrm>
            <a:off x="3000755" y="2433828"/>
            <a:ext cx="605027" cy="423671"/>
          </a:xfrm>
          <a:custGeom>
            <a:avLst/>
            <a:gdLst/>
            <a:ahLst/>
            <a:cxnLst/>
            <a:rect l="0" t="0" r="0" b="0"/>
            <a:pathLst>
              <a:path w="952" h="667">
                <a:moveTo>
                  <a:pt x="0" y="165"/>
                </a:moveTo>
                <a:lnTo>
                  <a:pt x="619" y="165"/>
                </a:lnTo>
                <a:lnTo>
                  <a:pt x="619" y="0"/>
                </a:lnTo>
                <a:lnTo>
                  <a:pt x="952" y="333"/>
                </a:lnTo>
                <a:lnTo>
                  <a:pt x="619" y="667"/>
                </a:lnTo>
                <a:lnTo>
                  <a:pt x="619" y="501"/>
                </a:lnTo>
                <a:lnTo>
                  <a:pt x="0" y="501"/>
                </a:lnTo>
                <a:lnTo>
                  <a:pt x="0" y="165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906" name="table 3906"/>
          <p:cNvGraphicFramePr>
            <a:graphicFrameLocks noGrp="1"/>
          </p:cNvGraphicFramePr>
          <p:nvPr/>
        </p:nvGraphicFramePr>
        <p:xfrm>
          <a:off x="272544" y="2150398"/>
          <a:ext cx="4579620" cy="770254"/>
        </p:xfrm>
        <a:graphic>
          <a:graphicData uri="http://schemas.openxmlformats.org/drawingml/2006/table">
            <a:tbl>
              <a:tblPr/>
              <a:tblGrid>
                <a:gridCol w="2679700"/>
                <a:gridCol w="774065"/>
                <a:gridCol w="1125855"/>
              </a:tblGrid>
              <a:tr h="770255">
                <a:tc>
                  <a:txBody>
                    <a:bodyPr/>
                    <a:lstStyle/>
                    <a:p>
                      <a:pPr algn="r" rtl="0" eaLnBrk="0">
                        <a:lnSpc>
                          <a:spcPts val="2122"/>
                        </a:lnSpc>
                        <a:tabLst/>
                      </a:pPr>
                      <a:r>
                        <a:rPr sz="2200" b="1" kern="0" spc="-60" baseline="1447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</a:t>
                      </a:r>
                      <a:r>
                        <a:rPr sz="1500" b="1" kern="0" spc="-60" baseline="1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电费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200" b="1" kern="0" spc="-60" baseline="1447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</a:t>
                      </a:r>
                      <a:r>
                        <a:rPr sz="14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200" b="1" kern="0" spc="-60" baseline="14478" dirty="0">
                          <a:solidFill>
                            <a:srgbClr val="843C0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</a:t>
                      </a:r>
                      <a:r>
                        <a:rPr sz="1500" b="1" kern="0" spc="-60" baseline="1000" dirty="0">
                          <a:solidFill>
                            <a:srgbClr val="843C0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</a:t>
                      </a:r>
                      <a:r>
                        <a:rPr sz="900" b="1" kern="0" spc="-60" dirty="0">
                          <a:solidFill>
                            <a:srgbClr val="843C0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200" b="1" kern="0" spc="-60" baseline="1447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×（</a:t>
                      </a:r>
                      <a:r>
                        <a:rPr sz="14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200" b="1" kern="0" spc="-70" baseline="14478" dirty="0">
                          <a:solidFill>
                            <a:srgbClr val="843C0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</a:t>
                      </a:r>
                      <a:r>
                        <a:rPr sz="1500" b="1" kern="0" spc="-70" baseline="1000" dirty="0">
                          <a:solidFill>
                            <a:srgbClr val="843C0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</a:t>
                      </a:r>
                      <a:r>
                        <a:rPr sz="2200" b="1" kern="0" spc="-70" baseline="1447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4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200" b="1" kern="0" spc="-70" baseline="14478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</a:t>
                      </a:r>
                      <a:r>
                        <a:rPr sz="1500" b="1" kern="0" spc="-70" baseline="100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交割节点</a:t>
                      </a:r>
                      <a:r>
                        <a:rPr sz="2200" b="1" kern="0" spc="-70" baseline="1447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2200" baseline="14478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363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843C0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差价合约电费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115" algn="l" rtl="0" eaLnBrk="0">
                        <a:lnSpc>
                          <a:spcPts val="1038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3829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对冲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285" algn="l" rtl="0" eaLnBrk="0">
                        <a:lnSpc>
                          <a:spcPct val="9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b="1" kern="0" spc="-90" baseline="6511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</a:t>
                      </a:r>
                      <a:r>
                        <a:rPr sz="1500" b="1" kern="0" spc="-25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600" b="1" kern="0" spc="-90" baseline="-13022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</a:t>
                      </a:r>
                      <a:r>
                        <a:rPr sz="1000" b="1" kern="0" spc="-7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400" b="1" kern="0" spc="-90" baseline="6511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×P</a:t>
                      </a:r>
                      <a:r>
                        <a:rPr sz="1600" b="1" kern="0" spc="-90" baseline="-13022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</a:t>
                      </a:r>
                      <a:endParaRPr sz="1600" baseline="-13022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9416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日前中标电费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908" name="textbox 3908"/>
          <p:cNvSpPr/>
          <p:nvPr/>
        </p:nvSpPr>
        <p:spPr>
          <a:xfrm>
            <a:off x="5640878" y="5846718"/>
            <a:ext cx="4638040" cy="537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对冲者签订合约的目的是锁定部分电量价格，</a:t>
            </a:r>
            <a:r>
              <a:rPr sz="15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对冲现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5240" algn="l" rtl="0" eaLnBrk="0">
              <a:lnSpc>
                <a:spcPts val="2453"/>
              </a:lnSpc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货节点电价剧烈波动的风险，</a:t>
            </a:r>
            <a:r>
              <a:rPr sz="1500" b="1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而不是为了扩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大收益。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910" name="picture 39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9160" y="3383279"/>
            <a:ext cx="76200" cy="1786128"/>
          </a:xfrm>
          <a:prstGeom prst="rect">
            <a:avLst/>
          </a:prstGeom>
        </p:spPr>
      </p:pic>
      <p:grpSp>
        <p:nvGrpSpPr>
          <p:cNvPr id="386" name="group 386"/>
          <p:cNvGrpSpPr/>
          <p:nvPr/>
        </p:nvGrpSpPr>
        <p:grpSpPr>
          <a:xfrm rot="21600000">
            <a:off x="928877" y="3979926"/>
            <a:ext cx="2842260" cy="806196"/>
            <a:chOff x="0" y="0"/>
            <a:chExt cx="2842260" cy="806196"/>
          </a:xfrm>
        </p:grpSpPr>
        <p:sp>
          <p:nvSpPr>
            <p:cNvPr id="3912" name="path 3912"/>
            <p:cNvSpPr/>
            <p:nvPr/>
          </p:nvSpPr>
          <p:spPr>
            <a:xfrm>
              <a:off x="0" y="0"/>
              <a:ext cx="2842260" cy="806196"/>
            </a:xfrm>
            <a:custGeom>
              <a:avLst/>
              <a:gdLst/>
              <a:ahLst/>
              <a:cxnLst/>
              <a:rect l="0" t="0" r="0" b="0"/>
              <a:pathLst>
                <a:path w="4476" h="1269">
                  <a:moveTo>
                    <a:pt x="13" y="1256"/>
                  </a:moveTo>
                  <a:cubicBezTo>
                    <a:pt x="46" y="1158"/>
                    <a:pt x="78" y="1059"/>
                    <a:pt x="219" y="1050"/>
                  </a:cubicBezTo>
                  <a:cubicBezTo>
                    <a:pt x="361" y="1038"/>
                    <a:pt x="668" y="1318"/>
                    <a:pt x="860" y="1191"/>
                  </a:cubicBezTo>
                  <a:cubicBezTo>
                    <a:pt x="1054" y="1064"/>
                    <a:pt x="1098" y="298"/>
                    <a:pt x="1381" y="284"/>
                  </a:cubicBezTo>
                  <a:cubicBezTo>
                    <a:pt x="1664" y="272"/>
                    <a:pt x="2223" y="1160"/>
                    <a:pt x="2559" y="1114"/>
                  </a:cubicBezTo>
                  <a:cubicBezTo>
                    <a:pt x="2893" y="1069"/>
                    <a:pt x="3073" y="-1"/>
                    <a:pt x="3390" y="13"/>
                  </a:cubicBezTo>
                  <a:cubicBezTo>
                    <a:pt x="3706" y="27"/>
                    <a:pt x="4323" y="1002"/>
                    <a:pt x="4462" y="1206"/>
                  </a:cubicBezTo>
                </a:path>
              </a:pathLst>
            </a:custGeom>
            <a:noFill/>
            <a:ln w="16763" cap="flat">
              <a:solidFill>
                <a:srgbClr val="094161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14" name="textbox 3914"/>
            <p:cNvSpPr/>
            <p:nvPr/>
          </p:nvSpPr>
          <p:spPr>
            <a:xfrm>
              <a:off x="-12700" y="-12700"/>
              <a:ext cx="2868295" cy="831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989964" algn="l" rtl="0" eaLnBrk="0">
                <a:lnSpc>
                  <a:spcPct val="87000"/>
                </a:lnSpc>
                <a:spcBef>
                  <a:spcPts val="1"/>
                </a:spcBef>
                <a:tabLst/>
              </a:pPr>
              <a:r>
                <a:rPr sz="1000" b="1" kern="0" spc="40" dirty="0">
                  <a:solidFill>
                    <a:srgbClr val="09416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节点电价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916" name="textbox 3916"/>
          <p:cNvSpPr/>
          <p:nvPr/>
        </p:nvSpPr>
        <p:spPr>
          <a:xfrm>
            <a:off x="912906" y="5941586"/>
            <a:ext cx="2769235" cy="460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2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合约定价应基于对节点电价的预测，</a:t>
            </a:r>
            <a:r>
              <a:rPr sz="1200" b="1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越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207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接近平均节点电价，说明价格越合理。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18" name="textbox 3918"/>
          <p:cNvSpPr/>
          <p:nvPr/>
        </p:nvSpPr>
        <p:spPr>
          <a:xfrm>
            <a:off x="537460" y="1112586"/>
            <a:ext cx="2709545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中长期合约对冲原理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20" name="path 3920"/>
          <p:cNvSpPr/>
          <p:nvPr/>
        </p:nvSpPr>
        <p:spPr>
          <a:xfrm>
            <a:off x="981455" y="2418588"/>
            <a:ext cx="1770888" cy="245364"/>
          </a:xfrm>
          <a:custGeom>
            <a:avLst/>
            <a:gdLst/>
            <a:ahLst/>
            <a:cxnLst/>
            <a:rect l="0" t="0" r="0" b="0"/>
            <a:pathLst>
              <a:path w="2788" h="386">
                <a:moveTo>
                  <a:pt x="2769" y="19"/>
                </a:moveTo>
                <a:cubicBezTo>
                  <a:pt x="2769" y="115"/>
                  <a:pt x="2757" y="192"/>
                  <a:pt x="2740" y="192"/>
                </a:cubicBezTo>
                <a:lnTo>
                  <a:pt x="1423" y="192"/>
                </a:lnTo>
                <a:cubicBezTo>
                  <a:pt x="1406" y="192"/>
                  <a:pt x="1394" y="271"/>
                  <a:pt x="1394" y="367"/>
                </a:cubicBezTo>
                <a:cubicBezTo>
                  <a:pt x="1394" y="271"/>
                  <a:pt x="1382" y="192"/>
                  <a:pt x="1365" y="192"/>
                </a:cubicBezTo>
                <a:lnTo>
                  <a:pt x="48" y="192"/>
                </a:lnTo>
                <a:cubicBezTo>
                  <a:pt x="31" y="192"/>
                  <a:pt x="19" y="115"/>
                  <a:pt x="19" y="19"/>
                </a:cubicBezTo>
              </a:path>
            </a:pathLst>
          </a:custGeom>
          <a:noFill/>
          <a:ln w="24383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922" name="picture 39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47927" y="5132831"/>
            <a:ext cx="2808731" cy="74675"/>
          </a:xfrm>
          <a:prstGeom prst="rect">
            <a:avLst/>
          </a:prstGeom>
        </p:spPr>
      </p:pic>
      <p:sp>
        <p:nvSpPr>
          <p:cNvPr id="3924" name="path 3924"/>
          <p:cNvSpPr/>
          <p:nvPr/>
        </p:nvSpPr>
        <p:spPr>
          <a:xfrm>
            <a:off x="2059686" y="5169407"/>
            <a:ext cx="1321307" cy="216408"/>
          </a:xfrm>
          <a:custGeom>
            <a:avLst/>
            <a:gdLst/>
            <a:ahLst/>
            <a:cxnLst/>
            <a:rect l="0" t="0" r="0" b="0"/>
            <a:pathLst>
              <a:path w="2080" h="340">
                <a:moveTo>
                  <a:pt x="15" y="0"/>
                </a:moveTo>
                <a:lnTo>
                  <a:pt x="15" y="340"/>
                </a:lnTo>
                <a:moveTo>
                  <a:pt x="423" y="0"/>
                </a:moveTo>
                <a:lnTo>
                  <a:pt x="423" y="340"/>
                </a:lnTo>
                <a:moveTo>
                  <a:pt x="833" y="0"/>
                </a:moveTo>
                <a:lnTo>
                  <a:pt x="833" y="340"/>
                </a:lnTo>
                <a:moveTo>
                  <a:pt x="1244" y="0"/>
                </a:moveTo>
                <a:lnTo>
                  <a:pt x="1244" y="340"/>
                </a:lnTo>
                <a:moveTo>
                  <a:pt x="1654" y="0"/>
                </a:moveTo>
                <a:lnTo>
                  <a:pt x="1654" y="340"/>
                </a:lnTo>
                <a:moveTo>
                  <a:pt x="2065" y="0"/>
                </a:moveTo>
                <a:lnTo>
                  <a:pt x="2065" y="340"/>
                </a:lnTo>
              </a:path>
            </a:pathLst>
          </a:custGeom>
          <a:noFill/>
          <a:ln w="19811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88" name="group 388"/>
          <p:cNvGrpSpPr/>
          <p:nvPr/>
        </p:nvGrpSpPr>
        <p:grpSpPr>
          <a:xfrm rot="21600000">
            <a:off x="6584479" y="2684564"/>
            <a:ext cx="461695" cy="481545"/>
            <a:chOff x="0" y="0"/>
            <a:chExt cx="461695" cy="481545"/>
          </a:xfrm>
        </p:grpSpPr>
        <p:sp>
          <p:nvSpPr>
            <p:cNvPr id="3926" name="path 3926"/>
            <p:cNvSpPr/>
            <p:nvPr/>
          </p:nvSpPr>
          <p:spPr>
            <a:xfrm>
              <a:off x="3771" y="3771"/>
              <a:ext cx="454152" cy="472439"/>
            </a:xfrm>
            <a:custGeom>
              <a:avLst/>
              <a:gdLst/>
              <a:ahLst/>
              <a:cxnLst/>
              <a:rect l="0" t="0" r="0" b="0"/>
              <a:pathLst>
                <a:path w="715" h="743">
                  <a:moveTo>
                    <a:pt x="0" y="357"/>
                  </a:moveTo>
                  <a:lnTo>
                    <a:pt x="357" y="0"/>
                  </a:lnTo>
                  <a:lnTo>
                    <a:pt x="715" y="357"/>
                  </a:lnTo>
                  <a:lnTo>
                    <a:pt x="535" y="357"/>
                  </a:lnTo>
                  <a:lnTo>
                    <a:pt x="535" y="743"/>
                  </a:lnTo>
                  <a:lnTo>
                    <a:pt x="177" y="743"/>
                  </a:lnTo>
                  <a:lnTo>
                    <a:pt x="177" y="357"/>
                  </a:lnTo>
                  <a:lnTo>
                    <a:pt x="0" y="357"/>
                  </a:lnTo>
                  <a:close/>
                </a:path>
              </a:pathLst>
            </a:custGeom>
            <a:solidFill>
              <a:srgbClr val="09416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28" name="path 3928"/>
            <p:cNvSpPr/>
            <p:nvPr/>
          </p:nvSpPr>
          <p:spPr>
            <a:xfrm>
              <a:off x="0" y="0"/>
              <a:ext cx="461695" cy="481545"/>
            </a:xfrm>
            <a:custGeom>
              <a:avLst/>
              <a:gdLst/>
              <a:ahLst/>
              <a:cxnLst/>
              <a:rect l="0" t="0" r="0" b="0"/>
              <a:pathLst>
                <a:path w="727" h="758">
                  <a:moveTo>
                    <a:pt x="5" y="363"/>
                  </a:moveTo>
                  <a:lnTo>
                    <a:pt x="363" y="5"/>
                  </a:lnTo>
                  <a:lnTo>
                    <a:pt x="721" y="363"/>
                  </a:lnTo>
                  <a:lnTo>
                    <a:pt x="541" y="363"/>
                  </a:lnTo>
                  <a:lnTo>
                    <a:pt x="541" y="749"/>
                  </a:lnTo>
                  <a:lnTo>
                    <a:pt x="183" y="749"/>
                  </a:lnTo>
                  <a:lnTo>
                    <a:pt x="183" y="363"/>
                  </a:lnTo>
                  <a:lnTo>
                    <a:pt x="5" y="363"/>
                  </a:lnTo>
                  <a:close/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930" name="path 3930"/>
          <p:cNvSpPr/>
          <p:nvPr/>
        </p:nvSpPr>
        <p:spPr>
          <a:xfrm>
            <a:off x="3918204" y="2418588"/>
            <a:ext cx="810767" cy="245364"/>
          </a:xfrm>
          <a:custGeom>
            <a:avLst/>
            <a:gdLst/>
            <a:ahLst/>
            <a:cxnLst/>
            <a:rect l="0" t="0" r="0" b="0"/>
            <a:pathLst>
              <a:path w="1276" h="386">
                <a:moveTo>
                  <a:pt x="1257" y="19"/>
                </a:moveTo>
                <a:cubicBezTo>
                  <a:pt x="1257" y="115"/>
                  <a:pt x="1243" y="192"/>
                  <a:pt x="1228" y="192"/>
                </a:cubicBezTo>
                <a:lnTo>
                  <a:pt x="667" y="192"/>
                </a:lnTo>
                <a:cubicBezTo>
                  <a:pt x="650" y="192"/>
                  <a:pt x="638" y="271"/>
                  <a:pt x="638" y="367"/>
                </a:cubicBezTo>
                <a:cubicBezTo>
                  <a:pt x="638" y="271"/>
                  <a:pt x="624" y="192"/>
                  <a:pt x="609" y="192"/>
                </a:cubicBezTo>
                <a:lnTo>
                  <a:pt x="47" y="192"/>
                </a:lnTo>
                <a:cubicBezTo>
                  <a:pt x="31" y="192"/>
                  <a:pt x="19" y="115"/>
                  <a:pt x="19" y="19"/>
                </a:cubicBezTo>
              </a:path>
            </a:pathLst>
          </a:custGeom>
          <a:noFill/>
          <a:ln w="24383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32" name="path 3932"/>
          <p:cNvSpPr/>
          <p:nvPr/>
        </p:nvSpPr>
        <p:spPr>
          <a:xfrm>
            <a:off x="4860035" y="5897880"/>
            <a:ext cx="381000" cy="397764"/>
          </a:xfrm>
          <a:custGeom>
            <a:avLst/>
            <a:gdLst/>
            <a:ahLst/>
            <a:cxnLst/>
            <a:rect l="0" t="0" r="0" b="0"/>
            <a:pathLst>
              <a:path w="600" h="626">
                <a:moveTo>
                  <a:pt x="0" y="155"/>
                </a:moveTo>
                <a:lnTo>
                  <a:pt x="300" y="155"/>
                </a:lnTo>
                <a:lnTo>
                  <a:pt x="300" y="0"/>
                </a:lnTo>
                <a:lnTo>
                  <a:pt x="600" y="311"/>
                </a:lnTo>
                <a:lnTo>
                  <a:pt x="300" y="626"/>
                </a:lnTo>
                <a:lnTo>
                  <a:pt x="300" y="470"/>
                </a:lnTo>
                <a:lnTo>
                  <a:pt x="0" y="470"/>
                </a:lnTo>
                <a:lnTo>
                  <a:pt x="0" y="155"/>
                </a:lnTo>
                <a:close/>
              </a:path>
            </a:pathLst>
          </a:custGeom>
          <a:solidFill>
            <a:srgbClr val="0D42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34" name="textbox 3934"/>
          <p:cNvSpPr/>
          <p:nvPr/>
        </p:nvSpPr>
        <p:spPr>
          <a:xfrm>
            <a:off x="6273052" y="2191456"/>
            <a:ext cx="934719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日前中标电费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36" name="textbox 3936"/>
          <p:cNvSpPr/>
          <p:nvPr/>
        </p:nvSpPr>
        <p:spPr>
          <a:xfrm>
            <a:off x="5475982" y="2882271"/>
            <a:ext cx="893444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差价合约电费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38" name="path 3938"/>
          <p:cNvSpPr/>
          <p:nvPr/>
        </p:nvSpPr>
        <p:spPr>
          <a:xfrm>
            <a:off x="1277874" y="5169407"/>
            <a:ext cx="541019" cy="216408"/>
          </a:xfrm>
          <a:custGeom>
            <a:avLst/>
            <a:gdLst/>
            <a:ahLst/>
            <a:cxnLst/>
            <a:rect l="0" t="0" r="0" b="0"/>
            <a:pathLst>
              <a:path w="851" h="340">
                <a:moveTo>
                  <a:pt x="15" y="0"/>
                </a:moveTo>
                <a:lnTo>
                  <a:pt x="15" y="340"/>
                </a:lnTo>
                <a:moveTo>
                  <a:pt x="426" y="0"/>
                </a:moveTo>
                <a:lnTo>
                  <a:pt x="426" y="340"/>
                </a:lnTo>
                <a:moveTo>
                  <a:pt x="836" y="0"/>
                </a:moveTo>
                <a:lnTo>
                  <a:pt x="836" y="340"/>
                </a:lnTo>
              </a:path>
            </a:pathLst>
          </a:custGeom>
          <a:noFill/>
          <a:ln w="19811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940" name="picture 39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381298" y="2104453"/>
            <a:ext cx="72008" cy="1175384"/>
          </a:xfrm>
          <a:prstGeom prst="rect">
            <a:avLst/>
          </a:prstGeom>
        </p:spPr>
      </p:pic>
      <p:sp>
        <p:nvSpPr>
          <p:cNvPr id="3942" name="textbox 3942"/>
          <p:cNvSpPr/>
          <p:nvPr/>
        </p:nvSpPr>
        <p:spPr>
          <a:xfrm>
            <a:off x="1123314" y="3365490"/>
            <a:ext cx="617855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元/兆瓦时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44" name="textbox 3944"/>
          <p:cNvSpPr/>
          <p:nvPr/>
        </p:nvSpPr>
        <p:spPr>
          <a:xfrm>
            <a:off x="3675772" y="4105326"/>
            <a:ext cx="426084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000" b="1" kern="0" spc="4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46" name="path 3946"/>
          <p:cNvSpPr/>
          <p:nvPr/>
        </p:nvSpPr>
        <p:spPr>
          <a:xfrm>
            <a:off x="946404" y="4321301"/>
            <a:ext cx="2744723" cy="16764"/>
          </a:xfrm>
          <a:custGeom>
            <a:avLst/>
            <a:gdLst/>
            <a:ahLst/>
            <a:cxnLst/>
            <a:rect l="0" t="0" r="0" b="0"/>
            <a:pathLst>
              <a:path w="4322" h="26">
                <a:moveTo>
                  <a:pt x="0" y="13"/>
                </a:moveTo>
                <a:lnTo>
                  <a:pt x="4322" y="13"/>
                </a:lnTo>
              </a:path>
            </a:pathLst>
          </a:custGeom>
          <a:noFill/>
          <a:ln w="16763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948" name="picture 39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1736597"/>
            <a:ext cx="2596896" cy="16764"/>
          </a:xfrm>
          <a:prstGeom prst="rect">
            <a:avLst/>
          </a:prstGeom>
        </p:spPr>
      </p:pic>
      <p:sp>
        <p:nvSpPr>
          <p:cNvPr id="3950" name="textbox 3950"/>
          <p:cNvSpPr/>
          <p:nvPr/>
        </p:nvSpPr>
        <p:spPr>
          <a:xfrm>
            <a:off x="3370074" y="5443652"/>
            <a:ext cx="283209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24点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52" name="textbox 3952"/>
          <p:cNvSpPr/>
          <p:nvPr/>
        </p:nvSpPr>
        <p:spPr>
          <a:xfrm>
            <a:off x="1071072" y="5410442"/>
            <a:ext cx="224790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1点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54" name="textbox 3954"/>
          <p:cNvSpPr/>
          <p:nvPr/>
        </p:nvSpPr>
        <p:spPr>
          <a:xfrm>
            <a:off x="603933" y="5068775"/>
            <a:ext cx="120650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32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3956" name="textbox 3956"/>
          <p:cNvSpPr/>
          <p:nvPr/>
        </p:nvSpPr>
        <p:spPr>
          <a:xfrm>
            <a:off x="2251139" y="5509190"/>
            <a:ext cx="266700" cy="53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19"/>
              </a:lnSpc>
              <a:tabLst/>
            </a:pP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……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58" name="path 3958"/>
          <p:cNvSpPr/>
          <p:nvPr/>
        </p:nvSpPr>
        <p:spPr>
          <a:xfrm>
            <a:off x="3583685" y="5169407"/>
            <a:ext cx="19811" cy="216408"/>
          </a:xfrm>
          <a:custGeom>
            <a:avLst/>
            <a:gdLst/>
            <a:ahLst/>
            <a:cxnLst/>
            <a:rect l="0" t="0" r="0" b="0"/>
            <a:pathLst>
              <a:path w="31" h="340">
                <a:moveTo>
                  <a:pt x="15" y="0"/>
                </a:moveTo>
                <a:lnTo>
                  <a:pt x="15" y="340"/>
                </a:lnTo>
              </a:path>
            </a:pathLst>
          </a:custGeom>
          <a:noFill/>
          <a:ln w="19811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60" name="path 3960"/>
          <p:cNvSpPr/>
          <p:nvPr/>
        </p:nvSpPr>
        <p:spPr>
          <a:xfrm>
            <a:off x="7091950" y="2532456"/>
            <a:ext cx="15205" cy="57249"/>
          </a:xfrm>
          <a:custGeom>
            <a:avLst/>
            <a:gdLst/>
            <a:ahLst/>
            <a:cxnLst/>
            <a:rect l="0" t="0" r="0" b="0"/>
            <a:pathLst>
              <a:path w="23" h="90">
                <a:moveTo>
                  <a:pt x="8" y="0"/>
                </a:moveTo>
                <a:lnTo>
                  <a:pt x="15" y="89"/>
                </a:lnTo>
              </a:path>
            </a:pathLst>
          </a:custGeom>
          <a:noFill/>
          <a:ln w="10668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62" name="path 3962"/>
          <p:cNvSpPr/>
          <p:nvPr/>
        </p:nvSpPr>
        <p:spPr>
          <a:xfrm>
            <a:off x="5546615" y="2668092"/>
            <a:ext cx="15204" cy="57249"/>
          </a:xfrm>
          <a:custGeom>
            <a:avLst/>
            <a:gdLst/>
            <a:ahLst/>
            <a:cxnLst/>
            <a:rect l="0" t="0" r="0" b="0"/>
            <a:pathLst>
              <a:path w="23" h="90">
                <a:moveTo>
                  <a:pt x="15" y="89"/>
                </a:moveTo>
                <a:lnTo>
                  <a:pt x="8" y="0"/>
                </a:lnTo>
              </a:path>
            </a:pathLst>
          </a:custGeom>
          <a:noFill/>
          <a:ln w="10668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4" name="picture 39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0540" y="2046732"/>
            <a:ext cx="6608825" cy="2292095"/>
          </a:xfrm>
          <a:prstGeom prst="rect">
            <a:avLst/>
          </a:prstGeom>
        </p:spPr>
      </p:pic>
      <p:sp>
        <p:nvSpPr>
          <p:cNvPr id="3966" name="rect 3966"/>
          <p:cNvSpPr/>
          <p:nvPr/>
        </p:nvSpPr>
        <p:spPr>
          <a:xfrm>
            <a:off x="7373111" y="1812035"/>
            <a:ext cx="3259835" cy="2244852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968" name="table 3968"/>
          <p:cNvGraphicFramePr>
            <a:graphicFrameLocks noGrp="1"/>
          </p:cNvGraphicFramePr>
          <p:nvPr/>
        </p:nvGraphicFramePr>
        <p:xfrm>
          <a:off x="7368539" y="4776215"/>
          <a:ext cx="3271519" cy="1880235"/>
        </p:xfrm>
        <a:graphic>
          <a:graphicData uri="http://schemas.openxmlformats.org/drawingml/2006/table">
            <a:tbl>
              <a:tblPr/>
              <a:tblGrid>
                <a:gridCol w="3088004"/>
                <a:gridCol w="183514"/>
              </a:tblGrid>
              <a:tr h="12827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875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暴露在现货市场结算的电量越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95604" indent="3810" algn="l" rtl="0" eaLnBrk="0">
                        <a:lnSpc>
                          <a:spcPct val="154000"/>
                        </a:lnSpc>
                        <a:spcBef>
                          <a:spcPts val="13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多，说明交易策略越激进；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之说明交易策略越保守。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719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719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597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2225" cap="flat" cmpd="sng" algn="ctr">
                      <a:solidFill>
                        <a:srgbClr val="41719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22225" cap="flat" cmpd="sng" algn="ctr">
                      <a:solidFill>
                        <a:srgbClr val="41719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2225" cap="flat" cmpd="sng" algn="ctr">
                      <a:solidFill>
                        <a:srgbClr val="41719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70" name="textbox 3970"/>
          <p:cNvSpPr/>
          <p:nvPr/>
        </p:nvSpPr>
        <p:spPr>
          <a:xfrm>
            <a:off x="695119" y="5642184"/>
            <a:ext cx="4832984" cy="852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①合约曲线与日前中标曲线越贴合，合约对冲效果越好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032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②用电侧应注意提升现货高电价时段合约量占比，发电侧相反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③发电侧还需注意统一结算点与机组所在上网节点之间的差价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72" name="rect 3972"/>
          <p:cNvSpPr/>
          <p:nvPr/>
        </p:nvSpPr>
        <p:spPr>
          <a:xfrm>
            <a:off x="7965185" y="2143505"/>
            <a:ext cx="894588" cy="1589531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74" name="rect 3974"/>
          <p:cNvSpPr/>
          <p:nvPr/>
        </p:nvSpPr>
        <p:spPr>
          <a:xfrm>
            <a:off x="7542276" y="6059423"/>
            <a:ext cx="2883408" cy="435864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76" name="textbox 3976"/>
          <p:cNvSpPr/>
          <p:nvPr/>
        </p:nvSpPr>
        <p:spPr>
          <a:xfrm>
            <a:off x="627152" y="1948138"/>
            <a:ext cx="6289675" cy="19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66"/>
              </a:lnSpc>
              <a:tabLst/>
            </a:pPr>
            <a:r>
              <a:rPr sz="1600" b="1" kern="0" spc="10" baseline="1318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兆瓦时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</a:t>
            </a:r>
            <a:r>
              <a:rPr sz="1600" b="1" kern="0" spc="0" baseline="-6344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元/兆瓦时</a:t>
            </a:r>
            <a:endParaRPr sz="1600" baseline="-6344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78" name="textbox 3978"/>
          <p:cNvSpPr/>
          <p:nvPr/>
        </p:nvSpPr>
        <p:spPr>
          <a:xfrm>
            <a:off x="7542276" y="6059423"/>
            <a:ext cx="2279014" cy="436244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8636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激进     稳健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保守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980" name="picture 39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63689" y="5379719"/>
            <a:ext cx="6292976" cy="151066"/>
          </a:xfrm>
          <a:prstGeom prst="rect">
            <a:avLst/>
          </a:prstGeom>
        </p:spPr>
      </p:pic>
      <p:graphicFrame>
        <p:nvGraphicFramePr>
          <p:cNvPr id="3982" name="table 3982"/>
          <p:cNvGraphicFramePr>
            <a:graphicFrameLocks noGrp="1"/>
          </p:cNvGraphicFramePr>
          <p:nvPr/>
        </p:nvGraphicFramePr>
        <p:xfrm>
          <a:off x="9259061" y="2782061"/>
          <a:ext cx="894080" cy="950595"/>
        </p:xfrm>
        <a:graphic>
          <a:graphicData uri="http://schemas.openxmlformats.org/drawingml/2006/table">
            <a:tbl>
              <a:tblPr>
                <a:solidFill>
                  <a:srgbClr val="094161"/>
                </a:solidFill>
              </a:tblPr>
              <a:tblGrid>
                <a:gridCol w="894080"/>
              </a:tblGrid>
              <a:tr h="9410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161"/>
                    </a:solidFill>
                  </a:tcPr>
                </a:tc>
              </a:tr>
            </a:tbl>
          </a:graphicData>
        </a:graphic>
      </p:graphicFrame>
      <p:sp>
        <p:nvSpPr>
          <p:cNvPr id="3984" name="textbox 3984"/>
          <p:cNvSpPr/>
          <p:nvPr/>
        </p:nvSpPr>
        <p:spPr>
          <a:xfrm>
            <a:off x="823240" y="4846455"/>
            <a:ext cx="4813300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200" b="1" kern="0" spc="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日前现货价格                      </a:t>
            </a:r>
            <a:r>
              <a:rPr sz="1200" b="1" kern="0" spc="10" dirty="0">
                <a:solidFill>
                  <a:srgbClr val="0041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日前中标曲线                     </a:t>
            </a:r>
            <a:r>
              <a:rPr sz="1800" b="1" kern="0" spc="10" baseline="2893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合约分解曲线</a:t>
            </a:r>
            <a:endParaRPr sz="1800" baseline="2893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86" name="textbox 3986"/>
          <p:cNvSpPr/>
          <p:nvPr/>
        </p:nvSpPr>
        <p:spPr>
          <a:xfrm>
            <a:off x="537460" y="1112586"/>
            <a:ext cx="2709545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中长期合约对冲策略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88" name="textbox 3988"/>
          <p:cNvSpPr/>
          <p:nvPr/>
        </p:nvSpPr>
        <p:spPr>
          <a:xfrm>
            <a:off x="9370709" y="2224861"/>
            <a:ext cx="659130" cy="503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9539" algn="l" rtl="0" eaLnBrk="0">
              <a:lnSpc>
                <a:spcPct val="88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按日前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9375" indent="50800" algn="l" rtl="0" eaLnBrk="0">
              <a:lnSpc>
                <a:spcPct val="110000"/>
              </a:lnSpc>
              <a:spcBef>
                <a:spcPts val="237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价买入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8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（或返还）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990" name="picture 39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80669" y="5379719"/>
            <a:ext cx="219647" cy="1296924"/>
          </a:xfrm>
          <a:prstGeom prst="rect">
            <a:avLst/>
          </a:prstGeom>
        </p:spPr>
      </p:pic>
      <p:pic>
        <p:nvPicPr>
          <p:cNvPr id="3992" name="picture 39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281159" y="2505455"/>
            <a:ext cx="867155" cy="280415"/>
          </a:xfrm>
          <a:prstGeom prst="rect">
            <a:avLst/>
          </a:prstGeom>
        </p:spPr>
      </p:pic>
      <p:sp>
        <p:nvSpPr>
          <p:cNvPr id="3994" name="textbox 3994"/>
          <p:cNvSpPr/>
          <p:nvPr/>
        </p:nvSpPr>
        <p:spPr>
          <a:xfrm>
            <a:off x="9233916" y="1910525"/>
            <a:ext cx="962660" cy="159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000" b="1" kern="0" spc="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未兑现合约电量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96" name="textbox 3996"/>
          <p:cNvSpPr/>
          <p:nvPr/>
        </p:nvSpPr>
        <p:spPr>
          <a:xfrm>
            <a:off x="9336001" y="3768664"/>
            <a:ext cx="814705" cy="159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000" b="1" kern="0" spc="3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日前中标电量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998" name="picture 39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66216" y="6661213"/>
            <a:ext cx="5930074" cy="15430"/>
          </a:xfrm>
          <a:prstGeom prst="rect">
            <a:avLst/>
          </a:prstGeom>
        </p:spPr>
      </p:pic>
      <p:pic>
        <p:nvPicPr>
          <p:cNvPr id="4000" name="picture 40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53212" y="6457188"/>
            <a:ext cx="379476" cy="219456"/>
          </a:xfrm>
          <a:prstGeom prst="rect">
            <a:avLst/>
          </a:prstGeom>
        </p:spPr>
      </p:pic>
      <p:sp>
        <p:nvSpPr>
          <p:cNvPr id="4002" name="textbox 4002"/>
          <p:cNvSpPr/>
          <p:nvPr/>
        </p:nvSpPr>
        <p:spPr>
          <a:xfrm>
            <a:off x="8131960" y="1916883"/>
            <a:ext cx="560069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000" b="1" kern="0" spc="4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合约电量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04" name="picture 400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0" y="1736597"/>
            <a:ext cx="2596896" cy="16764"/>
          </a:xfrm>
          <a:prstGeom prst="rect">
            <a:avLst/>
          </a:prstGeom>
        </p:spPr>
      </p:pic>
      <p:sp>
        <p:nvSpPr>
          <p:cNvPr id="4006" name="textbox 4006"/>
          <p:cNvSpPr/>
          <p:nvPr/>
        </p:nvSpPr>
        <p:spPr>
          <a:xfrm>
            <a:off x="6485146" y="4488126"/>
            <a:ext cx="284479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24点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08" name="textbox 4008"/>
          <p:cNvSpPr/>
          <p:nvPr/>
        </p:nvSpPr>
        <p:spPr>
          <a:xfrm>
            <a:off x="274777" y="4152913"/>
            <a:ext cx="120650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32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4010" name="textbox 4010"/>
          <p:cNvSpPr/>
          <p:nvPr/>
        </p:nvSpPr>
        <p:spPr>
          <a:xfrm>
            <a:off x="1173474" y="4456090"/>
            <a:ext cx="207009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1点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12" name="picture 40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53212" y="5548693"/>
            <a:ext cx="21526" cy="908494"/>
          </a:xfrm>
          <a:prstGeom prst="rect">
            <a:avLst/>
          </a:prstGeom>
        </p:spPr>
      </p:pic>
      <p:pic>
        <p:nvPicPr>
          <p:cNvPr id="4014" name="picture 40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487976" y="6467665"/>
            <a:ext cx="125348" cy="140588"/>
          </a:xfrm>
          <a:prstGeom prst="rect">
            <a:avLst/>
          </a:prstGeom>
        </p:spPr>
      </p:pic>
      <p:pic>
        <p:nvPicPr>
          <p:cNvPr id="4016" name="picture 40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253728" y="2144267"/>
            <a:ext cx="894588" cy="16764"/>
          </a:xfrm>
          <a:prstGeom prst="rect">
            <a:avLst/>
          </a:prstGeom>
        </p:spPr>
      </p:pic>
      <p:sp>
        <p:nvSpPr>
          <p:cNvPr id="4018" name="textbox 4018"/>
          <p:cNvSpPr/>
          <p:nvPr/>
        </p:nvSpPr>
        <p:spPr>
          <a:xfrm>
            <a:off x="3566383" y="4637446"/>
            <a:ext cx="266700" cy="53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19"/>
              </a:lnSpc>
              <a:tabLst/>
            </a:pP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……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20" name="picture 40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253728" y="2500883"/>
            <a:ext cx="10668" cy="278891"/>
          </a:xfrm>
          <a:prstGeom prst="rect">
            <a:avLst/>
          </a:prstGeom>
        </p:spPr>
      </p:pic>
      <p:pic>
        <p:nvPicPr>
          <p:cNvPr id="4022" name="picture 4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253728" y="2189988"/>
            <a:ext cx="10668" cy="277367"/>
          </a:xfrm>
          <a:prstGeom prst="rect">
            <a:avLst/>
          </a:prstGeom>
        </p:spPr>
      </p:pic>
      <p:pic>
        <p:nvPicPr>
          <p:cNvPr id="4024" name="picture 40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0137647" y="2194559"/>
            <a:ext cx="10668" cy="277367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6" name="picture 4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045195" y="4384547"/>
            <a:ext cx="2148840" cy="1615439"/>
          </a:xfrm>
          <a:prstGeom prst="rect">
            <a:avLst/>
          </a:prstGeom>
        </p:spPr>
      </p:pic>
      <p:pic>
        <p:nvPicPr>
          <p:cNvPr id="4028" name="picture 40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5508" y="4384547"/>
            <a:ext cx="2013204" cy="1615439"/>
          </a:xfrm>
          <a:prstGeom prst="rect">
            <a:avLst/>
          </a:prstGeom>
        </p:spPr>
      </p:pic>
      <p:graphicFrame>
        <p:nvGraphicFramePr>
          <p:cNvPr id="4030" name="table 4030"/>
          <p:cNvGraphicFramePr>
            <a:graphicFrameLocks noGrp="1"/>
          </p:cNvGraphicFramePr>
          <p:nvPr/>
        </p:nvGraphicFramePr>
        <p:xfrm>
          <a:off x="1097279" y="3573779"/>
          <a:ext cx="8733789" cy="1625600"/>
        </p:xfrm>
        <a:graphic>
          <a:graphicData uri="http://schemas.openxmlformats.org/drawingml/2006/table">
            <a:tbl>
              <a:tblPr/>
              <a:tblGrid>
                <a:gridCol w="1514475"/>
                <a:gridCol w="887095"/>
                <a:gridCol w="1356360"/>
                <a:gridCol w="987425"/>
                <a:gridCol w="1195070"/>
                <a:gridCol w="2793364"/>
              </a:tblGrid>
              <a:tr h="274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814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合约价（元）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5120" algn="l" rtl="0" eaLnBrk="0">
                        <a:lnSpc>
                          <a:spcPts val="133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450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223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合约量（兆瓦时）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7345" algn="l" rtl="0" eaLnBrk="0">
                        <a:lnSpc>
                          <a:spcPts val="133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差价电费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015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3390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时段(小时)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622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时段1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990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时段2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5754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时段3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635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现货价（元/兆瓦时）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2104" algn="l" rtl="0" eaLnBrk="0">
                        <a:lnSpc>
                          <a:spcPts val="1333"/>
                        </a:lnSpc>
                        <a:tabLst/>
                      </a:pPr>
                      <a:r>
                        <a:rPr sz="1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9594" algn="l" rtl="0" eaLnBrk="0">
                        <a:lnSpc>
                          <a:spcPts val="1333"/>
                        </a:lnSpc>
                        <a:tabLst/>
                      </a:pPr>
                      <a:r>
                        <a:rPr sz="1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0365" algn="l" rtl="0" eaLnBrk="0">
                        <a:lnSpc>
                          <a:spcPts val="1333"/>
                        </a:lnSpc>
                        <a:tabLst/>
                      </a:pPr>
                      <a:r>
                        <a:rPr sz="1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610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分解1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305" algn="l" rtl="0" eaLnBrk="0">
                        <a:lnSpc>
                          <a:spcPts val="1329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2130" algn="l" rtl="0" eaLnBrk="0">
                        <a:lnSpc>
                          <a:spcPts val="1329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7834" algn="l" rtl="0" eaLnBrk="0">
                        <a:lnSpc>
                          <a:spcPts val="1329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5440" algn="l" rtl="0" eaLnBrk="0">
                        <a:lnSpc>
                          <a:spcPts val="155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-50000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全部分解到现货价最高时段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610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分解2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2740" algn="l" rtl="0" eaLnBrk="0">
                        <a:lnSpc>
                          <a:spcPts val="133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8325" algn="l" rtl="0" eaLnBrk="0">
                        <a:lnSpc>
                          <a:spcPts val="133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0" algn="l" rtl="0" eaLnBrk="0">
                        <a:lnSpc>
                          <a:spcPts val="133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5920" algn="l" rtl="0" eaLnBrk="0">
                        <a:lnSpc>
                          <a:spcPts val="155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70000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6594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按现货价正比例分解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6105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分解3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2740" algn="l" rtl="0" eaLnBrk="0">
                        <a:lnSpc>
                          <a:spcPts val="1339"/>
                        </a:lnSpc>
                        <a:tabLst/>
                      </a:pPr>
                      <a:r>
                        <a:rPr sz="1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333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6419" algn="l" rtl="0" eaLnBrk="0">
                        <a:lnSpc>
                          <a:spcPts val="1339"/>
                        </a:lnSpc>
                        <a:tabLst/>
                      </a:pPr>
                      <a:r>
                        <a:rPr sz="1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334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270" algn="l" rtl="0" eaLnBrk="0">
                        <a:lnSpc>
                          <a:spcPts val="1339"/>
                        </a:lnSpc>
                        <a:tabLst/>
                      </a:pPr>
                      <a:r>
                        <a:rPr sz="1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333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7820" algn="l" rtl="0" eaLnBrk="0">
                        <a:lnSpc>
                          <a:spcPts val="1576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116500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775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平均分解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32" name="textbox 4032"/>
          <p:cNvSpPr/>
          <p:nvPr/>
        </p:nvSpPr>
        <p:spPr>
          <a:xfrm>
            <a:off x="718558" y="2311306"/>
            <a:ext cx="9171305" cy="543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.   将合约电量越多的分解到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节点电价</a:t>
            </a:r>
            <a:r>
              <a:rPr sz="1400" b="1" kern="0" spc="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的时段，差价电费越</a:t>
            </a:r>
            <a:r>
              <a:rPr sz="1400" b="1" kern="0" spc="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</a:t>
            </a:r>
            <a:r>
              <a:rPr sz="1400" b="1" kern="0" spc="-24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，对用电侧越有利，对发电侧越不利;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.   分解方式1和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2较多电量分解在负荷高的时段，</a:t>
            </a:r>
            <a:r>
              <a:rPr sz="14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由于负荷与节点电价是正相关，</a:t>
            </a:r>
            <a:r>
              <a:rPr sz="14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因此该类</a:t>
            </a:r>
            <a:r>
              <a:rPr sz="1400" b="1" kern="0" spc="-2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分解曲线，对发电侧不利。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34" name="textbox 4034"/>
          <p:cNvSpPr/>
          <p:nvPr/>
        </p:nvSpPr>
        <p:spPr>
          <a:xfrm>
            <a:off x="2648711" y="5754623"/>
            <a:ext cx="5396865" cy="424180"/>
          </a:xfrm>
          <a:prstGeom prst="rect">
            <a:avLst/>
          </a:pr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05205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合约的价值和收益更多地是由分解曲线决定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36" name="textbox 4036"/>
          <p:cNvSpPr/>
          <p:nvPr/>
        </p:nvSpPr>
        <p:spPr>
          <a:xfrm>
            <a:off x="537460" y="1112586"/>
            <a:ext cx="3309620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中长期合约电量分解策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38" name="picture 40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736597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0" name="textbox 4040"/>
          <p:cNvSpPr/>
          <p:nvPr/>
        </p:nvSpPr>
        <p:spPr>
          <a:xfrm>
            <a:off x="3736042" y="3703669"/>
            <a:ext cx="6362065" cy="2291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58239" algn="l" rtl="0" eaLnBrk="0">
              <a:lnSpc>
                <a:spcPct val="87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以0.36元/kWh买入该月相同曲线合约电量进行对冲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524000" algn="l" rtl="0" eaLnBrk="0">
              <a:lnSpc>
                <a:spcPts val="1851"/>
              </a:lnSpc>
              <a:spcBef>
                <a:spcPts val="771"/>
              </a:spcBef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对冲盈亏=500万×（0.35-0.36）</a:t>
            </a:r>
            <a:r>
              <a:rPr sz="1400" b="1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=-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5万元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70200" algn="l" rtl="0" eaLnBrk="0">
              <a:lnSpc>
                <a:spcPct val="87000"/>
              </a:lnSpc>
              <a:spcBef>
                <a:spcPts val="432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实际结算：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87000"/>
              </a:lnSpc>
              <a:spcBef>
                <a:spcPts val="1053"/>
              </a:spcBef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实际中标电量550万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kWh 节点电价0.36元/kWh 统一结算点电价0.37元/kWh；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1002"/>
              </a:spcBef>
              <a:tabLst/>
            </a:pPr>
            <a:r>
              <a:rPr sz="1400" b="1" kern="0" spc="-1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400" b="1" kern="0" spc="18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合约对冲后：</a:t>
            </a:r>
            <a:r>
              <a:rPr sz="1400" b="1" kern="0" spc="-2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电费=550万</a:t>
            </a:r>
            <a:r>
              <a:rPr sz="14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 0.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36=198万元；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1851"/>
              </a:lnSpc>
              <a:spcBef>
                <a:spcPts val="740"/>
              </a:spcBef>
              <a:tabLst/>
            </a:pPr>
            <a:r>
              <a:rPr sz="1400" b="1" kern="0" spc="-2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400" b="1" kern="0" spc="18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如合约未对冲：</a:t>
            </a:r>
            <a:r>
              <a:rPr sz="1400" b="1" kern="0" spc="-2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电费=550 万× 0.36+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500万×（0.35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-0.37）</a:t>
            </a:r>
            <a:r>
              <a:rPr sz="1400" b="1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=188万元；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4"/>
              </a:spcBef>
              <a:tabLst/>
            </a:pPr>
            <a:r>
              <a:rPr sz="1400" b="1" kern="0" spc="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◆</a:t>
            </a:r>
            <a:r>
              <a:rPr sz="1400" b="1" kern="0" spc="240" dirty="0">
                <a:solidFill>
                  <a:srgbClr val="FDA10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合约对冲减少亏损=198万-188万-5万=5万元。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4042" name="table 4042"/>
          <p:cNvGraphicFramePr>
            <a:graphicFrameLocks noGrp="1"/>
          </p:cNvGraphicFramePr>
          <p:nvPr/>
        </p:nvGraphicFramePr>
        <p:xfrm>
          <a:off x="428243" y="2133600"/>
          <a:ext cx="9812655" cy="1106170"/>
        </p:xfrm>
        <a:graphic>
          <a:graphicData uri="http://schemas.openxmlformats.org/drawingml/2006/table">
            <a:tbl>
              <a:tblPr/>
              <a:tblGrid>
                <a:gridCol w="9812655"/>
              </a:tblGrid>
              <a:tr h="10998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109" algn="l" rtl="0" eaLnBrk="0">
                        <a:lnSpc>
                          <a:spcPct val="83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合约交易双方不存在共赢，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一方通过合约提升了收益，另一方一定减少了收益。因此不要将合约电量卖给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88620" algn="l" rtl="0" eaLnBrk="0">
                        <a:lnSpc>
                          <a:spcPts val="2513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自己的售电公司或转让给同一集团的其它机组；合约电量转出时价格越低越有利，转入时价格越高越有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94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90" name="group 390"/>
          <p:cNvGrpSpPr/>
          <p:nvPr/>
        </p:nvGrpSpPr>
        <p:grpSpPr>
          <a:xfrm rot="21600000">
            <a:off x="431291" y="3211067"/>
            <a:ext cx="2801111" cy="3163824"/>
            <a:chOff x="0" y="0"/>
            <a:chExt cx="2801111" cy="3163824"/>
          </a:xfrm>
        </p:grpSpPr>
        <p:pic>
          <p:nvPicPr>
            <p:cNvPr id="4044" name="picture 40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801111" cy="3163824"/>
            </a:xfrm>
            <a:prstGeom prst="rect">
              <a:avLst/>
            </a:prstGeom>
          </p:spPr>
        </p:pic>
        <p:sp>
          <p:nvSpPr>
            <p:cNvPr id="4046" name="textbox 4046"/>
            <p:cNvSpPr/>
            <p:nvPr/>
          </p:nvSpPr>
          <p:spPr>
            <a:xfrm>
              <a:off x="-12700" y="-12700"/>
              <a:ext cx="2827020" cy="32073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103630" algn="l" rtl="0" eaLnBrk="0">
                <a:lnSpc>
                  <a:spcPct val="87000"/>
                </a:lnSpc>
                <a:tabLst/>
              </a:pPr>
              <a:r>
                <a:rPr sz="15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例 如：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62890" algn="l" rtl="0" eaLnBrk="0">
                <a:lnSpc>
                  <a:spcPct val="87000"/>
                </a:lnSpc>
                <a:spcBef>
                  <a:spcPts val="424"/>
                </a:spcBef>
                <a:tabLst/>
              </a:pPr>
              <a:r>
                <a:rPr sz="14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假设某机组年初卖出某月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258445" indent="24129" algn="l" rtl="0" eaLnBrk="0">
                <a:lnSpc>
                  <a:spcPct val="149000"/>
                </a:lnSpc>
                <a:spcBef>
                  <a:spcPts val="149"/>
                </a:spcBef>
                <a:tabLst/>
              </a:pPr>
              <a:r>
                <a:rPr sz="14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 定 义 曲 线</a:t>
              </a:r>
              <a:r>
                <a:rPr sz="1400" b="1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</a:t>
              </a:r>
              <a:r>
                <a:rPr sz="1400" b="1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约 500 万</a:t>
              </a:r>
              <a:r>
                <a:rPr sz="14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4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kWh</a:t>
              </a:r>
              <a:r>
                <a:rPr sz="1400" b="1" kern="0" spc="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400" b="1" kern="0" spc="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</a:t>
              </a:r>
              <a:r>
                <a:rPr sz="1400" b="1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约</a:t>
              </a:r>
              <a:r>
                <a:rPr sz="1400" b="1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价</a:t>
              </a:r>
              <a:r>
                <a:rPr sz="1400" b="1" kern="0" spc="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0.35</a:t>
              </a:r>
              <a:r>
                <a:rPr sz="1400" b="1" kern="0" spc="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元</a:t>
              </a:r>
              <a:r>
                <a:rPr sz="14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4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/kWh，后预测该月统一结</a:t>
              </a:r>
              <a:r>
                <a:rPr sz="14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</a:t>
              </a:r>
              <a:r>
                <a:rPr sz="1400" b="1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算点平均电价0.37元/kWh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4048" name="textbox 4048"/>
          <p:cNvSpPr/>
          <p:nvPr/>
        </p:nvSpPr>
        <p:spPr>
          <a:xfrm>
            <a:off x="523049" y="1112586"/>
            <a:ext cx="4525009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发电企业中长期合约电量持仓策略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50" name="path 4050"/>
          <p:cNvSpPr/>
          <p:nvPr/>
        </p:nvSpPr>
        <p:spPr>
          <a:xfrm>
            <a:off x="9361931" y="2446019"/>
            <a:ext cx="591311" cy="525779"/>
          </a:xfrm>
          <a:custGeom>
            <a:avLst/>
            <a:gdLst/>
            <a:ahLst/>
            <a:cxnLst/>
            <a:rect l="0" t="0" r="0" b="0"/>
            <a:pathLst>
              <a:path w="931" h="827">
                <a:moveTo>
                  <a:pt x="328" y="0"/>
                </a:moveTo>
                <a:lnTo>
                  <a:pt x="328" y="0"/>
                </a:lnTo>
                <a:lnTo>
                  <a:pt x="379" y="12"/>
                </a:lnTo>
                <a:lnTo>
                  <a:pt x="424" y="38"/>
                </a:lnTo>
                <a:lnTo>
                  <a:pt x="424" y="38"/>
                </a:lnTo>
                <a:lnTo>
                  <a:pt x="451" y="26"/>
                </a:lnTo>
                <a:lnTo>
                  <a:pt x="482" y="21"/>
                </a:lnTo>
                <a:lnTo>
                  <a:pt x="482" y="21"/>
                </a:lnTo>
                <a:lnTo>
                  <a:pt x="532" y="26"/>
                </a:lnTo>
                <a:lnTo>
                  <a:pt x="566" y="57"/>
                </a:lnTo>
                <a:lnTo>
                  <a:pt x="566" y="57"/>
                </a:lnTo>
                <a:lnTo>
                  <a:pt x="604" y="38"/>
                </a:lnTo>
                <a:lnTo>
                  <a:pt x="635" y="26"/>
                </a:lnTo>
                <a:lnTo>
                  <a:pt x="635" y="26"/>
                </a:lnTo>
                <a:lnTo>
                  <a:pt x="674" y="26"/>
                </a:lnTo>
                <a:lnTo>
                  <a:pt x="681" y="38"/>
                </a:lnTo>
                <a:lnTo>
                  <a:pt x="720" y="69"/>
                </a:lnTo>
                <a:lnTo>
                  <a:pt x="720" y="69"/>
                </a:lnTo>
                <a:lnTo>
                  <a:pt x="751" y="57"/>
                </a:lnTo>
                <a:lnTo>
                  <a:pt x="751" y="57"/>
                </a:lnTo>
                <a:lnTo>
                  <a:pt x="791" y="69"/>
                </a:lnTo>
                <a:lnTo>
                  <a:pt x="815" y="79"/>
                </a:lnTo>
                <a:lnTo>
                  <a:pt x="823" y="95"/>
                </a:lnTo>
                <a:lnTo>
                  <a:pt x="835" y="127"/>
                </a:lnTo>
                <a:lnTo>
                  <a:pt x="835" y="127"/>
                </a:lnTo>
                <a:lnTo>
                  <a:pt x="823" y="153"/>
                </a:lnTo>
                <a:lnTo>
                  <a:pt x="804" y="172"/>
                </a:lnTo>
                <a:lnTo>
                  <a:pt x="804" y="172"/>
                </a:lnTo>
                <a:lnTo>
                  <a:pt x="815" y="194"/>
                </a:lnTo>
                <a:lnTo>
                  <a:pt x="815" y="194"/>
                </a:lnTo>
                <a:lnTo>
                  <a:pt x="815" y="204"/>
                </a:lnTo>
                <a:lnTo>
                  <a:pt x="650" y="204"/>
                </a:lnTo>
                <a:lnTo>
                  <a:pt x="650" y="204"/>
                </a:lnTo>
                <a:lnTo>
                  <a:pt x="650" y="194"/>
                </a:lnTo>
                <a:lnTo>
                  <a:pt x="650" y="194"/>
                </a:lnTo>
                <a:lnTo>
                  <a:pt x="650" y="172"/>
                </a:lnTo>
                <a:lnTo>
                  <a:pt x="650" y="172"/>
                </a:lnTo>
                <a:lnTo>
                  <a:pt x="635" y="172"/>
                </a:lnTo>
                <a:lnTo>
                  <a:pt x="635" y="172"/>
                </a:lnTo>
                <a:lnTo>
                  <a:pt x="611" y="163"/>
                </a:lnTo>
                <a:lnTo>
                  <a:pt x="578" y="146"/>
                </a:lnTo>
                <a:lnTo>
                  <a:pt x="578" y="146"/>
                </a:lnTo>
                <a:lnTo>
                  <a:pt x="566" y="172"/>
                </a:lnTo>
                <a:lnTo>
                  <a:pt x="540" y="184"/>
                </a:lnTo>
                <a:lnTo>
                  <a:pt x="508" y="194"/>
                </a:lnTo>
                <a:lnTo>
                  <a:pt x="482" y="204"/>
                </a:lnTo>
                <a:lnTo>
                  <a:pt x="482" y="204"/>
                </a:lnTo>
                <a:lnTo>
                  <a:pt x="436" y="194"/>
                </a:lnTo>
                <a:lnTo>
                  <a:pt x="412" y="172"/>
                </a:lnTo>
                <a:lnTo>
                  <a:pt x="412" y="172"/>
                </a:lnTo>
                <a:lnTo>
                  <a:pt x="379" y="194"/>
                </a:lnTo>
                <a:lnTo>
                  <a:pt x="328" y="204"/>
                </a:lnTo>
                <a:lnTo>
                  <a:pt x="328" y="204"/>
                </a:lnTo>
                <a:lnTo>
                  <a:pt x="283" y="194"/>
                </a:lnTo>
                <a:lnTo>
                  <a:pt x="251" y="172"/>
                </a:lnTo>
                <a:lnTo>
                  <a:pt x="225" y="146"/>
                </a:lnTo>
                <a:lnTo>
                  <a:pt x="213" y="105"/>
                </a:lnTo>
                <a:lnTo>
                  <a:pt x="213" y="105"/>
                </a:lnTo>
                <a:lnTo>
                  <a:pt x="225" y="69"/>
                </a:lnTo>
                <a:lnTo>
                  <a:pt x="251" y="26"/>
                </a:lnTo>
                <a:lnTo>
                  <a:pt x="283" y="12"/>
                </a:lnTo>
                <a:lnTo>
                  <a:pt x="328" y="0"/>
                </a:lnTo>
                <a:lnTo>
                  <a:pt x="328" y="0"/>
                </a:lnTo>
                <a:close/>
                <a:moveTo>
                  <a:pt x="340" y="424"/>
                </a:moveTo>
                <a:lnTo>
                  <a:pt x="436" y="424"/>
                </a:lnTo>
                <a:lnTo>
                  <a:pt x="436" y="530"/>
                </a:lnTo>
                <a:lnTo>
                  <a:pt x="340" y="530"/>
                </a:lnTo>
                <a:lnTo>
                  <a:pt x="340" y="424"/>
                </a:lnTo>
                <a:lnTo>
                  <a:pt x="340" y="424"/>
                </a:lnTo>
                <a:close/>
                <a:moveTo>
                  <a:pt x="494" y="424"/>
                </a:moveTo>
                <a:lnTo>
                  <a:pt x="592" y="424"/>
                </a:lnTo>
                <a:lnTo>
                  <a:pt x="592" y="530"/>
                </a:lnTo>
                <a:lnTo>
                  <a:pt x="494" y="530"/>
                </a:lnTo>
                <a:lnTo>
                  <a:pt x="494" y="424"/>
                </a:lnTo>
                <a:lnTo>
                  <a:pt x="494" y="424"/>
                </a:lnTo>
                <a:close/>
                <a:moveTo>
                  <a:pt x="129" y="482"/>
                </a:moveTo>
                <a:lnTo>
                  <a:pt x="237" y="482"/>
                </a:lnTo>
                <a:lnTo>
                  <a:pt x="237" y="597"/>
                </a:lnTo>
                <a:lnTo>
                  <a:pt x="129" y="597"/>
                </a:lnTo>
                <a:lnTo>
                  <a:pt x="129" y="482"/>
                </a:lnTo>
                <a:lnTo>
                  <a:pt x="129" y="482"/>
                </a:lnTo>
                <a:close/>
                <a:moveTo>
                  <a:pt x="650" y="230"/>
                </a:moveTo>
                <a:lnTo>
                  <a:pt x="650" y="345"/>
                </a:lnTo>
                <a:lnTo>
                  <a:pt x="256" y="345"/>
                </a:lnTo>
                <a:lnTo>
                  <a:pt x="256" y="424"/>
                </a:lnTo>
                <a:lnTo>
                  <a:pt x="84" y="424"/>
                </a:lnTo>
                <a:lnTo>
                  <a:pt x="84" y="770"/>
                </a:lnTo>
                <a:lnTo>
                  <a:pt x="0" y="770"/>
                </a:lnTo>
                <a:lnTo>
                  <a:pt x="0" y="827"/>
                </a:lnTo>
                <a:lnTo>
                  <a:pt x="931" y="827"/>
                </a:lnTo>
                <a:lnTo>
                  <a:pt x="931" y="770"/>
                </a:lnTo>
                <a:lnTo>
                  <a:pt x="861" y="770"/>
                </a:lnTo>
                <a:lnTo>
                  <a:pt x="815" y="230"/>
                </a:lnTo>
                <a:lnTo>
                  <a:pt x="650" y="230"/>
                </a:lnTo>
                <a:close/>
              </a:path>
            </a:pathLst>
          </a:custGeom>
          <a:solidFill>
            <a:srgbClr val="FDA10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52" name="path 4052"/>
          <p:cNvSpPr/>
          <p:nvPr/>
        </p:nvSpPr>
        <p:spPr>
          <a:xfrm>
            <a:off x="3927343" y="3488435"/>
            <a:ext cx="6243837" cy="35052"/>
          </a:xfrm>
          <a:custGeom>
            <a:avLst/>
            <a:gdLst/>
            <a:ahLst/>
            <a:cxnLst/>
            <a:rect l="0" t="0" r="0" b="0"/>
            <a:pathLst>
              <a:path w="9832" h="55">
                <a:moveTo>
                  <a:pt x="0" y="26"/>
                </a:moveTo>
                <a:lnTo>
                  <a:pt x="9832" y="28"/>
                </a:lnTo>
              </a:path>
            </a:pathLst>
          </a:custGeom>
          <a:noFill/>
          <a:ln w="33527" cap="flat">
            <a:solidFill>
              <a:srgbClr val="094161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54" name="path 4054"/>
          <p:cNvSpPr/>
          <p:nvPr/>
        </p:nvSpPr>
        <p:spPr>
          <a:xfrm>
            <a:off x="3936491" y="6358128"/>
            <a:ext cx="6249923" cy="33528"/>
          </a:xfrm>
          <a:custGeom>
            <a:avLst/>
            <a:gdLst/>
            <a:ahLst/>
            <a:cxnLst/>
            <a:rect l="0" t="0" r="0" b="0"/>
            <a:pathLst>
              <a:path w="9842" h="52">
                <a:moveTo>
                  <a:pt x="0" y="26"/>
                </a:moveTo>
                <a:lnTo>
                  <a:pt x="9842" y="26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56" name="picture 40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736597"/>
            <a:ext cx="2596896" cy="16764"/>
          </a:xfrm>
          <a:prstGeom prst="rect">
            <a:avLst/>
          </a:prstGeom>
        </p:spPr>
      </p:pic>
      <p:pic>
        <p:nvPicPr>
          <p:cNvPr id="4058" name="picture 40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152697" y="3140964"/>
            <a:ext cx="64198" cy="70294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60" name="table 4060"/>
          <p:cNvGraphicFramePr>
            <a:graphicFrameLocks noGrp="1"/>
          </p:cNvGraphicFramePr>
          <p:nvPr/>
        </p:nvGraphicFramePr>
        <p:xfrm>
          <a:off x="431290" y="3566158"/>
          <a:ext cx="9747250" cy="2755265"/>
        </p:xfrm>
        <a:graphic>
          <a:graphicData uri="http://schemas.openxmlformats.org/drawingml/2006/table">
            <a:tbl>
              <a:tblPr/>
              <a:tblGrid>
                <a:gridCol w="3247389"/>
                <a:gridCol w="6499859"/>
              </a:tblGrid>
              <a:tr h="1816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475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4819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4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假设某售电公司年初买入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60375" indent="5714" algn="l" rtl="0" eaLnBrk="0">
                        <a:lnSpc>
                          <a:spcPct val="152000"/>
                        </a:lnSpc>
                        <a:spcBef>
                          <a:spcPts val="17"/>
                        </a:spcBef>
                        <a:tabLst/>
                      </a:pPr>
                      <a:r>
                        <a:rPr sz="14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某月自定义曲线合约50</a:t>
                      </a:r>
                      <a:r>
                        <a:rPr sz="14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</a:t>
                      </a: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 kWh</a:t>
                      </a:r>
                      <a:r>
                        <a:rPr sz="14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 合</a:t>
                      </a:r>
                      <a:r>
                        <a:rPr sz="14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</a:t>
                      </a:r>
                      <a:r>
                        <a:rPr sz="14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 0.</a:t>
                      </a:r>
                      <a:r>
                        <a:rPr sz="14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</a:t>
                      </a:r>
                      <a:r>
                        <a:rPr sz="14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/kWh，后预测该月统一结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</a:t>
                      </a:r>
                      <a:r>
                        <a:rPr sz="1400" b="1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算点平均电价0.35元/kWh。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01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以0.36元/kWh卖出该月相同曲线合约电量进行对冲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81405" algn="l" rtl="0" eaLnBrk="0">
                        <a:lnSpc>
                          <a:spcPts val="1851"/>
                        </a:lnSpc>
                        <a:spcBef>
                          <a:spcPts val="771"/>
                        </a:spcBef>
                        <a:tabLst/>
                      </a:pPr>
                      <a:r>
                        <a:rPr sz="14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合约对冲亏损=500万×（0.37-0.36）</a:t>
                      </a:r>
                      <a:r>
                        <a:rPr sz="1400" b="1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=5万元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2185" algn="l" rtl="0" eaLnBrk="0">
                        <a:lnSpc>
                          <a:spcPct val="87000"/>
                        </a:lnSpc>
                        <a:spcBef>
                          <a:spcPts val="420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实际结算：</a:t>
                      </a:r>
                      <a:r>
                        <a:rPr sz="1400" b="1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日前申报电量550</a:t>
                      </a:r>
                      <a:r>
                        <a:rPr sz="14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万kWh 统一结算点电价0.35元/kWh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35940" algn="l" rtl="0" eaLnBrk="0">
                        <a:lnSpc>
                          <a:spcPts val="1851"/>
                        </a:lnSpc>
                        <a:spcBef>
                          <a:spcPts val="767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FDA10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</a:t>
                      </a:r>
                      <a:r>
                        <a:rPr sz="1400" b="1" kern="0" spc="180" dirty="0">
                          <a:solidFill>
                            <a:srgbClr val="FDA10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合约对冲后：</a:t>
                      </a:r>
                      <a:r>
                        <a:rPr sz="1400" b="1" kern="0" spc="-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电费=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550万</a:t>
                      </a:r>
                      <a:r>
                        <a:rPr sz="14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 0.35=192.5万元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r" rtl="0" eaLnBrk="0">
                        <a:lnSpc>
                          <a:spcPts val="1851"/>
                        </a:lnSpc>
                        <a:spcBef>
                          <a:spcPts val="680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FDA10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</a:t>
                      </a:r>
                      <a:r>
                        <a:rPr sz="1400" b="1" kern="0" spc="180" dirty="0">
                          <a:solidFill>
                            <a:srgbClr val="FDA10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如合约未对冲：</a:t>
                      </a:r>
                      <a:r>
                        <a:rPr sz="1400" b="1" kern="0" spc="-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电费=550 万× 0.35+</a:t>
                      </a:r>
                      <a:r>
                        <a:rPr sz="14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  <a:r>
                        <a:rPr sz="14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万×（0.37-0.35）</a:t>
                      </a:r>
                      <a:r>
                        <a:rPr sz="1400" b="1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=202.5万元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5940" algn="l" rtl="0" eaLnBrk="0">
                        <a:lnSpc>
                          <a:spcPts val="185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FDA10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◆</a:t>
                      </a:r>
                      <a:r>
                        <a:rPr sz="1400" b="1" kern="0" spc="180" dirty="0">
                          <a:solidFill>
                            <a:srgbClr val="FDA10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合约对冲减少亏损= 202.5万元-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192.5万元-5万=5万元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6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062" name="textbox 4062"/>
          <p:cNvSpPr/>
          <p:nvPr/>
        </p:nvSpPr>
        <p:spPr>
          <a:xfrm>
            <a:off x="1300288" y="2405188"/>
            <a:ext cx="7332344" cy="521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合约交易双方不存在共赢，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一方通过合约提升了收益，另一方一定减少了收益因此不要从同一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00964" algn="l" rtl="0" eaLnBrk="0">
              <a:lnSpc>
                <a:spcPts val="2520"/>
              </a:lnSpc>
              <a:tabLst/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集团的发电企业购买合约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电量；合约电量转出时价格越高越有利，转入时价格越低越有利。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64" name="textbox 4064"/>
          <p:cNvSpPr/>
          <p:nvPr/>
        </p:nvSpPr>
        <p:spPr>
          <a:xfrm>
            <a:off x="523049" y="1111986"/>
            <a:ext cx="4525009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售电公司中长期合约电量持仓策略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66" name="picture 40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409" y="3262693"/>
            <a:ext cx="9490330" cy="20002"/>
          </a:xfrm>
          <a:prstGeom prst="rect">
            <a:avLst/>
          </a:prstGeom>
        </p:spPr>
      </p:pic>
      <p:sp>
        <p:nvSpPr>
          <p:cNvPr id="4068" name="textbox 4068"/>
          <p:cNvSpPr/>
          <p:nvPr/>
        </p:nvSpPr>
        <p:spPr>
          <a:xfrm>
            <a:off x="1005839" y="3157728"/>
            <a:ext cx="1691639" cy="372109"/>
          </a:xfrm>
          <a:prstGeom prst="rect">
            <a:avLst/>
          </a:prstGeom>
          <a:solidFill>
            <a:srgbClr val="09416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16255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例 如：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92" name="group 392"/>
          <p:cNvGrpSpPr/>
          <p:nvPr/>
        </p:nvGrpSpPr>
        <p:grpSpPr>
          <a:xfrm rot="21600000">
            <a:off x="9188195" y="2510028"/>
            <a:ext cx="789433" cy="458723"/>
            <a:chOff x="0" y="0"/>
            <a:chExt cx="789433" cy="458723"/>
          </a:xfrm>
        </p:grpSpPr>
        <p:sp>
          <p:nvSpPr>
            <p:cNvPr id="4070" name="path 4070"/>
            <p:cNvSpPr/>
            <p:nvPr/>
          </p:nvSpPr>
          <p:spPr>
            <a:xfrm>
              <a:off x="0" y="0"/>
              <a:ext cx="789433" cy="458723"/>
            </a:xfrm>
            <a:custGeom>
              <a:avLst/>
              <a:gdLst/>
              <a:ahLst/>
              <a:cxnLst/>
              <a:rect l="0" t="0" r="0" b="0"/>
              <a:pathLst>
                <a:path w="1243" h="722">
                  <a:moveTo>
                    <a:pt x="1219" y="182"/>
                  </a:moveTo>
                  <a:cubicBezTo>
                    <a:pt x="1053" y="122"/>
                    <a:pt x="1053" y="122"/>
                    <a:pt x="1053" y="122"/>
                  </a:cubicBezTo>
                  <a:cubicBezTo>
                    <a:pt x="741" y="7"/>
                    <a:pt x="741" y="7"/>
                    <a:pt x="741" y="7"/>
                  </a:cubicBezTo>
                  <a:cubicBezTo>
                    <a:pt x="722" y="2"/>
                    <a:pt x="722" y="2"/>
                    <a:pt x="722" y="2"/>
                  </a:cubicBezTo>
                  <a:cubicBezTo>
                    <a:pt x="715" y="0"/>
                    <a:pt x="708" y="0"/>
                    <a:pt x="705" y="0"/>
                  </a:cubicBezTo>
                  <a:cubicBezTo>
                    <a:pt x="698" y="0"/>
                    <a:pt x="693" y="0"/>
                    <a:pt x="686" y="2"/>
                  </a:cubicBezTo>
                  <a:cubicBezTo>
                    <a:pt x="667" y="7"/>
                    <a:pt x="667" y="7"/>
                    <a:pt x="667" y="7"/>
                  </a:cubicBezTo>
                  <a:cubicBezTo>
                    <a:pt x="355" y="122"/>
                    <a:pt x="355" y="122"/>
                    <a:pt x="355" y="122"/>
                  </a:cubicBezTo>
                  <a:cubicBezTo>
                    <a:pt x="187" y="182"/>
                    <a:pt x="187" y="182"/>
                    <a:pt x="187" y="182"/>
                  </a:cubicBezTo>
                  <a:cubicBezTo>
                    <a:pt x="172" y="189"/>
                    <a:pt x="165" y="201"/>
                    <a:pt x="165" y="213"/>
                  </a:cubicBezTo>
                  <a:cubicBezTo>
                    <a:pt x="165" y="218"/>
                    <a:pt x="165" y="220"/>
                    <a:pt x="168" y="225"/>
                  </a:cubicBezTo>
                  <a:cubicBezTo>
                    <a:pt x="182" y="242"/>
                    <a:pt x="206" y="247"/>
                    <a:pt x="230" y="240"/>
                  </a:cubicBezTo>
                  <a:cubicBezTo>
                    <a:pt x="326" y="203"/>
                    <a:pt x="326" y="203"/>
                    <a:pt x="326" y="203"/>
                  </a:cubicBezTo>
                  <a:cubicBezTo>
                    <a:pt x="326" y="266"/>
                    <a:pt x="326" y="266"/>
                    <a:pt x="326" y="266"/>
                  </a:cubicBezTo>
                  <a:cubicBezTo>
                    <a:pt x="326" y="357"/>
                    <a:pt x="326" y="357"/>
                    <a:pt x="326" y="357"/>
                  </a:cubicBezTo>
                  <a:cubicBezTo>
                    <a:pt x="345" y="362"/>
                    <a:pt x="360" y="369"/>
                    <a:pt x="376" y="376"/>
                  </a:cubicBezTo>
                  <a:cubicBezTo>
                    <a:pt x="376" y="266"/>
                    <a:pt x="376" y="266"/>
                    <a:pt x="376" y="266"/>
                  </a:cubicBezTo>
                  <a:cubicBezTo>
                    <a:pt x="376" y="213"/>
                    <a:pt x="376" y="213"/>
                    <a:pt x="376" y="213"/>
                  </a:cubicBezTo>
                  <a:cubicBezTo>
                    <a:pt x="376" y="199"/>
                    <a:pt x="388" y="184"/>
                    <a:pt x="405" y="177"/>
                  </a:cubicBezTo>
                  <a:cubicBezTo>
                    <a:pt x="405" y="175"/>
                    <a:pt x="405" y="175"/>
                    <a:pt x="405" y="175"/>
                  </a:cubicBezTo>
                  <a:cubicBezTo>
                    <a:pt x="547" y="124"/>
                    <a:pt x="547" y="124"/>
                    <a:pt x="547" y="124"/>
                  </a:cubicBezTo>
                  <a:cubicBezTo>
                    <a:pt x="705" y="64"/>
                    <a:pt x="705" y="64"/>
                    <a:pt x="705" y="64"/>
                  </a:cubicBezTo>
                  <a:cubicBezTo>
                    <a:pt x="866" y="124"/>
                    <a:pt x="866" y="124"/>
                    <a:pt x="866" y="124"/>
                  </a:cubicBezTo>
                  <a:cubicBezTo>
                    <a:pt x="1005" y="175"/>
                    <a:pt x="1005" y="175"/>
                    <a:pt x="1005" y="175"/>
                  </a:cubicBezTo>
                  <a:cubicBezTo>
                    <a:pt x="1005" y="177"/>
                    <a:pt x="1005" y="177"/>
                    <a:pt x="1005" y="177"/>
                  </a:cubicBezTo>
                  <a:cubicBezTo>
                    <a:pt x="1024" y="184"/>
                    <a:pt x="1036" y="196"/>
                    <a:pt x="1036" y="213"/>
                  </a:cubicBezTo>
                  <a:cubicBezTo>
                    <a:pt x="1036" y="266"/>
                    <a:pt x="1036" y="266"/>
                    <a:pt x="1036" y="266"/>
                  </a:cubicBezTo>
                  <a:cubicBezTo>
                    <a:pt x="1036" y="604"/>
                    <a:pt x="1036" y="604"/>
                    <a:pt x="1036" y="604"/>
                  </a:cubicBezTo>
                  <a:cubicBezTo>
                    <a:pt x="1036" y="624"/>
                    <a:pt x="1012" y="643"/>
                    <a:pt x="981" y="643"/>
                  </a:cubicBezTo>
                  <a:cubicBezTo>
                    <a:pt x="811" y="643"/>
                    <a:pt x="811" y="643"/>
                    <a:pt x="811" y="643"/>
                  </a:cubicBezTo>
                  <a:cubicBezTo>
                    <a:pt x="811" y="458"/>
                    <a:pt x="811" y="458"/>
                    <a:pt x="811" y="458"/>
                  </a:cubicBezTo>
                  <a:cubicBezTo>
                    <a:pt x="588" y="458"/>
                    <a:pt x="588" y="458"/>
                    <a:pt x="588" y="458"/>
                  </a:cubicBezTo>
                  <a:cubicBezTo>
                    <a:pt x="588" y="643"/>
                    <a:pt x="588" y="643"/>
                    <a:pt x="588" y="643"/>
                  </a:cubicBezTo>
                  <a:cubicBezTo>
                    <a:pt x="494" y="643"/>
                    <a:pt x="494" y="643"/>
                    <a:pt x="494" y="643"/>
                  </a:cubicBezTo>
                  <a:cubicBezTo>
                    <a:pt x="482" y="662"/>
                    <a:pt x="465" y="676"/>
                    <a:pt x="451" y="691"/>
                  </a:cubicBezTo>
                  <a:cubicBezTo>
                    <a:pt x="1022" y="691"/>
                    <a:pt x="1022" y="691"/>
                    <a:pt x="1022" y="691"/>
                  </a:cubicBezTo>
                  <a:cubicBezTo>
                    <a:pt x="1056" y="691"/>
                    <a:pt x="1084" y="669"/>
                    <a:pt x="1084" y="645"/>
                  </a:cubicBezTo>
                  <a:cubicBezTo>
                    <a:pt x="1084" y="266"/>
                    <a:pt x="1084" y="266"/>
                    <a:pt x="1084" y="266"/>
                  </a:cubicBezTo>
                  <a:cubicBezTo>
                    <a:pt x="1084" y="206"/>
                    <a:pt x="1084" y="206"/>
                    <a:pt x="1084" y="206"/>
                  </a:cubicBezTo>
                  <a:cubicBezTo>
                    <a:pt x="1180" y="240"/>
                    <a:pt x="1180" y="240"/>
                    <a:pt x="1180" y="240"/>
                  </a:cubicBezTo>
                  <a:cubicBezTo>
                    <a:pt x="1200" y="247"/>
                    <a:pt x="1228" y="242"/>
                    <a:pt x="1238" y="225"/>
                  </a:cubicBezTo>
                  <a:cubicBezTo>
                    <a:pt x="1243" y="220"/>
                    <a:pt x="1243" y="218"/>
                    <a:pt x="1243" y="213"/>
                  </a:cubicBezTo>
                  <a:cubicBezTo>
                    <a:pt x="1243" y="201"/>
                    <a:pt x="1236" y="189"/>
                    <a:pt x="1219" y="182"/>
                  </a:cubicBezTo>
                </a:path>
                <a:path w="1243" h="722">
                  <a:moveTo>
                    <a:pt x="698" y="225"/>
                  </a:moveTo>
                  <a:cubicBezTo>
                    <a:pt x="741" y="225"/>
                    <a:pt x="780" y="203"/>
                    <a:pt x="782" y="172"/>
                  </a:cubicBezTo>
                  <a:cubicBezTo>
                    <a:pt x="782" y="170"/>
                    <a:pt x="784" y="167"/>
                    <a:pt x="784" y="165"/>
                  </a:cubicBezTo>
                  <a:cubicBezTo>
                    <a:pt x="784" y="148"/>
                    <a:pt x="775" y="134"/>
                    <a:pt x="760" y="124"/>
                  </a:cubicBezTo>
                  <a:cubicBezTo>
                    <a:pt x="746" y="110"/>
                    <a:pt x="724" y="103"/>
                    <a:pt x="698" y="103"/>
                  </a:cubicBezTo>
                  <a:cubicBezTo>
                    <a:pt x="674" y="103"/>
                    <a:pt x="652" y="110"/>
                    <a:pt x="636" y="124"/>
                  </a:cubicBezTo>
                  <a:cubicBezTo>
                    <a:pt x="624" y="134"/>
                    <a:pt x="614" y="148"/>
                    <a:pt x="614" y="165"/>
                  </a:cubicBezTo>
                  <a:cubicBezTo>
                    <a:pt x="614" y="167"/>
                    <a:pt x="614" y="170"/>
                    <a:pt x="614" y="172"/>
                  </a:cubicBezTo>
                  <a:cubicBezTo>
                    <a:pt x="619" y="203"/>
                    <a:pt x="655" y="225"/>
                    <a:pt x="698" y="225"/>
                  </a:cubicBezTo>
                </a:path>
                <a:path w="1243" h="722">
                  <a:moveTo>
                    <a:pt x="376" y="431"/>
                  </a:moveTo>
                  <a:cubicBezTo>
                    <a:pt x="360" y="422"/>
                    <a:pt x="345" y="412"/>
                    <a:pt x="326" y="407"/>
                  </a:cubicBezTo>
                  <a:cubicBezTo>
                    <a:pt x="297" y="395"/>
                    <a:pt x="264" y="391"/>
                    <a:pt x="230" y="391"/>
                  </a:cubicBezTo>
                  <a:cubicBezTo>
                    <a:pt x="100" y="391"/>
                    <a:pt x="0" y="465"/>
                    <a:pt x="0" y="556"/>
                  </a:cubicBezTo>
                  <a:cubicBezTo>
                    <a:pt x="0" y="647"/>
                    <a:pt x="100" y="722"/>
                    <a:pt x="230" y="722"/>
                  </a:cubicBezTo>
                  <a:cubicBezTo>
                    <a:pt x="280" y="722"/>
                    <a:pt x="326" y="707"/>
                    <a:pt x="364" y="686"/>
                  </a:cubicBezTo>
                  <a:cubicBezTo>
                    <a:pt x="388" y="674"/>
                    <a:pt x="408" y="659"/>
                    <a:pt x="422" y="643"/>
                  </a:cubicBezTo>
                  <a:cubicBezTo>
                    <a:pt x="444" y="616"/>
                    <a:pt x="456" y="587"/>
                    <a:pt x="456" y="556"/>
                  </a:cubicBezTo>
                  <a:cubicBezTo>
                    <a:pt x="456" y="503"/>
                    <a:pt x="424" y="460"/>
                    <a:pt x="376" y="431"/>
                  </a:cubicBezTo>
                  <a:moveTo>
                    <a:pt x="326" y="640"/>
                  </a:moveTo>
                  <a:cubicBezTo>
                    <a:pt x="300" y="655"/>
                    <a:pt x="264" y="667"/>
                    <a:pt x="230" y="667"/>
                  </a:cubicBezTo>
                  <a:cubicBezTo>
                    <a:pt x="144" y="667"/>
                    <a:pt x="76" y="614"/>
                    <a:pt x="76" y="556"/>
                  </a:cubicBezTo>
                  <a:cubicBezTo>
                    <a:pt x="76" y="496"/>
                    <a:pt x="144" y="446"/>
                    <a:pt x="230" y="446"/>
                  </a:cubicBezTo>
                  <a:cubicBezTo>
                    <a:pt x="264" y="446"/>
                    <a:pt x="300" y="455"/>
                    <a:pt x="326" y="472"/>
                  </a:cubicBezTo>
                  <a:cubicBezTo>
                    <a:pt x="350" y="487"/>
                    <a:pt x="369" y="506"/>
                    <a:pt x="376" y="530"/>
                  </a:cubicBezTo>
                  <a:cubicBezTo>
                    <a:pt x="379" y="539"/>
                    <a:pt x="379" y="547"/>
                    <a:pt x="379" y="556"/>
                  </a:cubicBezTo>
                  <a:cubicBezTo>
                    <a:pt x="379" y="563"/>
                    <a:pt x="379" y="571"/>
                    <a:pt x="376" y="580"/>
                  </a:cubicBezTo>
                  <a:cubicBezTo>
                    <a:pt x="369" y="604"/>
                    <a:pt x="350" y="623"/>
                    <a:pt x="326" y="640"/>
                  </a:cubicBezTo>
                </a:path>
              </a:pathLst>
            </a:custGeom>
            <a:solidFill>
              <a:srgbClr val="FDA10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72" name="textbox 4072"/>
            <p:cNvSpPr/>
            <p:nvPr/>
          </p:nvSpPr>
          <p:spPr>
            <a:xfrm>
              <a:off x="-12700" y="-12700"/>
              <a:ext cx="815339" cy="4845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0650" algn="l" rtl="0" eaLnBrk="0">
                <a:lnSpc>
                  <a:spcPct val="79000"/>
                </a:lnSpc>
                <a:spcBef>
                  <a:spcPts val="1"/>
                </a:spcBef>
                <a:tabLst/>
              </a:pPr>
              <a:r>
                <a:rPr sz="700" kern="0" spc="160" dirty="0">
                  <a:solidFill>
                    <a:srgbClr val="FDA103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$</a:t>
              </a:r>
              <a:endParaRPr sz="7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074" name="path 4074"/>
          <p:cNvSpPr/>
          <p:nvPr/>
        </p:nvSpPr>
        <p:spPr>
          <a:xfrm>
            <a:off x="3927347" y="6288023"/>
            <a:ext cx="6249923" cy="33528"/>
          </a:xfrm>
          <a:custGeom>
            <a:avLst/>
            <a:gdLst/>
            <a:ahLst/>
            <a:cxnLst/>
            <a:rect l="0" t="0" r="0" b="0"/>
            <a:pathLst>
              <a:path w="9842" h="52">
                <a:moveTo>
                  <a:pt x="0" y="26"/>
                </a:moveTo>
                <a:lnTo>
                  <a:pt x="9842" y="26"/>
                </a:lnTo>
              </a:path>
            </a:pathLst>
          </a:custGeom>
          <a:noFill/>
          <a:ln w="33527" cap="flat">
            <a:solidFill>
              <a:srgbClr val="FDA103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76" name="path 4076"/>
          <p:cNvSpPr/>
          <p:nvPr/>
        </p:nvSpPr>
        <p:spPr>
          <a:xfrm>
            <a:off x="3927347" y="3566159"/>
            <a:ext cx="6243828" cy="33528"/>
          </a:xfrm>
          <a:custGeom>
            <a:avLst/>
            <a:gdLst/>
            <a:ahLst/>
            <a:cxnLst/>
            <a:rect l="0" t="0" r="0" b="0"/>
            <a:pathLst>
              <a:path w="9832" h="52">
                <a:moveTo>
                  <a:pt x="0" y="26"/>
                </a:moveTo>
                <a:lnTo>
                  <a:pt x="9832" y="26"/>
                </a:lnTo>
              </a:path>
            </a:pathLst>
          </a:custGeom>
          <a:noFill/>
          <a:ln w="33527" cap="flat">
            <a:solidFill>
              <a:srgbClr val="094161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78" name="picture 40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37387" y="2250757"/>
            <a:ext cx="151066" cy="1029080"/>
          </a:xfrm>
          <a:prstGeom prst="rect">
            <a:avLst/>
          </a:prstGeom>
        </p:spPr>
      </p:pic>
      <p:pic>
        <p:nvPicPr>
          <p:cNvPr id="4080" name="picture 40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117645" y="2246376"/>
            <a:ext cx="138874" cy="1027366"/>
          </a:xfrm>
          <a:prstGeom prst="rect">
            <a:avLst/>
          </a:prstGeom>
        </p:spPr>
      </p:pic>
      <p:pic>
        <p:nvPicPr>
          <p:cNvPr id="4082" name="picture 40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4817" y="2086355"/>
            <a:ext cx="899350" cy="143446"/>
          </a:xfrm>
          <a:prstGeom prst="rect">
            <a:avLst/>
          </a:prstGeom>
        </p:spPr>
      </p:pic>
      <p:pic>
        <p:nvPicPr>
          <p:cNvPr id="4084" name="picture 40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462516" y="2086355"/>
            <a:ext cx="778764" cy="131064"/>
          </a:xfrm>
          <a:prstGeom prst="rect">
            <a:avLst/>
          </a:prstGeom>
        </p:spPr>
      </p:pic>
      <p:pic>
        <p:nvPicPr>
          <p:cNvPr id="4086" name="picture 40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1736597"/>
            <a:ext cx="2596896" cy="16764"/>
          </a:xfrm>
          <a:prstGeom prst="rect">
            <a:avLst/>
          </a:prstGeom>
        </p:spPr>
      </p:pic>
      <p:pic>
        <p:nvPicPr>
          <p:cNvPr id="4088" name="picture 408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768083" y="2086355"/>
            <a:ext cx="1437133" cy="10667"/>
          </a:xfrm>
          <a:prstGeom prst="rect">
            <a:avLst/>
          </a:prstGeom>
        </p:spPr>
      </p:pic>
      <p:pic>
        <p:nvPicPr>
          <p:cNvPr id="4090" name="picture 409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865875" y="2086355"/>
            <a:ext cx="868679" cy="10667"/>
          </a:xfrm>
          <a:prstGeom prst="rect">
            <a:avLst/>
          </a:prstGeom>
        </p:spPr>
      </p:pic>
      <p:pic>
        <p:nvPicPr>
          <p:cNvPr id="4092" name="picture 409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237219" y="2086355"/>
            <a:ext cx="580644" cy="10667"/>
          </a:xfrm>
          <a:prstGeom prst="rect">
            <a:avLst/>
          </a:prstGeom>
        </p:spPr>
      </p:pic>
      <p:pic>
        <p:nvPicPr>
          <p:cNvPr id="4094" name="picture 409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235708" y="2086355"/>
            <a:ext cx="579119" cy="10667"/>
          </a:xfrm>
          <a:prstGeom prst="rect">
            <a:avLst/>
          </a:prstGeom>
        </p:spPr>
      </p:pic>
      <p:pic>
        <p:nvPicPr>
          <p:cNvPr id="4096" name="picture 409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782567" y="2086355"/>
            <a:ext cx="579119" cy="10667"/>
          </a:xfrm>
          <a:prstGeom prst="rect">
            <a:avLst/>
          </a:prstGeom>
        </p:spPr>
      </p:pic>
      <p:pic>
        <p:nvPicPr>
          <p:cNvPr id="4098" name="picture 409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253228" y="2086355"/>
            <a:ext cx="579119" cy="10667"/>
          </a:xfrm>
          <a:prstGeom prst="rect">
            <a:avLst/>
          </a:prstGeom>
        </p:spPr>
      </p:pic>
      <p:pic>
        <p:nvPicPr>
          <p:cNvPr id="4100" name="picture 410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395216" y="2086355"/>
            <a:ext cx="501396" cy="10667"/>
          </a:xfrm>
          <a:prstGeom prst="rect">
            <a:avLst/>
          </a:prstGeom>
        </p:spPr>
      </p:pic>
      <p:pic>
        <p:nvPicPr>
          <p:cNvPr id="4102" name="picture 410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700784" y="2086355"/>
            <a:ext cx="501395" cy="10667"/>
          </a:xfrm>
          <a:prstGeom prst="rect">
            <a:avLst/>
          </a:prstGeom>
        </p:spPr>
      </p:pic>
      <p:pic>
        <p:nvPicPr>
          <p:cNvPr id="4104" name="picture 410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377696" y="2086355"/>
            <a:ext cx="289560" cy="10667"/>
          </a:xfrm>
          <a:prstGeom prst="rect">
            <a:avLst/>
          </a:prstGeom>
        </p:spPr>
      </p:pic>
      <p:pic>
        <p:nvPicPr>
          <p:cNvPr id="4106" name="picture 410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2846831" y="2086355"/>
            <a:ext cx="289560" cy="10667"/>
          </a:xfrm>
          <a:prstGeom prst="rect">
            <a:avLst/>
          </a:prstGeom>
        </p:spPr>
      </p:pic>
      <p:pic>
        <p:nvPicPr>
          <p:cNvPr id="4108" name="picture 410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459480" y="2086355"/>
            <a:ext cx="289559" cy="10667"/>
          </a:xfrm>
          <a:prstGeom prst="rect">
            <a:avLst/>
          </a:prstGeom>
        </p:spPr>
      </p:pic>
      <p:pic>
        <p:nvPicPr>
          <p:cNvPr id="4110" name="picture 411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930139" y="2086355"/>
            <a:ext cx="289559" cy="10667"/>
          </a:xfrm>
          <a:prstGeom prst="rect">
            <a:avLst/>
          </a:prstGeom>
        </p:spPr>
      </p:pic>
      <p:pic>
        <p:nvPicPr>
          <p:cNvPr id="4112" name="picture 411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8849867" y="2086355"/>
            <a:ext cx="289559" cy="10667"/>
          </a:xfrm>
          <a:prstGeom prst="rect">
            <a:avLst/>
          </a:prstGeom>
        </p:spPr>
      </p:pic>
      <p:pic>
        <p:nvPicPr>
          <p:cNvPr id="4114" name="picture 411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169919" y="2086355"/>
            <a:ext cx="256031" cy="10667"/>
          </a:xfrm>
          <a:prstGeom prst="rect">
            <a:avLst/>
          </a:prstGeom>
        </p:spPr>
      </p:pic>
      <p:pic>
        <p:nvPicPr>
          <p:cNvPr id="4116" name="picture 411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9172955" y="2086355"/>
            <a:ext cx="256031" cy="10667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8" name="textbox 4118"/>
          <p:cNvSpPr/>
          <p:nvPr/>
        </p:nvSpPr>
        <p:spPr>
          <a:xfrm>
            <a:off x="880300" y="3175277"/>
            <a:ext cx="3000375" cy="1357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18210" algn="l" rtl="0" eaLnBrk="0">
              <a:lnSpc>
                <a:spcPct val="83000"/>
              </a:lnSpc>
              <a:tabLst/>
            </a:pP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</a:t>
            </a:r>
            <a:r>
              <a:rPr sz="4200" b="1" kern="0" spc="8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 sz="4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1"/>
              </a:spcBef>
              <a:tabLst/>
            </a:pPr>
            <a:r>
              <a:rPr sz="4200" b="1" kern="0" spc="-2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 sz="4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94" name="group 394"/>
          <p:cNvGrpSpPr/>
          <p:nvPr/>
        </p:nvGrpSpPr>
        <p:grpSpPr>
          <a:xfrm rot="21600000">
            <a:off x="4762500" y="900683"/>
            <a:ext cx="4724400" cy="559308"/>
            <a:chOff x="0" y="0"/>
            <a:chExt cx="4724400" cy="559308"/>
          </a:xfrm>
        </p:grpSpPr>
        <p:pic>
          <p:nvPicPr>
            <p:cNvPr id="4120" name="picture 41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4122" name="textbox 4122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9254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307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集中式现货市场的典型设计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124" name="path 4124"/>
            <p:cNvSpPr/>
            <p:nvPr/>
          </p:nvSpPr>
          <p:spPr>
            <a:xfrm>
              <a:off x="897775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9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96" name="group 396"/>
          <p:cNvGrpSpPr/>
          <p:nvPr/>
        </p:nvGrpSpPr>
        <p:grpSpPr>
          <a:xfrm rot="21600000">
            <a:off x="4762500" y="3128771"/>
            <a:ext cx="4724400" cy="559308"/>
            <a:chOff x="0" y="0"/>
            <a:chExt cx="4724400" cy="559308"/>
          </a:xfrm>
        </p:grpSpPr>
        <p:pic>
          <p:nvPicPr>
            <p:cNvPr id="4126" name="picture 41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4128" name="textbox 4128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68934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40" baseline="3586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发电企业现货市场交易策略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130" name="path 4130"/>
            <p:cNvSpPr/>
            <p:nvPr/>
          </p:nvSpPr>
          <p:spPr>
            <a:xfrm>
              <a:off x="878776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6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98" name="group 398"/>
          <p:cNvGrpSpPr/>
          <p:nvPr/>
        </p:nvGrpSpPr>
        <p:grpSpPr>
          <a:xfrm rot="21600000">
            <a:off x="4762500" y="1642871"/>
            <a:ext cx="4724400" cy="559308"/>
            <a:chOff x="0" y="0"/>
            <a:chExt cx="4724400" cy="559308"/>
          </a:xfrm>
        </p:grpSpPr>
        <p:pic>
          <p:nvPicPr>
            <p:cNvPr id="4132" name="picture 41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4134" name="textbox 4134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8459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典型省份电力现货市场设计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136" name="path 4136"/>
            <p:cNvSpPr/>
            <p:nvPr/>
          </p:nvSpPr>
          <p:spPr>
            <a:xfrm>
              <a:off x="887107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00" name="group 400"/>
          <p:cNvGrpSpPr/>
          <p:nvPr/>
        </p:nvGrpSpPr>
        <p:grpSpPr>
          <a:xfrm rot="21600000">
            <a:off x="4762500" y="3870959"/>
            <a:ext cx="4724400" cy="559308"/>
            <a:chOff x="0" y="0"/>
            <a:chExt cx="4724400" cy="559308"/>
          </a:xfrm>
        </p:grpSpPr>
        <p:pic>
          <p:nvPicPr>
            <p:cNvPr id="4138" name="picture 413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4140" name="textbox 4140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671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4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售电公司现货市场交易策略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142" name="path 4142"/>
            <p:cNvSpPr/>
            <p:nvPr/>
          </p:nvSpPr>
          <p:spPr>
            <a:xfrm>
              <a:off x="895641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02" name="group 402"/>
          <p:cNvGrpSpPr/>
          <p:nvPr/>
        </p:nvGrpSpPr>
        <p:grpSpPr>
          <a:xfrm rot="21600000">
            <a:off x="4762500" y="6099047"/>
            <a:ext cx="4724400" cy="559307"/>
            <a:chOff x="0" y="0"/>
            <a:chExt cx="4724400" cy="559307"/>
          </a:xfrm>
        </p:grpSpPr>
        <p:pic>
          <p:nvPicPr>
            <p:cNvPr id="4144" name="picture 414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4146" name="textbox 4146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592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40" baseline="3345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量化交易在电力现货的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实践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148" name="path 4148"/>
            <p:cNvSpPr/>
            <p:nvPr/>
          </p:nvSpPr>
          <p:spPr>
            <a:xfrm>
              <a:off x="885710" y="192023"/>
              <a:ext cx="185928" cy="175260"/>
            </a:xfrm>
            <a:custGeom>
              <a:avLst/>
              <a:gdLst/>
              <a:ahLst/>
              <a:cxnLst/>
              <a:rect l="0" t="0" r="0" b="0"/>
              <a:pathLst>
                <a:path w="292" h="276">
                  <a:moveTo>
                    <a:pt x="0" y="0"/>
                  </a:moveTo>
                  <a:lnTo>
                    <a:pt x="292" y="139"/>
                  </a:lnTo>
                  <a:lnTo>
                    <a:pt x="0" y="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04" name="group 404"/>
          <p:cNvGrpSpPr/>
          <p:nvPr/>
        </p:nvGrpSpPr>
        <p:grpSpPr>
          <a:xfrm rot="21600000">
            <a:off x="4762500" y="5356860"/>
            <a:ext cx="4724400" cy="559307"/>
            <a:chOff x="0" y="0"/>
            <a:chExt cx="4724400" cy="559307"/>
          </a:xfrm>
        </p:grpSpPr>
        <p:pic>
          <p:nvPicPr>
            <p:cNvPr id="4150" name="picture 415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4152" name="textbox 4152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719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20" baseline="450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试结算案例分析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154" name="path 4154"/>
            <p:cNvSpPr/>
            <p:nvPr/>
          </p:nvSpPr>
          <p:spPr>
            <a:xfrm>
              <a:off x="884504" y="192023"/>
              <a:ext cx="185928" cy="173736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06" name="group 406"/>
          <p:cNvGrpSpPr/>
          <p:nvPr/>
        </p:nvGrpSpPr>
        <p:grpSpPr>
          <a:xfrm rot="21600000">
            <a:off x="4762500" y="4614671"/>
            <a:ext cx="4724400" cy="557783"/>
            <a:chOff x="0" y="0"/>
            <a:chExt cx="4724400" cy="557783"/>
          </a:xfrm>
        </p:grpSpPr>
        <p:pic>
          <p:nvPicPr>
            <p:cNvPr id="4156" name="picture 415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4158" name="textbox 4158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7909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20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中长期合约交易策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160" name="path 4160"/>
            <p:cNvSpPr/>
            <p:nvPr/>
          </p:nvSpPr>
          <p:spPr>
            <a:xfrm>
              <a:off x="881290" y="192024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08" name="group 408"/>
          <p:cNvGrpSpPr/>
          <p:nvPr/>
        </p:nvGrpSpPr>
        <p:grpSpPr>
          <a:xfrm rot="21600000">
            <a:off x="4762500" y="2386584"/>
            <a:ext cx="4724400" cy="557783"/>
            <a:chOff x="0" y="0"/>
            <a:chExt cx="4724400" cy="557783"/>
          </a:xfrm>
        </p:grpSpPr>
        <p:pic>
          <p:nvPicPr>
            <p:cNvPr id="4162" name="picture 416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4164" name="textbox 4164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84809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2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  <a:r>
                <a:rPr sz="20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电力市场的经济学原理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166" name="path 4166"/>
            <p:cNvSpPr/>
            <p:nvPr/>
          </p:nvSpPr>
          <p:spPr>
            <a:xfrm>
              <a:off x="892505" y="192023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168" name="path 4168"/>
          <p:cNvSpPr/>
          <p:nvPr/>
        </p:nvSpPr>
        <p:spPr>
          <a:xfrm>
            <a:off x="4271771" y="835152"/>
            <a:ext cx="6096" cy="5890259"/>
          </a:xfrm>
          <a:custGeom>
            <a:avLst/>
            <a:gdLst/>
            <a:ahLst/>
            <a:cxnLst/>
            <a:rect l="0" t="0" r="0" b="0"/>
            <a:pathLst>
              <a:path w="9" h="9275">
                <a:moveTo>
                  <a:pt x="4" y="0"/>
                </a:moveTo>
                <a:lnTo>
                  <a:pt x="4" y="9275"/>
                </a:ln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0" name="picture 41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63" y="2468880"/>
            <a:ext cx="10675620" cy="3898391"/>
          </a:xfrm>
          <a:prstGeom prst="rect">
            <a:avLst/>
          </a:prstGeom>
        </p:spPr>
      </p:pic>
      <p:sp>
        <p:nvSpPr>
          <p:cNvPr id="4172" name="textbox 4172"/>
          <p:cNvSpPr/>
          <p:nvPr/>
        </p:nvSpPr>
        <p:spPr>
          <a:xfrm>
            <a:off x="523950" y="1083729"/>
            <a:ext cx="4375150" cy="391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84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广东今年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月试结算分时电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价特点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74" name="textbox 4174"/>
          <p:cNvSpPr/>
          <p:nvPr/>
        </p:nvSpPr>
        <p:spPr>
          <a:xfrm>
            <a:off x="1051114" y="1914537"/>
            <a:ext cx="858964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1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广东今年现货价格分时由于供需关系紧张的原因，普遍价格较高，凌晨的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低电价时段较短，仍存在早晚两个高峰，但价差不大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176" name="picture 41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736597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8" name="picture 41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863596"/>
            <a:ext cx="10692384" cy="3907535"/>
          </a:xfrm>
          <a:prstGeom prst="rect">
            <a:avLst/>
          </a:prstGeom>
        </p:spPr>
      </p:pic>
      <p:sp>
        <p:nvSpPr>
          <p:cNvPr id="4180" name="textbox 4180"/>
          <p:cNvSpPr/>
          <p:nvPr/>
        </p:nvSpPr>
        <p:spPr>
          <a:xfrm>
            <a:off x="2011878" y="1916452"/>
            <a:ext cx="6676390" cy="586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40080" algn="l" rtl="0" eaLnBrk="0">
              <a:lnSpc>
                <a:spcPct val="88000"/>
              </a:lnSpc>
              <a:tabLst/>
            </a:pP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山东光伏发电占比较高，</a:t>
            </a:r>
            <a:r>
              <a:rPr sz="1500" b="1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大发时段接近全部发电量占比的10%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9:00~16:00分时均价明显低于其他时段，</a:t>
            </a:r>
            <a:r>
              <a:rPr sz="1500" b="1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18:00~22:00形成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一个电价晚高峰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82" name="textbox 4182"/>
          <p:cNvSpPr/>
          <p:nvPr/>
        </p:nvSpPr>
        <p:spPr>
          <a:xfrm>
            <a:off x="541964" y="1114352"/>
            <a:ext cx="3605529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山东现货现货分时价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格特点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184" name="picture 41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6" name="picture 41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5928" y="3870960"/>
            <a:ext cx="10506456" cy="2481071"/>
          </a:xfrm>
          <a:prstGeom prst="rect">
            <a:avLst/>
          </a:prstGeom>
        </p:spPr>
      </p:pic>
      <p:pic>
        <p:nvPicPr>
          <p:cNvPr id="4188" name="picture 41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5928" y="2150364"/>
            <a:ext cx="10506456" cy="1459991"/>
          </a:xfrm>
          <a:prstGeom prst="rect">
            <a:avLst/>
          </a:prstGeom>
        </p:spPr>
      </p:pic>
      <p:sp>
        <p:nvSpPr>
          <p:cNvPr id="4190" name="textbox 4190"/>
          <p:cNvSpPr/>
          <p:nvPr/>
        </p:nvSpPr>
        <p:spPr>
          <a:xfrm>
            <a:off x="541964" y="1112886"/>
            <a:ext cx="3905884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山东光伏出力与现货价格对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比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192" name="picture 4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4" name="picture 41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2460" y="2232659"/>
            <a:ext cx="9285731" cy="4553711"/>
          </a:xfrm>
          <a:prstGeom prst="rect">
            <a:avLst/>
          </a:prstGeom>
        </p:spPr>
      </p:pic>
      <p:sp>
        <p:nvSpPr>
          <p:cNvPr id="4196" name="textbox 4196"/>
          <p:cNvSpPr/>
          <p:nvPr/>
        </p:nvSpPr>
        <p:spPr>
          <a:xfrm>
            <a:off x="3154245" y="1808305"/>
            <a:ext cx="441261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8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日前实时最大价差可达0.9元/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kWh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以上，</a:t>
            </a:r>
            <a:r>
              <a:rPr sz="1500" b="1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风险较大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98" name="textbox 4198"/>
          <p:cNvSpPr/>
          <p:nvPr/>
        </p:nvSpPr>
        <p:spPr>
          <a:xfrm>
            <a:off x="541964" y="1114352"/>
            <a:ext cx="2404745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山东日前实时价差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200" name="picture 42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2" name="picture 42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278380"/>
            <a:ext cx="10692384" cy="4463795"/>
          </a:xfrm>
          <a:prstGeom prst="rect">
            <a:avLst/>
          </a:prstGeom>
        </p:spPr>
      </p:pic>
      <p:sp>
        <p:nvSpPr>
          <p:cNvPr id="4204" name="textbox 4204"/>
          <p:cNvSpPr/>
          <p:nvPr/>
        </p:nvSpPr>
        <p:spPr>
          <a:xfrm>
            <a:off x="541964" y="1083729"/>
            <a:ext cx="4657090" cy="391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84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山西今年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月份现货试结算电价情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况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06" name="textbox 4206"/>
          <p:cNvSpPr/>
          <p:nvPr/>
        </p:nvSpPr>
        <p:spPr>
          <a:xfrm>
            <a:off x="2543625" y="1923527"/>
            <a:ext cx="5617209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因山西进入大风期以及供暖季，</a:t>
            </a:r>
            <a:r>
              <a:rPr sz="12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电价波动剧烈，经常是地板价和天花板价同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时出现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208" name="picture 42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736597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0" name="picture 42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84832" y="2941319"/>
            <a:ext cx="6225539" cy="2944368"/>
          </a:xfrm>
          <a:prstGeom prst="rect">
            <a:avLst/>
          </a:prstGeom>
        </p:spPr>
      </p:pic>
      <p:sp>
        <p:nvSpPr>
          <p:cNvPr id="4212" name="textbox 4212"/>
          <p:cNvSpPr/>
          <p:nvPr/>
        </p:nvSpPr>
        <p:spPr>
          <a:xfrm>
            <a:off x="2661464" y="2260082"/>
            <a:ext cx="5377179" cy="292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00"/>
              </a:lnSpc>
              <a:tabLst/>
            </a:pP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从发电量构成看，常规火电占比</a:t>
            </a:r>
            <a:r>
              <a:rPr sz="1500" kern="0" spc="-3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74.78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%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，新能源占比</a:t>
            </a:r>
            <a:r>
              <a:rPr sz="1500" kern="0" spc="-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20.63%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4214" name="textbox 4214"/>
          <p:cNvSpPr/>
          <p:nvPr/>
        </p:nvSpPr>
        <p:spPr>
          <a:xfrm>
            <a:off x="541964" y="1112886"/>
            <a:ext cx="4206240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山西今年一季度新能源发电情况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216" name="picture 42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736597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" name="textbox 4218"/>
          <p:cNvSpPr/>
          <p:nvPr/>
        </p:nvSpPr>
        <p:spPr>
          <a:xfrm>
            <a:off x="880300" y="3175277"/>
            <a:ext cx="3000375" cy="1357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18210" algn="l" rtl="0" eaLnBrk="0">
              <a:lnSpc>
                <a:spcPct val="83000"/>
              </a:lnSpc>
              <a:tabLst/>
            </a:pP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</a:t>
            </a:r>
            <a:r>
              <a:rPr sz="4200" b="1" kern="0" spc="8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4200" b="1" kern="0" spc="-250" dirty="0">
                <a:solidFill>
                  <a:srgbClr val="09416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 sz="4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1"/>
              </a:spcBef>
              <a:tabLst/>
            </a:pPr>
            <a:r>
              <a:rPr sz="4200" b="1" kern="0" spc="-2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 sz="4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410" name="group 410"/>
          <p:cNvGrpSpPr/>
          <p:nvPr/>
        </p:nvGrpSpPr>
        <p:grpSpPr>
          <a:xfrm rot="21600000">
            <a:off x="4762500" y="900683"/>
            <a:ext cx="4724400" cy="559308"/>
            <a:chOff x="0" y="0"/>
            <a:chExt cx="4724400" cy="559308"/>
          </a:xfrm>
        </p:grpSpPr>
        <p:pic>
          <p:nvPicPr>
            <p:cNvPr id="4220" name="picture 42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4222" name="textbox 4222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9254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307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集中式现货市场的典型设计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24" name="path 4224"/>
            <p:cNvSpPr/>
            <p:nvPr/>
          </p:nvSpPr>
          <p:spPr>
            <a:xfrm>
              <a:off x="897775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9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12" name="group 412"/>
          <p:cNvGrpSpPr/>
          <p:nvPr/>
        </p:nvGrpSpPr>
        <p:grpSpPr>
          <a:xfrm rot="21600000">
            <a:off x="4762500" y="3128771"/>
            <a:ext cx="4724400" cy="559308"/>
            <a:chOff x="0" y="0"/>
            <a:chExt cx="4724400" cy="559308"/>
          </a:xfrm>
        </p:grpSpPr>
        <p:pic>
          <p:nvPicPr>
            <p:cNvPr id="4226" name="picture 42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4228" name="textbox 4228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68934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40" baseline="3586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发电企业现货市场交易策略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30" name="path 4230"/>
            <p:cNvSpPr/>
            <p:nvPr/>
          </p:nvSpPr>
          <p:spPr>
            <a:xfrm>
              <a:off x="878776" y="192024"/>
              <a:ext cx="185928" cy="175259"/>
            </a:xfrm>
            <a:custGeom>
              <a:avLst/>
              <a:gdLst/>
              <a:ahLst/>
              <a:cxnLst/>
              <a:rect l="0" t="0" r="0" b="0"/>
              <a:pathLst>
                <a:path w="292" h="275">
                  <a:moveTo>
                    <a:pt x="0" y="0"/>
                  </a:moveTo>
                  <a:lnTo>
                    <a:pt x="292" y="136"/>
                  </a:lnTo>
                  <a:lnTo>
                    <a:pt x="0" y="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14" name="group 414"/>
          <p:cNvGrpSpPr/>
          <p:nvPr/>
        </p:nvGrpSpPr>
        <p:grpSpPr>
          <a:xfrm rot="21600000">
            <a:off x="4762500" y="1642871"/>
            <a:ext cx="4724400" cy="559308"/>
            <a:chOff x="0" y="0"/>
            <a:chExt cx="4724400" cy="559308"/>
          </a:xfrm>
        </p:grpSpPr>
        <p:pic>
          <p:nvPicPr>
            <p:cNvPr id="4232" name="picture 42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4234" name="textbox 4234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8459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典型省份电力现货市场设计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36" name="path 4236"/>
            <p:cNvSpPr/>
            <p:nvPr/>
          </p:nvSpPr>
          <p:spPr>
            <a:xfrm>
              <a:off x="887107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16" name="group 416"/>
          <p:cNvGrpSpPr/>
          <p:nvPr/>
        </p:nvGrpSpPr>
        <p:grpSpPr>
          <a:xfrm rot="21600000">
            <a:off x="4762500" y="3870959"/>
            <a:ext cx="4724400" cy="559308"/>
            <a:chOff x="0" y="0"/>
            <a:chExt cx="4724400" cy="559308"/>
          </a:xfrm>
        </p:grpSpPr>
        <p:pic>
          <p:nvPicPr>
            <p:cNvPr id="4238" name="picture 423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724400" cy="559308"/>
            </a:xfrm>
            <a:prstGeom prst="rect">
              <a:avLst/>
            </a:prstGeom>
          </p:spPr>
        </p:pic>
        <p:sp>
          <p:nvSpPr>
            <p:cNvPr id="4240" name="textbox 4240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8671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30" baseline="44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售电公司现货市场交易策略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42" name="path 4242"/>
            <p:cNvSpPr/>
            <p:nvPr/>
          </p:nvSpPr>
          <p:spPr>
            <a:xfrm>
              <a:off x="895641" y="193548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18" name="group 418"/>
          <p:cNvGrpSpPr/>
          <p:nvPr/>
        </p:nvGrpSpPr>
        <p:grpSpPr>
          <a:xfrm rot="21600000">
            <a:off x="4762500" y="6099047"/>
            <a:ext cx="4724400" cy="559307"/>
            <a:chOff x="0" y="0"/>
            <a:chExt cx="4724400" cy="559307"/>
          </a:xfrm>
        </p:grpSpPr>
        <p:pic>
          <p:nvPicPr>
            <p:cNvPr id="4244" name="picture 424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4246" name="textbox 4246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592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40" baseline="3345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量化交易在电力现货的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实践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48" name="path 4248"/>
            <p:cNvSpPr/>
            <p:nvPr/>
          </p:nvSpPr>
          <p:spPr>
            <a:xfrm>
              <a:off x="885710" y="192023"/>
              <a:ext cx="185928" cy="175260"/>
            </a:xfrm>
            <a:custGeom>
              <a:avLst/>
              <a:gdLst/>
              <a:ahLst/>
              <a:cxnLst/>
              <a:rect l="0" t="0" r="0" b="0"/>
              <a:pathLst>
                <a:path w="292" h="276">
                  <a:moveTo>
                    <a:pt x="0" y="0"/>
                  </a:moveTo>
                  <a:lnTo>
                    <a:pt x="292" y="139"/>
                  </a:lnTo>
                  <a:lnTo>
                    <a:pt x="0" y="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20" name="group 420"/>
          <p:cNvGrpSpPr/>
          <p:nvPr/>
        </p:nvGrpSpPr>
        <p:grpSpPr>
          <a:xfrm rot="21600000">
            <a:off x="4762500" y="5356860"/>
            <a:ext cx="4724400" cy="559307"/>
            <a:chOff x="0" y="0"/>
            <a:chExt cx="4724400" cy="559307"/>
          </a:xfrm>
        </p:grpSpPr>
        <p:pic>
          <p:nvPicPr>
            <p:cNvPr id="4250" name="picture 425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724400" cy="559307"/>
            </a:xfrm>
            <a:prstGeom prst="rect">
              <a:avLst/>
            </a:prstGeom>
          </p:spPr>
        </p:pic>
        <p:sp>
          <p:nvSpPr>
            <p:cNvPr id="4252" name="textbox 4252"/>
            <p:cNvSpPr/>
            <p:nvPr/>
          </p:nvSpPr>
          <p:spPr>
            <a:xfrm>
              <a:off x="-12700" y="-12700"/>
              <a:ext cx="4749800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77190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3200" b="1" kern="0" spc="20" baseline="4508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  <a:r>
                <a:rPr sz="20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试结算案例分析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54" name="path 4254"/>
            <p:cNvSpPr/>
            <p:nvPr/>
          </p:nvSpPr>
          <p:spPr>
            <a:xfrm>
              <a:off x="884504" y="192023"/>
              <a:ext cx="185928" cy="173736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22" name="group 422"/>
          <p:cNvGrpSpPr/>
          <p:nvPr/>
        </p:nvGrpSpPr>
        <p:grpSpPr>
          <a:xfrm rot="21600000">
            <a:off x="4762500" y="4614671"/>
            <a:ext cx="4724400" cy="557783"/>
            <a:chOff x="0" y="0"/>
            <a:chExt cx="4724400" cy="557783"/>
          </a:xfrm>
        </p:grpSpPr>
        <p:pic>
          <p:nvPicPr>
            <p:cNvPr id="4256" name="picture 425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4258" name="textbox 4258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79095" algn="l" rtl="0" eaLnBrk="0">
                <a:lnSpc>
                  <a:spcPts val="2769"/>
                </a:lnSpc>
                <a:spcBef>
                  <a:spcPts val="2"/>
                </a:spcBef>
                <a:tabLst/>
              </a:pPr>
              <a:r>
                <a:rPr sz="20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</a:t>
              </a: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中长期合约交易策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60" name="path 4260"/>
            <p:cNvSpPr/>
            <p:nvPr/>
          </p:nvSpPr>
          <p:spPr>
            <a:xfrm>
              <a:off x="881290" y="192024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24" name="group 424"/>
          <p:cNvGrpSpPr/>
          <p:nvPr/>
        </p:nvGrpSpPr>
        <p:grpSpPr>
          <a:xfrm rot="21600000">
            <a:off x="4762500" y="2386584"/>
            <a:ext cx="4724400" cy="557783"/>
            <a:chOff x="0" y="0"/>
            <a:chExt cx="4724400" cy="557783"/>
          </a:xfrm>
        </p:grpSpPr>
        <p:pic>
          <p:nvPicPr>
            <p:cNvPr id="4262" name="picture 426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4724400" cy="557783"/>
            </a:xfrm>
            <a:prstGeom prst="rect">
              <a:avLst/>
            </a:prstGeom>
          </p:spPr>
        </p:pic>
        <p:sp>
          <p:nvSpPr>
            <p:cNvPr id="4264" name="textbox 4264"/>
            <p:cNvSpPr/>
            <p:nvPr/>
          </p:nvSpPr>
          <p:spPr>
            <a:xfrm>
              <a:off x="-12700" y="-12700"/>
              <a:ext cx="4749800" cy="583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84809" algn="l" rtl="0" eaLnBrk="0">
                <a:lnSpc>
                  <a:spcPts val="2769"/>
                </a:lnSpc>
                <a:spcBef>
                  <a:spcPts val="3"/>
                </a:spcBef>
                <a:tabLst/>
              </a:pPr>
              <a:r>
                <a:rPr sz="3200" b="1" kern="0" spc="20" baseline="4051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  <a:r>
                <a:rPr sz="20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电力市场的经济学原理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66" name="path 4266"/>
            <p:cNvSpPr/>
            <p:nvPr/>
          </p:nvSpPr>
          <p:spPr>
            <a:xfrm>
              <a:off x="892505" y="192023"/>
              <a:ext cx="185928" cy="173735"/>
            </a:xfrm>
            <a:custGeom>
              <a:avLst/>
              <a:gdLst/>
              <a:ahLst/>
              <a:cxnLst/>
              <a:rect l="0" t="0" r="0" b="0"/>
              <a:pathLst>
                <a:path w="292" h="273">
                  <a:moveTo>
                    <a:pt x="0" y="0"/>
                  </a:moveTo>
                  <a:lnTo>
                    <a:pt x="292" y="136"/>
                  </a:lnTo>
                  <a:lnTo>
                    <a:pt x="0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268" name="path 4268"/>
          <p:cNvSpPr/>
          <p:nvPr/>
        </p:nvSpPr>
        <p:spPr>
          <a:xfrm>
            <a:off x="4271771" y="835152"/>
            <a:ext cx="6096" cy="5890259"/>
          </a:xfrm>
          <a:custGeom>
            <a:avLst/>
            <a:gdLst/>
            <a:ahLst/>
            <a:cxnLst/>
            <a:rect l="0" t="0" r="0" b="0"/>
            <a:pathLst>
              <a:path w="9" h="9275">
                <a:moveTo>
                  <a:pt x="4" y="0"/>
                </a:moveTo>
                <a:lnTo>
                  <a:pt x="4" y="9275"/>
                </a:lnTo>
              </a:path>
            </a:pathLst>
          </a:custGeom>
          <a:noFill/>
          <a:ln w="6096" cap="flat">
            <a:solidFill>
              <a:srgbClr val="7F7F7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0" name="picture 4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5591" y="2007108"/>
            <a:ext cx="9663683" cy="4194047"/>
          </a:xfrm>
          <a:prstGeom prst="rect">
            <a:avLst/>
          </a:prstGeom>
        </p:spPr>
      </p:pic>
      <p:sp>
        <p:nvSpPr>
          <p:cNvPr id="4272" name="textbox 4272"/>
          <p:cNvSpPr/>
          <p:nvPr/>
        </p:nvSpPr>
        <p:spPr>
          <a:xfrm>
            <a:off x="523350" y="1114352"/>
            <a:ext cx="2723514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5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什么是量化交易模型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274" name="picture 42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6" name="textbox 4276"/>
          <p:cNvSpPr/>
          <p:nvPr/>
        </p:nvSpPr>
        <p:spPr>
          <a:xfrm>
            <a:off x="7045451" y="2506980"/>
            <a:ext cx="2653664" cy="1061085"/>
          </a:xfrm>
          <a:prstGeom prst="rect">
            <a:avLst/>
          </a:prstGeom>
          <a:solidFill>
            <a:srgbClr val="16375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02944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4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零售套餐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78" name="textbox 4278"/>
          <p:cNvSpPr/>
          <p:nvPr/>
        </p:nvSpPr>
        <p:spPr>
          <a:xfrm>
            <a:off x="995172" y="2506980"/>
            <a:ext cx="2653664" cy="1061085"/>
          </a:xfrm>
          <a:prstGeom prst="rect">
            <a:avLst/>
          </a:prstGeom>
          <a:solidFill>
            <a:srgbClr val="16375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0865" algn="l" rtl="0" eaLnBrk="0">
              <a:lnSpc>
                <a:spcPct val="88000"/>
              </a:lnSpc>
              <a:tabLst/>
            </a:pPr>
            <a:r>
              <a:rPr sz="24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中长期交易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80" name="textbox 4280"/>
          <p:cNvSpPr/>
          <p:nvPr/>
        </p:nvSpPr>
        <p:spPr>
          <a:xfrm>
            <a:off x="4020311" y="2506980"/>
            <a:ext cx="2653664" cy="1061085"/>
          </a:xfrm>
          <a:prstGeom prst="rect">
            <a:avLst/>
          </a:prstGeom>
          <a:solidFill>
            <a:srgbClr val="16375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2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04850" algn="l" rtl="0" eaLnBrk="0">
              <a:lnSpc>
                <a:spcPct val="87000"/>
              </a:lnSpc>
              <a:tabLst/>
            </a:pPr>
            <a:r>
              <a:rPr sz="24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现货交易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82" name="textbox 4282"/>
          <p:cNvSpPr/>
          <p:nvPr/>
        </p:nvSpPr>
        <p:spPr>
          <a:xfrm>
            <a:off x="1329556" y="1940929"/>
            <a:ext cx="8033384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5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在中长期和现货价格高企、用户电量波动较大的情况下，</a:t>
            </a:r>
            <a:r>
              <a:rPr sz="1700" b="1" kern="0" spc="-41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5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力保现货</a:t>
            </a:r>
            <a:r>
              <a:rPr sz="1700" b="1" kern="0" spc="4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交易不发生亏损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84" name="textbox 4284"/>
          <p:cNvSpPr/>
          <p:nvPr/>
        </p:nvSpPr>
        <p:spPr>
          <a:xfrm>
            <a:off x="4120344" y="3710427"/>
            <a:ext cx="2432685" cy="654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3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700" b="1" kern="0" spc="34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3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分析客户典型电量曲线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700" b="1" kern="0" spc="3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预测现货价格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86" name="textbox 4286"/>
          <p:cNvSpPr/>
          <p:nvPr/>
        </p:nvSpPr>
        <p:spPr>
          <a:xfrm>
            <a:off x="7143892" y="3710871"/>
            <a:ext cx="1987550" cy="653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700" b="1" kern="0" spc="39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测算用户曲线风险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6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700" b="1" kern="0" spc="3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量化套餐定价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88" name="textbox 4288"/>
          <p:cNvSpPr/>
          <p:nvPr/>
        </p:nvSpPr>
        <p:spPr>
          <a:xfrm>
            <a:off x="524551" y="1114052"/>
            <a:ext cx="3923029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6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量化交易在现货交易中的实</a:t>
            </a:r>
            <a:r>
              <a:rPr sz="2300" b="1" kern="0" spc="5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践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90" name="textbox 4290"/>
          <p:cNvSpPr/>
          <p:nvPr/>
        </p:nvSpPr>
        <p:spPr>
          <a:xfrm>
            <a:off x="1095249" y="3711984"/>
            <a:ext cx="1543050" cy="652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700" b="1" kern="0" spc="3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优化合约曲线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700" b="1" kern="0" spc="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700" b="1" kern="0" spc="3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20" dirty="0">
                <a:solidFill>
                  <a:srgbClr val="16375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利用合约套利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292" name="picture 42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4" name="textbox 4294"/>
          <p:cNvSpPr/>
          <p:nvPr/>
        </p:nvSpPr>
        <p:spPr>
          <a:xfrm>
            <a:off x="6937692" y="2025840"/>
            <a:ext cx="2762250" cy="4189095"/>
          </a:xfrm>
          <a:prstGeom prst="roundRect">
            <a:avLst>
              <a:gd name="adj" fmla="val 16995"/>
            </a:avLst>
          </a:prstGeom>
          <a:noFill/>
          <a:ln w="9525" cap="flat">
            <a:solidFill>
              <a:srgbClr val="0D426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1439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现货市场的价格出清</a:t>
            </a: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算法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90169" indent="3810" algn="l" rtl="0" eaLnBrk="0">
              <a:lnSpc>
                <a:spcPct val="211000"/>
              </a:lnSpc>
              <a:spcBef>
                <a:spcPts val="73"/>
              </a:spcBef>
              <a:tabLst/>
            </a:pPr>
            <a:r>
              <a:rPr sz="15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虽然复杂，</a:t>
            </a:r>
            <a:r>
              <a:rPr sz="1500" b="1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但价格大体还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是由供需形势决定。日</a:t>
            </a: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前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市场使用的负荷预测、</a:t>
            </a: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</a:t>
            </a: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光出力预测如果不准， 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前和实时价格在某些时</a:t>
            </a: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刻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就会出现较大价差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426" name="group 426"/>
          <p:cNvGrpSpPr/>
          <p:nvPr/>
        </p:nvGrpSpPr>
        <p:grpSpPr>
          <a:xfrm rot="21600000">
            <a:off x="2804922" y="2844546"/>
            <a:ext cx="2551175" cy="2551176"/>
            <a:chOff x="0" y="0"/>
            <a:chExt cx="2551175" cy="2551176"/>
          </a:xfrm>
        </p:grpSpPr>
        <p:grpSp>
          <p:nvGrpSpPr>
            <p:cNvPr id="428" name="group 428"/>
            <p:cNvGrpSpPr/>
            <p:nvPr/>
          </p:nvGrpSpPr>
          <p:grpSpPr>
            <a:xfrm rot="21600000">
              <a:off x="0" y="0"/>
              <a:ext cx="2551175" cy="2551176"/>
              <a:chOff x="0" y="0"/>
              <a:chExt cx="2551175" cy="2551176"/>
            </a:xfrm>
          </p:grpSpPr>
          <p:sp>
            <p:nvSpPr>
              <p:cNvPr id="4296" name="path 4296"/>
              <p:cNvSpPr/>
              <p:nvPr/>
            </p:nvSpPr>
            <p:spPr>
              <a:xfrm>
                <a:off x="5333" y="5334"/>
                <a:ext cx="2540508" cy="2540507"/>
              </a:xfrm>
              <a:custGeom>
                <a:avLst/>
                <a:gdLst/>
                <a:ahLst/>
                <a:cxnLst/>
                <a:rect l="0" t="0" r="0" b="0"/>
                <a:pathLst>
                  <a:path w="4000" h="4000">
                    <a:moveTo>
                      <a:pt x="0" y="2001"/>
                    </a:moveTo>
                    <a:cubicBezTo>
                      <a:pt x="0" y="895"/>
                      <a:pt x="895" y="0"/>
                      <a:pt x="2001" y="0"/>
                    </a:cubicBezTo>
                    <a:cubicBezTo>
                      <a:pt x="3105" y="0"/>
                      <a:pt x="4000" y="895"/>
                      <a:pt x="4000" y="2001"/>
                    </a:cubicBezTo>
                    <a:cubicBezTo>
                      <a:pt x="4000" y="3105"/>
                      <a:pt x="3105" y="4000"/>
                      <a:pt x="2001" y="4000"/>
                    </a:cubicBezTo>
                    <a:cubicBezTo>
                      <a:pt x="895" y="4000"/>
                      <a:pt x="0" y="3105"/>
                      <a:pt x="0" y="2001"/>
                    </a:cubicBezTo>
                  </a:path>
                </a:pathLst>
              </a:custGeom>
              <a:solidFill>
                <a:srgbClr val="FFC00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98" name="path 4298"/>
              <p:cNvSpPr/>
              <p:nvPr/>
            </p:nvSpPr>
            <p:spPr>
              <a:xfrm>
                <a:off x="0" y="0"/>
                <a:ext cx="2551175" cy="2551176"/>
              </a:xfrm>
              <a:custGeom>
                <a:avLst/>
                <a:gdLst/>
                <a:ahLst/>
                <a:cxnLst/>
                <a:rect l="0" t="0" r="0" b="0"/>
                <a:pathLst>
                  <a:path w="4017" h="4017">
                    <a:moveTo>
                      <a:pt x="8" y="2010"/>
                    </a:moveTo>
                    <a:cubicBezTo>
                      <a:pt x="8" y="903"/>
                      <a:pt x="903" y="8"/>
                      <a:pt x="2009" y="8"/>
                    </a:cubicBezTo>
                    <a:cubicBezTo>
                      <a:pt x="3113" y="8"/>
                      <a:pt x="4009" y="903"/>
                      <a:pt x="4009" y="2010"/>
                    </a:cubicBezTo>
                    <a:cubicBezTo>
                      <a:pt x="4009" y="3113"/>
                      <a:pt x="3113" y="4009"/>
                      <a:pt x="2009" y="4009"/>
                    </a:cubicBezTo>
                    <a:cubicBezTo>
                      <a:pt x="903" y="4009"/>
                      <a:pt x="8" y="3113"/>
                      <a:pt x="8" y="2010"/>
                    </a:cubicBezTo>
                  </a:path>
                </a:pathLst>
              </a:custGeom>
              <a:noFill/>
              <a:ln w="10668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00" name="textbox 4300"/>
            <p:cNvSpPr/>
            <p:nvPr/>
          </p:nvSpPr>
          <p:spPr>
            <a:xfrm>
              <a:off x="-12700" y="-12700"/>
              <a:ext cx="2576829" cy="26187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43230" indent="21590" algn="l" rtl="0" eaLnBrk="0">
                <a:lnSpc>
                  <a:spcPct val="110000"/>
                </a:lnSpc>
                <a:spcBef>
                  <a:spcPts val="1"/>
                </a:spcBef>
                <a:tabLst/>
              </a:pPr>
              <a:r>
                <a:rPr sz="33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电价大小</a:t>
              </a:r>
              <a:r>
                <a:rPr sz="33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33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概率模型</a:t>
              </a:r>
              <a:endParaRPr sz="3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30" name="group 430"/>
          <p:cNvGrpSpPr/>
          <p:nvPr/>
        </p:nvGrpSpPr>
        <p:grpSpPr>
          <a:xfrm rot="21600000">
            <a:off x="771905" y="2372105"/>
            <a:ext cx="1281683" cy="1281683"/>
            <a:chOff x="0" y="0"/>
            <a:chExt cx="1281683" cy="1281683"/>
          </a:xfrm>
        </p:grpSpPr>
        <p:grpSp>
          <p:nvGrpSpPr>
            <p:cNvPr id="432" name="group 432"/>
            <p:cNvGrpSpPr/>
            <p:nvPr/>
          </p:nvGrpSpPr>
          <p:grpSpPr>
            <a:xfrm rot="21600000">
              <a:off x="0" y="0"/>
              <a:ext cx="1281683" cy="1281683"/>
              <a:chOff x="0" y="0"/>
              <a:chExt cx="1281683" cy="1281683"/>
            </a:xfrm>
          </p:grpSpPr>
          <p:sp>
            <p:nvSpPr>
              <p:cNvPr id="4302" name="path 4302"/>
              <p:cNvSpPr/>
              <p:nvPr/>
            </p:nvSpPr>
            <p:spPr>
              <a:xfrm>
                <a:off x="5333" y="5333"/>
                <a:ext cx="1271015" cy="1271016"/>
              </a:xfrm>
              <a:custGeom>
                <a:avLst/>
                <a:gdLst/>
                <a:ahLst/>
                <a:cxnLst/>
                <a:rect l="0" t="0" r="0" b="0"/>
                <a:pathLst>
                  <a:path w="2001" h="2001">
                    <a:moveTo>
                      <a:pt x="0" y="1000"/>
                    </a:moveTo>
                    <a:cubicBezTo>
                      <a:pt x="0" y="448"/>
                      <a:pt x="446" y="0"/>
                      <a:pt x="1000" y="0"/>
                    </a:cubicBezTo>
                    <a:cubicBezTo>
                      <a:pt x="1552" y="0"/>
                      <a:pt x="2001" y="448"/>
                      <a:pt x="2001" y="1000"/>
                    </a:cubicBezTo>
                    <a:cubicBezTo>
                      <a:pt x="2001" y="1552"/>
                      <a:pt x="1552" y="2001"/>
                      <a:pt x="1000" y="2001"/>
                    </a:cubicBezTo>
                    <a:cubicBezTo>
                      <a:pt x="446" y="2001"/>
                      <a:pt x="0" y="1552"/>
                      <a:pt x="0" y="1000"/>
                    </a:cubicBezTo>
                  </a:path>
                </a:pathLst>
              </a:custGeom>
              <a:solidFill>
                <a:srgbClr val="00206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4" name="path 4304"/>
              <p:cNvSpPr/>
              <p:nvPr/>
            </p:nvSpPr>
            <p:spPr>
              <a:xfrm>
                <a:off x="0" y="0"/>
                <a:ext cx="1281683" cy="1281683"/>
              </a:xfrm>
              <a:custGeom>
                <a:avLst/>
                <a:gdLst/>
                <a:ahLst/>
                <a:cxnLst/>
                <a:rect l="0" t="0" r="0" b="0"/>
                <a:pathLst>
                  <a:path w="2018" h="2018">
                    <a:moveTo>
                      <a:pt x="8" y="1009"/>
                    </a:moveTo>
                    <a:cubicBezTo>
                      <a:pt x="8" y="457"/>
                      <a:pt x="454" y="8"/>
                      <a:pt x="1009" y="8"/>
                    </a:cubicBezTo>
                    <a:cubicBezTo>
                      <a:pt x="1561" y="8"/>
                      <a:pt x="2009" y="457"/>
                      <a:pt x="2009" y="1009"/>
                    </a:cubicBezTo>
                    <a:cubicBezTo>
                      <a:pt x="2009" y="1561"/>
                      <a:pt x="1561" y="2010"/>
                      <a:pt x="1009" y="2010"/>
                    </a:cubicBezTo>
                    <a:cubicBezTo>
                      <a:pt x="454" y="2010"/>
                      <a:pt x="8" y="1561"/>
                      <a:pt x="8" y="1009"/>
                    </a:cubicBezTo>
                  </a:path>
                </a:pathLst>
              </a:custGeom>
              <a:noFill/>
              <a:ln w="10668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06" name="textbox 4306"/>
            <p:cNvSpPr/>
            <p:nvPr/>
          </p:nvSpPr>
          <p:spPr>
            <a:xfrm>
              <a:off x="-12700" y="-12700"/>
              <a:ext cx="1307464" cy="1307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09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1140" algn="l" rtl="0" eaLnBrk="0">
                <a:lnSpc>
                  <a:spcPct val="86000"/>
                </a:lnSpc>
                <a:tabLst/>
              </a:pPr>
              <a:r>
                <a:rPr sz="16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全社会负</a:t>
              </a:r>
              <a:endParaRPr sz="1600" dirty="0">
                <a:latin typeface="Microsoft YaHei"/>
                <a:ea typeface="Microsoft YaHei"/>
                <a:cs typeface="Microsoft YaHei"/>
              </a:endParaRPr>
            </a:p>
            <a:p>
              <a:pPr marL="335279" algn="l" rtl="0" eaLnBrk="0">
                <a:lnSpc>
                  <a:spcPts val="2578"/>
                </a:lnSpc>
                <a:tabLst/>
              </a:pPr>
              <a:r>
                <a:rPr sz="16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荷预测</a:t>
              </a:r>
              <a:endParaRPr sz="16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34" name="group 434"/>
          <p:cNvGrpSpPr/>
          <p:nvPr/>
        </p:nvGrpSpPr>
        <p:grpSpPr>
          <a:xfrm rot="21600000">
            <a:off x="771905" y="4586478"/>
            <a:ext cx="1281683" cy="1281683"/>
            <a:chOff x="0" y="0"/>
            <a:chExt cx="1281683" cy="1281683"/>
          </a:xfrm>
        </p:grpSpPr>
        <p:grpSp>
          <p:nvGrpSpPr>
            <p:cNvPr id="436" name="group 436"/>
            <p:cNvGrpSpPr/>
            <p:nvPr/>
          </p:nvGrpSpPr>
          <p:grpSpPr>
            <a:xfrm rot="21600000">
              <a:off x="0" y="0"/>
              <a:ext cx="1281683" cy="1281683"/>
              <a:chOff x="0" y="0"/>
              <a:chExt cx="1281683" cy="1281683"/>
            </a:xfrm>
          </p:grpSpPr>
          <p:sp>
            <p:nvSpPr>
              <p:cNvPr id="4308" name="path 4308"/>
              <p:cNvSpPr/>
              <p:nvPr/>
            </p:nvSpPr>
            <p:spPr>
              <a:xfrm>
                <a:off x="5333" y="5333"/>
                <a:ext cx="1271015" cy="1271015"/>
              </a:xfrm>
              <a:custGeom>
                <a:avLst/>
                <a:gdLst/>
                <a:ahLst/>
                <a:cxnLst/>
                <a:rect l="0" t="0" r="0" b="0"/>
                <a:pathLst>
                  <a:path w="2001" h="2001">
                    <a:moveTo>
                      <a:pt x="0" y="1000"/>
                    </a:moveTo>
                    <a:cubicBezTo>
                      <a:pt x="0" y="448"/>
                      <a:pt x="446" y="0"/>
                      <a:pt x="1000" y="0"/>
                    </a:cubicBezTo>
                    <a:cubicBezTo>
                      <a:pt x="1552" y="0"/>
                      <a:pt x="2001" y="448"/>
                      <a:pt x="2001" y="1000"/>
                    </a:cubicBezTo>
                    <a:cubicBezTo>
                      <a:pt x="2001" y="1552"/>
                      <a:pt x="1552" y="2001"/>
                      <a:pt x="1000" y="2001"/>
                    </a:cubicBezTo>
                    <a:cubicBezTo>
                      <a:pt x="446" y="2001"/>
                      <a:pt x="0" y="1552"/>
                      <a:pt x="0" y="1000"/>
                    </a:cubicBezTo>
                  </a:path>
                </a:pathLst>
              </a:custGeom>
              <a:solidFill>
                <a:srgbClr val="00206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0" name="path 4310"/>
              <p:cNvSpPr/>
              <p:nvPr/>
            </p:nvSpPr>
            <p:spPr>
              <a:xfrm>
                <a:off x="0" y="0"/>
                <a:ext cx="1281683" cy="1281683"/>
              </a:xfrm>
              <a:custGeom>
                <a:avLst/>
                <a:gdLst/>
                <a:ahLst/>
                <a:cxnLst/>
                <a:rect l="0" t="0" r="0" b="0"/>
                <a:pathLst>
                  <a:path w="2018" h="2018">
                    <a:moveTo>
                      <a:pt x="8" y="1009"/>
                    </a:moveTo>
                    <a:cubicBezTo>
                      <a:pt x="8" y="457"/>
                      <a:pt x="454" y="8"/>
                      <a:pt x="1009" y="8"/>
                    </a:cubicBezTo>
                    <a:cubicBezTo>
                      <a:pt x="1561" y="8"/>
                      <a:pt x="2009" y="457"/>
                      <a:pt x="2009" y="1009"/>
                    </a:cubicBezTo>
                    <a:cubicBezTo>
                      <a:pt x="2009" y="1561"/>
                      <a:pt x="1561" y="2009"/>
                      <a:pt x="1009" y="2009"/>
                    </a:cubicBezTo>
                    <a:cubicBezTo>
                      <a:pt x="454" y="2009"/>
                      <a:pt x="8" y="1561"/>
                      <a:pt x="8" y="1009"/>
                    </a:cubicBezTo>
                  </a:path>
                </a:pathLst>
              </a:custGeom>
              <a:noFill/>
              <a:ln w="10668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12" name="textbox 4312"/>
            <p:cNvSpPr/>
            <p:nvPr/>
          </p:nvSpPr>
          <p:spPr>
            <a:xfrm>
              <a:off x="-12700" y="-12700"/>
              <a:ext cx="1307464" cy="1307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30504" algn="l" rtl="0" eaLnBrk="0">
                <a:lnSpc>
                  <a:spcPct val="85000"/>
                </a:lnSpc>
                <a:spcBef>
                  <a:spcPts val="2"/>
                </a:spcBef>
                <a:tabLst/>
              </a:pPr>
              <a:r>
                <a:rPr sz="1600" b="1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风光出力</a:t>
              </a:r>
              <a:endParaRPr sz="1600" dirty="0">
                <a:latin typeface="Microsoft YaHei"/>
                <a:ea typeface="Microsoft YaHei"/>
                <a:cs typeface="Microsoft YaHei"/>
              </a:endParaRPr>
            </a:p>
            <a:p>
              <a:pPr marL="443865" algn="l" rtl="0" eaLnBrk="0">
                <a:lnSpc>
                  <a:spcPts val="2591"/>
                </a:lnSpc>
                <a:tabLst/>
              </a:pPr>
              <a:r>
                <a:rPr sz="16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预测</a:t>
              </a:r>
              <a:endParaRPr sz="16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4314" name="textbox 4314"/>
          <p:cNvSpPr/>
          <p:nvPr/>
        </p:nvSpPr>
        <p:spPr>
          <a:xfrm>
            <a:off x="523950" y="1112886"/>
            <a:ext cx="4968875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如何预测日前和实时市场的价格大</a:t>
            </a: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16" name="path 4316"/>
          <p:cNvSpPr/>
          <p:nvPr/>
        </p:nvSpPr>
        <p:spPr>
          <a:xfrm>
            <a:off x="1141476" y="3849623"/>
            <a:ext cx="541020" cy="541019"/>
          </a:xfrm>
          <a:custGeom>
            <a:avLst/>
            <a:gdLst/>
            <a:ahLst/>
            <a:cxnLst/>
            <a:rect l="0" t="0" r="0" b="0"/>
            <a:pathLst>
              <a:path w="852" h="851">
                <a:moveTo>
                  <a:pt x="0" y="290"/>
                </a:moveTo>
                <a:lnTo>
                  <a:pt x="290" y="290"/>
                </a:lnTo>
                <a:lnTo>
                  <a:pt x="290" y="0"/>
                </a:lnTo>
                <a:lnTo>
                  <a:pt x="561" y="0"/>
                </a:lnTo>
                <a:lnTo>
                  <a:pt x="561" y="290"/>
                </a:lnTo>
                <a:lnTo>
                  <a:pt x="852" y="290"/>
                </a:lnTo>
                <a:lnTo>
                  <a:pt x="852" y="561"/>
                </a:lnTo>
                <a:lnTo>
                  <a:pt x="561" y="561"/>
                </a:lnTo>
                <a:lnTo>
                  <a:pt x="561" y="851"/>
                </a:lnTo>
                <a:lnTo>
                  <a:pt x="290" y="851"/>
                </a:lnTo>
                <a:lnTo>
                  <a:pt x="290" y="561"/>
                </a:lnTo>
                <a:lnTo>
                  <a:pt x="0" y="561"/>
                </a:lnTo>
                <a:lnTo>
                  <a:pt x="0" y="290"/>
                </a:lnTo>
                <a:close/>
              </a:path>
            </a:pathLst>
          </a:custGeom>
          <a:solidFill>
            <a:srgbClr val="B5CB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18" name="path 4318"/>
          <p:cNvSpPr/>
          <p:nvPr/>
        </p:nvSpPr>
        <p:spPr>
          <a:xfrm>
            <a:off x="2238755" y="3883152"/>
            <a:ext cx="403860" cy="473963"/>
          </a:xfrm>
          <a:custGeom>
            <a:avLst/>
            <a:gdLst/>
            <a:ahLst/>
            <a:cxnLst/>
            <a:rect l="0" t="0" r="0" b="0"/>
            <a:pathLst>
              <a:path w="636" h="746">
                <a:moveTo>
                  <a:pt x="0" y="151"/>
                </a:moveTo>
                <a:lnTo>
                  <a:pt x="316" y="151"/>
                </a:lnTo>
                <a:lnTo>
                  <a:pt x="316" y="0"/>
                </a:lnTo>
                <a:lnTo>
                  <a:pt x="636" y="374"/>
                </a:lnTo>
                <a:lnTo>
                  <a:pt x="316" y="746"/>
                </a:lnTo>
                <a:lnTo>
                  <a:pt x="316" y="597"/>
                </a:lnTo>
                <a:lnTo>
                  <a:pt x="0" y="597"/>
                </a:lnTo>
                <a:lnTo>
                  <a:pt x="0" y="151"/>
                </a:lnTo>
                <a:close/>
              </a:path>
            </a:pathLst>
          </a:custGeom>
          <a:solidFill>
            <a:srgbClr val="B5CB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20" name="picture 43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20773"/>
            <a:ext cx="2596896" cy="16764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2" name="rect 4322"/>
          <p:cNvSpPr/>
          <p:nvPr/>
        </p:nvSpPr>
        <p:spPr>
          <a:xfrm>
            <a:off x="0" y="4992623"/>
            <a:ext cx="10692384" cy="111252"/>
          </a:xfrm>
          <a:prstGeom prst="rect">
            <a:avLst/>
          </a:prstGeom>
          <a:solidFill>
            <a:srgbClr val="5097D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24" name="picture 4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186171"/>
            <a:ext cx="10692384" cy="27431"/>
          </a:xfrm>
          <a:prstGeom prst="rect">
            <a:avLst/>
          </a:prstGeom>
        </p:spPr>
      </p:pic>
      <p:sp>
        <p:nvSpPr>
          <p:cNvPr id="4326" name="rect 4326"/>
          <p:cNvSpPr/>
          <p:nvPr/>
        </p:nvSpPr>
        <p:spPr>
          <a:xfrm>
            <a:off x="0" y="3988308"/>
            <a:ext cx="10692384" cy="164591"/>
          </a:xfrm>
          <a:prstGeom prst="rect">
            <a:avLst/>
          </a:prstGeom>
          <a:solidFill>
            <a:srgbClr val="589CD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28" name="rect 4328"/>
          <p:cNvSpPr/>
          <p:nvPr/>
        </p:nvSpPr>
        <p:spPr>
          <a:xfrm>
            <a:off x="0" y="3326891"/>
            <a:ext cx="10692384" cy="563879"/>
          </a:xfrm>
          <a:prstGeom prst="rect">
            <a:avLst/>
          </a:prstGeom>
          <a:solidFill>
            <a:srgbClr val="5E9FD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30" name="picture 43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3229355"/>
            <a:ext cx="10692384" cy="2424683"/>
          </a:xfrm>
          <a:prstGeom prst="rect">
            <a:avLst/>
          </a:prstGeom>
        </p:spPr>
      </p:pic>
      <p:sp>
        <p:nvSpPr>
          <p:cNvPr id="4332" name="rect 4332"/>
          <p:cNvSpPr/>
          <p:nvPr/>
        </p:nvSpPr>
        <p:spPr>
          <a:xfrm>
            <a:off x="9720071" y="3284219"/>
            <a:ext cx="972312" cy="190500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34" name="textbox 4334"/>
          <p:cNvSpPr/>
          <p:nvPr/>
        </p:nvSpPr>
        <p:spPr>
          <a:xfrm>
            <a:off x="9720071" y="5385816"/>
            <a:ext cx="972819" cy="191135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493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0.5418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336" name="rect 4336"/>
          <p:cNvSpPr/>
          <p:nvPr/>
        </p:nvSpPr>
        <p:spPr>
          <a:xfrm>
            <a:off x="0" y="5682995"/>
            <a:ext cx="10692384" cy="192024"/>
          </a:xfrm>
          <a:prstGeom prst="rect">
            <a:avLst/>
          </a:prstGeom>
          <a:solidFill>
            <a:srgbClr val="4B92D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38" name="picture 43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720071" y="6723888"/>
            <a:ext cx="972312" cy="62483"/>
          </a:xfrm>
          <a:prstGeom prst="rect">
            <a:avLst/>
          </a:prstGeom>
        </p:spPr>
      </p:pic>
      <p:sp>
        <p:nvSpPr>
          <p:cNvPr id="4340" name="rect 4340"/>
          <p:cNvSpPr/>
          <p:nvPr/>
        </p:nvSpPr>
        <p:spPr>
          <a:xfrm>
            <a:off x="0" y="6426707"/>
            <a:ext cx="10692384" cy="109728"/>
          </a:xfrm>
          <a:prstGeom prst="rect">
            <a:avLst/>
          </a:prstGeom>
          <a:solidFill>
            <a:srgbClr val="468D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42" name="path 4342"/>
          <p:cNvSpPr/>
          <p:nvPr/>
        </p:nvSpPr>
        <p:spPr>
          <a:xfrm>
            <a:off x="0" y="6723888"/>
            <a:ext cx="9720071" cy="62483"/>
          </a:xfrm>
          <a:custGeom>
            <a:avLst/>
            <a:gdLst/>
            <a:ahLst/>
            <a:cxnLst/>
            <a:rect l="0" t="0" r="0" b="0"/>
            <a:pathLst>
              <a:path w="15307" h="98">
                <a:moveTo>
                  <a:pt x="0" y="0"/>
                </a:moveTo>
                <a:lnTo>
                  <a:pt x="15307" y="0"/>
                </a:lnTo>
                <a:lnTo>
                  <a:pt x="15307" y="98"/>
                </a:lnTo>
                <a:lnTo>
                  <a:pt x="0" y="98"/>
                </a:lnTo>
                <a:lnTo>
                  <a:pt x="0" y="0"/>
                </a:lnTo>
                <a:close/>
              </a:path>
            </a:pathLst>
          </a:cu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44" name="picture 43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6315455"/>
            <a:ext cx="10692384" cy="28956"/>
          </a:xfrm>
          <a:prstGeom prst="rect">
            <a:avLst/>
          </a:prstGeom>
        </p:spPr>
      </p:pic>
      <p:pic>
        <p:nvPicPr>
          <p:cNvPr id="4346" name="picture 43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5763005"/>
            <a:ext cx="10692384" cy="10667"/>
          </a:xfrm>
          <a:prstGeom prst="rect">
            <a:avLst/>
          </a:prstGeom>
        </p:spPr>
      </p:pic>
      <p:sp>
        <p:nvSpPr>
          <p:cNvPr id="4348" name="rect 4348"/>
          <p:cNvSpPr/>
          <p:nvPr/>
        </p:nvSpPr>
        <p:spPr>
          <a:xfrm>
            <a:off x="0" y="5682995"/>
            <a:ext cx="10692384" cy="1103376"/>
          </a:xfrm>
          <a:prstGeom prst="rect">
            <a:avLst/>
          </a:prstGeom>
          <a:solidFill>
            <a:srgbClr val="4B91D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50" name="textbox 4350"/>
          <p:cNvSpPr/>
          <p:nvPr/>
        </p:nvSpPr>
        <p:spPr>
          <a:xfrm>
            <a:off x="9720071" y="5576316"/>
            <a:ext cx="972819" cy="193039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3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493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0.5133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352" name="rect 4352"/>
          <p:cNvSpPr/>
          <p:nvPr/>
        </p:nvSpPr>
        <p:spPr>
          <a:xfrm>
            <a:off x="0" y="5385816"/>
            <a:ext cx="9720071" cy="190500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54" name="rect 4354"/>
          <p:cNvSpPr/>
          <p:nvPr/>
        </p:nvSpPr>
        <p:spPr>
          <a:xfrm>
            <a:off x="0" y="5576316"/>
            <a:ext cx="9720071" cy="192023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56" name="picture 43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5570982"/>
            <a:ext cx="10692384" cy="10667"/>
          </a:xfrm>
          <a:prstGeom prst="rect">
            <a:avLst/>
          </a:prstGeom>
        </p:spPr>
      </p:pic>
      <p:sp>
        <p:nvSpPr>
          <p:cNvPr id="4358" name="rect 4358"/>
          <p:cNvSpPr/>
          <p:nvPr/>
        </p:nvSpPr>
        <p:spPr>
          <a:xfrm>
            <a:off x="0" y="5768339"/>
            <a:ext cx="9720071" cy="190500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60" name="picture 43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0" y="5763005"/>
            <a:ext cx="10692384" cy="10667"/>
          </a:xfrm>
          <a:prstGeom prst="rect">
            <a:avLst/>
          </a:prstGeom>
        </p:spPr>
      </p:pic>
      <p:sp>
        <p:nvSpPr>
          <p:cNvPr id="4362" name="rect 4362"/>
          <p:cNvSpPr/>
          <p:nvPr/>
        </p:nvSpPr>
        <p:spPr>
          <a:xfrm>
            <a:off x="0" y="3284219"/>
            <a:ext cx="9720071" cy="190500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64" name="picture 436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0" y="2250947"/>
            <a:ext cx="10692384" cy="96011"/>
          </a:xfrm>
          <a:prstGeom prst="rect">
            <a:avLst/>
          </a:prstGeom>
        </p:spPr>
      </p:pic>
      <p:sp>
        <p:nvSpPr>
          <p:cNvPr id="4366" name="rect 4366"/>
          <p:cNvSpPr/>
          <p:nvPr/>
        </p:nvSpPr>
        <p:spPr>
          <a:xfrm>
            <a:off x="0" y="2567940"/>
            <a:ext cx="10692384" cy="633983"/>
          </a:xfrm>
          <a:prstGeom prst="rect">
            <a:avLst/>
          </a:prstGeom>
          <a:solidFill>
            <a:srgbClr val="66A2D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68" name="picture 436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0" y="2896361"/>
            <a:ext cx="10692384" cy="10668"/>
          </a:xfrm>
          <a:prstGeom prst="rect">
            <a:avLst/>
          </a:prstGeom>
        </p:spPr>
      </p:pic>
      <p:sp>
        <p:nvSpPr>
          <p:cNvPr id="4370" name="rect 4370"/>
          <p:cNvSpPr/>
          <p:nvPr/>
        </p:nvSpPr>
        <p:spPr>
          <a:xfrm>
            <a:off x="0" y="2250947"/>
            <a:ext cx="10692384" cy="950976"/>
          </a:xfrm>
          <a:prstGeom prst="rect">
            <a:avLst/>
          </a:prstGeom>
          <a:solidFill>
            <a:srgbClr val="69A3D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72" name="rect 4372"/>
          <p:cNvSpPr/>
          <p:nvPr/>
        </p:nvSpPr>
        <p:spPr>
          <a:xfrm>
            <a:off x="0" y="2711196"/>
            <a:ext cx="10692384" cy="573023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74" name="picture 437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0" y="3278885"/>
            <a:ext cx="10692384" cy="10667"/>
          </a:xfrm>
          <a:prstGeom prst="rect">
            <a:avLst/>
          </a:prstGeom>
        </p:spPr>
      </p:pic>
      <p:pic>
        <p:nvPicPr>
          <p:cNvPr id="4376" name="picture 437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0" y="2896361"/>
            <a:ext cx="10692384" cy="10668"/>
          </a:xfrm>
          <a:prstGeom prst="rect">
            <a:avLst/>
          </a:prstGeom>
        </p:spPr>
      </p:pic>
      <p:sp>
        <p:nvSpPr>
          <p:cNvPr id="4378" name="path 4378"/>
          <p:cNvSpPr/>
          <p:nvPr/>
        </p:nvSpPr>
        <p:spPr>
          <a:xfrm>
            <a:off x="0" y="6723888"/>
            <a:ext cx="9720071" cy="62483"/>
          </a:xfrm>
          <a:custGeom>
            <a:avLst/>
            <a:gdLst/>
            <a:ahLst/>
            <a:cxnLst/>
            <a:rect l="0" t="0" r="0" b="0"/>
            <a:pathLst>
              <a:path w="15307" h="98">
                <a:moveTo>
                  <a:pt x="0" y="0"/>
                </a:moveTo>
                <a:lnTo>
                  <a:pt x="15307" y="0"/>
                </a:lnTo>
                <a:lnTo>
                  <a:pt x="15307" y="98"/>
                </a:lnTo>
                <a:lnTo>
                  <a:pt x="0" y="98"/>
                </a:lnTo>
                <a:lnTo>
                  <a:pt x="0" y="0"/>
                </a:lnTo>
                <a:close/>
              </a:path>
            </a:pathLst>
          </a:cu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80" name="rect 4380"/>
          <p:cNvSpPr/>
          <p:nvPr/>
        </p:nvSpPr>
        <p:spPr>
          <a:xfrm>
            <a:off x="0" y="6531864"/>
            <a:ext cx="9720071" cy="192023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82" name="rect 4382"/>
          <p:cNvSpPr/>
          <p:nvPr/>
        </p:nvSpPr>
        <p:spPr>
          <a:xfrm>
            <a:off x="0" y="5958839"/>
            <a:ext cx="9720071" cy="192024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84" name="picture 438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0" y="2086355"/>
            <a:ext cx="10692384" cy="82296"/>
          </a:xfrm>
          <a:prstGeom prst="rect">
            <a:avLst/>
          </a:prstGeom>
        </p:spPr>
      </p:pic>
      <p:pic>
        <p:nvPicPr>
          <p:cNvPr id="4386" name="picture 438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0" y="2086355"/>
            <a:ext cx="10692384" cy="82296"/>
          </a:xfrm>
          <a:prstGeom prst="rect">
            <a:avLst/>
          </a:prstGeom>
        </p:spPr>
      </p:pic>
      <p:pic>
        <p:nvPicPr>
          <p:cNvPr id="4388" name="picture 438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0" y="1906523"/>
            <a:ext cx="10692384" cy="96011"/>
          </a:xfrm>
          <a:prstGeom prst="rect">
            <a:avLst/>
          </a:prstGeom>
        </p:spPr>
      </p:pic>
      <p:pic>
        <p:nvPicPr>
          <p:cNvPr id="4390" name="picture 439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0" y="1629155"/>
            <a:ext cx="10692384" cy="56388"/>
          </a:xfrm>
          <a:prstGeom prst="rect">
            <a:avLst/>
          </a:prstGeom>
        </p:spPr>
      </p:pic>
      <p:sp>
        <p:nvSpPr>
          <p:cNvPr id="4392" name="rect 4392"/>
          <p:cNvSpPr/>
          <p:nvPr/>
        </p:nvSpPr>
        <p:spPr>
          <a:xfrm>
            <a:off x="0" y="1629155"/>
            <a:ext cx="10692384" cy="373379"/>
          </a:xfrm>
          <a:prstGeom prst="rect">
            <a:avLst/>
          </a:prstGeom>
          <a:solidFill>
            <a:srgbClr val="70A6D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394" name="table 4394"/>
          <p:cNvGraphicFramePr>
            <a:graphicFrameLocks noGrp="1"/>
          </p:cNvGraphicFramePr>
          <p:nvPr/>
        </p:nvGraphicFramePr>
        <p:xfrm>
          <a:off x="0" y="1620773"/>
          <a:ext cx="10692130" cy="5293995"/>
        </p:xfrm>
        <a:graphic>
          <a:graphicData uri="http://schemas.openxmlformats.org/drawingml/2006/table">
            <a:tbl>
              <a:tblPr/>
              <a:tblGrid>
                <a:gridCol w="233045"/>
                <a:gridCol w="544194"/>
                <a:gridCol w="194945"/>
                <a:gridCol w="271145"/>
                <a:gridCol w="466725"/>
                <a:gridCol w="234950"/>
                <a:gridCol w="309245"/>
                <a:gridCol w="466090"/>
                <a:gridCol w="196850"/>
                <a:gridCol w="735965"/>
                <a:gridCol w="236219"/>
                <a:gridCol w="774065"/>
                <a:gridCol w="196850"/>
                <a:gridCol w="114300"/>
                <a:gridCol w="621665"/>
                <a:gridCol w="236219"/>
                <a:gridCol w="152400"/>
                <a:gridCol w="621665"/>
                <a:gridCol w="198120"/>
                <a:gridCol w="734694"/>
                <a:gridCol w="237490"/>
                <a:gridCol w="772794"/>
                <a:gridCol w="199389"/>
                <a:gridCol w="733425"/>
                <a:gridCol w="237490"/>
                <a:gridCol w="772794"/>
                <a:gridCol w="199389"/>
              </a:tblGrid>
              <a:tr h="40640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315" algn="l" rtl="0" eaLnBrk="0">
                        <a:lnSpc>
                          <a:spcPts val="931"/>
                        </a:lnSpc>
                        <a:tabLst/>
                      </a:pPr>
                      <a:r>
                        <a:rPr sz="1200" b="1" kern="0" spc="-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日期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1629" algn="l" rtl="0" eaLnBrk="0">
                        <a:lnSpc>
                          <a:spcPts val="931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时间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" algn="l" rtl="0" eaLnBrk="0">
                        <a:lnSpc>
                          <a:spcPts val="931"/>
                        </a:lnSpc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预测日前价格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4" algn="l" rtl="0" eaLnBrk="0">
                        <a:lnSpc>
                          <a:spcPts val="931"/>
                        </a:lnSpc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预测实时价格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4" algn="l" rtl="0" eaLnBrk="0">
                        <a:lnSpc>
                          <a:spcPts val="931"/>
                        </a:lnSpc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概率最大区间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964" algn="l" rtl="0" eaLnBrk="0">
                        <a:lnSpc>
                          <a:spcPts val="931"/>
                        </a:lnSpc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概率最大值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6DA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2446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2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2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2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2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2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2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2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2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2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2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2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D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BA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4033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105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105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105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5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5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105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105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5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5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5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5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BA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177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517.5442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526.192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0.569853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0.430147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0.5699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367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553.1549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668.4874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0.705006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0.294994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0.705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69214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/12</a:t>
                      </a:r>
                      <a:endParaRPr sz="1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/12</a:t>
                      </a:r>
                      <a:endParaRPr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7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ts val="1208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7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r>
                        <a:rPr sz="12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78.4</a:t>
                      </a:r>
                      <a:r>
                        <a:rPr sz="12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486.95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746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646.7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659.0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058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316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0.715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0.671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949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5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233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2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.284</a:t>
                      </a:r>
                      <a:r>
                        <a:rPr sz="12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0.3287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005" algn="l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06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ts val="149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71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tabLst/>
                      </a:pPr>
                      <a:r>
                        <a:rPr sz="12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18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2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2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2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2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2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2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2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2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2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2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2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260984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0394" algn="l" rtl="0" eaLnBrk="0">
                        <a:lnSpc>
                          <a:spcPts val="242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224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494.6393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9759" algn="l" rtl="0" eaLnBrk="0">
                        <a:lnSpc>
                          <a:spcPts val="242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224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619.6569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2290" algn="l" rtl="0" eaLnBrk="0">
                        <a:lnSpc>
                          <a:spcPts val="242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224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0.545562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1655" algn="l" rtl="0" eaLnBrk="0">
                        <a:lnSpc>
                          <a:spcPts val="242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224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0.454438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8454" algn="l" rtl="0" eaLnBrk="0">
                        <a:lnSpc>
                          <a:spcPts val="377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7145" algn="l" rtl="0" eaLnBrk="0">
                        <a:lnSpc>
                          <a:spcPct val="85000"/>
                        </a:lnSpc>
                        <a:spcBef>
                          <a:spcPts val="89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1030" algn="l" rtl="0" eaLnBrk="0">
                        <a:lnSpc>
                          <a:spcPts val="242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224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0.5456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19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67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7:00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438.6342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658.0493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0.539564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0.460436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0.5396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177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8:00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407.7312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383.5418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0.579905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0.420095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0.5799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177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371.367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368.0841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0.591126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0.408874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0.5911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6000"/>
                        </a:lnSpc>
                        <a:tabLst/>
                      </a:pPr>
                      <a:r>
                        <a:rPr sz="11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/12</a:t>
                      </a:r>
                      <a:endParaRPr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67"/>
                        </a:lnSpc>
                        <a:tabLst/>
                      </a:pPr>
                      <a:r>
                        <a:rPr sz="1000" b="1" kern="0" spc="-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r>
                        <a:rPr sz="1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256.43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202.0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613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0.461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109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2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.538</a:t>
                      </a:r>
                      <a:r>
                        <a:rPr sz="12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3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[0,</a:t>
                      </a:r>
                      <a:r>
                        <a:rPr sz="12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180]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6000"/>
                        </a:lnSpc>
                        <a:tabLst/>
                      </a:pPr>
                      <a:r>
                        <a:rPr sz="11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0.53</a:t>
                      </a:r>
                      <a:endParaRPr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64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89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177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11:00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177.771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197.3916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0.39519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0.60481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[0,</a:t>
                      </a:r>
                      <a:r>
                        <a:rPr sz="12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180]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0.6048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367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12:00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209.6801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253.1639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0.371306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0.628694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[0,</a:t>
                      </a:r>
                      <a:r>
                        <a:rPr sz="12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180]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0.6287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177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13:00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172.1829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187.3644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0.599736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0.400264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0.5997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240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14:00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250.3949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271.127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0.590805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0.409195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0.5908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367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15:00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232.9721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320.7862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0.535163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0.464837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0.5352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177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16:00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301.4859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384.7708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0.594227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0.405773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0.5942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285114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934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934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17:00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934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358.6533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934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435.4008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934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934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0.541839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934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0.458161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934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934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934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49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113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113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113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13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13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113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113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13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13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13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13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9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35914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r" rtl="0" eaLnBrk="0">
                        <a:lnSpc>
                          <a:spcPct val="8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19:00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1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r" rtl="0" eaLnBrk="0">
                        <a:lnSpc>
                          <a:spcPct val="8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457.9937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1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469.3854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rtl="0" eaLnBrk="0">
                        <a:lnSpc>
                          <a:spcPct val="8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424.7744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1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412.2373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r" rtl="0" eaLnBrk="0">
                        <a:lnSpc>
                          <a:spcPct val="8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0.382179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1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0.345314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r" rtl="0" eaLnBrk="0">
                        <a:lnSpc>
                          <a:spcPct val="8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0.617821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1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0.654686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[0,</a:t>
                      </a:r>
                      <a:r>
                        <a:rPr sz="12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180]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rtl="0" eaLnBrk="0">
                        <a:lnSpc>
                          <a:spcPct val="8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0.6178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1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0.6547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177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527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527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21:00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527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486.856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527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483.4919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527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527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0.367227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527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0.632773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527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527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527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[0,</a:t>
                      </a:r>
                      <a:r>
                        <a:rPr sz="12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180]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527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0.6328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19240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449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449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22:00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449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452.514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449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436.5429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449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449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0.301404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449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0.698596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449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449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449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[0,</a:t>
                      </a:r>
                      <a:r>
                        <a:rPr sz="12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180]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449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0.6986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5E"/>
                    </a:solidFill>
                  </a:tcPr>
                </a:tc>
              </a:tr>
              <a:tr h="38607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399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2022/5/12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399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23:00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24:00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399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419.91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383.7924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399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424.6845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584.0601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399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399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0.582115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0.792209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399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0.417885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0.207791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399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399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399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ts val="1493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[-180,</a:t>
                      </a: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10489" algn="l" rtl="0" eaLnBrk="0">
                        <a:lnSpc>
                          <a:spcPct val="100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180,</a:t>
                      </a:r>
                      <a:r>
                        <a:rPr sz="12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0]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0.7922</a:t>
                      </a:r>
                      <a:endParaRPr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96" name="textbox 4396"/>
          <p:cNvSpPr/>
          <p:nvPr/>
        </p:nvSpPr>
        <p:spPr>
          <a:xfrm>
            <a:off x="554273" y="1112886"/>
            <a:ext cx="2992754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日前实时价差预测模型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98" name="textbox 4398"/>
          <p:cNvSpPr/>
          <p:nvPr/>
        </p:nvSpPr>
        <p:spPr>
          <a:xfrm>
            <a:off x="9720071" y="6531864"/>
            <a:ext cx="972819" cy="193039"/>
          </a:xfrm>
          <a:prstGeom prst="rect">
            <a:avLst/>
          </a:prstGeom>
          <a:solidFill>
            <a:srgbClr val="1B41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1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493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0.5821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00" name="textbox 4400"/>
          <p:cNvSpPr/>
          <p:nvPr/>
        </p:nvSpPr>
        <p:spPr>
          <a:xfrm>
            <a:off x="10243364" y="2699861"/>
            <a:ext cx="454659" cy="405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0.7159</a:t>
            </a:r>
            <a:endParaRPr sz="12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ts val="1493"/>
              </a:lnSpc>
              <a:spcBef>
                <a:spcPts val="7"/>
              </a:spcBef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0.67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02" name="textbox 4402"/>
          <p:cNvSpPr/>
          <p:nvPr/>
        </p:nvSpPr>
        <p:spPr>
          <a:xfrm>
            <a:off x="3960181" y="1872369"/>
            <a:ext cx="83820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[-1500, -180]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04" name="textbox 4404"/>
          <p:cNvSpPr/>
          <p:nvPr/>
        </p:nvSpPr>
        <p:spPr>
          <a:xfrm>
            <a:off x="7894594" y="1872369"/>
            <a:ext cx="744855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[500,</a:t>
            </a:r>
            <a:r>
              <a:rPr sz="1200" b="1" kern="0" spc="9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1500]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pic>
        <p:nvPicPr>
          <p:cNvPr id="4406" name="picture 440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0" y="5953505"/>
            <a:ext cx="10692384" cy="10667"/>
          </a:xfrm>
          <a:prstGeom prst="rect">
            <a:avLst/>
          </a:prstGeom>
        </p:spPr>
      </p:pic>
      <p:sp>
        <p:nvSpPr>
          <p:cNvPr id="4408" name="textbox 4408"/>
          <p:cNvSpPr/>
          <p:nvPr/>
        </p:nvSpPr>
        <p:spPr>
          <a:xfrm>
            <a:off x="290128" y="5757075"/>
            <a:ext cx="689609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2022/5/12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10" name="textbox 4410"/>
          <p:cNvSpPr/>
          <p:nvPr/>
        </p:nvSpPr>
        <p:spPr>
          <a:xfrm>
            <a:off x="290128" y="5566559"/>
            <a:ext cx="689609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2022/5/12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12" name="textbox 4412"/>
          <p:cNvSpPr/>
          <p:nvPr/>
        </p:nvSpPr>
        <p:spPr>
          <a:xfrm>
            <a:off x="290128" y="3082411"/>
            <a:ext cx="689609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2022/5/12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14" name="textbox 4414"/>
          <p:cNvSpPr/>
          <p:nvPr/>
        </p:nvSpPr>
        <p:spPr>
          <a:xfrm>
            <a:off x="6961901" y="1872369"/>
            <a:ext cx="66548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[180,</a:t>
            </a:r>
            <a:r>
              <a:rPr sz="1200" b="1" kern="0" spc="7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500]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16" name="textbox 4416"/>
          <p:cNvSpPr/>
          <p:nvPr/>
        </p:nvSpPr>
        <p:spPr>
          <a:xfrm>
            <a:off x="3278945" y="5566559"/>
            <a:ext cx="616584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493.3665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18" name="textbox 4418"/>
          <p:cNvSpPr/>
          <p:nvPr/>
        </p:nvSpPr>
        <p:spPr>
          <a:xfrm>
            <a:off x="2307389" y="3082411"/>
            <a:ext cx="615315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432</a:t>
            </a:r>
            <a:r>
              <a:rPr sz="1200" b="1" kern="0" spc="1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3297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20" name="textbox 4420"/>
          <p:cNvSpPr/>
          <p:nvPr/>
        </p:nvSpPr>
        <p:spPr>
          <a:xfrm>
            <a:off x="2307389" y="5566559"/>
            <a:ext cx="615315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433.3089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22" name="textbox 4422"/>
          <p:cNvSpPr/>
          <p:nvPr/>
        </p:nvSpPr>
        <p:spPr>
          <a:xfrm>
            <a:off x="5225477" y="5566559"/>
            <a:ext cx="615315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0.486673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24" name="textbox 4424"/>
          <p:cNvSpPr/>
          <p:nvPr/>
        </p:nvSpPr>
        <p:spPr>
          <a:xfrm>
            <a:off x="6197031" y="5566559"/>
            <a:ext cx="613409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0.513327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26" name="textbox 4426"/>
          <p:cNvSpPr/>
          <p:nvPr/>
        </p:nvSpPr>
        <p:spPr>
          <a:xfrm>
            <a:off x="3282987" y="3082411"/>
            <a:ext cx="612775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580</a:t>
            </a:r>
            <a:r>
              <a:rPr sz="1200" b="1" kern="0" spc="1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6046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28" name="textbox 4428"/>
          <p:cNvSpPr/>
          <p:nvPr/>
        </p:nvSpPr>
        <p:spPr>
          <a:xfrm>
            <a:off x="5076305" y="1872369"/>
            <a:ext cx="55245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[-180, 0]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30" name="textbox 4430"/>
          <p:cNvSpPr/>
          <p:nvPr/>
        </p:nvSpPr>
        <p:spPr>
          <a:xfrm>
            <a:off x="8753853" y="3082411"/>
            <a:ext cx="545465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[-180</a:t>
            </a:r>
            <a:r>
              <a:rPr sz="1200" b="1" kern="0" spc="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0]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32" name="textbox 4432"/>
          <p:cNvSpPr/>
          <p:nvPr/>
        </p:nvSpPr>
        <p:spPr>
          <a:xfrm>
            <a:off x="5304755" y="3082411"/>
            <a:ext cx="53594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r>
              <a:rPr sz="1200" b="1" kern="0" spc="1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69617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34" name="textbox 4434"/>
          <p:cNvSpPr/>
          <p:nvPr/>
        </p:nvSpPr>
        <p:spPr>
          <a:xfrm>
            <a:off x="6276309" y="3082411"/>
            <a:ext cx="534034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r>
              <a:rPr sz="1200" b="1" kern="0" spc="9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30383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36" name="textbox 4436"/>
          <p:cNvSpPr/>
          <p:nvPr/>
        </p:nvSpPr>
        <p:spPr>
          <a:xfrm>
            <a:off x="6071179" y="1872369"/>
            <a:ext cx="505459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[0,</a:t>
            </a:r>
            <a:r>
              <a:rPr sz="1200" b="1" kern="0" spc="8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180]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38" name="textbox 4438"/>
          <p:cNvSpPr/>
          <p:nvPr/>
        </p:nvSpPr>
        <p:spPr>
          <a:xfrm>
            <a:off x="8753853" y="5757075"/>
            <a:ext cx="497205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[0,</a:t>
            </a:r>
            <a:r>
              <a:rPr sz="1200" b="1" kern="0" spc="10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180]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40" name="textbox 4440"/>
          <p:cNvSpPr/>
          <p:nvPr/>
        </p:nvSpPr>
        <p:spPr>
          <a:xfrm>
            <a:off x="8753853" y="5566559"/>
            <a:ext cx="497205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[0,</a:t>
            </a:r>
            <a:r>
              <a:rPr sz="1200" b="1" kern="0" spc="10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180]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42" name="textbox 4442"/>
          <p:cNvSpPr/>
          <p:nvPr/>
        </p:nvSpPr>
        <p:spPr>
          <a:xfrm>
            <a:off x="10243364" y="3082411"/>
            <a:ext cx="454659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r>
              <a:rPr sz="1200" b="1" kern="0" spc="1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6962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44" name="textbox 4444"/>
          <p:cNvSpPr/>
          <p:nvPr/>
        </p:nvSpPr>
        <p:spPr>
          <a:xfrm>
            <a:off x="1580199" y="5566559"/>
            <a:ext cx="37084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18:00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46" name="textbox 4446"/>
          <p:cNvSpPr/>
          <p:nvPr/>
        </p:nvSpPr>
        <p:spPr>
          <a:xfrm>
            <a:off x="1653882" y="3082411"/>
            <a:ext cx="297179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5:00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48" name="textbox 4448"/>
          <p:cNvSpPr/>
          <p:nvPr/>
        </p:nvSpPr>
        <p:spPr>
          <a:xfrm>
            <a:off x="8656231" y="5757075"/>
            <a:ext cx="9906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50" name="textbox 4450"/>
          <p:cNvSpPr/>
          <p:nvPr/>
        </p:nvSpPr>
        <p:spPr>
          <a:xfrm>
            <a:off x="8656231" y="3082411"/>
            <a:ext cx="9906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52" name="textbox 4452"/>
          <p:cNvSpPr/>
          <p:nvPr/>
        </p:nvSpPr>
        <p:spPr>
          <a:xfrm>
            <a:off x="8656231" y="5566559"/>
            <a:ext cx="9906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54" name="textbox 4454"/>
          <p:cNvSpPr/>
          <p:nvPr/>
        </p:nvSpPr>
        <p:spPr>
          <a:xfrm>
            <a:off x="7684675" y="5757075"/>
            <a:ext cx="9906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56" name="textbox 4456"/>
          <p:cNvSpPr/>
          <p:nvPr/>
        </p:nvSpPr>
        <p:spPr>
          <a:xfrm>
            <a:off x="7684675" y="5566559"/>
            <a:ext cx="9906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58" name="textbox 4458"/>
          <p:cNvSpPr/>
          <p:nvPr/>
        </p:nvSpPr>
        <p:spPr>
          <a:xfrm>
            <a:off x="7684675" y="3082411"/>
            <a:ext cx="9906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60" name="textbox 4460"/>
          <p:cNvSpPr/>
          <p:nvPr/>
        </p:nvSpPr>
        <p:spPr>
          <a:xfrm>
            <a:off x="4768457" y="5757075"/>
            <a:ext cx="9906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62" name="textbox 4462"/>
          <p:cNvSpPr/>
          <p:nvPr/>
        </p:nvSpPr>
        <p:spPr>
          <a:xfrm>
            <a:off x="4768457" y="3082411"/>
            <a:ext cx="9906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464" name="textbox 4464"/>
          <p:cNvSpPr/>
          <p:nvPr/>
        </p:nvSpPr>
        <p:spPr>
          <a:xfrm>
            <a:off x="4768457" y="5566559"/>
            <a:ext cx="9906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3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6" name="textbox 4466"/>
          <p:cNvSpPr/>
          <p:nvPr/>
        </p:nvSpPr>
        <p:spPr>
          <a:xfrm>
            <a:off x="869167" y="1386822"/>
            <a:ext cx="3886200" cy="525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38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中电普华公司简介</a:t>
            </a:r>
            <a:endParaRPr sz="3800" dirty="0">
              <a:latin typeface="SimSun"/>
              <a:ea typeface="SimSun"/>
              <a:cs typeface="SimSun"/>
            </a:endParaRPr>
          </a:p>
        </p:txBody>
      </p:sp>
      <p:pic>
        <p:nvPicPr>
          <p:cNvPr id="4468" name="picture 44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772668"/>
            <a:ext cx="10692384" cy="6013703"/>
          </a:xfrm>
          <a:prstGeom prst="rect">
            <a:avLst/>
          </a:prstGeom>
        </p:spPr>
      </p:pic>
      <p:sp>
        <p:nvSpPr>
          <p:cNvPr id="4470" name="textbox 4470"/>
          <p:cNvSpPr/>
          <p:nvPr/>
        </p:nvSpPr>
        <p:spPr>
          <a:xfrm>
            <a:off x="1281234" y="3632842"/>
            <a:ext cx="8272780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4700" b="1" kern="0" spc="380" dirty="0">
                <a:solidFill>
                  <a:srgbClr val="FEFEFE">
                    <a:alpha val="100000"/>
                  </a:srgbClr>
                </a:solidFill>
                <a:latin typeface="Malgun Gothic"/>
                <a:ea typeface="Malgun Gothic"/>
                <a:cs typeface="Malgun Gothic"/>
              </a:rPr>
              <a:t>THANKS FOR WATCHING</a:t>
            </a:r>
            <a:endParaRPr sz="4700" dirty="0"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72" name="path 4472"/>
          <p:cNvSpPr/>
          <p:nvPr/>
        </p:nvSpPr>
        <p:spPr>
          <a:xfrm>
            <a:off x="1199388" y="4363973"/>
            <a:ext cx="8485631" cy="50292"/>
          </a:xfrm>
          <a:custGeom>
            <a:avLst/>
            <a:gdLst/>
            <a:ahLst/>
            <a:cxnLst/>
            <a:rect l="0" t="0" r="0" b="0"/>
            <a:pathLst>
              <a:path w="13363" h="79">
                <a:moveTo>
                  <a:pt x="0" y="39"/>
                </a:moveTo>
                <a:lnTo>
                  <a:pt x="13363" y="39"/>
                </a:lnTo>
              </a:path>
            </a:pathLst>
          </a:custGeom>
          <a:noFill/>
          <a:ln w="50291" cap="flat">
            <a:solidFill>
              <a:srgbClr val="FFFFFF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</dc:title>
  <dc:creator>ZhangJi</dc:creator>
  <dcterms:created xsi:type="dcterms:W3CDTF">2025-09-28T11:03:29Z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2025-09-28T11:04:40</vt:filetime>
  </property>
</Properties>
</file>